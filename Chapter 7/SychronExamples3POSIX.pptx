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30" r:id="rId4"/>
    <p:sldId id="432" r:id="rId5"/>
    <p:sldId id="433" r:id="rId6"/>
    <p:sldId id="434" r:id="rId7"/>
    <p:sldId id="258" r:id="rId8"/>
    <p:sldId id="435" r:id="rId9"/>
    <p:sldId id="43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5625-7982-4DF6-BD90-B3B978187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456CE-45EC-4469-93FB-D75330B62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99179-781D-4595-9C50-823B2CB2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DB66E-8EC2-4C76-AE27-60C1954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AEA1D-F116-468E-AECA-03B4D60D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2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C93D-22EE-4545-8018-9AB68F65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C83F-7794-4127-AB33-C2CC1A550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4F5E5-FE58-42CC-BCCB-79143CB56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41CB4-733E-4BA2-928E-9629E976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A7CF3-C09B-4D90-AA96-F3063EAD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08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4383-D06E-4C63-A2BA-B816F05A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2B761-6038-4491-A669-006C6909F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4A917-B2B5-43BF-9605-0136828E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F851E-3BAD-44B9-8C2F-3F2EF9C91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BED5-7D00-4146-9281-A136C266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6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8D07-DFFA-4044-B225-E1CEE9F9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13A9-56B0-4A99-ABFF-31721473C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87C7E-E80C-4558-A134-22BEB7155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FB0CC-4549-4684-B4AF-097E2EBB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17221-25B0-4A83-A492-B426B9E6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08987-738C-4C74-8F76-CA661065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5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512D-AC32-4F0D-B41A-339599EF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91268-C58E-4353-B62C-A95B1C2EF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7B720-2451-4F3A-BF04-572156C9C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98BB9-BDDD-4012-85C3-6AC653CB7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63DAC-F5CA-48FF-A88A-CF9815928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7D6BD0-8C09-4B9C-9BC4-437067F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E914E-E903-4FCD-AFAA-0EC61A28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AD32E8-9ECF-4B68-98A9-1FE007DB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6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BFFC-2750-4411-884D-45F197A1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15D62-DE3C-49F9-866A-8F2BE5AF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C7B3A-F0B5-4AF3-AC55-EBB065E6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9B062-7D1C-4FAB-A2A6-252CC377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27EAB-B3D0-4CC2-9CB7-499F3B0B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774D8-948A-4159-BD72-23CA8E37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15F5C-937A-4D41-A9D2-7CDE9FCA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8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1993-E45A-421C-A612-37160F56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D9A80-9809-470A-AF62-30EE5178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30E8F-C321-45AD-9EE4-0F1968B11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963A8-7B69-4321-9DD4-D9FC8EB7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5896D-BEDE-4CD1-9B7C-46501FD3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3D2E0-E388-481C-8C28-A2EEF4F1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2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876A-6BED-4485-96A9-B6300DDB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D88A00-DB7D-4840-BB53-B3AAF74E5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D6200-D664-43D3-9CBB-60D4172AF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3746F-2347-44F6-A71B-26C3B1C4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234E-190D-4C89-B0ED-E6D9108B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B16F3-9741-4900-848D-B64C71E8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3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1FE3-3C71-4ADF-B3F4-40F8C72C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4830C-6449-4080-A4D7-43C93D544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2B5F-6059-4BD9-8C1A-BE169F90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ACE0F-0427-43B6-86DB-39D5D469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67A77-5CB0-41CD-9686-2426DB64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5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5264A-00ED-4101-8FA9-D671F0C02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9DB3C-AA1A-4EBD-B8C5-DA1BEFA87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27CE5-4485-4EAB-A52A-4A8C5489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12F6C-04B4-4004-A300-19B0E67E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D4643-8ADA-4B2F-9ACE-F72BFEEF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6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E0C28-C826-452D-81EC-3627955C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62723-1C3D-4B95-BEAE-261F1BDB4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E2EB5-6739-46CF-967F-DE8F05F71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0EEA0-8AD5-4C85-AC85-13DE4E52BBB5}" type="datetimeFigureOut">
              <a:rPr lang="en-US" smtClean="0"/>
              <a:t>11/3/2021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0569C-182C-47C0-8BA1-EB37074F7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587A8-0330-4927-B34B-E595C211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00783-0541-4867-A25B-427B117BD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2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9580-6563-4A1B-A349-11F3A8611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Synchronization Examples</a:t>
            </a:r>
            <a:br>
              <a:rPr lang="en-US" dirty="0"/>
            </a:br>
            <a:r>
              <a:rPr lang="en-US" dirty="0"/>
              <a:t>Lesson 3</a:t>
            </a:r>
            <a:br>
              <a:rPr lang="en-US" dirty="0"/>
            </a:br>
            <a:r>
              <a:rPr lang="en-US" dirty="0"/>
              <a:t>POSIX Synchronization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C9726-29EF-4F9F-A36C-D8205107A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79953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6996-44E5-447D-84FE-C2208E49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F61DC-CB98-41C0-8E6C-48402AC50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level APIs for UNIX, Linux, and macOS</a:t>
            </a:r>
          </a:p>
          <a:p>
            <a:r>
              <a:rPr lang="en-US" dirty="0"/>
              <a:t>POSIX mutex locks, semaphores</a:t>
            </a:r>
          </a:p>
          <a:p>
            <a:r>
              <a:rPr lang="en-US" dirty="0"/>
              <a:t>POSIX </a:t>
            </a:r>
            <a:r>
              <a:rPr lang="en-US" dirty="0">
                <a:solidFill>
                  <a:srgbClr val="00B0F0"/>
                </a:solidFill>
              </a:rPr>
              <a:t>condition variables</a:t>
            </a:r>
          </a:p>
        </p:txBody>
      </p:sp>
    </p:spTree>
    <p:extLst>
      <p:ext uri="{BB962C8B-B14F-4D97-AF65-F5344CB8AC3E}">
        <p14:creationId xmlns:p14="http://schemas.microsoft.com/office/powerpoint/2010/main" val="230377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7F3EE9D-D658-4372-866E-56BF53F3A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Mutex Locks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DF4E51A8-F6B0-4C5E-B968-35F4CF17C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5179" y="1892385"/>
            <a:ext cx="5092700" cy="4795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en-US" sz="10400" dirty="0"/>
              <a:t>Creating and initializing the lock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7108" name="Picture 3">
            <a:extLst>
              <a:ext uri="{FF2B5EF4-FFF2-40B4-BE49-F238E27FC236}">
                <a16:creationId xmlns:a16="http://schemas.microsoft.com/office/drawing/2014/main" id="{CF0404A6-5378-427E-8F97-7B3E2C298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3" y="2573629"/>
            <a:ext cx="6652149" cy="2173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4">
            <a:extLst>
              <a:ext uri="{FF2B5EF4-FFF2-40B4-BE49-F238E27FC236}">
                <a16:creationId xmlns:a16="http://schemas.microsoft.com/office/drawing/2014/main" id="{90A63C87-8983-48AA-905B-6751DB390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70150"/>
            <a:ext cx="4853651" cy="250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6AB94F-E4F8-405B-BAC6-CF574615043B}"/>
              </a:ext>
            </a:extLst>
          </p:cNvPr>
          <p:cNvSpPr txBox="1">
            <a:spLocks noChangeArrowheads="1"/>
          </p:cNvSpPr>
          <p:nvPr/>
        </p:nvSpPr>
        <p:spPr>
          <a:xfrm>
            <a:off x="6744122" y="1803355"/>
            <a:ext cx="4630516" cy="4795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Acquiring and releasing the 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919F9174-7D8D-4176-9722-F68214B82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C5884824-E26F-43B5-A67E-83A28DE010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65263"/>
            <a:ext cx="8229600" cy="5027612"/>
          </a:xfrm>
        </p:spPr>
        <p:txBody>
          <a:bodyPr/>
          <a:lstStyle/>
          <a:p>
            <a:r>
              <a:rPr lang="en-US" altLang="en-US" sz="2600" dirty="0"/>
              <a:t>Creating an initializing the semaphore:</a:t>
            </a:r>
            <a:br>
              <a:rPr lang="en-US" altLang="en-US" sz="2600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sz="2600" dirty="0"/>
              <a:t>Acquiring and releasing the semaphore:</a:t>
            </a:r>
          </a:p>
        </p:txBody>
      </p:sp>
      <p:pic>
        <p:nvPicPr>
          <p:cNvPr id="49156" name="Picture 3">
            <a:extLst>
              <a:ext uri="{FF2B5EF4-FFF2-40B4-BE49-F238E27FC236}">
                <a16:creationId xmlns:a16="http://schemas.microsoft.com/office/drawing/2014/main" id="{F7B522AE-9450-4ED6-B27F-E5E92204A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512" y="1985245"/>
            <a:ext cx="7280628" cy="16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4">
            <a:extLst>
              <a:ext uri="{FF2B5EF4-FFF2-40B4-BE49-F238E27FC236}">
                <a16:creationId xmlns:a16="http://schemas.microsoft.com/office/drawing/2014/main" id="{621D81D2-9A42-43FC-B006-37F0D3D6B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281" y="4037658"/>
            <a:ext cx="5079759" cy="2455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8A1B5891-77D2-45AB-8636-B6A34C086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 (1)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9AF5451B-E7AF-4AAB-A25C-0F630F0FF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16284"/>
            <a:ext cx="10515600" cy="4660679"/>
          </a:xfrm>
        </p:spPr>
        <p:txBody>
          <a:bodyPr/>
          <a:lstStyle/>
          <a:p>
            <a:r>
              <a:rPr lang="en-US" altLang="en-US" sz="2600" dirty="0"/>
              <a:t>Creating an initializing the semaphore:</a:t>
            </a:r>
            <a:br>
              <a:rPr lang="en-US" altLang="en-US" sz="2600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  <a:p>
            <a:r>
              <a:rPr lang="en-US" altLang="en-US" sz="2600" dirty="0"/>
              <a:t>Acquiring and releasing the semaphore:</a:t>
            </a:r>
          </a:p>
        </p:txBody>
      </p:sp>
      <p:pic>
        <p:nvPicPr>
          <p:cNvPr id="50180" name="Picture 5">
            <a:extLst>
              <a:ext uri="{FF2B5EF4-FFF2-40B4-BE49-F238E27FC236}">
                <a16:creationId xmlns:a16="http://schemas.microsoft.com/office/drawing/2014/main" id="{D877A751-9C76-4E94-A067-0C12F522E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27" y="1879600"/>
            <a:ext cx="7117170" cy="181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6">
            <a:extLst>
              <a:ext uri="{FF2B5EF4-FFF2-40B4-BE49-F238E27FC236}">
                <a16:creationId xmlns:a16="http://schemas.microsoft.com/office/drawing/2014/main" id="{4FB56DEE-0849-4050-9DAF-CDE70779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584" y="4100915"/>
            <a:ext cx="6009431" cy="2659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8A1B5891-77D2-45AB-8636-B6A34C086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 (2)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9AF5451B-E7AF-4AAB-A25C-0F630F0FF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16284"/>
            <a:ext cx="10515600" cy="4660679"/>
          </a:xfrm>
        </p:spPr>
        <p:txBody>
          <a:bodyPr/>
          <a:lstStyle/>
          <a:p>
            <a:r>
              <a:rPr lang="en-US" altLang="en-US" sz="2600" dirty="0"/>
              <a:t>Int </a:t>
            </a:r>
            <a:r>
              <a:rPr lang="en-US" altLang="en-US" sz="2600" dirty="0" err="1"/>
              <a:t>semi_int</a:t>
            </a:r>
            <a:r>
              <a:rPr lang="en-US" altLang="en-US" sz="2600" dirty="0"/>
              <a:t>(</a:t>
            </a:r>
            <a:r>
              <a:rPr lang="en-US" altLang="en-US" sz="2600" dirty="0" err="1"/>
              <a:t>sem_t</a:t>
            </a:r>
            <a:r>
              <a:rPr lang="en-US" altLang="en-US" sz="2600" dirty="0"/>
              <a:t> *</a:t>
            </a:r>
            <a:r>
              <a:rPr lang="en-US" altLang="en-US" sz="2600" dirty="0" err="1"/>
              <a:t>sem</a:t>
            </a:r>
            <a:r>
              <a:rPr lang="en-US" altLang="en-US" sz="2600" dirty="0"/>
              <a:t>, int </a:t>
            </a:r>
            <a:r>
              <a:rPr lang="en-US" altLang="en-US" sz="2600" dirty="0" err="1"/>
              <a:t>pshared</a:t>
            </a:r>
            <a:r>
              <a:rPr lang="en-US" altLang="en-US" sz="2600" dirty="0"/>
              <a:t>, unsigned int value);</a:t>
            </a:r>
          </a:p>
          <a:p>
            <a:r>
              <a:rPr lang="en-US" altLang="en-US" sz="2600" dirty="0" err="1"/>
              <a:t>pshared</a:t>
            </a:r>
            <a:r>
              <a:rPr lang="en-US" altLang="en-US" sz="2600" dirty="0"/>
              <a:t>:</a:t>
            </a:r>
          </a:p>
          <a:p>
            <a:pPr lvl="1"/>
            <a:r>
              <a:rPr lang="en-US" altLang="en-US" sz="2200" dirty="0"/>
              <a:t>Non-zero: shared between processes</a:t>
            </a:r>
          </a:p>
          <a:p>
            <a:pPr lvl="1"/>
            <a:r>
              <a:rPr lang="en-US" altLang="en-US" sz="2200" dirty="0"/>
              <a:t>Zero: shared between threads of the process</a:t>
            </a:r>
          </a:p>
          <a:p>
            <a:r>
              <a:rPr lang="en-US" altLang="en-US" dirty="0"/>
              <a:t>return:</a:t>
            </a:r>
          </a:p>
          <a:p>
            <a:pPr lvl="1"/>
            <a:r>
              <a:rPr lang="en-US" altLang="en-US" dirty="0"/>
              <a:t>-1: failed.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2307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4F55-7A1F-4889-B71B-0DAF8ED3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Condition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9909-A341-4E8F-B366-0725D802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condition variables in a monitor</a:t>
            </a:r>
          </a:p>
          <a:p>
            <a:r>
              <a:rPr lang="en-US" dirty="0"/>
              <a:t>Associate with a POSIX mutex lock to provide monitor like services in C/C++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DA784-1DD1-46DD-BE26-65C979C1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10" y="3209081"/>
            <a:ext cx="7389758" cy="271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3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253D1AD2-7EE5-4A97-8FEF-62EED2645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61FA6E14-8EC0-486B-85CC-F5FA3F028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35261"/>
            <a:ext cx="10515600" cy="4741702"/>
          </a:xfrm>
        </p:spPr>
        <p:txBody>
          <a:bodyPr/>
          <a:lstStyle/>
          <a:p>
            <a:r>
              <a:rPr lang="en-US" altLang="en-US" sz="2600" dirty="0"/>
              <a:t>A thread waiting for the condition </a:t>
            </a:r>
            <a:r>
              <a:rPr lang="en-US" alt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 sz="2600" dirty="0"/>
              <a:t>to become true:</a:t>
            </a:r>
            <a:br>
              <a:rPr lang="en-US" altLang="en-US" sz="2600" dirty="0"/>
            </a:br>
            <a:br>
              <a:rPr lang="en-US" altLang="en-US" sz="2600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sz="2600" dirty="0"/>
              <a:t>Another thread signaling a thread waiting on the condition variable:</a:t>
            </a:r>
          </a:p>
          <a:p>
            <a:endParaRPr lang="en-US" altLang="en-US" dirty="0"/>
          </a:p>
        </p:txBody>
      </p:sp>
      <p:pic>
        <p:nvPicPr>
          <p:cNvPr id="52228" name="Picture 6">
            <a:extLst>
              <a:ext uri="{FF2B5EF4-FFF2-40B4-BE49-F238E27FC236}">
                <a16:creationId xmlns:a16="http://schemas.microsoft.com/office/drawing/2014/main" id="{F3A3A313-1A24-4D00-8368-6282BD4BD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62" y="1915118"/>
            <a:ext cx="7267832" cy="195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3">
            <a:extLst>
              <a:ext uri="{FF2B5EF4-FFF2-40B4-BE49-F238E27FC236}">
                <a16:creationId xmlns:a16="http://schemas.microsoft.com/office/drawing/2014/main" id="{797642B7-8AFC-4651-8828-59D3CA147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430" y="4314027"/>
            <a:ext cx="6098894" cy="186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Box 1">
            <a:extLst>
              <a:ext uri="{FF2B5EF4-FFF2-40B4-BE49-F238E27FC236}">
                <a16:creationId xmlns:a16="http://schemas.microsoft.com/office/drawing/2014/main" id="{A6861065-6E41-4117-86AE-F18BE82A3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424" y="3287067"/>
            <a:ext cx="41062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rgbClr val="FF0000"/>
                </a:solidFill>
              </a:rPr>
              <a:t>1. Release the mutex lock</a:t>
            </a:r>
          </a:p>
          <a:p>
            <a:r>
              <a:rPr lang="en-US" altLang="en-US" sz="1600" dirty="0">
                <a:solidFill>
                  <a:srgbClr val="FF0000"/>
                </a:solidFill>
              </a:rPr>
              <a:t>2. Wait on both condition variable &amp; mutex</a:t>
            </a:r>
          </a:p>
        </p:txBody>
      </p:sp>
      <p:cxnSp>
        <p:nvCxnSpPr>
          <p:cNvPr id="52231" name="Straight Arrow Connector 3">
            <a:extLst>
              <a:ext uri="{FF2B5EF4-FFF2-40B4-BE49-F238E27FC236}">
                <a16:creationId xmlns:a16="http://schemas.microsoft.com/office/drawing/2014/main" id="{8F38F672-9C44-4B3C-BC7E-FC39C99B818D}"/>
              </a:ext>
            </a:extLst>
          </p:cNvPr>
          <p:cNvCxnSpPr>
            <a:cxnSpLocks/>
          </p:cNvCxnSpPr>
          <p:nvPr/>
        </p:nvCxnSpPr>
        <p:spPr bwMode="auto">
          <a:xfrm>
            <a:off x="7219016" y="3105570"/>
            <a:ext cx="545277" cy="2885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5464-759A-4D3F-ADD3-992258AD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Condition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842D0-FACB-4ED5-B10E-FD359B26A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Process P</a:t>
            </a:r>
            <a:r>
              <a:rPr lang="en-US" baseline="-25000" dirty="0"/>
              <a:t>0  </a:t>
            </a:r>
            <a:r>
              <a:rPr lang="en-US" dirty="0"/>
              <a:t>waits on </a:t>
            </a:r>
          </a:p>
          <a:p>
            <a:pPr marL="0" indent="0">
              <a:buNone/>
            </a:pPr>
            <a:r>
              <a:rPr lang="en-US" dirty="0"/>
              <a:t>  condition </a:t>
            </a:r>
            <a:r>
              <a:rPr lang="en-US" dirty="0" err="1"/>
              <a:t>cond</a:t>
            </a:r>
            <a:r>
              <a:rPr lang="en-US" dirty="0"/>
              <a:t> (</a:t>
            </a:r>
            <a:r>
              <a:rPr lang="en-US" dirty="0" err="1"/>
              <a:t>eg.</a:t>
            </a:r>
            <a:r>
              <a:rPr lang="en-US" dirty="0"/>
              <a:t> a == b)</a:t>
            </a:r>
          </a:p>
          <a:p>
            <a:pPr marL="0" indent="0">
              <a:buNone/>
            </a:pPr>
            <a:r>
              <a:rPr lang="en-US" baseline="-25000" dirty="0"/>
              <a:t>  </a:t>
            </a:r>
            <a:r>
              <a:rPr lang="en-US" dirty="0"/>
              <a:t>a = 5; b = 4;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aseline="-25000" dirty="0"/>
              <a:t> </a:t>
            </a:r>
            <a:r>
              <a:rPr lang="en-US" sz="2400" dirty="0"/>
              <a:t>P0 acquires mutex (0)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 == b false, P</a:t>
            </a:r>
            <a:r>
              <a:rPr lang="en-US" sz="2400" baseline="-25000" dirty="0"/>
              <a:t>0 </a:t>
            </a:r>
            <a:r>
              <a:rPr lang="en-US" sz="2400" dirty="0"/>
              <a:t>release mutex (1) and waits on condition variable </a:t>
            </a:r>
            <a:r>
              <a:rPr lang="en-US" sz="2400" dirty="0" err="1"/>
              <a:t>con_var</a:t>
            </a:r>
            <a:r>
              <a:rPr lang="en-US" sz="2400" dirty="0"/>
              <a:t> &amp; mutex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P0 is off </a:t>
            </a:r>
            <a:r>
              <a:rPr lang="en-US" sz="2400" dirty="0" err="1"/>
              <a:t>cond_var</a:t>
            </a:r>
            <a:r>
              <a:rPr lang="en-US" sz="2400" dirty="0"/>
              <a:t> queue &amp; waits on mutex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sz="2400" dirty="0"/>
              <a:t>P0 acquires mutex and check condition a == 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5FAE3-1DEF-4F70-BFE6-D6E787627F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Process P</a:t>
            </a:r>
            <a:r>
              <a:rPr lang="en-US" baseline="-25000" dirty="0"/>
              <a:t>1  </a:t>
            </a:r>
            <a:r>
              <a:rPr lang="en-US" dirty="0"/>
              <a:t>may affect </a:t>
            </a:r>
          </a:p>
          <a:p>
            <a:pPr marL="0" indent="0">
              <a:buNone/>
            </a:pPr>
            <a:r>
              <a:rPr lang="en-US" dirty="0"/>
              <a:t>  condition </a:t>
            </a:r>
            <a:r>
              <a:rPr lang="en-US" dirty="0" err="1"/>
              <a:t>cond</a:t>
            </a:r>
            <a:r>
              <a:rPr lang="en-US" dirty="0"/>
              <a:t> (e.g. a == b)</a:t>
            </a:r>
            <a:endParaRPr lang="en-US" baseline="-25000" dirty="0"/>
          </a:p>
          <a:p>
            <a:pPr marL="0" indent="0"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 acquires mutex (0)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b = 5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 signal P</a:t>
            </a:r>
            <a:r>
              <a:rPr lang="en-US" sz="2400" baseline="-25000" dirty="0"/>
              <a:t>0</a:t>
            </a:r>
            <a:r>
              <a:rPr lang="en-US" sz="2400" dirty="0"/>
              <a:t> from </a:t>
            </a:r>
            <a:r>
              <a:rPr lang="en-US" sz="2400" dirty="0" err="1"/>
              <a:t>con_var</a:t>
            </a:r>
            <a:r>
              <a:rPr lang="en-US" sz="2400" dirty="0"/>
              <a:t> waiting queue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sz="2400" dirty="0"/>
              <a:t>P1 release mutex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A680B1-257D-4D2C-B2DA-2F6F5EA1C58B}"/>
              </a:ext>
            </a:extLst>
          </p:cNvPr>
          <p:cNvCxnSpPr/>
          <p:nvPr/>
        </p:nvCxnSpPr>
        <p:spPr>
          <a:xfrm flipH="1">
            <a:off x="2338086" y="4444678"/>
            <a:ext cx="4166886" cy="56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5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318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Synchronization Examples Lesson 3 POSIX Synchronization</vt:lpstr>
      <vt:lpstr>Learning Outcomes</vt:lpstr>
      <vt:lpstr>POSIX Mutex Locks</vt:lpstr>
      <vt:lpstr>POSIX Named Semaphores</vt:lpstr>
      <vt:lpstr>POSIX Unnamed Semaphores (1)</vt:lpstr>
      <vt:lpstr>POSIX Unnamed Semaphores (2)</vt:lpstr>
      <vt:lpstr>POSIX Condition Variables</vt:lpstr>
      <vt:lpstr>POSIX Condition Variables</vt:lpstr>
      <vt:lpstr>POSIX Condition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Synchronization Examples Lesson 3 POSIX Synchronization</dc:title>
  <dc:creator>David Liu</dc:creator>
  <cp:lastModifiedBy>David Liu</cp:lastModifiedBy>
  <cp:revision>14</cp:revision>
  <dcterms:created xsi:type="dcterms:W3CDTF">2021-11-03T16:15:15Z</dcterms:created>
  <dcterms:modified xsi:type="dcterms:W3CDTF">2021-11-03T17:52:28Z</dcterms:modified>
</cp:coreProperties>
</file>