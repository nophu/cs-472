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18E1C-104E-4AF4-B0D0-55B13B70C77C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26677D-515F-4025-B6FF-3215121E2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402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37860-5AA1-4FAE-AFD0-C255C17D0A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635129-8124-4600-A701-CA9949AE86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CED87-751A-43F4-B8CB-C81B0C304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3EB09-B7AA-429D-8227-749B6E4EB307}" type="datetime1">
              <a:rPr lang="en-US" smtClean="0"/>
              <a:t>3/15/2022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8B4EA-7022-4AC7-9D5F-9DA8095C5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A2460-8C33-43E9-9BB5-F199832EA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AD25F-5495-4211-89A8-1F24345B5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493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F8CFA-B08F-4B2A-978B-D4DF7DB2C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D39D9-28D8-4BFB-A49E-FA2C04E9B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8AFFB-ABC0-47E3-9585-B1D21A6AB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F2525-25D6-4042-87CF-31475DB1D3F0}" type="datetime1">
              <a:rPr lang="en-US" smtClean="0"/>
              <a:t>3/15/2022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916D2-ADDC-49C9-A22B-64496D405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9535A-250F-491D-A905-FB36252B2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AD25F-5495-4211-89A8-1F24345B5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985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4DF39-7F2C-4126-89C7-EC6C216DD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66765-7800-4BEC-BDEC-5A29702B8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55A0D-509E-4808-B258-1274B71A4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4DF55-86B7-437D-B975-8D0FB5D1860E}" type="datetime1">
              <a:rPr lang="en-US" smtClean="0"/>
              <a:t>3/15/2022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7FF08-1112-4116-845C-99E4D4EAD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B90EA-5D83-430F-9452-0181BCB6E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AD25F-5495-4211-89A8-1F24345B5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66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22E6C-CE53-47EB-8977-78F1D308D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1AE6A-E57A-40F5-8615-1D0C4AFEFF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655FFB-5F8E-4533-9AC3-3F1CF082F4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59A389-93F5-40C1-84FC-8547A851B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1B276-008D-44AC-95F4-5D66E337A514}" type="datetime1">
              <a:rPr lang="en-US" smtClean="0"/>
              <a:t>3/15/2022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193E7-5A7B-4959-B7A8-9DFCD33A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EA9C2-CB31-429F-9063-428153B2C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AD25F-5495-4211-89A8-1F24345B5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269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0C71B-041A-4E52-AC2B-A9D57F737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5113E-3C10-4DFF-9697-6C2BA4C56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22BCE-40A3-4437-AA42-84FF0999B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96FA36-96A2-4BA9-B759-8E371DC847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C3DDE4-4B83-4748-98A4-C08C54F147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0FF947-DBFF-45F0-B342-0352A3026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385BB-3421-486A-B26A-D0104A1F5E82}" type="datetime1">
              <a:rPr lang="en-US" smtClean="0"/>
              <a:t>3/15/2022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1FCE63-5B06-4B52-B46E-13BBF40A2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9A7500-5538-4BE8-A3F7-052FCE207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AD25F-5495-4211-89A8-1F24345B5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2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CFC65-715C-411D-94BB-265CA3C43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60022-84C6-4440-B290-1BB1B2B42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35825-F048-462F-B226-E88A16DF0B49}" type="datetime1">
              <a:rPr lang="en-US" smtClean="0"/>
              <a:t>3/15/2022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7E75FF-27C5-4307-A2D6-7520C385F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43B577-E9C7-4695-9D9E-DE2E6306D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AD25F-5495-4211-89A8-1F24345B5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448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5D0EE1-A6C2-4C17-A8C0-CBFAF1A6B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E1CEA-BCFF-4F90-A2A7-5F7F28445172}" type="datetime1">
              <a:rPr lang="en-US" smtClean="0"/>
              <a:t>3/15/2022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0ACF6D-44BE-4C35-A446-5C6F72313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BDE43A-17D0-4A79-BBA6-9E94837E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AD25F-5495-4211-89A8-1F24345B5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337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C38CE-55D1-4869-9031-3279EF28B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9E39F-804F-49F1-94FB-CEF3C3495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1BEC84-483D-4014-B638-88D53D875A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30F2E5-C1EB-4518-8EA3-A7436226F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0D9E-0F4E-49CE-AB4C-2A7C577CA6C6}" type="datetime1">
              <a:rPr lang="en-US" smtClean="0"/>
              <a:t>3/15/2022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92CF08-45AA-4762-A2AD-393EAA7EE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D24363-83E2-436F-8CDC-6406CC978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AD25F-5495-4211-89A8-1F24345B5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14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A8145-B7DE-4CFE-A3DE-227647A30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063B2E-D193-47D6-83B6-F2F62B95C2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339373-F810-4621-9192-CBB00113C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AE9F74-9C9D-4839-A7D6-F9F3337A8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978-2E57-4279-8A2D-C5F7940FF83A}" type="datetime1">
              <a:rPr lang="en-US" smtClean="0"/>
              <a:t>3/15/2022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4D05F9-B121-4E2D-A163-D4B00E5FE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6FD4C8-838E-4C5F-9A3F-4E60ECF79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AD25F-5495-4211-89A8-1F24345B5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267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15365-35E8-499C-81C2-F836C6727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3D03B7-8839-4A74-9584-F007DE8EC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73CB2-A6BF-46A3-AA39-CCA14D12D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F21F-6020-4C70-80BD-D03A6A2EA74E}" type="datetime1">
              <a:rPr lang="en-US" smtClean="0"/>
              <a:t>3/15/2022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C68E9-A7CF-4359-9E07-8DE123780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F45A0-F0A2-42B3-8186-12CB1AA17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AD25F-5495-4211-89A8-1F24345B5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577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5728EA-E0B8-4E80-AB0D-320697BC59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0CEB53-232F-43B0-9E8F-734C3FBE2F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B240A-F3B4-447D-B8A9-F4CC734E9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31FE5-56B9-4C8A-9B47-CFC6FC287D57}" type="datetime1">
              <a:rPr lang="en-US" smtClean="0"/>
              <a:t>3/15/2022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9965C-C438-4597-8905-486B5914C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82E40-44CA-4127-A8F9-D9DA15C0E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AD25F-5495-4211-89A8-1F24345B5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219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C91FA4-393B-4F6A-942B-D8F9424AE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95CB25-32B5-476E-848A-D982F1B9E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2114A-5DB0-4800-BF3F-A507A7673D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B62166-3CC5-467D-9EFC-FC84F12D60E8}" type="datetime1">
              <a:rPr lang="en-US" smtClean="0"/>
              <a:t>3/15/2022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4D6DF-AF58-404B-9901-6E6321DA8F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81302-A5DF-4F39-89CC-086FFF9B4F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1AD25F-5495-4211-89A8-1F24345B5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229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A696C-20B7-4645-97D8-E20921B598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Synchronization Examples</a:t>
            </a:r>
            <a:br>
              <a:rPr lang="en-US" dirty="0"/>
            </a:br>
            <a:r>
              <a:rPr lang="en-US" dirty="0"/>
              <a:t>Lesson 1</a:t>
            </a:r>
            <a:br>
              <a:rPr lang="en-US" dirty="0"/>
            </a:br>
            <a:r>
              <a:rPr lang="en-US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EC0202-5339-4DB3-BBE5-0F48051D62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2021, Spring 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4B8EE-C354-4EC4-AC71-BB8760BE7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AD25F-5495-4211-89A8-1F24345B55A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06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DCEEF-37DE-40B6-BFC7-DE8DAF1A7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11AA1-9785-4457-A3F2-D8D630570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dirty="0"/>
              <a:t>Explain synchronization problems.</a:t>
            </a:r>
          </a:p>
          <a:p>
            <a:pPr marL="914400" lvl="1" indent="-457200">
              <a:lnSpc>
                <a:spcPct val="80000"/>
              </a:lnSpc>
              <a:buFont typeface="+mj-lt"/>
              <a:buAutoNum type="arabicPeriod"/>
            </a:pPr>
            <a:r>
              <a:rPr lang="en-US" altLang="en-US" dirty="0"/>
              <a:t>the bounded-buffer, </a:t>
            </a:r>
          </a:p>
          <a:p>
            <a:pPr marL="914400" lvl="1" indent="-457200">
              <a:lnSpc>
                <a:spcPct val="80000"/>
              </a:lnSpc>
              <a:buFont typeface="+mj-lt"/>
              <a:buAutoNum type="arabicPeriod"/>
            </a:pPr>
            <a:r>
              <a:rPr lang="en-US" altLang="en-US" dirty="0"/>
              <a:t>readers-writers, </a:t>
            </a:r>
          </a:p>
          <a:p>
            <a:pPr marL="914400" lvl="1" indent="-457200">
              <a:lnSpc>
                <a:spcPct val="80000"/>
              </a:lnSpc>
              <a:buFont typeface="+mj-lt"/>
              <a:buAutoNum type="arabicPeriod"/>
            </a:pPr>
            <a:r>
              <a:rPr lang="en-US" altLang="en-US" dirty="0"/>
              <a:t>dining philosophers</a:t>
            </a:r>
          </a:p>
          <a:p>
            <a:pPr>
              <a:lnSpc>
                <a:spcPct val="80000"/>
              </a:lnSpc>
            </a:pPr>
            <a:r>
              <a:rPr lang="en-US" altLang="en-US" dirty="0"/>
              <a:t>Describe the tools used by Linux and Windows to solve synchronization problems.</a:t>
            </a:r>
          </a:p>
          <a:p>
            <a:pPr>
              <a:lnSpc>
                <a:spcPct val="80000"/>
              </a:lnSpc>
            </a:pPr>
            <a:r>
              <a:rPr lang="en-US" altLang="en-US" dirty="0"/>
              <a:t>Illustrate how POSIX and Java can be used to solve process synchronization problems.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A9B67-EB8A-4A32-A509-AD041D33F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AD25F-5495-4211-89A8-1F24345B55A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285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1172D-F9FE-468C-AA80-0495E8538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Bounded-Buffer Problem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9159E5-0B43-4490-968E-F59F4ABA8A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en-US" b="1" i="1" dirty="0"/>
              <a:t>n</a:t>
            </a:r>
            <a:r>
              <a:rPr lang="en-US" altLang="en-US" dirty="0"/>
              <a:t> buffers, each can hold one item</a:t>
            </a:r>
          </a:p>
          <a:p>
            <a:r>
              <a:rPr lang="en-US" altLang="en-US" dirty="0"/>
              <a:t>Semaphore 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mutex</a:t>
            </a:r>
            <a:r>
              <a:rPr lang="en-US" altLang="en-US" dirty="0">
                <a:solidFill>
                  <a:srgbClr val="000000"/>
                </a:solidFill>
              </a:rPr>
              <a:t> i</a:t>
            </a:r>
            <a:r>
              <a:rPr lang="en-US" altLang="en-US" dirty="0"/>
              <a:t>nitialized to the value 1</a:t>
            </a:r>
          </a:p>
          <a:p>
            <a:r>
              <a:rPr lang="en-US" altLang="en-US" dirty="0">
                <a:solidFill>
                  <a:srgbClr val="000000"/>
                </a:solidFill>
              </a:rPr>
              <a:t>Semaphore 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full</a:t>
            </a:r>
            <a:r>
              <a:rPr lang="en-US" altLang="en-US" dirty="0">
                <a:solidFill>
                  <a:srgbClr val="000000"/>
                </a:solidFill>
              </a:rPr>
              <a:t> initialized </a:t>
            </a:r>
            <a:r>
              <a:rPr lang="en-US" altLang="en-US" dirty="0"/>
              <a:t>to the value 0</a:t>
            </a:r>
          </a:p>
          <a:p>
            <a:r>
              <a:rPr lang="en-US" altLang="en-US" dirty="0"/>
              <a:t>Semaphore 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empty </a:t>
            </a:r>
            <a:r>
              <a:rPr lang="en-US" altLang="en-US" dirty="0">
                <a:solidFill>
                  <a:srgbClr val="000000"/>
                </a:solidFill>
              </a:rPr>
              <a:t>initialized </a:t>
            </a:r>
            <a:r>
              <a:rPr lang="en-US" altLang="en-US" dirty="0"/>
              <a:t>to the value n</a:t>
            </a:r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49939D-F113-40D9-8FD4-8E7B6DF9D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AD25F-5495-4211-89A8-1F24345B55A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471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9A87E-346F-4D6F-8750-9B02EDC5F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Bounded-Buffer Problem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BBFE58-2CE6-42D8-8EBB-4C83B8C66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producer process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BEC8740-63AA-4971-9A38-5DF1A93348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en-US" dirty="0"/>
              <a:t>consumer process</a:t>
            </a:r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067933B-7F27-400E-8977-5BA636D215C3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 fontScale="77500" lnSpcReduction="20000"/>
          </a:bodyPr>
          <a:lstStyle/>
          <a:p>
            <a:pPr>
              <a:buFont typeface="Monotype Sorts" pitchFamily="-84" charset="2"/>
              <a:buNone/>
            </a:pPr>
            <a:endParaRPr lang="en-US" altLang="en-US" sz="1400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     </a:t>
            </a:r>
            <a:r>
              <a:rPr lang="en-US" altLang="en-US" sz="1600" b="1" dirty="0">
                <a:latin typeface="Courier New" panose="02070309020205020404" pitchFamily="49" charset="0"/>
              </a:rPr>
              <a:t>while (true) {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...</a:t>
            </a:r>
          </a:p>
          <a:p>
            <a:pPr>
              <a:buFont typeface="Monotype Sorts" pitchFamily="-84" charset="2"/>
              <a:buNone/>
            </a:pP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  /* produce an item in 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next_produced</a:t>
            </a:r>
            <a:r>
              <a:rPr lang="en-US" altLang="en-US" sz="1600" b="1" dirty="0">
                <a:latin typeface="Courier New" panose="02070309020205020404" pitchFamily="49" charset="0"/>
              </a:rPr>
              <a:t>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wait(empty);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wait(mutex);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...</a:t>
            </a:r>
          </a:p>
          <a:p>
            <a:pPr>
              <a:buFont typeface="Monotype Sorts" pitchFamily="-84" charset="2"/>
              <a:buNone/>
            </a:pP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  /* add next produced to the buffer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signal(mutex);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signal(full);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}</a:t>
            </a:r>
            <a:br>
              <a:rPr lang="en-US" altLang="en-US" sz="1400" b="1" dirty="0">
                <a:latin typeface="Courier New" panose="02070309020205020404" pitchFamily="49" charset="0"/>
              </a:rPr>
            </a:br>
            <a:endParaRPr lang="en-US" altLang="en-US" sz="1400" b="1" dirty="0">
              <a:latin typeface="Courier New" panose="02070309020205020404" pitchFamily="49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B647B225-1676-4017-B999-2BE7A42C7F9D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>
          <a:xfrm>
            <a:off x="6172200" y="2505075"/>
            <a:ext cx="5555202" cy="368458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altLang="en-US" sz="1600" dirty="0"/>
          </a:p>
          <a:p>
            <a:pPr>
              <a:buFont typeface="Monotype Sorts" pitchFamily="-84" charset="2"/>
              <a:buNone/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 (true) {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wait(full);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wait(mutex);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...</a:t>
            </a:r>
          </a:p>
          <a:p>
            <a:pPr>
              <a:buFont typeface="Monotype Sorts" pitchFamily="-84" charset="2"/>
              <a:buNone/>
            </a:pPr>
            <a:b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/* remove an item from buffer to  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signal(mutex);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signal(empty);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...</a:t>
            </a:r>
          </a:p>
          <a:p>
            <a:pPr>
              <a:buFont typeface="Monotype Sorts" pitchFamily="-84" charset="2"/>
              <a:buNone/>
            </a:pPr>
            <a:b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/* consume the item in next consumed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...</a:t>
            </a:r>
            <a:b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</a:p>
          <a:p>
            <a:pPr>
              <a:buFont typeface="Monotype Sorts" pitchFamily="-84" charset="2"/>
              <a:buNone/>
            </a:pPr>
            <a:endParaRPr lang="en-US" alt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4B2B27-7A5C-4FF5-ABBE-4D4779C89EC9}"/>
              </a:ext>
            </a:extLst>
          </p:cNvPr>
          <p:cNvSpPr txBox="1"/>
          <p:nvPr/>
        </p:nvSpPr>
        <p:spPr>
          <a:xfrm>
            <a:off x="4197531" y="1260713"/>
            <a:ext cx="18984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Semaphore</a:t>
            </a:r>
          </a:p>
          <a:p>
            <a:r>
              <a:rPr lang="en-US" sz="1600" dirty="0"/>
              <a:t>    mutex =1</a:t>
            </a:r>
          </a:p>
          <a:p>
            <a:r>
              <a:rPr lang="en-US" sz="1600" dirty="0"/>
              <a:t>    empty = n</a:t>
            </a:r>
          </a:p>
          <a:p>
            <a:r>
              <a:rPr lang="en-US" sz="1600" dirty="0"/>
              <a:t>    full = 0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46806D-71B3-413F-A8B5-C8ACBBDF4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AD25F-5495-4211-89A8-1F24345B55A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418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304E2-7291-409F-B3DD-4F6BBF1FD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Bounded Buffer Problem Questions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CD76635-A21C-4FB5-BDF7-FA43752BB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first arriving process is a producer?</a:t>
            </a:r>
          </a:p>
          <a:p>
            <a:r>
              <a:rPr lang="en-US" dirty="0"/>
              <a:t>If the first arriving process is a consumer?</a:t>
            </a:r>
          </a:p>
          <a:p>
            <a:r>
              <a:rPr lang="en-US" dirty="0"/>
              <a:t>If an arriving producer finds a full buffer?</a:t>
            </a:r>
          </a:p>
          <a:p>
            <a:r>
              <a:rPr lang="en-US" dirty="0"/>
              <a:t>If an arriving consumer finds a empty buffer?</a:t>
            </a:r>
          </a:p>
          <a:p>
            <a:r>
              <a:rPr lang="en-US" dirty="0"/>
              <a:t>What is a normal situation for an arriving producer or a consumer?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64FC87-C855-4609-AF90-909012933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AD25F-5495-4211-89A8-1F24345B55A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757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B654E-5879-4B4F-A435-5F67C754D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Readers-Writers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02908-1572-4C44-AA2F-1D6C6DDE5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 data set is shared among a number of concurrent processes</a:t>
            </a:r>
          </a:p>
          <a:p>
            <a:pPr lvl="1"/>
            <a:r>
              <a:rPr lang="en-US" altLang="en-US" b="1" dirty="0"/>
              <a:t>Readers</a:t>
            </a:r>
            <a:r>
              <a:rPr lang="en-US" altLang="en-US" dirty="0"/>
              <a:t> – only read the data set; they do </a:t>
            </a:r>
            <a:r>
              <a:rPr lang="en-US" altLang="en-US" b="1" i="1" dirty="0"/>
              <a:t>not</a:t>
            </a:r>
            <a:r>
              <a:rPr lang="en-US" altLang="en-US" b="1" dirty="0"/>
              <a:t> </a:t>
            </a:r>
            <a:r>
              <a:rPr lang="en-US" altLang="en-US" dirty="0"/>
              <a:t>perform any updates</a:t>
            </a:r>
          </a:p>
          <a:p>
            <a:pPr lvl="1"/>
            <a:r>
              <a:rPr lang="en-US" altLang="en-US" b="1" dirty="0"/>
              <a:t>Writers</a:t>
            </a:r>
            <a:r>
              <a:rPr lang="en-US" altLang="en-US" dirty="0"/>
              <a:t>   – can both read and write</a:t>
            </a:r>
          </a:p>
          <a:p>
            <a:r>
              <a:rPr lang="en-US" altLang="en-US" dirty="0" err="1"/>
              <a:t>Requriment</a:t>
            </a:r>
            <a:endParaRPr lang="en-US" altLang="en-US" dirty="0"/>
          </a:p>
          <a:p>
            <a:pPr lvl="1"/>
            <a:r>
              <a:rPr lang="en-US" altLang="en-US" dirty="0"/>
              <a:t>allow multiple readers to read at the same time</a:t>
            </a:r>
          </a:p>
          <a:p>
            <a:pPr lvl="1"/>
            <a:r>
              <a:rPr lang="en-US" altLang="en-US" dirty="0"/>
              <a:t>Only one single writer can access the shared data at a time</a:t>
            </a:r>
          </a:p>
          <a:p>
            <a:r>
              <a:rPr lang="en-US" altLang="en-US" dirty="0"/>
              <a:t>Variations</a:t>
            </a:r>
          </a:p>
          <a:p>
            <a:pPr lvl="1"/>
            <a:r>
              <a:rPr lang="en-US" altLang="en-US" dirty="0"/>
              <a:t>First readers-writer problem: </a:t>
            </a:r>
            <a:r>
              <a:rPr lang="en-US" b="1" dirty="0"/>
              <a:t>readers-preference</a:t>
            </a:r>
          </a:p>
          <a:p>
            <a:pPr lvl="1"/>
            <a:r>
              <a:rPr lang="en-US" altLang="en-US" dirty="0"/>
              <a:t>Second readers-writer problem: </a:t>
            </a:r>
            <a:r>
              <a:rPr lang="en-US" b="1" dirty="0"/>
              <a:t>writers-preference</a:t>
            </a:r>
          </a:p>
          <a:p>
            <a:pPr lvl="1"/>
            <a:r>
              <a:rPr lang="en-US" dirty="0"/>
              <a:t>Third </a:t>
            </a:r>
            <a:r>
              <a:rPr lang="en-US" altLang="en-US" dirty="0"/>
              <a:t>readers-writer problem: </a:t>
            </a:r>
            <a:r>
              <a:rPr lang="en-US" altLang="en-US" b="1" dirty="0"/>
              <a:t>fairness</a:t>
            </a:r>
            <a:endParaRPr lang="en-US" b="1" dirty="0"/>
          </a:p>
          <a:p>
            <a:pPr marL="457200" lvl="1" indent="0">
              <a:buNone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FA3BE-BB8F-41C8-93FB-61DD8FC2A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AD25F-5495-4211-89A8-1F24345B55A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427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F684-8EC3-47C4-A7F9-7173B3E79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Readers-Writers Problem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E346A-86DC-45CF-98A8-6A2EC3081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Shared Data</a:t>
            </a:r>
          </a:p>
          <a:p>
            <a:pPr lvl="1"/>
            <a:r>
              <a:rPr lang="en-US" altLang="en-US" dirty="0"/>
              <a:t>Data set</a:t>
            </a:r>
          </a:p>
          <a:p>
            <a:pPr lvl="1"/>
            <a:r>
              <a:rPr lang="en-US" altLang="en-US" dirty="0"/>
              <a:t>Semaphore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rw_mutex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dirty="0"/>
              <a:t>initialized to 1</a:t>
            </a:r>
          </a:p>
          <a:p>
            <a:pPr lvl="1"/>
            <a:r>
              <a:rPr lang="en-US" altLang="en-US" dirty="0"/>
              <a:t>Semaphore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mutex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dirty="0"/>
              <a:t>initialized to 1</a:t>
            </a:r>
          </a:p>
          <a:p>
            <a:pPr lvl="1"/>
            <a:r>
              <a:rPr lang="en-US" altLang="en-US" dirty="0"/>
              <a:t>Integer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read_count</a:t>
            </a:r>
            <a:r>
              <a:rPr lang="en-US" altLang="en-US" dirty="0"/>
              <a:t> initialized to 0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9629A-62BC-4A35-AC7C-9BB884EAD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AD25F-5495-4211-89A8-1F24345B55A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45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C5719-DAFC-4DEB-9956-D56465A24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Readers-Writers Problem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68CE68-6566-4B9D-8DF5-DEB85798F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2023644"/>
            <a:ext cx="5157787" cy="38331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Reader Process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372869-5FAF-4D6D-B1A5-C000571776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2" y="2023644"/>
            <a:ext cx="5183188" cy="35272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Writer Process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341D5BC-F3EC-4E0D-8737-2E0437D2BA0E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833436" y="2406955"/>
            <a:ext cx="5157787" cy="4085919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80000"/>
              </a:lnSpc>
              <a:buNone/>
            </a:pPr>
            <a:endParaRPr lang="en-US" altLang="en-US" sz="1600" dirty="0">
              <a:solidFill>
                <a:srgbClr val="0000FF"/>
              </a:solidFill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3500" b="1" dirty="0">
                <a:latin typeface="Courier New" panose="02070309020205020404" pitchFamily="49" charset="0"/>
              </a:rPr>
              <a:t>       </a:t>
            </a:r>
            <a:r>
              <a:rPr lang="en-US" altLang="en-US" sz="5600" b="1" dirty="0">
                <a:latin typeface="Courier New" panose="02070309020205020404" pitchFamily="49" charset="0"/>
              </a:rPr>
              <a:t>while (true){</a:t>
            </a:r>
          </a:p>
          <a:p>
            <a:pPr>
              <a:buFont typeface="Monotype Sorts" pitchFamily="-84" charset="2"/>
              <a:buNone/>
            </a:pPr>
            <a:br>
              <a:rPr lang="en-US" altLang="en-US" sz="5600" b="1" dirty="0">
                <a:latin typeface="Courier New" panose="02070309020205020404" pitchFamily="49" charset="0"/>
              </a:rPr>
            </a:br>
            <a:r>
              <a:rPr lang="en-US" altLang="en-US" sz="5600" b="1" dirty="0">
                <a:latin typeface="Courier New" panose="02070309020205020404" pitchFamily="49" charset="0"/>
              </a:rPr>
              <a:t>    	wait(mutex);</a:t>
            </a:r>
            <a:br>
              <a:rPr lang="en-US" altLang="en-US" sz="5600" b="1" dirty="0">
                <a:latin typeface="Courier New" panose="02070309020205020404" pitchFamily="49" charset="0"/>
              </a:rPr>
            </a:br>
            <a:r>
              <a:rPr lang="en-US" altLang="en-US" sz="5600" b="1" dirty="0">
                <a:latin typeface="Courier New" panose="02070309020205020404" pitchFamily="49" charset="0"/>
              </a:rPr>
              <a:t>      	</a:t>
            </a:r>
            <a:r>
              <a:rPr lang="en-US" altLang="en-US" sz="5600" b="1" dirty="0" err="1">
                <a:latin typeface="Courier New" panose="02070309020205020404" pitchFamily="49" charset="0"/>
              </a:rPr>
              <a:t>read_count</a:t>
            </a:r>
            <a:r>
              <a:rPr lang="en-US" altLang="en-US" sz="5600" b="1" dirty="0">
                <a:latin typeface="Courier New" panose="02070309020205020404" pitchFamily="49" charset="0"/>
              </a:rPr>
              <a:t>++;</a:t>
            </a:r>
            <a:br>
              <a:rPr lang="en-US" altLang="en-US" sz="5600" b="1" dirty="0">
                <a:latin typeface="Courier New" panose="02070309020205020404" pitchFamily="49" charset="0"/>
              </a:rPr>
            </a:br>
            <a:r>
              <a:rPr lang="en-US" altLang="en-US" sz="5600" b="1" dirty="0">
                <a:latin typeface="Courier New" panose="02070309020205020404" pitchFamily="49" charset="0"/>
              </a:rPr>
              <a:t>      	if (</a:t>
            </a:r>
            <a:r>
              <a:rPr lang="en-US" altLang="en-US" sz="5600" b="1" dirty="0" err="1">
                <a:latin typeface="Courier New" panose="02070309020205020404" pitchFamily="49" charset="0"/>
              </a:rPr>
              <a:t>read_count</a:t>
            </a:r>
            <a:r>
              <a:rPr lang="en-US" altLang="en-US" sz="5600" b="1" dirty="0">
                <a:latin typeface="Courier New" panose="02070309020205020404" pitchFamily="49" charset="0"/>
              </a:rPr>
              <a:t> == 1)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5600" b="1" dirty="0">
                <a:latin typeface="Courier New" panose="02070309020205020404" pitchFamily="49" charset="0"/>
              </a:rPr>
              <a:t>		   wait(</a:t>
            </a:r>
            <a:r>
              <a:rPr lang="en-US" altLang="en-US" sz="5600" b="1" dirty="0" err="1">
                <a:latin typeface="Courier New" panose="02070309020205020404" pitchFamily="49" charset="0"/>
              </a:rPr>
              <a:t>rw_mutex</a:t>
            </a:r>
            <a:r>
              <a:rPr lang="en-US" altLang="en-US" sz="5600" b="1" dirty="0">
                <a:latin typeface="Courier New" panose="02070309020205020404" pitchFamily="49" charset="0"/>
              </a:rPr>
              <a:t>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5600" b="1" dirty="0">
                <a:latin typeface="Courier New" panose="02070309020205020404" pitchFamily="49" charset="0"/>
              </a:rPr>
              <a:t>        	signal(mutex);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5600" b="1" dirty="0">
                <a:latin typeface="Courier New" panose="02070309020205020404" pitchFamily="49" charset="0"/>
              </a:rPr>
              <a:t>            ...</a:t>
            </a:r>
          </a:p>
          <a:p>
            <a:pPr>
              <a:buFont typeface="Monotype Sorts" pitchFamily="-84" charset="2"/>
              <a:buNone/>
            </a:pPr>
            <a:br>
              <a:rPr lang="en-US" altLang="en-US" sz="5600" b="1" dirty="0">
                <a:latin typeface="Courier New" panose="02070309020205020404" pitchFamily="49" charset="0"/>
              </a:rPr>
            </a:br>
            <a:r>
              <a:rPr lang="en-US" altLang="en-US" sz="5600" b="1" dirty="0">
                <a:latin typeface="Courier New" panose="02070309020205020404" pitchFamily="49" charset="0"/>
              </a:rPr>
              <a:t>      /* reading is performed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5600" b="1" dirty="0">
                <a:latin typeface="Courier New" panose="02070309020205020404" pitchFamily="49" charset="0"/>
              </a:rPr>
              <a:t>  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5600" b="1" dirty="0">
                <a:latin typeface="Courier New" panose="02070309020205020404" pitchFamily="49" charset="0"/>
              </a:rPr>
              <a:t>      	wait(mutex);</a:t>
            </a:r>
            <a:br>
              <a:rPr lang="en-US" altLang="en-US" sz="5600" b="1" dirty="0">
                <a:latin typeface="Courier New" panose="02070309020205020404" pitchFamily="49" charset="0"/>
              </a:rPr>
            </a:br>
            <a:r>
              <a:rPr lang="en-US" altLang="en-US" sz="5600" b="1" dirty="0">
                <a:latin typeface="Courier New" panose="02070309020205020404" pitchFamily="49" charset="0"/>
              </a:rPr>
              <a:t>     	read count--;</a:t>
            </a:r>
            <a:br>
              <a:rPr lang="en-US" altLang="en-US" sz="5600" b="1" dirty="0">
                <a:latin typeface="Courier New" panose="02070309020205020404" pitchFamily="49" charset="0"/>
              </a:rPr>
            </a:br>
            <a:r>
              <a:rPr lang="en-US" altLang="en-US" sz="5600" b="1" dirty="0">
                <a:latin typeface="Courier New" panose="02070309020205020404" pitchFamily="49" charset="0"/>
              </a:rPr>
              <a:t>     	if (</a:t>
            </a:r>
            <a:r>
              <a:rPr lang="en-US" altLang="en-US" sz="5600" b="1" dirty="0" err="1">
                <a:latin typeface="Courier New" panose="02070309020205020404" pitchFamily="49" charset="0"/>
              </a:rPr>
              <a:t>read_count</a:t>
            </a:r>
            <a:r>
              <a:rPr lang="en-US" altLang="en-US" sz="5600" b="1" dirty="0">
                <a:latin typeface="Courier New" panose="02070309020205020404" pitchFamily="49" charset="0"/>
              </a:rPr>
              <a:t> == 0)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5600" b="1" dirty="0">
                <a:latin typeface="Courier New" panose="02070309020205020404" pitchFamily="49" charset="0"/>
              </a:rPr>
              <a:t>           signal(</a:t>
            </a:r>
            <a:r>
              <a:rPr lang="en-US" altLang="en-US" sz="5600" b="1" dirty="0" err="1">
                <a:latin typeface="Courier New" panose="02070309020205020404" pitchFamily="49" charset="0"/>
              </a:rPr>
              <a:t>rw_mutex</a:t>
            </a:r>
            <a:r>
              <a:rPr lang="en-US" altLang="en-US" sz="5600" b="1" dirty="0">
                <a:latin typeface="Courier New" panose="02070309020205020404" pitchFamily="49" charset="0"/>
              </a:rPr>
              <a:t>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5600" b="1" dirty="0">
                <a:latin typeface="Courier New" panose="02070309020205020404" pitchFamily="49" charset="0"/>
              </a:rPr>
              <a:t>       	signal(mutex);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5600" b="1" dirty="0">
                <a:latin typeface="Courier New" panose="02070309020205020404" pitchFamily="49" charset="0"/>
              </a:rPr>
              <a:t>   }</a:t>
            </a:r>
            <a:br>
              <a:rPr lang="en-US" altLang="en-US" sz="5600" b="1" dirty="0">
                <a:latin typeface="Courier New" panose="02070309020205020404" pitchFamily="49" charset="0"/>
              </a:rPr>
            </a:br>
            <a:endParaRPr lang="en-US" altLang="en-US" sz="56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00FF"/>
                </a:solidFill>
              </a:rPr>
              <a:t>       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E8CE840-26E0-4AE1-A199-2C6FB242E60F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altLang="en-US" sz="1600" dirty="0"/>
          </a:p>
          <a:p>
            <a:pPr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00FF"/>
                </a:solidFill>
              </a:rPr>
              <a:t>       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4300" b="1" dirty="0">
                <a:latin typeface="Courier New" panose="02070309020205020404" pitchFamily="49" charset="0"/>
              </a:rPr>
              <a:t>       </a:t>
            </a:r>
            <a:r>
              <a:rPr lang="en-US" altLang="en-US" sz="5600" b="1" dirty="0">
                <a:latin typeface="Courier New" panose="02070309020205020404" pitchFamily="49" charset="0"/>
              </a:rPr>
              <a:t>while (true) {</a:t>
            </a:r>
          </a:p>
          <a:p>
            <a:pPr>
              <a:buFont typeface="Monotype Sorts" pitchFamily="-84" charset="2"/>
              <a:buNone/>
            </a:pPr>
            <a:br>
              <a:rPr lang="en-US" altLang="en-US" sz="5600" b="1" dirty="0">
                <a:latin typeface="Courier New" panose="02070309020205020404" pitchFamily="49" charset="0"/>
              </a:rPr>
            </a:br>
            <a:r>
              <a:rPr lang="en-US" altLang="en-US" sz="5600" b="1" dirty="0">
                <a:latin typeface="Courier New" panose="02070309020205020404" pitchFamily="49" charset="0"/>
              </a:rPr>
              <a:t>   	wait(</a:t>
            </a:r>
            <a:r>
              <a:rPr lang="en-US" altLang="en-US" sz="5600" b="1" dirty="0" err="1">
                <a:latin typeface="Courier New" panose="02070309020205020404" pitchFamily="49" charset="0"/>
              </a:rPr>
              <a:t>rw_mutex</a:t>
            </a:r>
            <a:r>
              <a:rPr lang="en-US" altLang="en-US" sz="5600" b="1" dirty="0">
                <a:latin typeface="Courier New" panose="02070309020205020404" pitchFamily="49" charset="0"/>
              </a:rPr>
              <a:t>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5600" b="1" dirty="0">
                <a:latin typeface="Courier New" panose="02070309020205020404" pitchFamily="49" charset="0"/>
              </a:rPr>
              <a:t>           ...</a:t>
            </a:r>
          </a:p>
          <a:p>
            <a:pPr>
              <a:buFont typeface="Monotype Sorts" pitchFamily="-84" charset="2"/>
              <a:buNone/>
            </a:pPr>
            <a:br>
              <a:rPr lang="en-US" altLang="en-US" sz="5600" b="1" dirty="0">
                <a:latin typeface="Courier New" panose="02070309020205020404" pitchFamily="49" charset="0"/>
              </a:rPr>
            </a:br>
            <a:r>
              <a:rPr lang="en-US" altLang="en-US" sz="5600" b="1" dirty="0">
                <a:latin typeface="Courier New" panose="02070309020205020404" pitchFamily="49" charset="0"/>
              </a:rPr>
              <a:t>      	/* writing is performed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5600" b="1" dirty="0">
                <a:latin typeface="Courier New" panose="02070309020205020404" pitchFamily="49" charset="0"/>
              </a:rPr>
              <a:t> 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5600" b="1" dirty="0">
                <a:latin typeface="Courier New" panose="02070309020205020404" pitchFamily="49" charset="0"/>
              </a:rPr>
              <a:t>        	signal(</a:t>
            </a:r>
            <a:r>
              <a:rPr lang="en-US" altLang="en-US" sz="5600" b="1" dirty="0" err="1">
                <a:latin typeface="Courier New" panose="02070309020205020404" pitchFamily="49" charset="0"/>
              </a:rPr>
              <a:t>rw_mutex</a:t>
            </a:r>
            <a:r>
              <a:rPr lang="en-US" altLang="en-US" sz="5600" b="1" dirty="0">
                <a:latin typeface="Courier New" panose="02070309020205020404" pitchFamily="49" charset="0"/>
              </a:rPr>
              <a:t>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5600" b="1" dirty="0">
                <a:latin typeface="Courier New" panose="02070309020205020404" pitchFamily="49" charset="0"/>
              </a:rPr>
              <a:t>     }</a:t>
            </a:r>
          </a:p>
          <a:p>
            <a:pPr>
              <a:buFont typeface="Monotype Sorts" pitchFamily="-84" charset="2"/>
              <a:buNone/>
            </a:pPr>
            <a:endParaRPr lang="en-US" altLang="en-US" sz="5600" dirty="0">
              <a:solidFill>
                <a:srgbClr val="0000FF"/>
              </a:solidFill>
            </a:endParaRPr>
          </a:p>
          <a:p>
            <a:pPr>
              <a:buFont typeface="Monotype Sorts" pitchFamily="-84" charset="2"/>
              <a:buNone/>
            </a:pPr>
            <a:endParaRPr lang="en-US" altLang="en-US" sz="4300" dirty="0">
              <a:solidFill>
                <a:srgbClr val="0000FF"/>
              </a:solidFill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4300" dirty="0">
                <a:solidFill>
                  <a:srgbClr val="0000FF"/>
                </a:solidFill>
              </a:rPr>
              <a:t>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81E617-E3B1-46E7-8C0D-C22813DD93A0}"/>
              </a:ext>
            </a:extLst>
          </p:cNvPr>
          <p:cNvSpPr txBox="1"/>
          <p:nvPr/>
        </p:nvSpPr>
        <p:spPr>
          <a:xfrm>
            <a:off x="4398098" y="1229023"/>
            <a:ext cx="15994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mutex  = 1</a:t>
            </a:r>
          </a:p>
          <a:p>
            <a:r>
              <a:rPr lang="en-US" dirty="0" err="1"/>
              <a:t>rw_mutex</a:t>
            </a:r>
            <a:r>
              <a:rPr lang="en-US" dirty="0"/>
              <a:t> = 1</a:t>
            </a:r>
          </a:p>
          <a:p>
            <a:r>
              <a:rPr lang="en-US" dirty="0" err="1"/>
              <a:t>read_count</a:t>
            </a:r>
            <a:r>
              <a:rPr lang="en-US" dirty="0"/>
              <a:t> = 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5E91E2-C384-4F98-8E0F-FAEB972B4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AD25F-5495-4211-89A8-1F24345B55A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707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6D36B-F91E-48CE-8DEF-5E0660D42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Readers-Writers Problem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80F20A-235C-432A-AB07-2053C14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750080"/>
            <a:ext cx="5157787" cy="34780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Reader Process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C7A17B-D6E4-48D8-9441-E885EE9ACE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1" y="2336399"/>
            <a:ext cx="5157787" cy="368458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If the first process is a reader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If an arriving reader finds one or more readers is reading</a:t>
            </a:r>
          </a:p>
          <a:p>
            <a:endParaRPr lang="en-US" dirty="0"/>
          </a:p>
          <a:p>
            <a:r>
              <a:rPr lang="en-US" dirty="0"/>
              <a:t>If an arriving reader finds one writer is writing</a:t>
            </a:r>
          </a:p>
          <a:p>
            <a:pPr lvl="1"/>
            <a:r>
              <a:rPr lang="en-US" dirty="0"/>
              <a:t>First waiting reader</a:t>
            </a:r>
          </a:p>
          <a:p>
            <a:pPr lvl="1"/>
            <a:r>
              <a:rPr lang="en-US" dirty="0"/>
              <a:t>Later waiting reader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540032-EC32-4D38-B177-0B1B3F2223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26198"/>
            <a:ext cx="5183188" cy="40719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Writer Process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9B620F-57CC-4565-B3D0-E6F9539AF7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9024" y="2336399"/>
            <a:ext cx="5183188" cy="368458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If the first process is a writer</a:t>
            </a:r>
          </a:p>
          <a:p>
            <a:endParaRPr lang="en-US" dirty="0"/>
          </a:p>
          <a:p>
            <a:r>
              <a:rPr lang="en-US" dirty="0"/>
              <a:t>If an arriving writer finds one or more readers is reading</a:t>
            </a:r>
          </a:p>
          <a:p>
            <a:endParaRPr lang="en-US" dirty="0"/>
          </a:p>
          <a:p>
            <a:r>
              <a:rPr lang="en-US" dirty="0"/>
              <a:t>If an arriving writer finds one writer is writing</a:t>
            </a:r>
          </a:p>
          <a:p>
            <a:pPr lvl="1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43A796-19DA-4970-A310-7BB2D6054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AD25F-5495-4211-89A8-1F24345B55A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867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5CA8E-F564-48B1-8BD3-FA8D8A53D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Readers-Writers Problem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26FDE9C-6504-4348-AC17-B6B4D69CC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Queues</a:t>
            </a:r>
          </a:p>
          <a:p>
            <a:r>
              <a:rPr lang="en-US" dirty="0" err="1"/>
              <a:t>rw_mutex</a:t>
            </a:r>
            <a:r>
              <a:rPr lang="en-US" dirty="0"/>
              <a:t> waiting queue</a:t>
            </a:r>
          </a:p>
          <a:p>
            <a:pPr lvl="1"/>
            <a:r>
              <a:rPr lang="en-US" dirty="0"/>
              <a:t>who</a:t>
            </a:r>
          </a:p>
          <a:p>
            <a:pPr lvl="1"/>
            <a:r>
              <a:rPr lang="en-US" dirty="0"/>
              <a:t>when</a:t>
            </a:r>
          </a:p>
          <a:p>
            <a:pPr lvl="1"/>
            <a:r>
              <a:rPr lang="en-US" dirty="0"/>
              <a:t>why</a:t>
            </a:r>
          </a:p>
          <a:p>
            <a:pPr lvl="1"/>
            <a:r>
              <a:rPr lang="en-US" dirty="0"/>
              <a:t>Purpose (goal)</a:t>
            </a:r>
          </a:p>
          <a:p>
            <a:endParaRPr lang="en-US" dirty="0"/>
          </a:p>
          <a:p>
            <a:r>
              <a:rPr lang="en-US" dirty="0"/>
              <a:t>mutex waiting queue</a:t>
            </a:r>
          </a:p>
          <a:p>
            <a:pPr lvl="1"/>
            <a:r>
              <a:rPr lang="en-US" dirty="0"/>
              <a:t>who</a:t>
            </a:r>
          </a:p>
          <a:p>
            <a:pPr lvl="1"/>
            <a:r>
              <a:rPr lang="en-US" dirty="0"/>
              <a:t>when</a:t>
            </a:r>
          </a:p>
          <a:p>
            <a:pPr lvl="1"/>
            <a:r>
              <a:rPr lang="en-US" dirty="0"/>
              <a:t>why</a:t>
            </a:r>
          </a:p>
          <a:p>
            <a:pPr lvl="1"/>
            <a:r>
              <a:rPr lang="en-US" dirty="0"/>
              <a:t>Purpose (goal)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60AE0B-BC0C-4420-A858-04B8933A3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AD25F-5495-4211-89A8-1F24345B55A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925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606C7-6426-4C54-903D-9C12F96E4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Readers-Writers Problem Variations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0F015-DDE4-4003-A81E-98AF5D175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i="1" dirty="0"/>
              <a:t>First</a:t>
            </a:r>
            <a:r>
              <a:rPr lang="en-US" altLang="en-US" i="1" dirty="0"/>
              <a:t>  </a:t>
            </a:r>
            <a:r>
              <a:rPr lang="en-US" altLang="en-US" dirty="0"/>
              <a:t>variation – no reader kept waiting unless writer has permission to use shared object</a:t>
            </a:r>
          </a:p>
          <a:p>
            <a:r>
              <a:rPr lang="en-US" altLang="en-US" b="1" i="1" dirty="0"/>
              <a:t>Second</a:t>
            </a:r>
            <a:r>
              <a:rPr lang="en-US" altLang="en-US" i="1" dirty="0"/>
              <a:t> </a:t>
            </a:r>
            <a:r>
              <a:rPr lang="en-US" altLang="en-US" dirty="0"/>
              <a:t>variation – once writer is ready, it performs the write ASAP</a:t>
            </a:r>
          </a:p>
          <a:p>
            <a:r>
              <a:rPr lang="en-US" altLang="en-US" dirty="0"/>
              <a:t>Both may have starvation leading to even more variations</a:t>
            </a:r>
          </a:p>
          <a:p>
            <a:r>
              <a:rPr lang="en-US" altLang="en-US" dirty="0"/>
              <a:t>Problem is solved on some systems by kernel providing </a:t>
            </a:r>
            <a:r>
              <a:rPr lang="en-US" altLang="en-US" b="1" dirty="0"/>
              <a:t>reader-writer locks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76AD6-5E0F-4882-A804-BFB1AADA3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AD25F-5495-4211-89A8-1F24345B55A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19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B5213-2819-4489-8C54-BE181FF73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Dinning-Philosophers Problem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2233C9-975B-4E65-A41E-CA60F4218A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984071" y="2171853"/>
            <a:ext cx="6441490" cy="3980372"/>
          </a:xfrm>
        </p:spPr>
        <p:txBody>
          <a:bodyPr>
            <a:normAutofit/>
          </a:bodyPr>
          <a:lstStyle/>
          <a:p>
            <a:pPr>
              <a:tabLst>
                <a:tab pos="1365250" algn="l"/>
                <a:tab pos="1538288" algn="l"/>
              </a:tabLst>
            </a:pPr>
            <a:r>
              <a:rPr lang="en-US" altLang="en-US" sz="2000" dirty="0"/>
              <a:t>Philosophers spend their lives alternating thinking and eating</a:t>
            </a:r>
          </a:p>
          <a:p>
            <a:pPr>
              <a:tabLst>
                <a:tab pos="1365250" algn="l"/>
                <a:tab pos="1538288" algn="l"/>
              </a:tabLst>
            </a:pPr>
            <a:r>
              <a:rPr lang="en-US" altLang="en-US" sz="2000" dirty="0"/>
              <a:t>Don’</a:t>
            </a:r>
            <a:r>
              <a:rPr lang="en-US" altLang="ja-JP" sz="2000" dirty="0"/>
              <a:t>t interact with their neighbors, occasionally try to pick up 2 chopsticks (</a:t>
            </a:r>
            <a:r>
              <a:rPr lang="en-US" altLang="ja-JP" sz="2000" b="1" dirty="0"/>
              <a:t>one at a time</a:t>
            </a:r>
            <a:r>
              <a:rPr lang="en-US" altLang="ja-JP" sz="2000" dirty="0"/>
              <a:t>) to eat from bowl</a:t>
            </a:r>
          </a:p>
          <a:p>
            <a:pPr lvl="1">
              <a:tabLst>
                <a:tab pos="1365250" algn="l"/>
                <a:tab pos="1538288" algn="l"/>
              </a:tabLst>
            </a:pPr>
            <a:r>
              <a:rPr lang="en-US" altLang="en-US" sz="2000" dirty="0"/>
              <a:t>Need both to eat, then release both when done</a:t>
            </a:r>
          </a:p>
          <a:p>
            <a:pPr>
              <a:tabLst>
                <a:tab pos="1365250" algn="l"/>
                <a:tab pos="1538288" algn="l"/>
              </a:tabLst>
            </a:pPr>
            <a:r>
              <a:rPr lang="en-US" altLang="en-US" sz="2000" dirty="0"/>
              <a:t>In the case of 5 philosophers</a:t>
            </a:r>
          </a:p>
          <a:p>
            <a:pPr lvl="1">
              <a:tabLst>
                <a:tab pos="1365250" algn="l"/>
                <a:tab pos="1538288" algn="l"/>
              </a:tabLst>
            </a:pPr>
            <a:r>
              <a:rPr lang="en-US" altLang="en-US" sz="2000" dirty="0"/>
              <a:t>Shared data </a:t>
            </a:r>
          </a:p>
          <a:p>
            <a:pPr lvl="2">
              <a:tabLst>
                <a:tab pos="1365250" algn="l"/>
                <a:tab pos="1538288" algn="l"/>
              </a:tabLst>
            </a:pPr>
            <a:r>
              <a:rPr lang="en-US" altLang="en-US" dirty="0"/>
              <a:t>Bowl of rice (data set)</a:t>
            </a:r>
          </a:p>
          <a:p>
            <a:pPr lvl="2">
              <a:tabLst>
                <a:tab pos="1365250" algn="l"/>
                <a:tab pos="1538288" algn="l"/>
              </a:tabLst>
            </a:pPr>
            <a:r>
              <a:rPr lang="en-US" altLang="en-US" dirty="0"/>
              <a:t>Semaphore </a:t>
            </a:r>
            <a:r>
              <a:rPr lang="en-US" altLang="en-US" dirty="0">
                <a:solidFill>
                  <a:srgbClr val="FF0000"/>
                </a:solidFill>
              </a:rPr>
              <a:t>chopstick [5]</a:t>
            </a:r>
            <a:r>
              <a:rPr lang="en-US" altLang="en-US" dirty="0"/>
              <a:t> initialized to 1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6E3454B-96BF-4AFD-8B19-601F12865EC1}"/>
              </a:ext>
            </a:extLst>
          </p:cNvPr>
          <p:cNvGrpSpPr/>
          <p:nvPr/>
        </p:nvGrpSpPr>
        <p:grpSpPr>
          <a:xfrm>
            <a:off x="460354" y="2010244"/>
            <a:ext cx="3686072" cy="3276274"/>
            <a:chOff x="460354" y="2010244"/>
            <a:chExt cx="3686072" cy="3276274"/>
          </a:xfrm>
        </p:grpSpPr>
        <p:pic>
          <p:nvPicPr>
            <p:cNvPr id="5" name="Picture 1">
              <a:extLst>
                <a:ext uri="{FF2B5EF4-FFF2-40B4-BE49-F238E27FC236}">
                  <a16:creationId xmlns:a16="http://schemas.microsoft.com/office/drawing/2014/main" id="{0681CCA1-A524-4ABF-A8A8-0B283ACC4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9041" y="2379576"/>
              <a:ext cx="2523887" cy="2426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E2E1B12-F8F3-4D5D-83A0-9CDECFE99A33}"/>
                </a:ext>
              </a:extLst>
            </p:cNvPr>
            <p:cNvSpPr txBox="1"/>
            <p:nvPr/>
          </p:nvSpPr>
          <p:spPr>
            <a:xfrm>
              <a:off x="2980129" y="2010244"/>
              <a:ext cx="4203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3148B9C-A815-4887-BD08-219375FDAA43}"/>
                </a:ext>
              </a:extLst>
            </p:cNvPr>
            <p:cNvSpPr txBox="1"/>
            <p:nvPr/>
          </p:nvSpPr>
          <p:spPr>
            <a:xfrm>
              <a:off x="2138426" y="2010244"/>
              <a:ext cx="4251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AEFA3C5-0D31-4B67-8583-939947C3D3BB}"/>
                </a:ext>
              </a:extLst>
            </p:cNvPr>
            <p:cNvSpPr txBox="1"/>
            <p:nvPr/>
          </p:nvSpPr>
          <p:spPr>
            <a:xfrm>
              <a:off x="3278776" y="2883798"/>
              <a:ext cx="4251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DAAC943-5370-4FF5-964E-C33666C8D80D}"/>
                </a:ext>
              </a:extLst>
            </p:cNvPr>
            <p:cNvSpPr txBox="1"/>
            <p:nvPr/>
          </p:nvSpPr>
          <p:spPr>
            <a:xfrm>
              <a:off x="3726118" y="3816164"/>
              <a:ext cx="4203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P4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C72BB25-02CC-4175-9AB1-34B678495CFE}"/>
                </a:ext>
              </a:extLst>
            </p:cNvPr>
            <p:cNvSpPr txBox="1"/>
            <p:nvPr/>
          </p:nvSpPr>
          <p:spPr>
            <a:xfrm>
              <a:off x="1234113" y="2083477"/>
              <a:ext cx="4203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B1B9E93-5443-4F32-8638-9036DC161A94}"/>
                </a:ext>
              </a:extLst>
            </p:cNvPr>
            <p:cNvSpPr txBox="1"/>
            <p:nvPr/>
          </p:nvSpPr>
          <p:spPr>
            <a:xfrm>
              <a:off x="460354" y="3792707"/>
              <a:ext cx="4203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8D2362A-7745-4A0F-85CB-C993DF125C04}"/>
                </a:ext>
              </a:extLst>
            </p:cNvPr>
            <p:cNvSpPr txBox="1"/>
            <p:nvPr/>
          </p:nvSpPr>
          <p:spPr>
            <a:xfrm>
              <a:off x="2146954" y="4917186"/>
              <a:ext cx="4203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P3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1DCDC47-97D6-4240-A2C1-2B9F123C8766}"/>
                </a:ext>
              </a:extLst>
            </p:cNvPr>
            <p:cNvSpPr txBox="1"/>
            <p:nvPr/>
          </p:nvSpPr>
          <p:spPr>
            <a:xfrm>
              <a:off x="959711" y="2889500"/>
              <a:ext cx="4251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E14EEDC-82C6-411B-B1EC-D1E53B5A4487}"/>
                </a:ext>
              </a:extLst>
            </p:cNvPr>
            <p:cNvSpPr txBox="1"/>
            <p:nvPr/>
          </p:nvSpPr>
          <p:spPr>
            <a:xfrm>
              <a:off x="1444267" y="4405192"/>
              <a:ext cx="4251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C3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5F8A6F6-F14F-4696-A84F-7E88D1C82CBD}"/>
                </a:ext>
              </a:extLst>
            </p:cNvPr>
            <p:cNvSpPr txBox="1"/>
            <p:nvPr/>
          </p:nvSpPr>
          <p:spPr>
            <a:xfrm>
              <a:off x="2968059" y="4322051"/>
              <a:ext cx="4251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C4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4C7ECF-7419-4628-9121-9E5E0E9FC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AD25F-5495-4211-89A8-1F24345B55A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788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2DF8411-1864-4B5F-BC88-2538456C3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DP Semaphore Solution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BDEEC12-CC83-4E99-BE97-0DA45F310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13500" y="2272683"/>
            <a:ext cx="3889468" cy="694739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Any problem with this algorithm?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12EE0D4F-C93C-4236-AEEF-EEE4CBE4AAAA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1274763" y="1376039"/>
            <a:ext cx="6759528" cy="3870664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90000"/>
              </a:lnSpc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5100" dirty="0"/>
              <a:t>Structure of Philosopher</a:t>
            </a:r>
            <a:r>
              <a:rPr lang="en-US" altLang="en-US" sz="5100" i="1" dirty="0">
                <a:solidFill>
                  <a:srgbClr val="0000FF"/>
                </a:solidFill>
              </a:rPr>
              <a:t> i</a:t>
            </a:r>
            <a:r>
              <a:rPr lang="en-US" altLang="en-US" sz="5100" dirty="0"/>
              <a:t>:</a:t>
            </a:r>
          </a:p>
          <a:p>
            <a:pPr marL="0" indent="0">
              <a:lnSpc>
                <a:spcPct val="90000"/>
              </a:lnSpc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dirty="0"/>
          </a:p>
          <a:p>
            <a:pPr marL="738188" lvl="1" indent="-338138"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4000" b="1" dirty="0">
                <a:solidFill>
                  <a:srgbClr val="000000"/>
                </a:solidFill>
                <a:latin typeface="Courier New" panose="02070309020205020404" pitchFamily="49" charset="0"/>
              </a:rPr>
              <a:t>while (true){ </a:t>
            </a:r>
          </a:p>
          <a:p>
            <a:pPr marL="738188" lvl="1" indent="-338138"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4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wait (chopstick[</a:t>
            </a:r>
            <a:r>
              <a:rPr lang="en-US" altLang="en-US" sz="4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4000" b="1" dirty="0">
                <a:solidFill>
                  <a:srgbClr val="000000"/>
                </a:solidFill>
                <a:latin typeface="Courier New" panose="02070309020205020404" pitchFamily="49" charset="0"/>
              </a:rPr>
              <a:t>] );</a:t>
            </a:r>
          </a:p>
          <a:p>
            <a:pPr marL="738188" lvl="1" indent="-338138"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4000" b="1" dirty="0">
                <a:solidFill>
                  <a:srgbClr val="000000"/>
                </a:solidFill>
                <a:latin typeface="Courier New" panose="02070309020205020404" pitchFamily="49" charset="0"/>
              </a:rPr>
              <a:t>	 wait (</a:t>
            </a:r>
            <a:r>
              <a:rPr lang="en-US" altLang="en-US" sz="4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chopStick</a:t>
            </a:r>
            <a:r>
              <a:rPr lang="en-US" altLang="en-US" sz="4000" b="1" dirty="0">
                <a:solidFill>
                  <a:srgbClr val="000000"/>
                </a:solidFill>
                <a:latin typeface="Courier New" panose="02070309020205020404" pitchFamily="49" charset="0"/>
              </a:rPr>
              <a:t>[ (</a:t>
            </a:r>
            <a:r>
              <a:rPr lang="en-US" altLang="en-US" sz="4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40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+ 1) % 5] );</a:t>
            </a:r>
          </a:p>
          <a:p>
            <a:pPr marL="738188" lvl="1" indent="-338138"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40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 marL="738188" lvl="1" indent="-338138"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40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/* eat for awhile */</a:t>
            </a:r>
          </a:p>
          <a:p>
            <a:pPr marL="738188" lvl="1" indent="-338138"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sz="4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738188" lvl="1" indent="-338138"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4000" b="1" dirty="0">
                <a:solidFill>
                  <a:srgbClr val="000000"/>
                </a:solidFill>
                <a:latin typeface="Courier New" panose="02070309020205020404" pitchFamily="49" charset="0"/>
              </a:rPr>
              <a:t>	 signal (chopstick[</a:t>
            </a:r>
            <a:r>
              <a:rPr lang="en-US" altLang="en-US" sz="4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4000" b="1" dirty="0">
                <a:solidFill>
                  <a:srgbClr val="000000"/>
                </a:solidFill>
                <a:latin typeface="Courier New" panose="02070309020205020404" pitchFamily="49" charset="0"/>
              </a:rPr>
              <a:t>] );</a:t>
            </a:r>
          </a:p>
          <a:p>
            <a:pPr marL="738188" lvl="1" indent="-338138"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4000" b="1" dirty="0">
                <a:solidFill>
                  <a:srgbClr val="000000"/>
                </a:solidFill>
                <a:latin typeface="Courier New" panose="02070309020205020404" pitchFamily="49" charset="0"/>
              </a:rPr>
              <a:t>	 signal (chopstick[ (</a:t>
            </a:r>
            <a:r>
              <a:rPr lang="en-US" altLang="en-US" sz="4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40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+ 1) % 5] );</a:t>
            </a:r>
          </a:p>
          <a:p>
            <a:pPr marL="738188" lvl="1" indent="-338138"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40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 marL="738188" lvl="1" indent="-338138"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40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/* think for awhile */</a:t>
            </a:r>
          </a:p>
          <a:p>
            <a:pPr marL="738188" lvl="1" indent="-338138"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sz="4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738188" lvl="1" indent="-338138"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40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lang="en-US" altLang="en-US" sz="4000" dirty="0">
              <a:solidFill>
                <a:srgbClr val="0000FF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87876C6-2569-4CA3-B558-62F3995E9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6658" y="3164640"/>
            <a:ext cx="2964301" cy="266405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59C1F6F-5D92-45F0-8676-C188F7CC9C50}"/>
              </a:ext>
            </a:extLst>
          </p:cNvPr>
          <p:cNvSpPr txBox="1"/>
          <p:nvPr/>
        </p:nvSpPr>
        <p:spPr>
          <a:xfrm>
            <a:off x="6096000" y="1506022"/>
            <a:ext cx="1477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Left chopstick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9E58226-91AF-4250-A356-D75D0567244A}"/>
              </a:ext>
            </a:extLst>
          </p:cNvPr>
          <p:cNvCxnSpPr/>
          <p:nvPr/>
        </p:nvCxnSpPr>
        <p:spPr>
          <a:xfrm flipH="1">
            <a:off x="4660777" y="1690688"/>
            <a:ext cx="1435223" cy="510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B7FC98-6A9D-4110-8594-170F77FFB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AD25F-5495-4211-89A8-1F24345B55A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94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72060-7BE1-4020-B4C1-8DAF87DD4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DP Monitor Solution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85097A1-BF1E-489C-BB7F-EC51507F8253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838200" y="1470518"/>
            <a:ext cx="5181600" cy="4351338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monitor </a:t>
            </a:r>
            <a:r>
              <a:rPr lang="en-US" altLang="en-US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DiningPhilosophers</a:t>
            </a:r>
            <a:endParaRPr lang="en-US" altLang="en-US" sz="14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enum</a:t>
            </a:r>
            <a:r>
              <a:rPr lang="en-US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{ THINKING; HUNGRY, EATING) state [5] 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	condition self [5];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4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	void pickup (int </a:t>
            </a:r>
            <a:r>
              <a:rPr lang="en-US" altLang="en-US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)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state[</a:t>
            </a:r>
            <a:r>
              <a:rPr lang="en-US" altLang="en-US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] = HUNGRY;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test(</a:t>
            </a:r>
            <a:r>
              <a:rPr lang="en-US" altLang="en-US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if (state[</a:t>
            </a:r>
            <a:r>
              <a:rPr lang="en-US" altLang="en-US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] != EATING) self[</a:t>
            </a:r>
            <a:r>
              <a:rPr lang="en-US" altLang="en-US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].wait;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void putdown (int </a:t>
            </a:r>
            <a:r>
              <a:rPr lang="en-US" altLang="en-US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)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state[</a:t>
            </a:r>
            <a:r>
              <a:rPr lang="en-US" altLang="en-US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] = THINKING;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// test left and right neighbors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 test((</a:t>
            </a:r>
            <a:r>
              <a:rPr lang="en-US" altLang="en-US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+ 4) % 5);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 test((</a:t>
            </a:r>
            <a:r>
              <a:rPr lang="en-US" altLang="en-US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+ 1) % 5);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 dirty="0">
                <a:solidFill>
                  <a:srgbClr val="0000FF"/>
                </a:solidFill>
              </a:rPr>
              <a:t>	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3FA0E0B-7E23-4CF7-88E5-4E783A73BFFA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172202" y="1470518"/>
            <a:ext cx="5181600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void test (int </a:t>
            </a:r>
            <a:r>
              <a:rPr lang="en-US" altLang="en-US" sz="15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)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if ((state[(</a:t>
            </a:r>
            <a:r>
              <a:rPr lang="en-US" altLang="en-US" sz="15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+ 4) % 5] != EATING) &amp;&amp;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 (state[</a:t>
            </a:r>
            <a:r>
              <a:rPr lang="en-US" altLang="en-US" sz="15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] == HUNGRY) &amp;&amp;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 (state[(</a:t>
            </a:r>
            <a:r>
              <a:rPr lang="en-US" altLang="en-US" sz="15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+ 1) % 5] != EATING) )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state[</a:t>
            </a:r>
            <a:r>
              <a:rPr lang="en-US" altLang="en-US" sz="15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] = EATING 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self[</a:t>
            </a:r>
            <a:r>
              <a:rPr lang="en-US" altLang="en-US" sz="15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].signal () 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5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altLang="en-US" sz="15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initialization_code</a:t>
            </a:r>
            <a:r>
              <a:rPr lang="en-US" alt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()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for (int </a:t>
            </a:r>
            <a:r>
              <a:rPr lang="en-US" altLang="en-US" sz="15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0; </a:t>
            </a:r>
            <a:r>
              <a:rPr lang="en-US" altLang="en-US" sz="15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 &lt; 5; </a:t>
            </a:r>
            <a:r>
              <a:rPr lang="en-US" altLang="en-US" sz="15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++)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    state[</a:t>
            </a:r>
            <a:r>
              <a:rPr lang="en-US" altLang="en-US" sz="15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] = THINKING;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	 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5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E9CD8E-786B-480D-974D-FF9E5C2C8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AD25F-5495-4211-89A8-1F24345B55A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869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0B64D-6EE4-460B-BAC2-1F0E9E4FD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DP Monitor Solution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051227-DB2E-4948-8EFC-30276E364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Deadlock?</a:t>
            </a:r>
          </a:p>
          <a:p>
            <a:endParaRPr lang="en-US" dirty="0"/>
          </a:p>
          <a:p>
            <a:r>
              <a:rPr lang="en-US" dirty="0"/>
              <a:t>Starvation?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357161-BF0A-4335-BB17-B114661D9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AD25F-5495-4211-89A8-1F24345B55A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568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1078</Words>
  <Application>Microsoft Office PowerPoint</Application>
  <PresentationFormat>Widescreen</PresentationFormat>
  <Paragraphs>223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游ゴシック</vt:lpstr>
      <vt:lpstr>Arial</vt:lpstr>
      <vt:lpstr>Calibri</vt:lpstr>
      <vt:lpstr>Calibri Light</vt:lpstr>
      <vt:lpstr>Courier New</vt:lpstr>
      <vt:lpstr>Monotype Sorts</vt:lpstr>
      <vt:lpstr>Office Theme</vt:lpstr>
      <vt:lpstr>Synchronization Examples Lesson 1 Introduction</vt:lpstr>
      <vt:lpstr>Unit Learning Outcomes</vt:lpstr>
      <vt:lpstr>Bounded-Buffer Problem</vt:lpstr>
      <vt:lpstr>Bounded-Buffer Problem</vt:lpstr>
      <vt:lpstr>Bounded Buffer Problem Questions</vt:lpstr>
      <vt:lpstr>Readers-Writers Problem</vt:lpstr>
      <vt:lpstr>Readers-Writers Problem</vt:lpstr>
      <vt:lpstr>Readers-Writers Problem</vt:lpstr>
      <vt:lpstr>Readers-Writers Problem</vt:lpstr>
      <vt:lpstr>Readers-Writers Problem</vt:lpstr>
      <vt:lpstr>Readers-Writers Problem Variations</vt:lpstr>
      <vt:lpstr>Dinning-Philosophers Problem</vt:lpstr>
      <vt:lpstr>DP Semaphore Solution</vt:lpstr>
      <vt:lpstr>DP Monitor Solution</vt:lpstr>
      <vt:lpstr>DP Monitor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Synchronization Examples Lesson 1 Introduction</dc:title>
  <dc:creator>David Liu</dc:creator>
  <cp:lastModifiedBy>David Liu</cp:lastModifiedBy>
  <cp:revision>30</cp:revision>
  <dcterms:created xsi:type="dcterms:W3CDTF">2021-11-01T14:56:47Z</dcterms:created>
  <dcterms:modified xsi:type="dcterms:W3CDTF">2022-03-15T15:46:38Z</dcterms:modified>
</cp:coreProperties>
</file>