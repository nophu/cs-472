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436" r:id="rId3"/>
    <p:sldId id="437" r:id="rId4"/>
    <p:sldId id="438" r:id="rId5"/>
    <p:sldId id="442" r:id="rId6"/>
    <p:sldId id="443" r:id="rId7"/>
    <p:sldId id="439" r:id="rId8"/>
    <p:sldId id="440" r:id="rId9"/>
    <p:sldId id="441" r:id="rId10"/>
    <p:sldId id="445" r:id="rId11"/>
    <p:sldId id="444" r:id="rId12"/>
    <p:sldId id="446" r:id="rId13"/>
    <p:sldId id="447" r:id="rId14"/>
    <p:sldId id="448" r:id="rId15"/>
    <p:sldId id="449" r:id="rId16"/>
    <p:sldId id="450" r:id="rId17"/>
    <p:sldId id="424" r:id="rId18"/>
    <p:sldId id="426" r:id="rId19"/>
    <p:sldId id="42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5847E-996F-4F52-9FAD-94DFDD5C9660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607DD-C435-4675-AD12-16122AF21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2501F19A-AF5D-468C-918B-462D88D29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FCA399-8491-4BFC-A4EA-882ABBBE2AF1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B19C042-61F1-44F0-ACEA-FA51CA0988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BE4C3E2-6E96-4B99-9E10-F9C2BCCD4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BB169C3-504D-41D8-83E3-2863FC4A8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BA22AD-E179-4C87-86F4-D7D716281822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2588EF6D-28FA-42C4-BBAA-96DC6B67B7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4B987D7F-CD9A-4959-A38B-99164D55C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506E454-4D37-4759-8167-D8E282421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1D84E1-A533-4CE0-A752-7FD77E0C7129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4F0018B6-7148-4E9B-84B1-05E68ED6C2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5B12E01F-5FFC-4EB2-9D0D-26495ACDF6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6478-2AC0-4621-8B61-FA406A2A3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50384-FAAD-456E-AFE8-67CE48289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C767-1EF0-4B94-B002-30F87783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D3C5-6633-4440-9FA9-ABB219A9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D3231-7A76-4DDD-AF88-B3546AF5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2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6A32-5D55-425C-B49F-3ABE250C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27CF9-9A39-487E-B120-E527F5B5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F032A-F982-4856-95B9-506DCEDB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2C4BD-78A7-44F6-B21D-0C38784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B04A5-0CD5-4464-B00B-620863F5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5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E605-6B3E-476A-B459-A001937A3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ED0B4-F716-499B-A77D-D76B020B3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5B4F6-93F6-42B4-84FB-6CEA4B934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664BF-0B73-46DD-ACC5-E56F6B2A2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9DFCC-2DCF-4842-914F-769073FD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914D-C693-4E2D-9372-D27C25691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0FC0D-5FCF-49A5-B290-5571AC61D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5DB5-EE8D-4136-B988-EC815AE66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9C834-72F7-4C47-8C7B-D6BBF1A5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D6BDA-9C3A-43BC-92D5-147D3DAD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B0D72-3F18-41ED-998B-ED83E8941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4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E4078-B049-4D9D-8AFF-51A2024D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06EB4-82A3-4B3B-ADBA-E0D727283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73C59-5A3E-433A-9D7B-F1234783C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B0853-A299-4C09-9C26-8140F2087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9945A-7FC7-43A5-B437-DC2D1C09B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45CF6-E093-4007-8DB8-9D02CD05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34DA4-B3E6-4677-B208-25A1485E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1384E5-C925-44D6-8E63-F0239F54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1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C3FA-0235-4588-ADB8-FCF7C0A6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484E2-FDE0-4A3F-8446-1A815DB1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7A6AD-BCF9-4A94-A76B-E8EC1AA2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CECC4-9EFB-4028-9F93-D58F315E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5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1FAA2-7207-4B07-AED5-76A5BF2E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BFDBE-C6E7-4BE6-B46D-F31F84A46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60DDA-34D6-48D9-BF6B-F50D75BF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3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6589-6DE5-46D9-A8CD-CFF63DD0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0ED36-4B51-4090-A727-F61F2B0B5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C9269-8D77-4370-9C7D-327F29982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0AFB3-E785-4EC0-9775-33E22BE4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B4241-2686-4BFB-B505-24045DA3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47410-1621-436F-B1A8-5CCEFA04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9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2F44-327B-457F-8954-CA872FAF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D418D-F4DF-4D6E-B893-C95F0B769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4B660-EAD2-442A-B0E7-90196CF0A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0DE28-D3F3-4FDF-AE80-6322062A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82BEA-B7A5-48CD-BD27-DBB61B1F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8D89E-010A-4DC7-8724-487F83A4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2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4049-1193-4C8B-9767-1FB8FBE2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95D8-D63B-4928-BFAB-257B33463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20D84-E825-49FE-AEA6-940B8FBC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3EA22-A9C8-4938-8BA8-DEA50FAFD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2042F-47AD-4A47-815E-FD4AA9C0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4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2B83C-D9CE-4865-993D-58FE52B03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59EBD-575D-43F5-A6E0-ABFC518C7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E2B0D-60FF-4A74-84E9-C0B3EB15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C5449-E29B-40D2-AE5A-746F7601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2E790-472E-4230-85DF-13FBEBAB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3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EF278-55C9-4423-B5CA-D315D91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50928-E9E6-4074-840F-DBFCD5C00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28344-BE3C-4976-997C-C2DCCF4ED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FDB82-E044-4704-A6ED-110DF5B4F1E9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3FFCB-C84C-42B6-BC45-F432FABC5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E34C6-D6D9-48CB-BB27-E2E88A463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29DAD-445B-4392-91C8-83D091CE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8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5EE8-D405-45A6-A956-968C01158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Synchronization Examples</a:t>
            </a:r>
            <a:br>
              <a:rPr lang="en-US" dirty="0"/>
            </a:br>
            <a:r>
              <a:rPr lang="en-US" dirty="0"/>
              <a:t>Lesson 4</a:t>
            </a:r>
            <a:br>
              <a:rPr lang="en-US" dirty="0"/>
            </a:br>
            <a:r>
              <a:rPr lang="en-US" dirty="0"/>
              <a:t>Java Synchronization &amp; Others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41417-D01C-430A-B708-7D66D723A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238969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47B6B42-05AD-4A4C-A497-6F10B0F1C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4F27ED62-CE06-4CE1-9D4E-A96F00341A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Java provides rich set of synchronization features: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Java monitors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Reentrant locks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Semaphores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Condition 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5BCE2F29-5615-4825-B6BB-CCF793E29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Monitors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D2867ED0-0962-48E2-AFD3-BA8A65613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B0F0"/>
                </a:solidFill>
              </a:rPr>
              <a:t>Every Java object has associated with it a single lock.</a:t>
            </a:r>
          </a:p>
          <a:p>
            <a:r>
              <a:rPr lang="en-US" altLang="en-US" dirty="0"/>
              <a:t>If a method is declared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 dirty="0"/>
              <a:t>, a calling thread must own the lock for the object.</a:t>
            </a:r>
          </a:p>
          <a:p>
            <a:r>
              <a:rPr lang="en-US" altLang="en-US" dirty="0"/>
              <a:t>If the lock is owned by another thread, the calling thread must wait for the lock until it is released.</a:t>
            </a:r>
          </a:p>
          <a:p>
            <a:r>
              <a:rPr lang="en-US" altLang="en-US" dirty="0"/>
              <a:t>Locks are released when the owning thread exits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 dirty="0"/>
              <a:t>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3ED6C455-25C7-4772-9F31-D09899019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61791"/>
          </a:xfrm>
        </p:spPr>
        <p:txBody>
          <a:bodyPr/>
          <a:lstStyle/>
          <a:p>
            <a:r>
              <a:rPr lang="en-US" altLang="en-US" dirty="0"/>
              <a:t>Bounded Buffer – Java Object Lock</a:t>
            </a:r>
          </a:p>
        </p:txBody>
      </p:sp>
      <p:pic>
        <p:nvPicPr>
          <p:cNvPr id="55299" name="Picture 2">
            <a:extLst>
              <a:ext uri="{FF2B5EF4-FFF2-40B4-BE49-F238E27FC236}">
                <a16:creationId xmlns:a16="http://schemas.microsoft.com/office/drawing/2014/main" id="{0178CAB1-1A77-49CF-BE73-3546C1516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62" y="1143863"/>
            <a:ext cx="5462506" cy="551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B8682637-764E-4114-BD91-73D1F152A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Bounded Buffer – Java Object Lock</a:t>
            </a:r>
          </a:p>
        </p:txBody>
      </p:sp>
      <p:pic>
        <p:nvPicPr>
          <p:cNvPr id="59395" name="Picture 3">
            <a:extLst>
              <a:ext uri="{FF2B5EF4-FFF2-40B4-BE49-F238E27FC236}">
                <a16:creationId xmlns:a16="http://schemas.microsoft.com/office/drawing/2014/main" id="{5CDC0CD4-85EF-4C09-9DCB-DBA8158FD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880" y="1587500"/>
            <a:ext cx="6006449" cy="426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C878EC-1D3C-49DA-9D55-3D3153AA3D1D}"/>
              </a:ext>
            </a:extLst>
          </p:cNvPr>
          <p:cNvSpPr txBox="1"/>
          <p:nvPr/>
        </p:nvSpPr>
        <p:spPr>
          <a:xfrm>
            <a:off x="4861367" y="5236306"/>
            <a:ext cx="5775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a producer or consumer from wait set to the entry set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7F7F91-A4F2-4649-996B-489E3FAFD996}"/>
              </a:ext>
            </a:extLst>
          </p:cNvPr>
          <p:cNvCxnSpPr/>
          <p:nvPr/>
        </p:nvCxnSpPr>
        <p:spPr>
          <a:xfrm flipH="1" flipV="1">
            <a:off x="3865945" y="5236306"/>
            <a:ext cx="717630" cy="34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Picture 2">
            <a:extLst>
              <a:ext uri="{FF2B5EF4-FFF2-40B4-BE49-F238E27FC236}">
                <a16:creationId xmlns:a16="http://schemas.microsoft.com/office/drawing/2014/main" id="{FFBEA238-29B8-48C1-BA2F-88630772B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653" y="1117600"/>
            <a:ext cx="5722394" cy="5313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B0F4EE-5D3B-4416-868A-170B4A411B3D}"/>
              </a:ext>
            </a:extLst>
          </p:cNvPr>
          <p:cNvSpPr txBox="1">
            <a:spLocks noChangeArrowheads="1"/>
          </p:cNvSpPr>
          <p:nvPr/>
        </p:nvSpPr>
        <p:spPr>
          <a:xfrm>
            <a:off x="623104" y="255809"/>
            <a:ext cx="10515600" cy="861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Bounded Buffer – Java Monitor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9BA1A-764B-4F94-BEB8-EC47EC7A5F36}"/>
              </a:ext>
            </a:extLst>
          </p:cNvPr>
          <p:cNvSpPr txBox="1"/>
          <p:nvPr/>
        </p:nvSpPr>
        <p:spPr>
          <a:xfrm>
            <a:off x="4815068" y="5220182"/>
            <a:ext cx="5775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a producer or consumer from wait set to the entry set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57CF99-CB46-474B-8558-4BB527974876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4097438" y="5370654"/>
            <a:ext cx="717630" cy="34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2CA6C8FA-FE62-443D-8A7A-504B44278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700E8F7-1294-492D-8532-A89E9B850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thread that tries to acquire an unavailable lock is placed in the object’s </a:t>
            </a:r>
            <a:r>
              <a:rPr lang="en-US" altLang="en-US" b="1"/>
              <a:t>entry set</a:t>
            </a:r>
            <a:r>
              <a:rPr lang="en-US" altLang="en-US"/>
              <a:t>:</a:t>
            </a:r>
          </a:p>
        </p:txBody>
      </p:sp>
      <p:pic>
        <p:nvPicPr>
          <p:cNvPr id="56324" name="Picture 5">
            <a:extLst>
              <a:ext uri="{FF2B5EF4-FFF2-40B4-BE49-F238E27FC236}">
                <a16:creationId xmlns:a16="http://schemas.microsoft.com/office/drawing/2014/main" id="{4621FF98-53E7-435A-88A2-80312BAC0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456" y="2997994"/>
            <a:ext cx="5907087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AD0223FA-0ACE-42E3-B4FC-33346996C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79B18-60B5-4797-A7EC-DFC1C7A42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828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 dirty="0"/>
              <a:t>Similarly, each object also has a </a:t>
            </a:r>
            <a:r>
              <a:rPr lang="en-US" b="1" dirty="0"/>
              <a:t>wait set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wait()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/>
              <a:t>It releases the lock for the object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/>
              <a:t>The state of the thread is set to blocked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/>
              <a:t>The thread is placed in the wait set for the object</a:t>
            </a:r>
          </a:p>
        </p:txBody>
      </p:sp>
      <p:pic>
        <p:nvPicPr>
          <p:cNvPr id="57348" name="Picture 3">
            <a:extLst>
              <a:ext uri="{FF2B5EF4-FFF2-40B4-BE49-F238E27FC236}">
                <a16:creationId xmlns:a16="http://schemas.microsoft.com/office/drawing/2014/main" id="{E03D86DB-D43A-46A4-8171-0E1429BD0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103" y="4074983"/>
            <a:ext cx="6223000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7349" name="Straight Arrow Connector 3">
            <a:extLst>
              <a:ext uri="{FF2B5EF4-FFF2-40B4-BE49-F238E27FC236}">
                <a16:creationId xmlns:a16="http://schemas.microsoft.com/office/drawing/2014/main" id="{E6082684-C1FE-47AD-B1F3-DBB30E4816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04102" y="3956539"/>
            <a:ext cx="53181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7350" name="Straight Arrow Connector 5">
            <a:extLst>
              <a:ext uri="{FF2B5EF4-FFF2-40B4-BE49-F238E27FC236}">
                <a16:creationId xmlns:a16="http://schemas.microsoft.com/office/drawing/2014/main" id="{12DB2C5F-A594-4DB0-A920-7FD6D406AE1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423140" y="5563736"/>
            <a:ext cx="12255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7351" name="TextBox 6">
            <a:extLst>
              <a:ext uri="{FF2B5EF4-FFF2-40B4-BE49-F238E27FC236}">
                <a16:creationId xmlns:a16="http://schemas.microsoft.com/office/drawing/2014/main" id="{BA909019-0F45-4AEA-AFEE-0AC6EB0FA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891" y="3546243"/>
            <a:ext cx="5876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wait</a:t>
            </a:r>
          </a:p>
        </p:txBody>
      </p:sp>
      <p:sp>
        <p:nvSpPr>
          <p:cNvPr id="57352" name="TextBox 7">
            <a:extLst>
              <a:ext uri="{FF2B5EF4-FFF2-40B4-BE49-F238E27FC236}">
                <a16:creationId xmlns:a16="http://schemas.microsoft.com/office/drawing/2014/main" id="{1E499C24-E46D-48B5-9965-F6931C83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891" y="5736903"/>
            <a:ext cx="7340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notify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37443FBC-FF31-4C2A-A6A6-AD94B5642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56CC8-BAD8-43D3-9AB6-DF2EEB95A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thread typically calls wait() when it is waiting for a condition to  become true.</a:t>
            </a:r>
          </a:p>
          <a:p>
            <a:pPr>
              <a:defRPr/>
            </a:pPr>
            <a:r>
              <a:rPr lang="en-US" dirty="0"/>
              <a:t>How does a thread get notified?</a:t>
            </a:r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notify()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/>
              <a:t>An arbitrary thread T is selected from the wait set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/>
              <a:t>T is moved from the wait set to the entry set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/>
              <a:t>Set the state of T from blocked to runnable.</a:t>
            </a:r>
          </a:p>
          <a:p>
            <a:pPr>
              <a:defRPr/>
            </a:pPr>
            <a:r>
              <a:rPr lang="en-US" dirty="0"/>
              <a:t>T can now compete for the lock to check if the condition it was waiting for is now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28505E17-50AC-431A-A2DF-51EEF00D8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Semaphores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C304978C-2D41-409A-A509-ED9C6E4178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2373" y="1584325"/>
            <a:ext cx="10515600" cy="4351338"/>
          </a:xfrm>
        </p:spPr>
        <p:txBody>
          <a:bodyPr/>
          <a:lstStyle/>
          <a:p>
            <a:r>
              <a:rPr lang="en-US" altLang="en-US" dirty="0"/>
              <a:t>Constructor: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Usage:</a:t>
            </a:r>
          </a:p>
          <a:p>
            <a:endParaRPr lang="en-US" altLang="en-US" dirty="0"/>
          </a:p>
        </p:txBody>
      </p:sp>
      <p:pic>
        <p:nvPicPr>
          <p:cNvPr id="62468" name="Picture 4">
            <a:extLst>
              <a:ext uri="{FF2B5EF4-FFF2-40B4-BE49-F238E27FC236}">
                <a16:creationId xmlns:a16="http://schemas.microsoft.com/office/drawing/2014/main" id="{79430A97-5ED6-4B91-883D-6BF6DBB6A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834" y="2260841"/>
            <a:ext cx="2590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>
            <a:extLst>
              <a:ext uri="{FF2B5EF4-FFF2-40B4-BE49-F238E27FC236}">
                <a16:creationId xmlns:a16="http://schemas.microsoft.com/office/drawing/2014/main" id="{CCC735A7-7504-45EC-B3AC-78660517C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444" y="3236068"/>
            <a:ext cx="48387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0F042828-FCC2-4F7F-85DA-6E61A13F4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Reentrant Locks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42716A87-582D-46A3-8325-5486204A2A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en-US" sz="2600" dirty="0"/>
              <a:t>Similar to mutex locks, allows threads to enter into the lock on a resource more than once. </a:t>
            </a:r>
          </a:p>
          <a:p>
            <a:r>
              <a:rPr lang="en-US" altLang="en-US" sz="2600" dirty="0"/>
              <a:t>Fairness: lock would go to the thread which has been waiting for the longest time.</a:t>
            </a:r>
          </a:p>
          <a:p>
            <a:r>
              <a:rPr lang="en-US" altLang="en-US" sz="2600" dirty="0"/>
              <a:t>The </a:t>
            </a:r>
            <a:r>
              <a:rPr lang="en-US" alt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 sz="2600" dirty="0"/>
              <a:t> clause ensures the lock will be released in case an exception occurs in the </a:t>
            </a:r>
            <a:r>
              <a:rPr lang="en-US" alt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 sz="2600" dirty="0"/>
              <a:t> block.</a:t>
            </a:r>
          </a:p>
          <a:p>
            <a:endParaRPr lang="en-US" altLang="en-US" dirty="0"/>
          </a:p>
        </p:txBody>
      </p:sp>
      <p:pic>
        <p:nvPicPr>
          <p:cNvPr id="61444" name="Picture 3">
            <a:extLst>
              <a:ext uri="{FF2B5EF4-FFF2-40B4-BE49-F238E27FC236}">
                <a16:creationId xmlns:a16="http://schemas.microsoft.com/office/drawing/2014/main" id="{49D85FA4-3CF4-414F-B038-CA1F1419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855" y="3510183"/>
            <a:ext cx="4455168" cy="2591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24522D6D-31D2-4CE2-B19C-E09ECFE86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Condition Variables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4E6F3A56-4D65-4B3A-AB80-0229C7219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Condition variables are associated with an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Creating a condition variable using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newCondition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method of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 thread waits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en-US" altLang="en-US" dirty="0"/>
              <a:t> method, and signals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altLang="en-US" dirty="0"/>
              <a:t> method.</a:t>
            </a:r>
          </a:p>
          <a:p>
            <a:endParaRPr lang="en-US" altLang="en-US" dirty="0"/>
          </a:p>
        </p:txBody>
      </p:sp>
      <p:pic>
        <p:nvPicPr>
          <p:cNvPr id="63492" name="Picture 3">
            <a:extLst>
              <a:ext uri="{FF2B5EF4-FFF2-40B4-BE49-F238E27FC236}">
                <a16:creationId xmlns:a16="http://schemas.microsoft.com/office/drawing/2014/main" id="{6682AF61-65C2-4876-AAF7-E542A2AC2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815" y="3455194"/>
            <a:ext cx="4559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5C9392B5-BA5F-4CAD-A2D6-D6D96636F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Condition Variables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AF809431-29C6-4953-90F1-FB4F7B915E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5271" y="1407107"/>
            <a:ext cx="6072770" cy="4912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600" b="1" dirty="0"/>
              <a:t>Example</a:t>
            </a:r>
          </a:p>
          <a:p>
            <a:r>
              <a:rPr lang="en-US" altLang="en-US" sz="2600" dirty="0"/>
              <a:t>Five threads numbered 0 .. 4</a:t>
            </a:r>
          </a:p>
          <a:p>
            <a:r>
              <a:rPr lang="en-US" altLang="en-US" sz="2600" dirty="0"/>
              <a:t>Shared variable </a:t>
            </a:r>
            <a:r>
              <a:rPr lang="en-US" alt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altLang="en-US" sz="2600" dirty="0"/>
              <a:t> indicating which thread’s turn it is.</a:t>
            </a:r>
          </a:p>
          <a:p>
            <a:r>
              <a:rPr lang="en-US" altLang="en-US" sz="2600" dirty="0"/>
              <a:t>Thread calls </a:t>
            </a:r>
            <a:r>
              <a:rPr lang="en-US" alt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doWork</a:t>
            </a:r>
            <a:r>
              <a:rPr lang="en-US" alt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dirty="0"/>
              <a:t> when it wishes to do some work. (But it may only do work if it is their turn.</a:t>
            </a:r>
          </a:p>
          <a:p>
            <a:r>
              <a:rPr lang="en-US" altLang="en-US" sz="2600" dirty="0"/>
              <a:t>If not their turn, wait</a:t>
            </a:r>
          </a:p>
          <a:p>
            <a:r>
              <a:rPr lang="en-US" altLang="en-US" sz="2600" dirty="0"/>
              <a:t>If their turn, do some work for awhile </a:t>
            </a:r>
            <a:r>
              <a:rPr lang="is-IS" altLang="en-US" sz="2600" dirty="0"/>
              <a:t>…...</a:t>
            </a:r>
          </a:p>
          <a:p>
            <a:r>
              <a:rPr lang="is-IS" altLang="en-US" sz="2600" dirty="0"/>
              <a:t>When completed, notify the thread whose turn is next.</a:t>
            </a:r>
            <a:br>
              <a:rPr lang="is-IS" altLang="en-US" dirty="0"/>
            </a:br>
            <a:endParaRPr lang="en-US" altLang="en-US" dirty="0"/>
          </a:p>
          <a:p>
            <a:endParaRPr lang="en-US" altLang="en-US" dirty="0"/>
          </a:p>
        </p:txBody>
      </p:sp>
      <p:pic>
        <p:nvPicPr>
          <p:cNvPr id="64516" name="Picture 4">
            <a:extLst>
              <a:ext uri="{FF2B5EF4-FFF2-40B4-BE49-F238E27FC236}">
                <a16:creationId xmlns:a16="http://schemas.microsoft.com/office/drawing/2014/main" id="{4614BB47-AE3A-480D-85FD-D7DEB0491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060" y="2209800"/>
            <a:ext cx="4889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607E4C86-772F-4457-B23C-30590E10C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US" altLang="en-US" dirty="0"/>
              <a:t>Java Condition Variables</a:t>
            </a:r>
          </a:p>
        </p:txBody>
      </p:sp>
      <p:pic>
        <p:nvPicPr>
          <p:cNvPr id="65539" name="Picture 2">
            <a:extLst>
              <a:ext uri="{FF2B5EF4-FFF2-40B4-BE49-F238E27FC236}">
                <a16:creationId xmlns:a16="http://schemas.microsoft.com/office/drawing/2014/main" id="{9C955B99-4453-48DC-89C1-40E36EC15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973" y="895068"/>
            <a:ext cx="6419889" cy="5966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0E02-56F0-46F9-BCDE-7B6742D5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6F399-BAE3-4ADC-BD17-C5BB0FB66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729" y="1471743"/>
            <a:ext cx="10515600" cy="4351338"/>
          </a:xfrm>
        </p:spPr>
        <p:txBody>
          <a:bodyPr/>
          <a:lstStyle/>
          <a:p>
            <a:r>
              <a:rPr lang="en-US" dirty="0"/>
              <a:t>How would use Java </a:t>
            </a:r>
            <a:r>
              <a:rPr lang="en-US" dirty="0" err="1"/>
              <a:t>ReentrantLock</a:t>
            </a:r>
            <a:r>
              <a:rPr lang="en-US" dirty="0"/>
              <a:t> and Condition variables to solve the problem we solved with POSIX Condition Variables. 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FFDAC82-744A-4330-92A2-7EA491043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084" y="2331806"/>
            <a:ext cx="7267832" cy="195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9BA21A0F-6D6A-4B2E-95DE-D959414E1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888" y="4288530"/>
            <a:ext cx="6098894" cy="186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322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64FA-8405-46A0-94BE-F49590AB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Synchronization Approaches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07E431-4F65-4267-B8F3-9209B9457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Transactional Memory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OpenMP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Functional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1844089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:a16="http://schemas.microsoft.com/office/drawing/2014/main" id="{9038A6BB-0928-479A-860B-26E58A917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52688" y="771525"/>
            <a:ext cx="7021512" cy="567848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Consider a function update() that must be called atomically. One option is to use mutex locks: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A </a:t>
            </a:r>
            <a:r>
              <a:rPr lang="en-US" altLang="en-US" b="1" dirty="0"/>
              <a:t>memory transaction </a:t>
            </a:r>
            <a:r>
              <a:rPr lang="en-US" altLang="en-US" dirty="0"/>
              <a:t>is </a:t>
            </a:r>
            <a:r>
              <a:rPr lang="en-US" altLang="en-US" b="1" dirty="0"/>
              <a:t>a sequence of read-write operations </a:t>
            </a:r>
            <a:r>
              <a:rPr lang="en-US" altLang="en-US" dirty="0"/>
              <a:t>to memory that are performed </a:t>
            </a:r>
            <a:r>
              <a:rPr lang="en-US" altLang="en-US" b="1" dirty="0"/>
              <a:t>atomically</a:t>
            </a:r>
            <a:r>
              <a:rPr lang="en-US" altLang="en-US" dirty="0"/>
              <a:t>. A transaction can be completed by adding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atomic{S}</a:t>
            </a:r>
            <a:r>
              <a:rPr lang="en-US" altLang="en-US" dirty="0"/>
              <a:t> which ensure statements in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/>
              <a:t> are executed atomically: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ADA335A-5025-4321-8217-04A11BE2F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43" y="433719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4400" dirty="0">
                <a:latin typeface="+mj-lt"/>
                <a:ea typeface="+mj-ea"/>
                <a:cs typeface="+mj-cs"/>
              </a:rPr>
              <a:t>Transactional Memory</a:t>
            </a:r>
          </a:p>
        </p:txBody>
      </p:sp>
      <p:pic>
        <p:nvPicPr>
          <p:cNvPr id="68612" name="Picture 1">
            <a:extLst>
              <a:ext uri="{FF2B5EF4-FFF2-40B4-BE49-F238E27FC236}">
                <a16:creationId xmlns:a16="http://schemas.microsoft.com/office/drawing/2014/main" id="{A6641427-AA36-4542-A2D6-CD265C2B2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964" y="1876425"/>
            <a:ext cx="3373437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2">
            <a:extLst>
              <a:ext uri="{FF2B5EF4-FFF2-40B4-BE49-F238E27FC236}">
                <a16:creationId xmlns:a16="http://schemas.microsoft.com/office/drawing/2014/main" id="{8EE219C7-73C2-4A8B-8A7E-D9EDFC4C4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963" y="4800600"/>
            <a:ext cx="36195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:a16="http://schemas.microsoft.com/office/drawing/2014/main" id="{D666A2D7-C2BD-42C6-9A0C-7331D2D3D1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52688" y="771526"/>
            <a:ext cx="8226426" cy="5501952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3800" dirty="0"/>
              <a:t>OpenMP is a set of compiler </a:t>
            </a:r>
            <a:r>
              <a:rPr lang="en-US" altLang="en-US" sz="3800" dirty="0">
                <a:latin typeface="+mj-lt"/>
                <a:ea typeface="+mj-ea"/>
                <a:cs typeface="+mj-cs"/>
              </a:rPr>
              <a:t>directives</a:t>
            </a:r>
            <a:r>
              <a:rPr lang="en-US" altLang="en-US" sz="3800" dirty="0"/>
              <a:t> and API that support parallel programming.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update(int value)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{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#pragma </a:t>
            </a:r>
            <a:r>
              <a:rPr lang="en-US" altLang="en-US" sz="29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 critical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{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	count += value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}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9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r>
              <a:rPr lang="en-US" altLang="en-US" sz="3800" dirty="0"/>
              <a:t>   The code contained within the </a:t>
            </a:r>
            <a:r>
              <a:rPr lang="en-US" altLang="en-US" sz="3800" b="1" dirty="0">
                <a:latin typeface="Courier New" panose="02070309020205020404" pitchFamily="49" charset="0"/>
              </a:rPr>
              <a:t>#pragma </a:t>
            </a:r>
            <a:r>
              <a:rPr lang="en-US" altLang="en-US" sz="3800" b="1" dirty="0" err="1">
                <a:latin typeface="Courier New" panose="02070309020205020404" pitchFamily="49" charset="0"/>
              </a:rPr>
              <a:t>omp</a:t>
            </a:r>
            <a:r>
              <a:rPr lang="en-US" altLang="en-US" sz="3800" b="1" dirty="0">
                <a:latin typeface="Courier New" panose="02070309020205020404" pitchFamily="49" charset="0"/>
              </a:rPr>
              <a:t> critical </a:t>
            </a:r>
            <a:r>
              <a:rPr lang="en-US" altLang="en-US" sz="3800" dirty="0"/>
              <a:t>directive is treated as a critical section and performed atomically.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3800" dirty="0"/>
              <a:t>Support parallel computing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#pragma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parallel for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for (int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= 1; I &lt; 100000;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	a[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 = b[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 + c[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}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  <a:defRPr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9A13EEE-3918-4294-98E6-3AC82F394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1" y="95251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4400" dirty="0">
                <a:latin typeface="+mj-lt"/>
                <a:ea typeface="+mj-ea"/>
                <a:cs typeface="+mj-cs"/>
              </a:rPr>
              <a:t>OpenMP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>
            <a:extLst>
              <a:ext uri="{FF2B5EF4-FFF2-40B4-BE49-F238E27FC236}">
                <a16:creationId xmlns:a16="http://schemas.microsoft.com/office/drawing/2014/main" id="{B91DEBA1-3397-40E6-87B3-D9653026A3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60786" y="1101527"/>
            <a:ext cx="8213725" cy="545167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/>
              <a:t>Imperative (or procedure) languages (C, Java): </a:t>
            </a:r>
            <a:r>
              <a:rPr lang="en-US" altLang="en-US" b="1" dirty="0"/>
              <a:t>values</a:t>
            </a:r>
            <a:r>
              <a:rPr lang="en-US" altLang="en-US" dirty="0"/>
              <a:t> of variables and other data structures keep the program </a:t>
            </a:r>
            <a:r>
              <a:rPr lang="en-US" altLang="en-US" b="1" dirty="0"/>
              <a:t>state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b="1" dirty="0"/>
          </a:p>
          <a:p>
            <a:pPr>
              <a:lnSpc>
                <a:spcPct val="80000"/>
              </a:lnSpc>
            </a:pPr>
            <a:r>
              <a:rPr lang="en-US" altLang="en-US" dirty="0"/>
              <a:t>Functional programming languages offer a different paradigm than procedural languages in that they </a:t>
            </a:r>
            <a:r>
              <a:rPr lang="en-US" altLang="en-US" b="1" dirty="0"/>
              <a:t>do not maintain state. 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Variables are treated as </a:t>
            </a:r>
            <a:r>
              <a:rPr lang="en-US" altLang="en-US" b="1" dirty="0"/>
              <a:t>immutable</a:t>
            </a:r>
            <a:r>
              <a:rPr lang="en-US" altLang="en-US" dirty="0"/>
              <a:t> and cannot change state once they have been assigned a value</a:t>
            </a:r>
          </a:p>
          <a:p>
            <a:pPr lvl="1">
              <a:lnSpc>
                <a:spcPct val="80000"/>
              </a:lnSpc>
            </a:pPr>
            <a:r>
              <a:rPr lang="en-US" altLang="en-US" sz="2800" b="1" dirty="0"/>
              <a:t>No concern for race conditions and deadlocks</a:t>
            </a:r>
            <a:br>
              <a:rPr lang="en-US" altLang="en-US" sz="2800" dirty="0"/>
            </a:br>
            <a:endParaRPr lang="en-US" altLang="en-US" sz="2800" dirty="0"/>
          </a:p>
          <a:p>
            <a:pPr marL="457200" lvl="1" indent="0">
              <a:lnSpc>
                <a:spcPct val="80000"/>
              </a:lnSpc>
              <a:buNone/>
            </a:pPr>
            <a:endParaRPr lang="en-US" altLang="en-US" sz="2800" dirty="0"/>
          </a:p>
          <a:p>
            <a:pPr>
              <a:lnSpc>
                <a:spcPct val="80000"/>
              </a:lnSpc>
            </a:pPr>
            <a:r>
              <a:rPr lang="en-US" altLang="en-US" dirty="0"/>
              <a:t>There is increasing interest in functional languages such as Erlang and Scala for their approach in handling data races.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94CCC74-671F-4CB4-B3B1-9C67F387D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787" y="304798"/>
            <a:ext cx="8213725" cy="73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4400" dirty="0">
                <a:latin typeface="+mj-lt"/>
                <a:ea typeface="+mj-ea"/>
                <a:cs typeface="+mj-cs"/>
              </a:rPr>
              <a:t>Functional Programming Languages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797</Words>
  <Application>Microsoft Office PowerPoint</Application>
  <PresentationFormat>Widescreen</PresentationFormat>
  <Paragraphs>102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MS PGothic</vt:lpstr>
      <vt:lpstr>Arial</vt:lpstr>
      <vt:lpstr>Calibri</vt:lpstr>
      <vt:lpstr>Calibri Light</vt:lpstr>
      <vt:lpstr>Courier New</vt:lpstr>
      <vt:lpstr>Monotype Sorts</vt:lpstr>
      <vt:lpstr>Times New Roman</vt:lpstr>
      <vt:lpstr>Wingdings</vt:lpstr>
      <vt:lpstr>Office Theme</vt:lpstr>
      <vt:lpstr>Synchronization Examples Lesson 4 Java Synchronization &amp; Others</vt:lpstr>
      <vt:lpstr>Java Synchronization</vt:lpstr>
      <vt:lpstr>Java Monitors</vt:lpstr>
      <vt:lpstr>Bounded Buffer – Java Object Lock</vt:lpstr>
      <vt:lpstr>Bounded Buffer – Java Object Lock</vt:lpstr>
      <vt:lpstr>PowerPoint Presentation</vt:lpstr>
      <vt:lpstr>Java Synchronization</vt:lpstr>
      <vt:lpstr>Java Synchronization</vt:lpstr>
      <vt:lpstr>Java Synchronization</vt:lpstr>
      <vt:lpstr>Java Semaphores</vt:lpstr>
      <vt:lpstr>Java Reentrant Locks</vt:lpstr>
      <vt:lpstr>Java Condition Variables</vt:lpstr>
      <vt:lpstr>Java Condition Variables</vt:lpstr>
      <vt:lpstr>Java Condition Variables</vt:lpstr>
      <vt:lpstr>Question</vt:lpstr>
      <vt:lpstr>Other Synchronization Approaches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Synchronization Examples Lesson 4 Java Synchronization</dc:title>
  <dc:creator>David Liu</dc:creator>
  <cp:lastModifiedBy>David Liu</cp:lastModifiedBy>
  <cp:revision>17</cp:revision>
  <dcterms:created xsi:type="dcterms:W3CDTF">2021-11-03T17:01:10Z</dcterms:created>
  <dcterms:modified xsi:type="dcterms:W3CDTF">2021-11-03T18:59:54Z</dcterms:modified>
</cp:coreProperties>
</file>