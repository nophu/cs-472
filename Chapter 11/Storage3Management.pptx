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99" r:id="rId3"/>
    <p:sldId id="377" r:id="rId4"/>
    <p:sldId id="404" r:id="rId5"/>
    <p:sldId id="400" r:id="rId6"/>
    <p:sldId id="391" r:id="rId7"/>
    <p:sldId id="401" r:id="rId8"/>
    <p:sldId id="405" r:id="rId9"/>
    <p:sldId id="343" r:id="rId10"/>
    <p:sldId id="406" r:id="rId11"/>
    <p:sldId id="346" r:id="rId12"/>
    <p:sldId id="403" r:id="rId13"/>
    <p:sldId id="344" r:id="rId14"/>
    <p:sldId id="345" r:id="rId15"/>
    <p:sldId id="4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A40A2A-6538-401B-85C4-CDC282D0CDE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739B8-5693-473A-8398-13DED688F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37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8D7001C4-7BC9-4702-A40D-DA88FDA536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882FA5A-7A9A-4A0E-84A1-742920338E3B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7CFA4AB3-21B2-4390-9344-72775D1EA4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11E439ED-BD87-4DB9-A8C2-D5A38F1F80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39EC33A0-08AE-4A8B-9281-BF785948AE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2D94E8-6355-4C8B-AA8D-1A84E1F2E451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787CF11F-8F9F-4BB5-B371-01293EFCF1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97942FA4-9364-40EC-BE61-C3D6F77B1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39EC33A0-08AE-4A8B-9281-BF785948AE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2D94E8-6355-4C8B-AA8D-1A84E1F2E451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787CF11F-8F9F-4BB5-B371-01293EFCF1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97942FA4-9364-40EC-BE61-C3D6F77B1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870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CEA96DF1-1BD7-42C1-B82C-89D721F7A6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1F7FBE-B93E-4BF6-92BE-916D96485A74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CB7EAA0F-F61D-4759-B1B3-CEA1136A3D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406B42E-E201-44B2-BE6A-4435937513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3A3A5055-74AF-4873-89AB-B808BF00AD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D399B1-96D3-4361-A4BA-5496F5B71DE7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0032F522-5A7F-4790-BC7E-8D008EC569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3D501A1-D5E0-4820-A609-7E97830DA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34C4C2D4-D0C1-4731-ACBD-4425FC2D9D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CEAA30-0069-4774-AFF7-94B11B27D97F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3D29C590-D408-424B-8995-D11928C52A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A7C02CEE-09DB-4F2D-B931-8530DFF24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AC375-C88F-4441-BE1A-10F608E86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6CB9B-FDC7-45E4-A516-642D9C675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CD60-7FE6-4155-A404-1895B73E9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6639-A8CA-4D7B-A6BD-3ABBE5AF41D3}" type="datetime1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6CE4-A6DA-4599-99CE-8014D1EC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278A4-72F5-4382-BBF1-4D0253E1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6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8881-9E33-43E4-A9FB-77C337D10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1C5DE-EC54-46A4-9433-8BCB807F4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FAD1E-D833-4621-9A06-A0E388C51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EE10-A6A0-4CE4-B045-F91AB0E5901D}" type="datetime1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FA0EB-1ECA-48A5-A747-64F45039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6CE1D-861E-49FB-AC1A-B3CFF138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EA55-74B7-4E9C-A189-18B288E5A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03813-6BDA-4B99-99C2-7AA2F0AC1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B7B19-40FF-4511-849A-5BDC6125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A800-D8F3-4E84-BB95-F49D0E8CF964}" type="datetime1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1C85E-B925-4F37-9376-806485DA8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2686D-1B54-49B0-AB6D-0E0A52E2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7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FAAA-0E9E-45CB-8EFF-C7F11B4D8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246EA-2C04-46AA-97FA-7E7A0572F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C83977-5E8A-498C-B7B9-4001BA113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35DCD-65D9-4BBF-861A-3FC506E1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03C1-A093-4050-B063-8512207C00F5}" type="datetime1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E77CE-DBDE-4572-A9CF-43371F2B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1DAD8-4BA0-47E0-B622-001F75BF0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3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642FC-9772-4815-AF2F-8067527F5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8012A-C396-480B-AB9F-B6A01DCD1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9FD44-FA4C-4BDE-8B5C-16A1355F9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8508E-6CCF-4A8F-82F2-B3CE7DCD7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D57B56-F6F5-49E0-976C-8D60F3284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D7BADD-770E-48A5-AAC0-118AFDF6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C6E4-CADC-4835-A54C-8EFC5A0D8E6B}" type="datetime1">
              <a:rPr lang="en-US" smtClean="0"/>
              <a:t>4/14/2022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2FCE6B-F7F0-474E-A999-EAB7DD4AD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700F75-4FD9-43D9-BA52-F666FDB9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362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C062-70C4-448D-AEAF-7685BD2F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5D40D5-25D6-4A69-8524-30E69C8E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BFE7-5201-4505-92EE-B03749A4A84A}" type="datetime1">
              <a:rPr lang="en-US" smtClean="0"/>
              <a:t>4/14/2022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7A1F6-1712-4B1E-A43D-942B2714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D03AA-A1CE-4072-9C76-EF7AA48A8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9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3CF31-2DEF-45EF-A350-F9E1F8195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82EB-6751-482A-82AE-8F42EFDD5547}" type="datetime1">
              <a:rPr lang="en-US" smtClean="0"/>
              <a:t>4/14/2022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9D00DD-06B4-4694-A7B7-67AA4485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13139-3D03-4EC0-930F-70278621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06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B704B-61CF-4D5E-A5E4-FEFA28916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71D7B-011A-4CAD-92B8-EDD7291AB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8DF1A-62DE-4C15-9B8C-A64F2A8A7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9324A-EED7-4AF9-AD4E-7C2F059D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BDC6-A50A-43DE-9468-13CE8511BE79}" type="datetime1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C9A8C-2225-4B88-88C1-5A1CDC1FC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A499E-EEE1-4EFA-B44D-E8A8F6FC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84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45D6-0693-41AE-976F-FAC00F21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56D7D3-9593-4FCD-9642-CBB46F1B0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5D6DD-4AC2-47AD-A8C0-5FFF388F0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88B30-EDFC-4715-AE07-D5CBC62A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A937-2F6F-4E0F-8EFC-EC3BBB79F00C}" type="datetime1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FA2FF-1615-47BF-B7BA-65512841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F57E5-2B53-4CD4-AA3E-5241A3D70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0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736C9-D677-4014-9F98-D8C47D0A6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C6825-3ECB-4FE6-AF0A-D5B59BAD1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11E1B-848E-44AD-83A0-3C5F53ED5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CF03A-F98C-40CB-BCA1-1B370A2B2129}" type="datetime1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CA11A-5D41-4332-B5E0-3055B5537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E2A35-DA55-467D-8AB2-4DF5444C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80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49E846-A8EF-4047-88A6-53BED1571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3C8DF-E5C0-4305-9286-9C1C92FE4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109D9-F45B-42B6-BC3A-B9611214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06349-074C-4ADA-AC2A-33BE929C1E9C}" type="datetime1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B17EF-1CCD-4EA4-B639-713E27472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6239D-19B5-411E-8F96-71D2D475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6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D7E0F-B1AE-4ADB-8AFA-6CA084106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82D2A-5E25-4FFA-8534-3F686BC4C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95C1B-9018-41EF-9333-85A103218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25115-D0D7-4AF5-9CEB-8876D60F28C7}" type="datetime1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6391D-93FB-4872-B4BC-E8B9517A6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57B82-E230-478C-A1CB-E3E80B3D0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A1F0D-88B1-45AF-839E-BAF4ECB2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2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E5FE-9D08-4528-BE79-F255F2EBA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Mass Storage Structure</a:t>
            </a:r>
            <a:br>
              <a:rPr lang="en-US" dirty="0"/>
            </a:br>
            <a:r>
              <a:rPr lang="en-US"/>
              <a:t>Lesson 3</a:t>
            </a:r>
            <a:br>
              <a:rPr lang="en-US" dirty="0"/>
            </a:br>
            <a:r>
              <a:rPr lang="en-US" dirty="0"/>
              <a:t>Storage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D1B18-6A18-4CD8-9978-4AEA3A17C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3B7D7-0CFB-49F8-8A9A-34D00133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0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FE5BF61F-E29D-4A32-8B84-BCD819DD4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00351" y="150813"/>
            <a:ext cx="7712075" cy="576262"/>
          </a:xfrm>
        </p:spPr>
        <p:txBody>
          <a:bodyPr/>
          <a:lstStyle/>
          <a:p>
            <a:pPr eaLnBrk="1" hangingPunct="1"/>
            <a:r>
              <a:rPr lang="en-US" altLang="en-US" sz="3000"/>
              <a:t>Error Detection and Correction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FDF0A897-7B9E-4E83-AA28-DEB8313A5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6509" y="959904"/>
            <a:ext cx="7975600" cy="4530725"/>
          </a:xfrm>
        </p:spPr>
        <p:txBody>
          <a:bodyPr/>
          <a:lstStyle/>
          <a:p>
            <a:r>
              <a:rPr lang="en-US" altLang="en-US" sz="2000" dirty="0"/>
              <a:t>Fundamental aspect of many parts of computing (memory, networking, storage)</a:t>
            </a:r>
          </a:p>
          <a:p>
            <a:r>
              <a:rPr lang="en-US" altLang="en-US" sz="2000" b="1" dirty="0">
                <a:solidFill>
                  <a:srgbClr val="3366FF"/>
                </a:solidFill>
              </a:rPr>
              <a:t>Error detection </a:t>
            </a:r>
            <a:r>
              <a:rPr lang="en-US" altLang="en-US" sz="2000" dirty="0"/>
              <a:t>determines if there a problem has occurred (for example a bit flipping)</a:t>
            </a:r>
          </a:p>
          <a:p>
            <a:pPr lvl="1"/>
            <a:r>
              <a:rPr lang="en-US" altLang="en-US" sz="2000" dirty="0"/>
              <a:t>If detected, can halt the operation</a:t>
            </a:r>
          </a:p>
          <a:p>
            <a:pPr lvl="1"/>
            <a:r>
              <a:rPr lang="en-US" altLang="en-US" sz="2000" dirty="0"/>
              <a:t>Detection frequently done via parity bit</a:t>
            </a:r>
          </a:p>
          <a:p>
            <a:r>
              <a:rPr lang="en-US" altLang="en-US" sz="2000" dirty="0"/>
              <a:t>Parity one form of </a:t>
            </a:r>
            <a:r>
              <a:rPr lang="en-US" altLang="en-US" sz="2000" b="1" dirty="0">
                <a:solidFill>
                  <a:srgbClr val="3366FF"/>
                </a:solidFill>
              </a:rPr>
              <a:t>checksum</a:t>
            </a:r>
            <a:r>
              <a:rPr lang="en-US" altLang="en-US" sz="2000" dirty="0"/>
              <a:t> – uses modular arithmetic to compute, store, compare values of fixed-length words</a:t>
            </a:r>
          </a:p>
          <a:p>
            <a:pPr lvl="1"/>
            <a:r>
              <a:rPr lang="en-US" altLang="en-US" sz="2000" dirty="0"/>
              <a:t>Another error-detection method common in networking is </a:t>
            </a:r>
            <a:r>
              <a:rPr lang="en-US" altLang="en-US" sz="2000" b="1" dirty="0">
                <a:solidFill>
                  <a:srgbClr val="3366FF"/>
                </a:solidFill>
              </a:rPr>
              <a:t>cyclic redundancy check</a:t>
            </a:r>
            <a:r>
              <a:rPr lang="en-US" altLang="en-US" sz="2000" dirty="0"/>
              <a:t> (</a:t>
            </a:r>
            <a:r>
              <a:rPr lang="en-US" altLang="en-US" sz="2000" b="1" dirty="0">
                <a:solidFill>
                  <a:srgbClr val="3366FF"/>
                </a:solidFill>
              </a:rPr>
              <a:t>CRC</a:t>
            </a:r>
            <a:r>
              <a:rPr lang="en-US" altLang="en-US" sz="2000" dirty="0"/>
              <a:t>) which uses hash function to detect multiple-bit errors</a:t>
            </a:r>
          </a:p>
          <a:p>
            <a:r>
              <a:rPr lang="en-US" altLang="en-US" sz="2000" b="1" dirty="0">
                <a:solidFill>
                  <a:srgbClr val="3366FF"/>
                </a:solidFill>
              </a:rPr>
              <a:t>Error-correction code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3366FF"/>
                </a:solidFill>
              </a:rPr>
              <a:t>ECC</a:t>
            </a:r>
            <a:r>
              <a:rPr lang="en-US" altLang="en-US" sz="2000" dirty="0"/>
              <a:t>) not only detects, but can correct some errors</a:t>
            </a:r>
          </a:p>
          <a:p>
            <a:pPr lvl="1"/>
            <a:r>
              <a:rPr lang="en-US" altLang="en-US" sz="2000" dirty="0"/>
              <a:t>Soft errors correctable, hard errors detected but not corrected</a:t>
            </a:r>
          </a:p>
          <a:p>
            <a:pPr lvl="1"/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89E2B6-7976-47E4-913E-B14F176E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6304-5610-4403-B71E-2BE13B84DC8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29BCE889-6FC7-428E-803D-7DBB98F90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4564" y="214313"/>
            <a:ext cx="7996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Storage Device Management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7BF0FE50-5BE9-43DA-9B7D-967B59212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337" y="1154133"/>
            <a:ext cx="9959326" cy="3814476"/>
          </a:xfrm>
        </p:spPr>
        <p:txBody>
          <a:bodyPr>
            <a:normAutofit/>
          </a:bodyPr>
          <a:lstStyle/>
          <a:p>
            <a:r>
              <a:rPr lang="en-US" altLang="en-US" sz="2000" b="1" dirty="0">
                <a:solidFill>
                  <a:srgbClr val="3366FF"/>
                </a:solidFill>
              </a:rPr>
              <a:t>Low-level formatting</a:t>
            </a:r>
            <a:r>
              <a:rPr lang="en-US" altLang="en-US" sz="2000" dirty="0"/>
              <a:t>, or </a:t>
            </a:r>
            <a:r>
              <a:rPr lang="en-US" altLang="en-US" sz="2000" b="1" dirty="0">
                <a:solidFill>
                  <a:srgbClr val="3366FF"/>
                </a:solidFill>
              </a:rPr>
              <a:t>physical formatting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— Dividing a disk into sectors that the disk controller can read and write</a:t>
            </a:r>
          </a:p>
          <a:p>
            <a:pPr lvl="1"/>
            <a:r>
              <a:rPr lang="en-US" altLang="en-US" sz="2000" dirty="0"/>
              <a:t>Each sector can hold header information, plus data, plus error correction code (</a:t>
            </a:r>
            <a:r>
              <a:rPr lang="en-US" altLang="en-US" sz="2000" b="1" dirty="0">
                <a:solidFill>
                  <a:srgbClr val="3366FF"/>
                </a:solidFill>
              </a:rPr>
              <a:t>ECC</a:t>
            </a:r>
            <a:r>
              <a:rPr lang="en-US" altLang="en-US" sz="2000" dirty="0"/>
              <a:t>)</a:t>
            </a:r>
          </a:p>
          <a:p>
            <a:pPr lvl="1"/>
            <a:r>
              <a:rPr lang="en-US" altLang="en-US" sz="2000" dirty="0"/>
              <a:t>Usually 512 bytes of data but can be selectable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40F963-BBBE-43C5-89C7-66E51821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29BCE889-6FC7-428E-803D-7DBB98F90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4564" y="214313"/>
            <a:ext cx="7996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Storage Device Management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7BF0FE50-5BE9-43DA-9B7D-967B59212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2352" y="972354"/>
            <a:ext cx="10398002" cy="5202217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To use a disk to hold </a:t>
            </a:r>
            <a:r>
              <a:rPr lang="en-US" altLang="en-US" sz="2000" b="1" dirty="0">
                <a:solidFill>
                  <a:srgbClr val="3366FF"/>
                </a:solidFill>
              </a:rPr>
              <a:t>files</a:t>
            </a:r>
            <a:r>
              <a:rPr lang="en-US" altLang="en-US" sz="2400" dirty="0"/>
              <a:t>, the operating system still needs to record its own data structures on the disk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b="1" dirty="0">
                <a:solidFill>
                  <a:srgbClr val="3366FF"/>
                </a:solidFill>
              </a:rPr>
              <a:t>Partition</a:t>
            </a:r>
            <a:r>
              <a:rPr lang="en-US" altLang="en-US" sz="2000" dirty="0"/>
              <a:t> the disk into one or more groups of cylinders, each treated as a logical disk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b="1" dirty="0">
                <a:solidFill>
                  <a:srgbClr val="3366FF"/>
                </a:solidFill>
              </a:rPr>
              <a:t>Volume creation and management</a:t>
            </a:r>
            <a:r>
              <a:rPr lang="en-US" altLang="en-US" sz="2000" dirty="0"/>
              <a:t>: a logical drive, a single accessible storage area with a single file system</a:t>
            </a:r>
            <a:endParaRPr lang="en-US" altLang="en-US" sz="2000" b="1" dirty="0">
              <a:solidFill>
                <a:srgbClr val="3366FF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b="1" dirty="0">
                <a:solidFill>
                  <a:srgbClr val="3366FF"/>
                </a:solidFill>
              </a:rPr>
              <a:t>Logical formatting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or </a:t>
            </a:r>
            <a:r>
              <a:rPr lang="ja-JP" altLang="en-US" sz="2000" dirty="0"/>
              <a:t>“</a:t>
            </a:r>
            <a:r>
              <a:rPr lang="en-US" altLang="ja-JP" sz="2000" dirty="0"/>
              <a:t>making a file system</a:t>
            </a:r>
            <a:r>
              <a:rPr lang="ja-JP" altLang="en-US" sz="2000" dirty="0"/>
              <a:t>”</a:t>
            </a:r>
            <a:endParaRPr lang="en-US" altLang="ja-JP" sz="2000" dirty="0"/>
          </a:p>
          <a:p>
            <a:pPr marL="457200" lvl="1" indent="0">
              <a:buNone/>
            </a:pPr>
            <a:endParaRPr lang="en-US" altLang="ja-JP" sz="2000" dirty="0"/>
          </a:p>
          <a:p>
            <a:r>
              <a:rPr lang="en-US" altLang="en-US" sz="2400" dirty="0"/>
              <a:t>To increase efficiency most file systems group blocks into </a:t>
            </a:r>
            <a:r>
              <a:rPr lang="en-US" altLang="en-US" sz="2400" b="1" dirty="0">
                <a:solidFill>
                  <a:srgbClr val="3366FF"/>
                </a:solidFill>
              </a:rPr>
              <a:t>clusters</a:t>
            </a:r>
          </a:p>
          <a:p>
            <a:pPr lvl="2"/>
            <a:r>
              <a:rPr lang="en-US" altLang="en-US" dirty="0"/>
              <a:t>Disk I/O done in blocks</a:t>
            </a:r>
          </a:p>
          <a:p>
            <a:pPr lvl="2"/>
            <a:r>
              <a:rPr lang="en-US" altLang="en-US" dirty="0"/>
              <a:t>File I/O done in clusters</a:t>
            </a:r>
          </a:p>
          <a:p>
            <a:r>
              <a:rPr lang="en-US" altLang="en-US" sz="2000" b="1" dirty="0">
                <a:solidFill>
                  <a:srgbClr val="3366FF"/>
                </a:solidFill>
              </a:rPr>
              <a:t>Raw disk </a:t>
            </a:r>
          </a:p>
          <a:p>
            <a:pPr lvl="1"/>
            <a:r>
              <a:rPr lang="en-US" altLang="en-US" sz="2000" dirty="0"/>
              <a:t>access for apps that want to do their own block management, </a:t>
            </a:r>
          </a:p>
          <a:p>
            <a:pPr lvl="1"/>
            <a:r>
              <a:rPr lang="en-US" altLang="en-US" sz="2000" dirty="0"/>
              <a:t>keep OS out of the way (databases for example)</a:t>
            </a:r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40F963-BBBE-43C5-89C7-66E51821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85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06BF2743-4332-4676-B4E2-2419733A99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6688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Storage Device Management (cont.)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EC594FDB-8832-9F4D-A366-1CD2F4D74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531" y="915463"/>
            <a:ext cx="9482938" cy="5165741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Root partition </a:t>
            </a:r>
            <a:r>
              <a:rPr lang="en-US" altLang="en-US" dirty="0"/>
              <a:t>contains the OS, other partitions can hold other OSes, other file systems, or be raw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Mounted</a:t>
            </a:r>
            <a:r>
              <a:rPr lang="en-US" altLang="en-US" dirty="0"/>
              <a:t> at boot time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Other partitions can mount automatically or manually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Boot loader </a:t>
            </a:r>
            <a:r>
              <a:rPr lang="en-US" altLang="en-US" dirty="0"/>
              <a:t>stored in NVM, </a:t>
            </a:r>
            <a:r>
              <a:rPr lang="en-US" altLang="en-US" dirty="0" err="1"/>
              <a:t>mortherboard</a:t>
            </a:r>
            <a:endParaRPr lang="en-US" alt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Bootstrap program</a:t>
            </a:r>
            <a:r>
              <a:rPr lang="en-US" altLang="en-US" dirty="0"/>
              <a:t>, boot blocks, secondary storage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load the kernel from the file system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Or a boot management program for multi-</a:t>
            </a:r>
            <a:r>
              <a:rPr lang="en-US" altLang="en-US" dirty="0" err="1"/>
              <a:t>os</a:t>
            </a:r>
            <a:r>
              <a:rPr lang="en-US" altLang="en-US" dirty="0"/>
              <a:t> booting</a:t>
            </a:r>
          </a:p>
          <a:p>
            <a:pPr marL="0" indent="0">
              <a:buNone/>
              <a:defRPr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3207A8-982C-483B-9ED0-23A726A1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408715E1-D37A-4DBA-B2A1-67AE4DB01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4564" y="214313"/>
            <a:ext cx="7996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Device Storage Management (Cont.)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710A5545-1301-4A2E-9017-2E864561A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0234" y="1185863"/>
            <a:ext cx="4457096" cy="4751837"/>
          </a:xfrm>
        </p:spPr>
        <p:txBody>
          <a:bodyPr>
            <a:normAutofit/>
          </a:bodyPr>
          <a:lstStyle/>
          <a:p>
            <a:endParaRPr lang="en-US" altLang="en-US" sz="1400" dirty="0"/>
          </a:p>
          <a:p>
            <a:r>
              <a:rPr lang="en-US" altLang="en-US" dirty="0"/>
              <a:t>Boot block initializes system</a:t>
            </a:r>
          </a:p>
          <a:p>
            <a:pPr lvl="1"/>
            <a:r>
              <a:rPr lang="en-US" altLang="en-US" dirty="0"/>
              <a:t>The bootstrap is stored in ROM, firmware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Bootstrap loader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program stored in boot blocks of boot partition</a:t>
            </a:r>
          </a:p>
          <a:p>
            <a:r>
              <a:rPr lang="en-US" altLang="en-US" dirty="0"/>
              <a:t>Methods such as </a:t>
            </a:r>
            <a:r>
              <a:rPr lang="en-US" altLang="en-US" b="1" dirty="0">
                <a:solidFill>
                  <a:srgbClr val="3366FF"/>
                </a:solidFill>
              </a:rPr>
              <a:t>sector sparing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used to handle bad blocks</a:t>
            </a:r>
          </a:p>
        </p:txBody>
      </p:sp>
      <p:pic>
        <p:nvPicPr>
          <p:cNvPr id="56323" name="Picture 5">
            <a:extLst>
              <a:ext uri="{FF2B5EF4-FFF2-40B4-BE49-F238E27FC236}">
                <a16:creationId xmlns:a16="http://schemas.microsoft.com/office/drawing/2014/main" id="{A91A7DE0-4B36-4B97-8EA4-9573E777A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681" y="1628774"/>
            <a:ext cx="4137623" cy="3097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TextBox 1">
            <a:extLst>
              <a:ext uri="{FF2B5EF4-FFF2-40B4-BE49-F238E27FC236}">
                <a16:creationId xmlns:a16="http://schemas.microsoft.com/office/drawing/2014/main" id="{08F88C2C-37FE-490D-8F09-074F6F572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117" y="5229225"/>
            <a:ext cx="3823684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dirty="0"/>
              <a:t>Booting from secondary storage in </a:t>
            </a:r>
            <a:r>
              <a:rPr lang="en-US" altLang="en-US" sz="2800" b="1" dirty="0">
                <a:solidFill>
                  <a:srgbClr val="3366FF"/>
                </a:solidFill>
              </a:rPr>
              <a:t>Windows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E41365-5D4F-4B82-8BE1-8111B6D0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C4754694-1BB6-4E7D-9835-0658443A3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6688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Swap-Space Management</a:t>
            </a:r>
          </a:p>
        </p:txBody>
      </p:sp>
      <p:sp>
        <p:nvSpPr>
          <p:cNvPr id="58370" name="Content Placeholder 2">
            <a:extLst>
              <a:ext uri="{FF2B5EF4-FFF2-40B4-BE49-F238E27FC236}">
                <a16:creationId xmlns:a16="http://schemas.microsoft.com/office/drawing/2014/main" id="{BFCD3513-D6B1-4957-A290-2056B65A51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2399" y="904005"/>
            <a:ext cx="10567201" cy="3994302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Used for moving entire processes (swapping), or pages (paging), from DRAM to secondary storage when DRAM not large enough for all processes</a:t>
            </a:r>
          </a:p>
          <a:p>
            <a:r>
              <a:rPr lang="en-US" altLang="en-US" dirty="0"/>
              <a:t>Operating system provides </a:t>
            </a:r>
            <a:r>
              <a:rPr lang="en-US" altLang="en-US" b="1" dirty="0">
                <a:solidFill>
                  <a:srgbClr val="3366FF"/>
                </a:solidFill>
              </a:rPr>
              <a:t>swap space management</a:t>
            </a:r>
          </a:p>
          <a:p>
            <a:pPr lvl="1"/>
            <a:r>
              <a:rPr lang="en-US" altLang="en-US" dirty="0"/>
              <a:t>Secondary storage slower than DRAM, so important to optimize performance</a:t>
            </a:r>
          </a:p>
          <a:p>
            <a:pPr lvl="1"/>
            <a:r>
              <a:rPr lang="en-US" altLang="en-US" dirty="0"/>
              <a:t>Usually multiple swap spaces possible – decreasing I/O load on any given device</a:t>
            </a:r>
          </a:p>
          <a:p>
            <a:pPr lvl="1"/>
            <a:r>
              <a:rPr lang="en-US" altLang="en-US" dirty="0"/>
              <a:t>Best to have dedicated devices</a:t>
            </a:r>
          </a:p>
          <a:p>
            <a:pPr lvl="1"/>
            <a:r>
              <a:rPr lang="en-US" altLang="en-US" dirty="0"/>
              <a:t>Can be in raw partition or a file within a file system (for convenience of adding)</a:t>
            </a:r>
          </a:p>
          <a:p>
            <a:pPr lvl="1"/>
            <a:r>
              <a:rPr lang="en-US" altLang="en-US" dirty="0"/>
              <a:t>Data structures for swapping on Linux systems:</a:t>
            </a:r>
          </a:p>
        </p:txBody>
      </p:sp>
      <p:pic>
        <p:nvPicPr>
          <p:cNvPr id="58371" name="Picture 2">
            <a:extLst>
              <a:ext uri="{FF2B5EF4-FFF2-40B4-BE49-F238E27FC236}">
                <a16:creationId xmlns:a16="http://schemas.microsoft.com/office/drawing/2014/main" id="{68C74069-91FA-458F-8974-C054E3E25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998" y="5059362"/>
            <a:ext cx="448786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45182D-0552-4BEA-84EE-BC9364B1E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C4754694-1BB6-4E7D-9835-0658443A3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6688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Swap-Space Management</a:t>
            </a:r>
          </a:p>
        </p:txBody>
      </p:sp>
      <p:sp>
        <p:nvSpPr>
          <p:cNvPr id="58370" name="Content Placeholder 2">
            <a:extLst>
              <a:ext uri="{FF2B5EF4-FFF2-40B4-BE49-F238E27FC236}">
                <a16:creationId xmlns:a16="http://schemas.microsoft.com/office/drawing/2014/main" id="{BFCD3513-D6B1-4957-A290-2056B65A51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2399" y="904005"/>
            <a:ext cx="10567201" cy="3994302"/>
          </a:xfrm>
        </p:spPr>
        <p:txBody>
          <a:bodyPr>
            <a:normAutofit/>
          </a:bodyPr>
          <a:lstStyle/>
          <a:p>
            <a:r>
              <a:rPr lang="en-US" altLang="en-US" dirty="0"/>
              <a:t>Linux uses swap-space only for </a:t>
            </a:r>
            <a:r>
              <a:rPr lang="en-US" altLang="en-US" sz="2400" b="1" dirty="0">
                <a:solidFill>
                  <a:srgbClr val="3366FF"/>
                </a:solidFill>
              </a:rPr>
              <a:t>anonymous memory</a:t>
            </a:r>
          </a:p>
          <a:p>
            <a:r>
              <a:rPr lang="en-US" altLang="en-US" dirty="0"/>
              <a:t>Data structures for swapping on Linux systems:</a:t>
            </a:r>
          </a:p>
        </p:txBody>
      </p:sp>
      <p:pic>
        <p:nvPicPr>
          <p:cNvPr id="58371" name="Picture 2">
            <a:extLst>
              <a:ext uri="{FF2B5EF4-FFF2-40B4-BE49-F238E27FC236}">
                <a16:creationId xmlns:a16="http://schemas.microsoft.com/office/drawing/2014/main" id="{68C74069-91FA-458F-8974-C054E3E25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571" y="2358786"/>
            <a:ext cx="5886176" cy="2140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45182D-0552-4BEA-84EE-BC9364B1E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24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8976E75C-2889-4C78-A205-C630258C8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41288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Storage Attachment</a:t>
            </a:r>
          </a:p>
        </p:txBody>
      </p:sp>
      <p:sp>
        <p:nvSpPr>
          <p:cNvPr id="59394" name="Content Placeholder 2">
            <a:extLst>
              <a:ext uri="{FF2B5EF4-FFF2-40B4-BE49-F238E27FC236}">
                <a16:creationId xmlns:a16="http://schemas.microsoft.com/office/drawing/2014/main" id="{7D7BE7B7-4339-4EEA-962C-1EB72028C0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47488" y="1069315"/>
            <a:ext cx="8734712" cy="4719370"/>
          </a:xfrm>
        </p:spPr>
        <p:txBody>
          <a:bodyPr>
            <a:normAutofit/>
          </a:bodyPr>
          <a:lstStyle/>
          <a:p>
            <a:r>
              <a:rPr lang="en-US" altLang="en-US" dirty="0"/>
              <a:t>Computers access storage in three ways</a:t>
            </a:r>
          </a:p>
          <a:p>
            <a:pPr lvl="1"/>
            <a:r>
              <a:rPr lang="en-US" altLang="en-US" dirty="0"/>
              <a:t>host-attached</a:t>
            </a:r>
          </a:p>
          <a:p>
            <a:pPr lvl="1"/>
            <a:r>
              <a:rPr lang="en-US" altLang="en-US" dirty="0"/>
              <a:t>network-attached</a:t>
            </a:r>
          </a:p>
          <a:p>
            <a:pPr lvl="1"/>
            <a:r>
              <a:rPr lang="en-US" altLang="en-US" dirty="0"/>
              <a:t>cloud</a:t>
            </a:r>
          </a:p>
          <a:p>
            <a:endParaRPr lang="en-US" altLang="en-US" dirty="0"/>
          </a:p>
          <a:p>
            <a:pPr lvl="2">
              <a:buFont typeface="Webdings" panose="05030102010509060703" pitchFamily="18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8D2625-8F1D-4B3A-9344-24FADF3C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8976E75C-2889-4C78-A205-C630258C8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83330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Host Attached Storage</a:t>
            </a:r>
          </a:p>
        </p:txBody>
      </p:sp>
      <p:sp>
        <p:nvSpPr>
          <p:cNvPr id="59394" name="Content Placeholder 2">
            <a:extLst>
              <a:ext uri="{FF2B5EF4-FFF2-40B4-BE49-F238E27FC236}">
                <a16:creationId xmlns:a16="http://schemas.microsoft.com/office/drawing/2014/main" id="{7D7BE7B7-4339-4EEA-962C-1EB72028C0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47488" y="1069315"/>
            <a:ext cx="8734712" cy="4719370"/>
          </a:xfrm>
        </p:spPr>
        <p:txBody>
          <a:bodyPr>
            <a:normAutofit/>
          </a:bodyPr>
          <a:lstStyle/>
          <a:p>
            <a:r>
              <a:rPr lang="en-US" altLang="en-US" dirty="0"/>
              <a:t>Host attached access through local I/O ports, using one of several technologies</a:t>
            </a:r>
          </a:p>
          <a:p>
            <a:pPr lvl="1"/>
            <a:r>
              <a:rPr lang="en-US" altLang="en-US" dirty="0"/>
              <a:t>Storage busses such as </a:t>
            </a:r>
          </a:p>
          <a:p>
            <a:pPr lvl="2"/>
            <a:r>
              <a:rPr lang="en-US" altLang="en-US" dirty="0"/>
              <a:t>USB, </a:t>
            </a:r>
          </a:p>
          <a:p>
            <a:pPr lvl="2"/>
            <a:r>
              <a:rPr lang="en-US" altLang="en-US" dirty="0"/>
              <a:t>firewire, </a:t>
            </a:r>
          </a:p>
          <a:p>
            <a:pPr lvl="2"/>
            <a:r>
              <a:rPr lang="en-US" altLang="en-US" dirty="0"/>
              <a:t>thunderbolt</a:t>
            </a:r>
          </a:p>
          <a:p>
            <a:pPr lvl="1"/>
            <a:r>
              <a:rPr lang="en-US" altLang="en-US" dirty="0"/>
              <a:t>High-end systems use </a:t>
            </a:r>
            <a:r>
              <a:rPr lang="en-US" altLang="en-US" b="1" dirty="0" err="1">
                <a:solidFill>
                  <a:srgbClr val="3366FF"/>
                </a:solidFill>
              </a:rPr>
              <a:t>fibre</a:t>
            </a:r>
            <a:r>
              <a:rPr lang="en-US" altLang="en-US" b="1" dirty="0">
                <a:solidFill>
                  <a:srgbClr val="3366FF"/>
                </a:solidFill>
              </a:rPr>
              <a:t> channel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FC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High-speed serial architecture using </a:t>
            </a:r>
            <a:r>
              <a:rPr lang="en-US" altLang="en-US" dirty="0" err="1"/>
              <a:t>fibre</a:t>
            </a:r>
            <a:r>
              <a:rPr lang="en-US" altLang="en-US" dirty="0"/>
              <a:t> or copper cables</a:t>
            </a:r>
          </a:p>
          <a:p>
            <a:pPr lvl="2"/>
            <a:r>
              <a:rPr lang="en-US" altLang="en-US" dirty="0"/>
              <a:t>Multiple hosts and storage devices can connect to the FC fabric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  <a:p>
            <a:pPr lvl="2">
              <a:buFont typeface="Webdings" panose="05030102010509060703" pitchFamily="18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8D2625-8F1D-4B3A-9344-24FADF3C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71B951-CFFC-4203-910B-1FD4F7A14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377" y="4541991"/>
            <a:ext cx="5325122" cy="199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592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CC5E633A-88BC-429E-8778-8395AD5F8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6664" y="141288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Network-Attached Storage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4F90ED94-98B7-4595-8E0D-F6AACC2FFB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7520" y="814742"/>
            <a:ext cx="9650993" cy="5816877"/>
          </a:xfrm>
        </p:spPr>
        <p:txBody>
          <a:bodyPr>
            <a:normAutofit/>
          </a:bodyPr>
          <a:lstStyle/>
          <a:p>
            <a:r>
              <a:rPr lang="en-US" altLang="en-US" dirty="0"/>
              <a:t>Network-attached storage (</a:t>
            </a:r>
            <a:r>
              <a:rPr lang="en-US" altLang="en-US" b="1" dirty="0">
                <a:solidFill>
                  <a:srgbClr val="3366FF"/>
                </a:solidFill>
              </a:rPr>
              <a:t>NAS</a:t>
            </a:r>
            <a:r>
              <a:rPr lang="en-US" altLang="en-US" dirty="0"/>
              <a:t>) is storage made available over a network rather than over a local connection (such as a bus)</a:t>
            </a:r>
          </a:p>
          <a:p>
            <a:pPr lvl="1"/>
            <a:r>
              <a:rPr lang="en-US" altLang="en-US" dirty="0"/>
              <a:t>Remotely attaching to file systems</a:t>
            </a:r>
          </a:p>
          <a:p>
            <a:r>
              <a:rPr lang="en-US" altLang="en-US" dirty="0"/>
              <a:t>NFS and CIFS are common protocols</a:t>
            </a:r>
          </a:p>
          <a:p>
            <a:r>
              <a:rPr lang="en-US" altLang="en-US" dirty="0"/>
              <a:t>Implemented via remote procedure calls (</a:t>
            </a:r>
            <a:r>
              <a:rPr lang="en-US" altLang="en-US" b="1" dirty="0">
                <a:solidFill>
                  <a:srgbClr val="3366FF"/>
                </a:solidFill>
              </a:rPr>
              <a:t>RPC</a:t>
            </a:r>
            <a:r>
              <a:rPr lang="en-US" altLang="en-US" dirty="0"/>
              <a:t>s) between host and storage over typically TCP or UDP on IP network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iSCSI</a:t>
            </a:r>
            <a:r>
              <a:rPr lang="en-US" altLang="en-US" dirty="0"/>
              <a:t> protocol uses IP network to carry the SCSI protocol</a:t>
            </a:r>
          </a:p>
          <a:p>
            <a:pPr lvl="1"/>
            <a:r>
              <a:rPr lang="en-US" altLang="en-US" dirty="0"/>
              <a:t>Remotely attaching to devices (blocks)</a:t>
            </a:r>
          </a:p>
        </p:txBody>
      </p:sp>
      <p:pic>
        <p:nvPicPr>
          <p:cNvPr id="60419" name="Picture 6">
            <a:extLst>
              <a:ext uri="{FF2B5EF4-FFF2-40B4-BE49-F238E27FC236}">
                <a16:creationId xmlns:a16="http://schemas.microsoft.com/office/drawing/2014/main" id="{74D57D75-A646-44C2-91EA-4A9FF036E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915" y="4480719"/>
            <a:ext cx="4805362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67BD1-FBE9-4513-86AA-647807EB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57E9541D-F50E-4A97-90E0-32D168D5B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41288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Cloud Storage</a:t>
            </a:r>
          </a:p>
        </p:txBody>
      </p:sp>
      <p:sp>
        <p:nvSpPr>
          <p:cNvPr id="62466" name="Content Placeholder 2">
            <a:extLst>
              <a:ext uri="{FF2B5EF4-FFF2-40B4-BE49-F238E27FC236}">
                <a16:creationId xmlns:a16="http://schemas.microsoft.com/office/drawing/2014/main" id="{63A74E24-69AF-4391-BA42-3A4352C13D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6585" y="968328"/>
            <a:ext cx="8141636" cy="4598185"/>
          </a:xfrm>
        </p:spPr>
        <p:txBody>
          <a:bodyPr/>
          <a:lstStyle/>
          <a:p>
            <a:r>
              <a:rPr lang="en-US" altLang="en-US" dirty="0"/>
              <a:t>Similar to NAS, provides access to storage across a network</a:t>
            </a:r>
          </a:p>
          <a:p>
            <a:pPr lvl="1"/>
            <a:r>
              <a:rPr lang="en-US" altLang="en-US" dirty="0"/>
              <a:t>Unlike NAS, accessed over the Internet or a WAN to remote data center</a:t>
            </a:r>
          </a:p>
          <a:p>
            <a:r>
              <a:rPr lang="en-US" altLang="en-US" dirty="0"/>
              <a:t>NAS presented as just another file system, while cloud storage is </a:t>
            </a:r>
            <a:r>
              <a:rPr lang="en-US" altLang="en-US" b="1" dirty="0">
                <a:solidFill>
                  <a:srgbClr val="3366FF"/>
                </a:solidFill>
              </a:rPr>
              <a:t>API</a:t>
            </a:r>
            <a:r>
              <a:rPr lang="en-US" altLang="en-US" dirty="0"/>
              <a:t> based, with programs using the APIs to provide access</a:t>
            </a:r>
          </a:p>
          <a:p>
            <a:pPr lvl="1"/>
            <a:r>
              <a:rPr lang="en-US" altLang="en-US" dirty="0"/>
              <a:t>Examples include Dropbox, Amazon S3, Microsoft OneDrive, Apple iCloud</a:t>
            </a:r>
          </a:p>
          <a:p>
            <a:pPr lvl="1"/>
            <a:r>
              <a:rPr lang="en-US" altLang="en-US" dirty="0"/>
              <a:t>Use APIs because of latency and failure scenarios (NAS protocols wouldn’t work well)</a:t>
            </a:r>
          </a:p>
          <a:p>
            <a:pPr lvl="1"/>
            <a:endParaRPr lang="en-US" altLang="en-US" dirty="0"/>
          </a:p>
          <a:p>
            <a:pPr lvl="2">
              <a:buFont typeface="Webdings" panose="05030102010509060703" pitchFamily="18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86396D-168A-4AC0-8AF0-74307D09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745A3B4C-505D-4FF9-AD41-B0073ADA6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62188" y="155576"/>
            <a:ext cx="794861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Storage Area Network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7B2F313B-2CE2-4D3E-82B1-E1CB0DC91B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45030" y="976037"/>
            <a:ext cx="8935312" cy="4530725"/>
          </a:xfrm>
        </p:spPr>
        <p:txBody>
          <a:bodyPr/>
          <a:lstStyle/>
          <a:p>
            <a:r>
              <a:rPr lang="en-US" altLang="en-US" dirty="0"/>
              <a:t>Common in large storage environments</a:t>
            </a:r>
          </a:p>
          <a:p>
            <a:r>
              <a:rPr lang="en-US" altLang="en-US" dirty="0"/>
              <a:t>Use </a:t>
            </a:r>
            <a:r>
              <a:rPr lang="en-US" altLang="en-US" b="1" dirty="0">
                <a:solidFill>
                  <a:srgbClr val="3366FF"/>
                </a:solidFill>
              </a:rPr>
              <a:t>Storage Protocol </a:t>
            </a:r>
            <a:r>
              <a:rPr lang="en-US" altLang="en-US" dirty="0"/>
              <a:t>for communication</a:t>
            </a:r>
          </a:p>
          <a:p>
            <a:endParaRPr lang="en-US" altLang="en-US" sz="800" dirty="0"/>
          </a:p>
          <a:p>
            <a:r>
              <a:rPr lang="en-US" altLang="en-US" dirty="0"/>
              <a:t>Multiple hosts attached to multiple storage arrays – flexible</a:t>
            </a:r>
          </a:p>
          <a:p>
            <a:endParaRPr lang="en-US" altLang="en-US" dirty="0"/>
          </a:p>
        </p:txBody>
      </p:sp>
      <p:pic>
        <p:nvPicPr>
          <p:cNvPr id="64515" name="Picture 1" descr="10_03.pdf">
            <a:extLst>
              <a:ext uri="{FF2B5EF4-FFF2-40B4-BE49-F238E27FC236}">
                <a16:creationId xmlns:a16="http://schemas.microsoft.com/office/drawing/2014/main" id="{FB593754-5DAA-466C-8ADB-B0D987A7E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12" y="3241399"/>
            <a:ext cx="5614988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4ED638-27B9-4FD5-9241-93B19CBE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2E2AB0F5-B522-4C4E-8CFB-ACF57F5E1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Storage Area Network (Cont.)</a:t>
            </a:r>
          </a:p>
        </p:txBody>
      </p:sp>
      <p:sp>
        <p:nvSpPr>
          <p:cNvPr id="66562" name="Content Placeholder 2">
            <a:extLst>
              <a:ext uri="{FF2B5EF4-FFF2-40B4-BE49-F238E27FC236}">
                <a16:creationId xmlns:a16="http://schemas.microsoft.com/office/drawing/2014/main" id="{50FDA1BD-413A-4498-A11F-DB74A2E6D6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0461" y="926306"/>
            <a:ext cx="9418556" cy="5005387"/>
          </a:xfrm>
        </p:spPr>
        <p:txBody>
          <a:bodyPr>
            <a:normAutofit/>
          </a:bodyPr>
          <a:lstStyle/>
          <a:p>
            <a:r>
              <a:rPr lang="en-US" altLang="en-US" dirty="0"/>
              <a:t>SAN is one or more storage arrays</a:t>
            </a:r>
          </a:p>
          <a:p>
            <a:pPr lvl="1"/>
            <a:r>
              <a:rPr lang="en-US" altLang="en-US" dirty="0"/>
              <a:t>Connected to one or more </a:t>
            </a:r>
            <a:r>
              <a:rPr lang="en-US" altLang="en-US" dirty="0" err="1"/>
              <a:t>Fibre</a:t>
            </a:r>
            <a:r>
              <a:rPr lang="en-US" altLang="en-US" dirty="0"/>
              <a:t> Channel switches or </a:t>
            </a:r>
            <a:r>
              <a:rPr lang="en-US" altLang="en-US" b="1" dirty="0">
                <a:solidFill>
                  <a:srgbClr val="3366FF"/>
                </a:solidFill>
              </a:rPr>
              <a:t>InfiniBand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3366FF"/>
                </a:solidFill>
              </a:rPr>
              <a:t>IB</a:t>
            </a:r>
            <a:r>
              <a:rPr lang="en-US" altLang="en-US" dirty="0"/>
              <a:t>) network</a:t>
            </a:r>
          </a:p>
          <a:p>
            <a:r>
              <a:rPr lang="en-US" altLang="en-US" dirty="0"/>
              <a:t>Hosts also attach to the switches</a:t>
            </a:r>
          </a:p>
          <a:p>
            <a:r>
              <a:rPr lang="en-US" altLang="en-US" dirty="0"/>
              <a:t>Storage made available via </a:t>
            </a:r>
            <a:r>
              <a:rPr lang="en-US" altLang="en-US" b="1" dirty="0">
                <a:solidFill>
                  <a:srgbClr val="3366FF"/>
                </a:solidFill>
              </a:rPr>
              <a:t>LUN Masking </a:t>
            </a:r>
            <a:r>
              <a:rPr lang="en-US" altLang="en-US" dirty="0"/>
              <a:t>from specific arrays to specific servers</a:t>
            </a:r>
          </a:p>
          <a:p>
            <a:r>
              <a:rPr lang="en-US" altLang="en-US" dirty="0"/>
              <a:t>Easy to add or remove storage, add new host and allocate it storage</a:t>
            </a:r>
          </a:p>
          <a:p>
            <a:r>
              <a:rPr lang="en-US" altLang="en-US" dirty="0"/>
              <a:t>Why have separate storage networks and communications networks?</a:t>
            </a:r>
          </a:p>
          <a:p>
            <a:pPr lvl="1"/>
            <a:r>
              <a:rPr lang="en-US" altLang="en-US" dirty="0"/>
              <a:t>Consider iSCSI, FCOE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BA49FD-FFE6-487D-BA02-762A099D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71D66BCB-4314-426B-998F-A4553BF90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41288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Storage Array</a:t>
            </a:r>
          </a:p>
        </p:txBody>
      </p:sp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id="{E4B858F8-23EC-4006-8003-30A9462DFD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9708" y="1001260"/>
            <a:ext cx="7830813" cy="5071379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Can just attach disks, or arrays of disks</a:t>
            </a:r>
          </a:p>
          <a:p>
            <a:r>
              <a:rPr lang="en-US" altLang="en-US" dirty="0"/>
              <a:t>Avoids the NAS drawback of using network bandwidth</a:t>
            </a:r>
          </a:p>
          <a:p>
            <a:r>
              <a:rPr lang="en-US" altLang="en-US" dirty="0"/>
              <a:t>Storage Array </a:t>
            </a:r>
            <a:r>
              <a:rPr lang="en-US" altLang="en-US" b="1" dirty="0">
                <a:solidFill>
                  <a:srgbClr val="3366FF"/>
                </a:solidFill>
              </a:rPr>
              <a:t>has</a:t>
            </a:r>
            <a:r>
              <a:rPr lang="en-US" altLang="en-US" dirty="0"/>
              <a:t> controller(s), provides features to attached host(s)</a:t>
            </a:r>
          </a:p>
          <a:p>
            <a:pPr lvl="1"/>
            <a:r>
              <a:rPr lang="en-US" altLang="en-US" dirty="0"/>
              <a:t>Ports to connect hosts to array</a:t>
            </a:r>
          </a:p>
          <a:p>
            <a:pPr lvl="1"/>
            <a:r>
              <a:rPr lang="en-US" altLang="en-US" dirty="0"/>
              <a:t>Memory, controlling software (sometimes NVRAM, </a:t>
            </a:r>
            <a:r>
              <a:rPr lang="en-US" altLang="en-US" dirty="0" err="1"/>
              <a:t>etc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A few to thousands of disks</a:t>
            </a:r>
          </a:p>
          <a:p>
            <a:pPr lvl="1"/>
            <a:r>
              <a:rPr lang="en-US" altLang="en-US" dirty="0"/>
              <a:t>RAID, hot spares, hot swap (discussed later)</a:t>
            </a:r>
          </a:p>
          <a:p>
            <a:pPr lvl="1"/>
            <a:r>
              <a:rPr lang="en-US" altLang="en-US" dirty="0"/>
              <a:t>Shared storage -&gt; more efficiency</a:t>
            </a:r>
          </a:p>
          <a:p>
            <a:pPr lvl="1"/>
            <a:r>
              <a:rPr lang="en-US" altLang="en-US" dirty="0"/>
              <a:t>Features found in some file systems</a:t>
            </a:r>
          </a:p>
          <a:p>
            <a:pPr lvl="2"/>
            <a:r>
              <a:rPr lang="en-US" altLang="en-US" dirty="0" err="1"/>
              <a:t>Snaphots</a:t>
            </a:r>
            <a:r>
              <a:rPr lang="en-US" altLang="en-US" dirty="0"/>
              <a:t>, clones, thin provisioning, replication, deduplication,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2">
              <a:buFont typeface="Webdings" panose="05030102010509060703" pitchFamily="18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F39CB3-24BA-4875-9C28-1F94B71DE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1F0D-88B1-45AF-839E-BAF4ECB28105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5E9154-355A-4C4C-9454-1C566C354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365" y="2276756"/>
            <a:ext cx="3051297" cy="2037792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17E80606-8B89-4FC8-9D65-90CC3E619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2974" y="4598656"/>
            <a:ext cx="25796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A Storage Array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938</Words>
  <Application>Microsoft Office PowerPoint</Application>
  <PresentationFormat>Widescreen</PresentationFormat>
  <Paragraphs>131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MS PGothic</vt:lpstr>
      <vt:lpstr>游ゴシック</vt:lpstr>
      <vt:lpstr>Arial</vt:lpstr>
      <vt:lpstr>Calibri</vt:lpstr>
      <vt:lpstr>Calibri Light</vt:lpstr>
      <vt:lpstr>Times New Roman</vt:lpstr>
      <vt:lpstr>Webdings</vt:lpstr>
      <vt:lpstr>Wingdings</vt:lpstr>
      <vt:lpstr>Office Theme</vt:lpstr>
      <vt:lpstr>Mass Storage Structure Lesson 3 Storage Management</vt:lpstr>
      <vt:lpstr>Error Detection and Correction</vt:lpstr>
      <vt:lpstr>Storage Device Management</vt:lpstr>
      <vt:lpstr>Storage Device Management</vt:lpstr>
      <vt:lpstr>Storage Device Management (cont.)</vt:lpstr>
      <vt:lpstr>Device Storage Management (Cont.)</vt:lpstr>
      <vt:lpstr>Swap-Space Management</vt:lpstr>
      <vt:lpstr>Swap-Space Management</vt:lpstr>
      <vt:lpstr>Storage Attachment</vt:lpstr>
      <vt:lpstr>Host Attached Storage</vt:lpstr>
      <vt:lpstr>Network-Attached Storage</vt:lpstr>
      <vt:lpstr>Cloud Storage</vt:lpstr>
      <vt:lpstr>Storage Area Network</vt:lpstr>
      <vt:lpstr>Storage Area Network (Cont.)</vt:lpstr>
      <vt:lpstr>Storage Array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Storage Lesson 4 Management &amp; RAID</dc:title>
  <dc:creator>David Liu</dc:creator>
  <cp:lastModifiedBy>David Liu</cp:lastModifiedBy>
  <cp:revision>29</cp:revision>
  <dcterms:created xsi:type="dcterms:W3CDTF">2021-12-01T14:40:37Z</dcterms:created>
  <dcterms:modified xsi:type="dcterms:W3CDTF">2022-04-14T17:34:42Z</dcterms:modified>
</cp:coreProperties>
</file>