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81" r:id="rId3"/>
    <p:sldId id="382" r:id="rId4"/>
    <p:sldId id="384" r:id="rId5"/>
    <p:sldId id="383" r:id="rId6"/>
    <p:sldId id="385" r:id="rId7"/>
    <p:sldId id="395" r:id="rId8"/>
    <p:sldId id="386" r:id="rId9"/>
    <p:sldId id="387" r:id="rId10"/>
    <p:sldId id="388" r:id="rId11"/>
    <p:sldId id="393" r:id="rId12"/>
    <p:sldId id="39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CB6D7-BEF2-42E8-91A2-6E1044740D24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19B13-479D-4CEA-BBA5-E1F33505C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8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45F2C2E6-EDB3-430F-89A4-59A3FB71FF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5124A41-8101-4BF0-BC50-42E8D5E3CE93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DED80223-E7A8-4BE1-BFEA-71C9A58FF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9CA6E869-A919-440B-91AD-85C84FE090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88D21EA2-ABBB-4947-B622-F387354274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836102-C008-4150-A560-063D1DA590EA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CFAD5446-E266-433C-93BD-65329A83C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F6EC152-6377-4E3A-BA94-A9B51AA05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88D21EA2-ABBB-4947-B622-F387354274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836102-C008-4150-A560-063D1DA590EA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CFAD5446-E266-433C-93BD-65329A83C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F6EC152-6377-4E3A-BA94-A9B51AA05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382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88D21EA2-ABBB-4947-B622-F387354274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836102-C008-4150-A560-063D1DA590EA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CFAD5446-E266-433C-93BD-65329A83C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F6EC152-6377-4E3A-BA94-A9B51AA05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465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88D21EA2-ABBB-4947-B622-F387354274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1836102-C008-4150-A560-063D1DA590EA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CFAD5446-E266-433C-93BD-65329A83C0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F6EC152-6377-4E3A-BA94-A9B51AA056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531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54714586-270B-46C1-A9A2-304DC93380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A3AC55D8-BED9-49B5-98E2-0A7D76E59D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B754CEF1-7A23-4DBA-9BC6-FD682DFE78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24F18E1A-731C-4861-A474-293DCD239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358D61D3-EFDE-470A-9FCD-4B8C3F0741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22640D-44B1-402A-BFF9-0747DF4B6B0B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FE77EF9-0029-4DB1-989D-FAE03DCCD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B4627094-3D18-4777-90B8-B1AC7E5F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358D61D3-EFDE-470A-9FCD-4B8C3F0741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922640D-44B1-402A-BFF9-0747DF4B6B0B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FE77EF9-0029-4DB1-989D-FAE03DCCDB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B4627094-3D18-4777-90B8-B1AC7E5F4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95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4993-AC1B-4720-BE64-09360B592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3007D-B3AD-4CAC-900F-8C139B82F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E64FF-EF21-4F72-8E17-7B28E6D38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F9B7D-F5F7-472F-9469-7B64C2AD2466}" type="datetime1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FFCD7-3D81-4C6F-A115-DF3C9476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BA47C-E972-4F0A-9D40-CE5C10E0E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5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200B-DE0A-46A6-B0B7-49B0704B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C76E0-9729-42D1-92D3-7A2FFB774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583B5-0F68-4EFB-88B3-C2E244D7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B6B72-42A4-4B57-886B-8FA31CB394D2}" type="datetime1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9FCBD-8F1F-44F4-8E5D-CB2DB94A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9BEDD-9DC8-4334-8A46-88B07D1B3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9208-AE22-4AAC-9977-B8860B5CF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9D4054-403C-4E5D-8231-941661CA0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FF216-1345-466B-ABC1-0023FEF89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D52B-4F74-4FFB-8BF5-0EFBB295ADF3}" type="datetime1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2C0BA-FDDB-4EC0-A9A8-00C9FA9B4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902F9-604C-4344-997A-438B431A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79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EFE3F-001B-455D-BF7C-17FB2BEFE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778C3-FD61-4958-ABF6-405721EC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E08AF7-9D07-4711-9DAF-88B378AD5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78A41-9CBF-46E8-9DA8-BF8AAEDD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01F61-22CA-469B-A911-116FEE53D5F0}" type="datetime1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A92FF-414E-4F62-A978-CADCAD760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D2AA1-898F-40D7-A8D2-1F201265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79A0-754E-449E-A587-D57AD4F9E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923FB-E27E-4840-9558-3F5F9F398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77F38-D3BF-448F-8BC5-285EF9650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D9D31-ABC9-4614-994C-EFC4CA629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3A5E9-E2B1-47B4-B693-CE2F280B2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B65158-583F-4042-A698-677A0544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83C19-6A33-4173-A80B-41F2F6EEED62}" type="datetime1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61557D-A2B2-4996-BABF-2D6BA0D7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648BD-F526-42E9-B116-6CCF672DA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9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76DFD-02A3-414A-8119-91B0507C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EC73A2-4F34-456D-9E5F-BB961109B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21176-9BC2-41FF-BEA8-E91EF1BBFD00}" type="datetime1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0DB285-24FE-4514-B0D8-67974A46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2EAAA-A931-47C3-8440-D9325FC79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56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E4679-8E2E-46F5-888C-813900A9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2DF03-A724-45CA-9BA2-570F258AA4F3}" type="datetime1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D06DE-5415-4225-8286-7DF2AA73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4BD86-70C0-4A09-8990-25DEBB364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88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E393-C3B6-4375-B6A5-82E790171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CDC15-9C1C-433A-9C9C-DBF5B03E7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CC7C8-3F98-423F-950A-C3A389B11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80A41-A779-4756-8315-610A903FA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9F9BD-3269-4E4C-B59D-A31D060F197D}" type="datetime1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78491-2373-4E9B-A69B-7F17A042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9FFAD-6BD0-4CC3-9655-01E079297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1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BEC82-E142-49D2-B493-3FD2E4A3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6AC546-8856-40F9-9AAE-3E5EB7B12A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CE21E-2C44-48D0-86D5-E766915E1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D682E-6D48-4CEA-9A21-75B8E4D0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5AEB-8D69-47B4-924C-780026FA79B5}" type="datetime1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E0C6D-868F-4A84-A0FC-707E7758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7023A-4377-4088-9B9E-B83F61520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6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F546-872F-4F28-8B1E-411ED3972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EF790-0CDD-40AF-ABCD-FF9EB23B4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1CBEA-16F1-4503-AFE6-3957D22C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FA27E-3141-4C7B-9363-6CBE8E17184B}" type="datetime1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98928-796C-4EE7-9EEF-D25FD97B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8DF31-E700-4F78-81DA-A375952B9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49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8048C6-92CD-43E2-A189-2CA4DC8F44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F634A-557C-44A5-B347-647C5A4D0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10368-6E87-4237-8C05-DFD675EF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56F02-468D-4D63-96AB-2CA0078E3A62}" type="datetime1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4AEC8-DD5C-4BA3-93F1-1E4D8312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61CC-92EB-4EA4-A7E8-7E72AA79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30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7E2422-299C-44AE-A59E-4FDB5CE7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57092-5673-4598-B601-B7EFC504F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DF437-6619-4DF2-92FB-5C6B5314C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75B04-083A-48FC-90E0-EDB494048734}" type="datetime1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A46A1-937B-4C2F-AC84-5BA55A0C2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3BF87-FF05-4FF4-9712-C5D92572E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98AF7-A288-4B64-99BA-27E52EA65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9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Mass Storage Structure</a:t>
            </a:r>
            <a:br>
              <a:rPr lang="en-US" dirty="0"/>
            </a:br>
            <a:r>
              <a:rPr lang="en-US"/>
              <a:t>Lesson 4</a:t>
            </a:r>
            <a:br>
              <a:rPr lang="en-US" dirty="0"/>
            </a:br>
            <a:r>
              <a:rPr lang="en-US" dirty="0"/>
              <a:t>RAID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EFCEF-9CE2-4275-8858-A1A59C2E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65B509C7-69C7-4414-8D95-11D795099E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25675" y="239713"/>
            <a:ext cx="7761288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RAID Structure</a:t>
            </a:r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AE764C00-D43C-43D8-B3B6-0B5D47908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5034" y="1002135"/>
            <a:ext cx="9160142" cy="4737653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b="1" dirty="0">
                <a:solidFill>
                  <a:srgbClr val="3366FF"/>
                </a:solidFill>
              </a:rPr>
              <a:t>RAID</a:t>
            </a:r>
            <a:r>
              <a:rPr lang="en-US" altLang="en-US" dirty="0"/>
              <a:t> – </a:t>
            </a:r>
            <a:r>
              <a:rPr lang="en-US" altLang="en-US" b="1" dirty="0">
                <a:solidFill>
                  <a:srgbClr val="3366FF"/>
                </a:solidFill>
              </a:rPr>
              <a:t>redundant array of inexpensive disks</a:t>
            </a:r>
          </a:p>
          <a:p>
            <a:pPr lvl="1"/>
            <a:r>
              <a:rPr lang="en-US" altLang="en-US" dirty="0"/>
              <a:t>multiple disk drives provides reliability via </a:t>
            </a:r>
            <a:r>
              <a:rPr lang="en-US" altLang="en-US" b="1" dirty="0">
                <a:solidFill>
                  <a:srgbClr val="3366FF"/>
                </a:solidFill>
              </a:rPr>
              <a:t>redundancy</a:t>
            </a:r>
            <a:endParaRPr lang="en-US" altLang="en-US" b="1" dirty="0"/>
          </a:p>
          <a:p>
            <a:r>
              <a:rPr lang="en-US" altLang="en-US" dirty="0"/>
              <a:t>Increases the </a:t>
            </a:r>
            <a:r>
              <a:rPr lang="en-US" altLang="en-US" b="1" dirty="0">
                <a:solidFill>
                  <a:srgbClr val="3366FF"/>
                </a:solidFill>
              </a:rPr>
              <a:t>mean time to failure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Mean time to repair – </a:t>
            </a:r>
            <a:r>
              <a:rPr lang="en-US" altLang="en-US" dirty="0"/>
              <a:t>exposure time when another failure could cause data loss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Mean time to data loss </a:t>
            </a:r>
            <a:r>
              <a:rPr lang="en-US" altLang="en-US" dirty="0"/>
              <a:t>based on above factors</a:t>
            </a:r>
          </a:p>
          <a:p>
            <a:r>
              <a:rPr lang="en-US" altLang="en-US" dirty="0"/>
              <a:t>If mirrored disks fail independently, consider disk with 1300,000 </a:t>
            </a:r>
            <a:r>
              <a:rPr lang="en-US" altLang="en-US" b="1" dirty="0">
                <a:solidFill>
                  <a:srgbClr val="3366FF"/>
                </a:solidFill>
              </a:rPr>
              <a:t>mean time to failure </a:t>
            </a:r>
            <a:r>
              <a:rPr lang="en-US" altLang="en-US" dirty="0"/>
              <a:t>and 10 hour mean time to repair</a:t>
            </a:r>
          </a:p>
          <a:p>
            <a:pPr lvl="1"/>
            <a:r>
              <a:rPr lang="en-US" altLang="en-US" dirty="0"/>
              <a:t>Mean time to data loss is 100, 000</a:t>
            </a:r>
            <a:r>
              <a:rPr lang="en-US" altLang="en-US" baseline="30000" dirty="0"/>
              <a:t>2</a:t>
            </a:r>
            <a:r>
              <a:rPr lang="en-US" altLang="en-US" dirty="0"/>
              <a:t> / (2 ∗ 10) = 500 ∗ 10</a:t>
            </a:r>
            <a:r>
              <a:rPr lang="en-US" altLang="en-US" baseline="30000" dirty="0"/>
              <a:t>6</a:t>
            </a:r>
            <a:r>
              <a:rPr lang="en-US" altLang="en-US" dirty="0"/>
              <a:t> hours, or 57,000 years! </a:t>
            </a:r>
          </a:p>
          <a:p>
            <a:r>
              <a:rPr lang="en-US" altLang="en-US" dirty="0"/>
              <a:t>Frequently combined with </a:t>
            </a:r>
            <a:r>
              <a:rPr lang="en-US" altLang="en-US" b="1" dirty="0">
                <a:solidFill>
                  <a:srgbClr val="3366FF"/>
                </a:solidFill>
              </a:rPr>
              <a:t>NVRAM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to improve write performance</a:t>
            </a:r>
          </a:p>
          <a:p>
            <a:r>
              <a:rPr lang="en-US" altLang="en-US" dirty="0"/>
              <a:t>Several improvements in disk-use techniques involve the use of multiple disks working cooperatively</a:t>
            </a:r>
            <a:endParaRPr lang="en-US" alt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5B8FDA-DECF-4601-8352-8FF24B8C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11CF5840-541F-4112-97D9-D6A1B931E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RAID (Cont.)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DC14F6B3-0F59-4893-9F15-963C1E06B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3816" y="1354089"/>
            <a:ext cx="6444945" cy="4914509"/>
          </a:xfrm>
        </p:spPr>
        <p:txBody>
          <a:bodyPr>
            <a:normAutofit/>
          </a:bodyPr>
          <a:lstStyle/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sz="2400" dirty="0"/>
              <a:t>RAID is arranged into six different levels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en-US" sz="2000" dirty="0"/>
              <a:t>RAID 0: non-redundant striping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en-US" sz="2000" dirty="0"/>
              <a:t>RAID 1: mirrored disks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en-US" sz="2000" dirty="0"/>
              <a:t>RAID 4: block-interleaved parity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en-US" sz="2000" dirty="0"/>
              <a:t>RAID 5: block-interleaved distributed parity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en-US" sz="2000" dirty="0"/>
              <a:t>RAID 6: P + Q redundancy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en-US" sz="2000" dirty="0"/>
              <a:t>Multidimensional RAID 6</a:t>
            </a:r>
          </a:p>
          <a:p>
            <a:pPr lvl="1"/>
            <a:endParaRPr lang="en-US" altLang="en-US" dirty="0"/>
          </a:p>
          <a:p>
            <a:endParaRPr lang="en-US" altLang="en-US" sz="8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E2C4E65-08E9-4060-90FE-24D19F228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362" y="586905"/>
            <a:ext cx="4040055" cy="6082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C8FE09-0E06-4D83-9B03-67DAE334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4274-1E7F-4F81-B205-80529C3E5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RAID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41EB-6911-4625-B5B6-12C26D13C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3366FF"/>
                </a:solidFill>
              </a:rPr>
              <a:t>Striping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uses a group of disks as one storage unit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Mirroring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shadowing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 keeps duplicate of each disk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Block interleaved parity </a:t>
            </a:r>
            <a:r>
              <a:rPr lang="en-US" altLang="en-US" b="1" dirty="0">
                <a:solidFill>
                  <a:prstClr val="black"/>
                </a:solidFill>
              </a:rPr>
              <a:t> </a:t>
            </a:r>
            <a:r>
              <a:rPr lang="en-US" altLang="en-US" dirty="0">
                <a:solidFill>
                  <a:prstClr val="black"/>
                </a:solidFill>
              </a:rPr>
              <a:t>stores the error correction code (ECC) in drive N+1 of previous N blocks of data in drives 1, 2, …, N respectively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Block interleaved distributed parity </a:t>
            </a:r>
            <a:r>
              <a:rPr lang="en-US" altLang="en-US" dirty="0">
                <a:solidFill>
                  <a:prstClr val="black"/>
                </a:solidFill>
              </a:rPr>
              <a:t>spreads N data blocks and the ECC block among N+1 drives</a:t>
            </a:r>
          </a:p>
          <a:p>
            <a:r>
              <a:rPr lang="en-US" altLang="en-US" dirty="0">
                <a:solidFill>
                  <a:prstClr val="black"/>
                </a:solidFill>
              </a:rPr>
              <a:t>Striping: improves performance</a:t>
            </a:r>
          </a:p>
          <a:p>
            <a:r>
              <a:rPr lang="en-US" altLang="en-US" dirty="0">
                <a:solidFill>
                  <a:prstClr val="black"/>
                </a:solidFill>
              </a:rPr>
              <a:t>Mirroring: provides reliability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CEC1-A116-4091-A3E6-B7887E8F9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03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11CF5840-541F-4112-97D9-D6A1B931E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RAID (Cont.)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DC14F6B3-0F59-4893-9F15-963C1E06B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356" y="1001549"/>
            <a:ext cx="9672887" cy="5355183"/>
          </a:xfrm>
        </p:spPr>
        <p:txBody>
          <a:bodyPr>
            <a:normAutofit/>
          </a:bodyPr>
          <a:lstStyle/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RAID schemes improve performance and improve the reliability of the storage system by storing redundant data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Mirroring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shadowing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RAID 1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keeps duplicate of each disk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Block interleaved parity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RAID 4, 5, 6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uses much less redundancy</a:t>
            </a:r>
          </a:p>
          <a:p>
            <a:r>
              <a:rPr lang="en-US" altLang="en-US" dirty="0"/>
              <a:t>RAID within a storage array can still fail if the array fails, so automatic   </a:t>
            </a:r>
            <a:r>
              <a:rPr lang="en-US" altLang="en-US" b="1" dirty="0">
                <a:solidFill>
                  <a:srgbClr val="3366FF"/>
                </a:solidFill>
              </a:rPr>
              <a:t>replication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data between arrays is common</a:t>
            </a:r>
          </a:p>
          <a:p>
            <a:r>
              <a:rPr lang="en-US" altLang="en-US" dirty="0"/>
              <a:t>Frequently, a small number of </a:t>
            </a:r>
            <a:r>
              <a:rPr lang="en-US" altLang="en-US" b="1" dirty="0">
                <a:solidFill>
                  <a:srgbClr val="3366FF"/>
                </a:solidFill>
              </a:rPr>
              <a:t>hot-spare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disks are left unallocated, automatically replacing a failed disk and having data rebuilt onto them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D301B1-6D62-451F-8675-E3F271110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95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11CF5840-541F-4112-97D9-D6A1B931E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RAID (Cont.)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DC14F6B3-0F59-4893-9F15-963C1E06B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9242" y="1089684"/>
            <a:ext cx="7414429" cy="5355183"/>
          </a:xfrm>
        </p:spPr>
        <p:txBody>
          <a:bodyPr>
            <a:normAutofit fontScale="92500" lnSpcReduction="20000"/>
          </a:bodyPr>
          <a:lstStyle/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Striping: improves performance</a:t>
            </a:r>
          </a:p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Mirroring: provides reliability</a:t>
            </a:r>
          </a:p>
          <a:p>
            <a:pPr marL="228600" lvl="1">
              <a:spcBef>
                <a:spcPts val="1000"/>
              </a:spcBef>
            </a:pPr>
            <a:endParaRPr lang="en-US" altLang="en-US" sz="2800" dirty="0"/>
          </a:p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Striped mirrors (RAID 0+1) </a:t>
            </a:r>
          </a:p>
          <a:p>
            <a:pPr marL="685800" lvl="2">
              <a:spcBef>
                <a:spcPts val="1000"/>
              </a:spcBef>
            </a:pPr>
            <a:r>
              <a:rPr lang="en-US" altLang="en-US" sz="2400" dirty="0"/>
              <a:t>Two redundant stripes available</a:t>
            </a:r>
          </a:p>
          <a:p>
            <a:pPr marL="685800" lvl="2">
              <a:spcBef>
                <a:spcPts val="1000"/>
              </a:spcBef>
            </a:pPr>
            <a:r>
              <a:rPr lang="en-US" altLang="en-US" sz="2400" dirty="0"/>
              <a:t>Single drive failure </a:t>
            </a:r>
            <a:r>
              <a:rPr lang="en-US" altLang="en-US" sz="2400" dirty="0">
                <a:sym typeface="Wingdings" panose="05000000000000000000" pitchFamily="2" charset="2"/>
              </a:rPr>
              <a:t> entire stripe inaccessible 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en-US" altLang="en-US" sz="2400" dirty="0"/>
          </a:p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Mirrored stripes (</a:t>
            </a:r>
            <a:r>
              <a:rPr lang="en-US" altLang="en-US" sz="2800"/>
              <a:t>RAID 1+0) </a:t>
            </a:r>
            <a:endParaRPr lang="en-US" altLang="en-US" sz="2800" dirty="0"/>
          </a:p>
          <a:p>
            <a:pPr marL="685800" lvl="2">
              <a:spcBef>
                <a:spcPts val="1000"/>
              </a:spcBef>
            </a:pPr>
            <a:r>
              <a:rPr lang="en-US" altLang="en-US" sz="2400" dirty="0"/>
              <a:t>Only one stripe</a:t>
            </a:r>
          </a:p>
          <a:p>
            <a:pPr marL="685800" lvl="2">
              <a:spcBef>
                <a:spcPts val="1000"/>
              </a:spcBef>
            </a:pPr>
            <a:r>
              <a:rPr lang="en-US" altLang="en-US" sz="2400" dirty="0"/>
              <a:t>Single drive failure</a:t>
            </a:r>
            <a:r>
              <a:rPr lang="en-US" altLang="en-US" sz="2400" dirty="0">
                <a:sym typeface="Wingdings" panose="05000000000000000000" pitchFamily="2" charset="2"/>
              </a:rPr>
              <a:t> the stripe uses another mirrored drive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en-US" altLang="en-US" sz="2400" dirty="0"/>
          </a:p>
          <a:p>
            <a:pPr marL="228600" lvl="1">
              <a:spcBef>
                <a:spcPts val="1000"/>
              </a:spcBef>
            </a:pPr>
            <a:r>
              <a:rPr lang="en-US" altLang="en-US" sz="2800" dirty="0"/>
              <a:t>Better performance than RAID 5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EE11CB3-757B-436D-B736-28A0239B9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025" y="1252455"/>
            <a:ext cx="4267007" cy="4853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63C131-232C-42EB-B998-E36D2143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7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59D8-245C-44CE-B9E0-2E982D7A2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09A408-8BE6-42C6-9E1A-4DCAA7166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925" y="2524919"/>
            <a:ext cx="8058150" cy="2952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46F0D-3C5E-4F38-951B-2F77355F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34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11CF5840-541F-4112-97D9-D6A1B931E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RAID (Cont.)</a:t>
            </a:r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DC14F6B3-0F59-4893-9F15-963C1E06B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6356" y="1001549"/>
            <a:ext cx="9672887" cy="5355183"/>
          </a:xfrm>
        </p:spPr>
        <p:txBody>
          <a:bodyPr>
            <a:normAutofit/>
          </a:bodyPr>
          <a:lstStyle/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r>
              <a:rPr lang="en-US" altLang="en-US" dirty="0"/>
              <a:t>RAID schemes improve performance and improve the reliability of the storage system by storing redundant data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Mirroring </a:t>
            </a:r>
            <a:r>
              <a:rPr lang="en-US" altLang="en-US" dirty="0"/>
              <a:t>or </a:t>
            </a:r>
            <a:r>
              <a:rPr lang="en-US" altLang="en-US" b="1" dirty="0">
                <a:solidFill>
                  <a:srgbClr val="3366FF"/>
                </a:solidFill>
              </a:rPr>
              <a:t>shadowing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RAID 1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keeps duplicate of each disk</a:t>
            </a:r>
          </a:p>
          <a:p>
            <a:pPr lvl="1"/>
            <a:r>
              <a:rPr lang="en-US" altLang="en-US" dirty="0"/>
              <a:t>Striped mirrors (</a:t>
            </a:r>
            <a:r>
              <a:rPr lang="en-US" altLang="en-US" b="1" dirty="0">
                <a:solidFill>
                  <a:srgbClr val="3366FF"/>
                </a:solidFill>
              </a:rPr>
              <a:t>RAID 1+0</a:t>
            </a:r>
            <a:r>
              <a:rPr lang="en-US" altLang="en-US" dirty="0"/>
              <a:t>) or mirrored stripes (</a:t>
            </a:r>
            <a:r>
              <a:rPr lang="en-US" altLang="en-US" b="1" dirty="0">
                <a:solidFill>
                  <a:srgbClr val="3366FF"/>
                </a:solidFill>
              </a:rPr>
              <a:t>RAID 0+1</a:t>
            </a:r>
            <a:r>
              <a:rPr lang="en-US" altLang="en-US" dirty="0"/>
              <a:t>) provides high performance and high reliability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Block interleaved parity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RAID 4, 5, 6</a:t>
            </a:r>
            <a:r>
              <a:rPr lang="en-US" altLang="en-US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uses much less redundancy</a:t>
            </a:r>
          </a:p>
          <a:p>
            <a:r>
              <a:rPr lang="en-US" altLang="en-US" dirty="0"/>
              <a:t>RAID within a storage array can still fail if the array fails, so automatic   </a:t>
            </a:r>
            <a:r>
              <a:rPr lang="en-US" altLang="en-US" b="1" dirty="0">
                <a:solidFill>
                  <a:srgbClr val="3366FF"/>
                </a:solidFill>
              </a:rPr>
              <a:t>replication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of the data between arrays is common</a:t>
            </a:r>
          </a:p>
          <a:p>
            <a:r>
              <a:rPr lang="en-US" altLang="en-US" dirty="0"/>
              <a:t>Frequently, a small number of </a:t>
            </a:r>
            <a:r>
              <a:rPr lang="en-US" altLang="en-US" b="1" dirty="0">
                <a:solidFill>
                  <a:srgbClr val="3366FF"/>
                </a:solidFill>
              </a:rPr>
              <a:t>hot-spare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disks are left unallocated, automatically replacing a failed disk and having data rebuilt onto them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7CFD10-564F-4D59-83F6-FD1134C4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91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>
            <a:extLst>
              <a:ext uri="{FF2B5EF4-FFF2-40B4-BE49-F238E27FC236}">
                <a16:creationId xmlns:a16="http://schemas.microsoft.com/office/drawing/2014/main" id="{2C973159-8D44-4383-B93D-FC7390759F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89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Other Features</a:t>
            </a:r>
          </a:p>
        </p:txBody>
      </p:sp>
      <p:sp>
        <p:nvSpPr>
          <p:cNvPr id="75778" name="Content Placeholder 2">
            <a:extLst>
              <a:ext uri="{FF2B5EF4-FFF2-40B4-BE49-F238E27FC236}">
                <a16:creationId xmlns:a16="http://schemas.microsoft.com/office/drawing/2014/main" id="{1C4F59AB-F064-4392-B987-556798A58F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22795" y="913235"/>
            <a:ext cx="9232212" cy="4892654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Regardless of where RAID implemented, other useful features can be added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Snapshot</a:t>
            </a:r>
            <a:r>
              <a:rPr lang="en-US" altLang="en-US" dirty="0"/>
              <a:t> is a view of file system before a set of changes take place (i.e. at a point in time)</a:t>
            </a:r>
          </a:p>
          <a:p>
            <a:pPr lvl="1"/>
            <a:r>
              <a:rPr lang="en-US" altLang="en-US" dirty="0"/>
              <a:t>More in Ch 12</a:t>
            </a:r>
          </a:p>
          <a:p>
            <a:r>
              <a:rPr lang="en-US" altLang="en-US" dirty="0"/>
              <a:t>Replication is automatic duplication of writes between separate sites</a:t>
            </a:r>
          </a:p>
          <a:p>
            <a:pPr lvl="1"/>
            <a:r>
              <a:rPr lang="en-US" altLang="en-US" dirty="0"/>
              <a:t>For redundancy and disaster recovery</a:t>
            </a:r>
          </a:p>
          <a:p>
            <a:pPr lvl="1"/>
            <a:r>
              <a:rPr lang="en-US" altLang="en-US" dirty="0"/>
              <a:t>Can be synchronous or asynchronous</a:t>
            </a:r>
          </a:p>
          <a:p>
            <a:r>
              <a:rPr lang="en-US" altLang="en-US" dirty="0"/>
              <a:t>Hot spare disk is unused, automatically used by RAID production if a disk fails to replace the failed disk and rebuild the RAID set if possible</a:t>
            </a:r>
          </a:p>
          <a:p>
            <a:pPr lvl="1"/>
            <a:r>
              <a:rPr lang="en-US" altLang="en-US" dirty="0"/>
              <a:t>Decreases mean time to repair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12506-6169-465A-B084-30DA08DA8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>
            <a:extLst>
              <a:ext uri="{FF2B5EF4-FFF2-40B4-BE49-F238E27FC236}">
                <a16:creationId xmlns:a16="http://schemas.microsoft.com/office/drawing/2014/main" id="{63D4E013-912A-4081-B4C4-8B9E04AC9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20926" y="163513"/>
            <a:ext cx="78898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Traditional and Pooled Storage</a:t>
            </a:r>
          </a:p>
        </p:txBody>
      </p:sp>
      <p:pic>
        <p:nvPicPr>
          <p:cNvPr id="79874" name="Picture 1" descr="10_14.pdf">
            <a:extLst>
              <a:ext uri="{FF2B5EF4-FFF2-40B4-BE49-F238E27FC236}">
                <a16:creationId xmlns:a16="http://schemas.microsoft.com/office/drawing/2014/main" id="{651F8BC8-C539-4FE2-AF2D-F9AB0B5C69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521" y="991211"/>
            <a:ext cx="3498983" cy="545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22D572-3F88-44EA-ADE7-22C674D7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0ECB539F-C864-40F6-A95B-48CA1C01C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10422" y="213519"/>
            <a:ext cx="7732712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Object Storage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4A617B63-2A58-4C66-BDC2-69324A39C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6809" y="950464"/>
            <a:ext cx="8933991" cy="4957072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General-purpose computing, file systems not sufficient for very large scale</a:t>
            </a:r>
          </a:p>
          <a:p>
            <a:r>
              <a:rPr lang="en-US" altLang="en-US" sz="2400" dirty="0"/>
              <a:t>Another approach – start with a storage pool and place objects in it</a:t>
            </a:r>
          </a:p>
          <a:p>
            <a:pPr lvl="1"/>
            <a:r>
              <a:rPr lang="en-US" altLang="en-US" dirty="0"/>
              <a:t>Object just a container of data</a:t>
            </a:r>
          </a:p>
          <a:p>
            <a:pPr lvl="1"/>
            <a:r>
              <a:rPr lang="en-US" altLang="en-US" dirty="0"/>
              <a:t>No way to navigate the pool to find objects (no directory structures, few services</a:t>
            </a:r>
          </a:p>
          <a:p>
            <a:pPr lvl="1"/>
            <a:r>
              <a:rPr lang="en-US" altLang="en-US" dirty="0"/>
              <a:t>Computer-oriented, not user-oriented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881360-6B13-4660-849B-5004B18E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0ECB539F-C864-40F6-A95B-48CA1C01C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19299" y="213519"/>
            <a:ext cx="7732712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Object Storage</a:t>
            </a:r>
          </a:p>
        </p:txBody>
      </p:sp>
      <p:sp>
        <p:nvSpPr>
          <p:cNvPr id="81922" name="Rectangle 3">
            <a:extLst>
              <a:ext uri="{FF2B5EF4-FFF2-40B4-BE49-F238E27FC236}">
                <a16:creationId xmlns:a16="http://schemas.microsoft.com/office/drawing/2014/main" id="{4A617B63-2A58-4C66-BDC2-69324A39C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76809" y="950464"/>
            <a:ext cx="8933991" cy="4957072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Typical sequence</a:t>
            </a:r>
          </a:p>
          <a:p>
            <a:pPr lvl="1"/>
            <a:r>
              <a:rPr lang="en-US" altLang="en-US" dirty="0"/>
              <a:t>Create an object within the pool, receive an object ID</a:t>
            </a:r>
          </a:p>
          <a:p>
            <a:pPr lvl="1"/>
            <a:r>
              <a:rPr lang="en-US" altLang="en-US" dirty="0"/>
              <a:t>Access object via that ID</a:t>
            </a:r>
          </a:p>
          <a:p>
            <a:pPr lvl="1"/>
            <a:r>
              <a:rPr lang="en-US" altLang="en-US" dirty="0"/>
              <a:t>Delete object via that ID</a:t>
            </a:r>
          </a:p>
          <a:p>
            <a:r>
              <a:rPr lang="en-US" altLang="en-US" sz="2400" dirty="0"/>
              <a:t>Object storage management software like </a:t>
            </a:r>
            <a:r>
              <a:rPr lang="en-US" altLang="en-US" sz="2400" b="1" dirty="0">
                <a:solidFill>
                  <a:srgbClr val="3366FF"/>
                </a:solidFill>
              </a:rPr>
              <a:t>Hadoop file system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3366FF"/>
                </a:solidFill>
              </a:rPr>
              <a:t>HDFS</a:t>
            </a:r>
            <a:r>
              <a:rPr lang="en-US" altLang="en-US" sz="2400" dirty="0"/>
              <a:t>) and </a:t>
            </a:r>
            <a:r>
              <a:rPr lang="en-US" altLang="en-US" sz="2400" b="1" dirty="0" err="1">
                <a:solidFill>
                  <a:srgbClr val="3366FF"/>
                </a:solidFill>
              </a:rPr>
              <a:t>Ceph</a:t>
            </a:r>
            <a:r>
              <a:rPr lang="en-US" altLang="en-US" sz="2400" dirty="0"/>
              <a:t> determine where to store objects, manages protection</a:t>
            </a:r>
          </a:p>
          <a:p>
            <a:pPr lvl="1"/>
            <a:r>
              <a:rPr lang="en-US" altLang="en-US" dirty="0"/>
              <a:t>Typically by storing N copies, across N systems, in the object storage cluster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Horizontally scalable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Content addressable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unstructured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881360-6B13-4660-849B-5004B18E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98AF7-A288-4B64-99BA-27E52EA652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97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740</Words>
  <Application>Microsoft Office PowerPoint</Application>
  <PresentationFormat>Widescreen</PresentationFormat>
  <Paragraphs>105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MS PGothic</vt:lpstr>
      <vt:lpstr>Arial</vt:lpstr>
      <vt:lpstr>Calibri</vt:lpstr>
      <vt:lpstr>Calibri Light</vt:lpstr>
      <vt:lpstr>Monotype Sorts</vt:lpstr>
      <vt:lpstr>Times New Roman</vt:lpstr>
      <vt:lpstr>Wingdings</vt:lpstr>
      <vt:lpstr>Office Theme</vt:lpstr>
      <vt:lpstr>Mass Storage Structure Lesson 4 RAID</vt:lpstr>
      <vt:lpstr>RAID Structure</vt:lpstr>
      <vt:lpstr>RAID (Cont.)</vt:lpstr>
      <vt:lpstr>RAID Concepts</vt:lpstr>
      <vt:lpstr>RAID (Cont.)</vt:lpstr>
      <vt:lpstr>RAID (Cont.)</vt:lpstr>
      <vt:lpstr>RAID</vt:lpstr>
      <vt:lpstr>RAID (Cont.)</vt:lpstr>
      <vt:lpstr>Other Features</vt:lpstr>
      <vt:lpstr>Traditional and Pooled Storage</vt:lpstr>
      <vt:lpstr>Object Storage</vt:lpstr>
      <vt:lpstr>Object Storage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Storage Lesson 5 RAID</dc:title>
  <dc:creator>David Liu</dc:creator>
  <cp:lastModifiedBy>David Liu</cp:lastModifiedBy>
  <cp:revision>16</cp:revision>
  <dcterms:created xsi:type="dcterms:W3CDTF">2021-12-01T14:49:11Z</dcterms:created>
  <dcterms:modified xsi:type="dcterms:W3CDTF">2022-11-21T18:04:30Z</dcterms:modified>
</cp:coreProperties>
</file>