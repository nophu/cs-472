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46" r:id="rId3"/>
    <p:sldId id="347" r:id="rId4"/>
    <p:sldId id="349" r:id="rId5"/>
    <p:sldId id="350" r:id="rId6"/>
    <p:sldId id="351" r:id="rId7"/>
    <p:sldId id="352" r:id="rId8"/>
    <p:sldId id="353" r:id="rId9"/>
    <p:sldId id="354" r:id="rId10"/>
    <p:sldId id="355" r:id="rId11"/>
    <p:sldId id="35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85AB4-17B9-46FB-988E-C77BD348FF78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1A562-D520-49B0-B55F-0FC119B4C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31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DDEA1ABB-9590-4472-880A-52B88E2879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240060B-D6EF-423B-9F73-F7355A4DF44C}" type="slidenum">
              <a:rPr lang="en-US" altLang="en-US" smtClean="0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81D424D6-987F-46BA-9F48-ACD3BDF76AF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E81CE512-90D0-490A-9488-DE62536715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D7BBF9CD-2865-4C01-B302-87A1F48A60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718EC88-A41A-4015-8E85-FDCEDB29D825}" type="slidenum">
              <a:rPr lang="en-US" altLang="en-US" smtClean="0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76E08B50-C937-40C5-88DD-88144F85DC9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A4A0033-57CF-4800-8487-25B3B726EF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00844261-1AD1-428F-A87B-08E71557E8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7D6C2B-FF2F-4A4E-BC16-A1BA7C03090F}" type="slidenum">
              <a:rPr lang="en-US" altLang="en-US" smtClean="0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1599C9C5-86CA-4D9B-9836-86C8F637AAC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001DBFFE-CADD-467A-AE40-606D3AB34A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586A3461-6B25-4335-B5D5-A12F1DD12A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F669C73-8914-4D3F-A75D-251A1322521C}" type="slidenum">
              <a:rPr lang="en-US" altLang="en-US" smtClean="0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E9DC75D9-A2FB-4AD0-A5B8-0A8453E287C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FC2B7851-7FBA-4A7D-814B-DD8568B59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A4FE1FC8-9F6D-487E-BCE8-1E11281FA8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D973BB-3E33-4365-B7EA-42A2F91A223B}" type="slidenum">
              <a:rPr lang="en-US" altLang="en-US" smtClean="0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2FEC84A3-A4A3-4261-97C9-E2EFDD0E8F5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A8529A39-7B44-43B9-A5A0-AC7C2F3AC9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58CCA475-E8E8-4852-9348-7CD4444A46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29D2BB-5F44-4C0D-B880-E16CDD8568D0}" type="slidenum">
              <a:rPr lang="en-US" altLang="en-US" smtClean="0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4435825B-46D4-4C3A-BE63-FF5B3092516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2367CE63-682E-49F5-A711-A091F5EDAC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24B3D9D9-A643-4887-89F4-EB5E58B21C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18110-A972-4038-BCA0-7FC05F740402}" type="slidenum">
              <a:rPr lang="en-US" altLang="en-US" smtClean="0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FA1ADBA4-D01E-4FDA-892F-9337960E89A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188A78FF-01A3-43C0-B6F3-32FC55576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70825680-9D2F-482F-8217-DE6F41CF71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28C6AE5-62F6-4883-B7EC-E0F1B6FB571B}" type="slidenum">
              <a:rPr lang="en-US" altLang="en-US" smtClean="0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A764C9ED-70FB-4572-A665-5BAB5B468EE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0000863F-35CA-4CD9-B427-39E3FD71AF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30552-8B36-4094-8A0D-1E6E6346F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35080-3B3F-4A1B-8A3D-FBFDE7A4F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A9705-83D4-43F1-89C4-7368D0837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6D63-63D7-49E3-82D5-37CAE4436C4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DD2E7-E364-4169-878F-5A76194F5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8941F-F65D-463F-B279-A83EB62B4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DE55-535D-4B95-949D-754223258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12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D8318-31A8-444F-B085-1DDE8F40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02A88-384F-468D-BFC4-B2C6AD130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938F1-B626-4CDC-95F6-4067170B5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6D63-63D7-49E3-82D5-37CAE4436C4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FD582-3347-4F7F-B420-2F668693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112B3-F1E6-4BD3-8848-BD121D78C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DE55-535D-4B95-949D-754223258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67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940B9-0348-4F5B-848E-C5EF9621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EE8F7-3AA2-4874-9A2D-14409934B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4034D-2C9F-4070-8826-33E73D698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6D63-63D7-49E3-82D5-37CAE4436C4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3FC08-7ED6-4566-860F-576A423D3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6AFDB-6926-496A-8CE6-1D823F52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DE55-535D-4B95-949D-754223258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8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69C1A-6E6F-4931-BF2A-25DD1D621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621F2-37BC-457A-845F-3D3F3793E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CECB8-BC0D-4E62-8D9E-21C6F619D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588AB-FE35-401C-8404-1C503F5B5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6D63-63D7-49E3-82D5-37CAE4436C4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2FDD9-75B9-4CE6-B429-7671B283E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A0A1A-AC57-4044-9D6B-2A02E0DE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DE55-535D-4B95-949D-754223258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22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D9867-045B-409B-98C1-C50878E96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C2631-EAB3-489E-B3A9-DC29F202A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B9CF2-4CF7-47C0-8A55-84BA924DA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EC9E7-0B25-4298-8EFE-439394E3AD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F52994-2ED1-4882-84E7-1B17CC13D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2C1104-4FA3-41F5-8F8F-85304B789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6D63-63D7-49E3-82D5-37CAE4436C4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83B121-1359-4C49-B66E-48E18B561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D95F1-1F6F-4341-85A9-094A39C69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DE55-535D-4B95-949D-754223258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1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A2D4-AD4B-4722-9B34-69F3724D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ED8E5-A275-4D3C-82B8-83BEA1FD4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6D63-63D7-49E3-82D5-37CAE4436C4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3D407-11E3-4373-B9A6-C3D61BAA7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2543D-294D-4D02-8A08-4A0FFCF6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DE55-535D-4B95-949D-754223258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83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CDCEB9-4DD6-40D7-BEC5-74BDF5CE7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6D63-63D7-49E3-82D5-37CAE4436C4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6B07F9-1C21-4631-83BE-DC8FED7D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68BE1-E4E6-41B8-A400-6792E4F4B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DE55-535D-4B95-949D-754223258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16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EA25-23E6-45AA-BB3F-29E8DFE0D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A4ECD-A9B9-4DB5-8BCE-8B242D3DE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6DFDF-74B2-4FB1-8572-65C8C2F0B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58FE3-4A2A-44AB-97BD-67004B834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6D63-63D7-49E3-82D5-37CAE4436C4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50DF0-EFC7-4978-A80A-F12C2631E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B4644-6B42-4AE6-919A-8477B13BA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DE55-535D-4B95-949D-754223258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5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BB09F-3EBE-4FCA-AC2C-21321F7DB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FAB9A-4104-4E7C-8788-DF91654B83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678F6-EED6-42B9-BD63-E79C8AF08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40236-06C2-4431-A13F-55A759F1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6D63-63D7-49E3-82D5-37CAE4436C4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AFFCD-B5EA-4ACD-B103-929DB2AAF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BFF69-FB5E-4AAF-B345-12EEA22B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DE55-535D-4B95-949D-754223258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15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17B8D-3CAC-41F6-85E8-041C3017A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00308-E207-4298-8ABA-04E591332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FFF6E-452C-4A29-B27C-06B8DE957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6D63-63D7-49E3-82D5-37CAE4436C4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BA051-6A30-4D9A-9137-F5C99797F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2F5C1-2485-4237-A4B5-6BB8D41B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DE55-535D-4B95-949D-754223258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39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2CFF4B-A075-4FCB-AB41-2BE257E2E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E7CDAA-C06B-4D49-8F25-AAF3EB512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2191D-17F6-4B02-8019-351E596ED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6D63-63D7-49E3-82D5-37CAE4436C4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A3277-010F-46C5-88D6-2A5C753E2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51AA9-9A5D-40EF-9117-0B431316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DE55-535D-4B95-949D-754223258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32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7383EF-0B64-45F7-B659-5C2CA4AA4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5E71F-2E54-458C-A804-4E59C256D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C0440-7406-455D-8FF3-08CFE234A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F6D63-63D7-49E3-82D5-37CAE4436C4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1C524-FC98-4964-8C80-D283F0552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01AA9-B303-4967-9EC2-8E5ADE80A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BDE55-535D-4B95-949D-754223258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4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E5FE-9D08-4528-BE79-F255F2EBA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I/O Systems</a:t>
            </a:r>
            <a:br>
              <a:rPr lang="en-US" dirty="0"/>
            </a:br>
            <a:r>
              <a:rPr lang="en-US" dirty="0"/>
              <a:t>Lesson 2</a:t>
            </a:r>
            <a:br>
              <a:rPr lang="en-US" dirty="0"/>
            </a:br>
            <a:r>
              <a:rPr lang="en-US" dirty="0"/>
              <a:t>Application I/O Interface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D1B18-6A18-4CD8-9978-4AEA3A17C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</a:t>
            </a:r>
          </a:p>
        </p:txBody>
      </p:sp>
    </p:spTree>
    <p:extLst>
      <p:ext uri="{BB962C8B-B14F-4D97-AF65-F5344CB8AC3E}">
        <p14:creationId xmlns:p14="http://schemas.microsoft.com/office/powerpoint/2010/main" val="201950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FAC5EBA-7F81-4D05-8702-DABB0A6413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9038" y="127001"/>
            <a:ext cx="775176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Application I/O Interface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3532B2C-A899-4745-B393-1F51864E31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7954" y="1061752"/>
            <a:ext cx="8648412" cy="4622952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I/O system calls encapsulate device behaviors in generic classes</a:t>
            </a:r>
          </a:p>
          <a:p>
            <a:r>
              <a:rPr lang="en-US" altLang="en-US" dirty="0"/>
              <a:t>Device-driver layer hides differences among I/O controllers from kernel</a:t>
            </a:r>
          </a:p>
          <a:p>
            <a:r>
              <a:rPr lang="en-US" altLang="en-US" dirty="0"/>
              <a:t>New devices talking already-implemented protocols need no extra work</a:t>
            </a:r>
          </a:p>
          <a:p>
            <a:r>
              <a:rPr lang="en-US" altLang="en-US" dirty="0"/>
              <a:t>Each OS has its own I/O subsystem structures and device driver frameworks</a:t>
            </a:r>
          </a:p>
          <a:p>
            <a:r>
              <a:rPr lang="en-US" altLang="en-US" dirty="0"/>
              <a:t>Devices vary in many dimensions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Character-stream</a:t>
            </a:r>
            <a:r>
              <a:rPr lang="en-US" altLang="en-US" b="1" dirty="0"/>
              <a:t> </a:t>
            </a:r>
            <a:r>
              <a:rPr lang="en-US" altLang="en-US" dirty="0"/>
              <a:t>or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block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Sequential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3366FF"/>
                </a:solidFill>
              </a:rPr>
              <a:t>random-access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Synchronous </a:t>
            </a:r>
            <a:r>
              <a:rPr lang="en-US" altLang="en-US" dirty="0">
                <a:solidFill>
                  <a:srgbClr val="000000"/>
                </a:solidFill>
              </a:rPr>
              <a:t>or</a:t>
            </a:r>
            <a:r>
              <a:rPr lang="en-US" altLang="en-US" b="1" dirty="0">
                <a:solidFill>
                  <a:srgbClr val="3366FF"/>
                </a:solidFill>
              </a:rPr>
              <a:t> asynchronous </a:t>
            </a:r>
            <a:r>
              <a:rPr lang="en-US" altLang="en-US" dirty="0">
                <a:solidFill>
                  <a:srgbClr val="000000"/>
                </a:solidFill>
              </a:rPr>
              <a:t>(or both)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Sharable</a:t>
            </a:r>
            <a:r>
              <a:rPr lang="en-US" altLang="en-US" b="1" dirty="0"/>
              <a:t> </a:t>
            </a:r>
            <a:r>
              <a:rPr lang="en-US" altLang="en-US" dirty="0"/>
              <a:t>or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dedicated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Speed of operation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read-write</a:t>
            </a:r>
            <a:r>
              <a:rPr lang="en-US" altLang="en-US" b="1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read only</a:t>
            </a:r>
            <a:r>
              <a:rPr lang="en-US" altLang="en-US" b="1" dirty="0"/>
              <a:t>, </a:t>
            </a:r>
            <a:r>
              <a:rPr lang="en-US" altLang="en-US" dirty="0"/>
              <a:t>or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write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74A0724-FC9B-4FAF-B0D5-FC9B10D84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8276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 Kernel I/O Structure</a:t>
            </a:r>
            <a:endParaRPr lang="en-US" altLang="en-US" sz="2400"/>
          </a:p>
        </p:txBody>
      </p:sp>
      <p:pic>
        <p:nvPicPr>
          <p:cNvPr id="36867" name="Picture 2">
            <a:extLst>
              <a:ext uri="{FF2B5EF4-FFF2-40B4-BE49-F238E27FC236}">
                <a16:creationId xmlns:a16="http://schemas.microsoft.com/office/drawing/2014/main" id="{C83E6493-B406-444B-AF1B-284BA2BC0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605" y="965993"/>
            <a:ext cx="7605732" cy="552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82AB0CC5-80DD-449B-AD2E-7DDADD0B98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67013" y="168276"/>
            <a:ext cx="7689850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Characteristics of I/O Devices (Cont.)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1CBB36A9-4269-4F8A-835C-8AA02F4530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72456" y="891381"/>
            <a:ext cx="8447088" cy="5075237"/>
          </a:xfrm>
        </p:spPr>
        <p:txBody>
          <a:bodyPr>
            <a:normAutofit/>
          </a:bodyPr>
          <a:lstStyle/>
          <a:p>
            <a:r>
              <a:rPr lang="en-US" altLang="en-US" dirty="0"/>
              <a:t>Subtleties of devices handled by device drivers</a:t>
            </a:r>
          </a:p>
          <a:p>
            <a:r>
              <a:rPr lang="en-US" altLang="en-US" dirty="0"/>
              <a:t>Broadly I/O devices can be grouped by the OS into</a:t>
            </a:r>
          </a:p>
          <a:p>
            <a:pPr lvl="1"/>
            <a:r>
              <a:rPr lang="en-US" altLang="en-US" dirty="0"/>
              <a:t>Block I/O</a:t>
            </a:r>
          </a:p>
          <a:p>
            <a:pPr lvl="1"/>
            <a:r>
              <a:rPr lang="en-US" altLang="en-US" dirty="0"/>
              <a:t>Character I/O (Stream)</a:t>
            </a:r>
          </a:p>
          <a:p>
            <a:pPr lvl="1"/>
            <a:r>
              <a:rPr lang="en-US" altLang="en-US" dirty="0"/>
              <a:t>Memory-mapped file access</a:t>
            </a:r>
          </a:p>
          <a:p>
            <a:pPr lvl="1"/>
            <a:r>
              <a:rPr lang="en-US" altLang="en-US" dirty="0"/>
              <a:t>Network sockets</a:t>
            </a:r>
          </a:p>
          <a:p>
            <a:r>
              <a:rPr lang="en-US" altLang="en-US" dirty="0"/>
              <a:t>For direct manipulation of I/O device specific characteristics, usually an escape / back door</a:t>
            </a:r>
          </a:p>
          <a:p>
            <a:pPr lvl="1"/>
            <a:r>
              <a:rPr lang="en-US" altLang="en-US" dirty="0"/>
              <a:t>Unix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b="1" dirty="0"/>
              <a:t> </a:t>
            </a:r>
            <a:r>
              <a:rPr lang="en-US" altLang="en-US" dirty="0"/>
              <a:t>call to send arbitrary bits to a device control register and data to device data register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82AB0CC5-80DD-449B-AD2E-7DDADD0B98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67013" y="168276"/>
            <a:ext cx="7689850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UNIX and Linux Device Numbers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1CBB36A9-4269-4F8A-835C-8AA02F4530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40254" y="1310022"/>
            <a:ext cx="8447088" cy="1906903"/>
          </a:xfrm>
        </p:spPr>
        <p:txBody>
          <a:bodyPr>
            <a:normAutofit/>
          </a:bodyPr>
          <a:lstStyle/>
          <a:p>
            <a:r>
              <a:rPr lang="en-US" altLang="en-US" dirty="0"/>
              <a:t>UNIX and Linux use tuple of “major” and “minor” device numbers to identify type and instance of devices (here major 8 and minors 0-4)</a:t>
            </a:r>
            <a:br>
              <a:rPr lang="en-US" altLang="en-US" dirty="0"/>
            </a:b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 ls –l /dev/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sda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</a:p>
        </p:txBody>
      </p:sp>
      <p:pic>
        <p:nvPicPr>
          <p:cNvPr id="40964" name="Picture 2">
            <a:extLst>
              <a:ext uri="{FF2B5EF4-FFF2-40B4-BE49-F238E27FC236}">
                <a16:creationId xmlns:a16="http://schemas.microsoft.com/office/drawing/2014/main" id="{02D4EF9A-5641-4190-BA1E-A2A76AE4B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472" y="3919222"/>
            <a:ext cx="52451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7591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CB45522-E1CA-4D55-84F2-8843E7249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0138" y="155576"/>
            <a:ext cx="784066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Block and Character Devices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CDAC8A5-18C8-4C1A-BDD3-EB8B4824DB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84561" y="1163637"/>
            <a:ext cx="8086552" cy="4576151"/>
          </a:xfrm>
        </p:spPr>
        <p:txBody>
          <a:bodyPr/>
          <a:lstStyle/>
          <a:p>
            <a:r>
              <a:rPr lang="en-US" altLang="en-US" dirty="0"/>
              <a:t>Block devices include disk drives</a:t>
            </a:r>
          </a:p>
          <a:p>
            <a:pPr lvl="1"/>
            <a:r>
              <a:rPr lang="en-US" altLang="en-US" dirty="0"/>
              <a:t>Commands include read, write, seek 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Raw I/O</a:t>
            </a:r>
            <a:r>
              <a:rPr lang="en-US" altLang="en-US" dirty="0"/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direct I/O</a:t>
            </a:r>
            <a:r>
              <a:rPr lang="en-US" altLang="en-US" dirty="0"/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or file-system access</a:t>
            </a:r>
          </a:p>
          <a:p>
            <a:pPr lvl="1"/>
            <a:r>
              <a:rPr lang="en-US" altLang="en-US" dirty="0"/>
              <a:t>Memory-mapped file access possible</a:t>
            </a:r>
          </a:p>
          <a:p>
            <a:pPr lvl="2"/>
            <a:r>
              <a:rPr lang="en-US" altLang="en-US" dirty="0"/>
              <a:t>File mapped to virtual memory and clusters brought via demand paging</a:t>
            </a:r>
          </a:p>
          <a:p>
            <a:pPr lvl="1"/>
            <a:r>
              <a:rPr lang="en-US" altLang="en-US" dirty="0"/>
              <a:t>DMA</a:t>
            </a:r>
          </a:p>
          <a:p>
            <a:r>
              <a:rPr lang="en-US" altLang="en-US" dirty="0"/>
              <a:t>Character devices include keyboards, mice, serial ports</a:t>
            </a:r>
          </a:p>
          <a:p>
            <a:pPr lvl="1"/>
            <a:r>
              <a:rPr lang="en-US" altLang="en-US" dirty="0"/>
              <a:t>Commands include </a:t>
            </a:r>
            <a:r>
              <a:rPr lang="en-US" altLang="en-US" b="1" dirty="0">
                <a:latin typeface="Courier New" panose="02070309020205020404" pitchFamily="49" charset="0"/>
              </a:rPr>
              <a:t>get()</a:t>
            </a:r>
            <a:r>
              <a:rPr lang="en-US" altLang="en-US" dirty="0">
                <a:latin typeface="Courier New" panose="02070309020205020404" pitchFamily="49" charset="0"/>
              </a:rPr>
              <a:t>, </a:t>
            </a:r>
            <a:r>
              <a:rPr lang="en-US" altLang="en-US" b="1" dirty="0">
                <a:latin typeface="Courier New" panose="02070309020205020404" pitchFamily="49" charset="0"/>
              </a:rPr>
              <a:t>put()</a:t>
            </a:r>
            <a:endParaRPr lang="en-US" altLang="en-US" b="1" dirty="0"/>
          </a:p>
          <a:p>
            <a:pPr lvl="1"/>
            <a:r>
              <a:rPr lang="en-US" altLang="en-US" dirty="0"/>
              <a:t>Libraries layered on top allow line editing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41F2D30-DA8D-419B-A52C-879FE3AB7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Network Devices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FB3483A-9FF1-4878-BF98-FE0E4BBC29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94015" y="1163637"/>
            <a:ext cx="8036423" cy="4620218"/>
          </a:xfrm>
        </p:spPr>
        <p:txBody>
          <a:bodyPr/>
          <a:lstStyle/>
          <a:p>
            <a:r>
              <a:rPr lang="en-US" altLang="en-US" dirty="0"/>
              <a:t>Varying enough from block and character to have own interface</a:t>
            </a:r>
          </a:p>
          <a:p>
            <a:r>
              <a:rPr lang="en-US" altLang="en-US" dirty="0"/>
              <a:t>Linux, Unix, Windows and many others include </a:t>
            </a:r>
            <a:r>
              <a:rPr lang="en-US" altLang="en-US" b="1" dirty="0">
                <a:solidFill>
                  <a:srgbClr val="3366FF"/>
                </a:solidFill>
              </a:rPr>
              <a:t>socket </a:t>
            </a:r>
            <a:r>
              <a:rPr lang="en-US" altLang="en-US" dirty="0"/>
              <a:t>interface</a:t>
            </a:r>
          </a:p>
          <a:p>
            <a:pPr lvl="1"/>
            <a:r>
              <a:rPr lang="en-US" altLang="en-US" dirty="0"/>
              <a:t>Separates network protocol from network operation</a:t>
            </a:r>
          </a:p>
          <a:p>
            <a:pPr lvl="1"/>
            <a:r>
              <a:rPr lang="en-US" altLang="en-US" dirty="0"/>
              <a:t>Includes </a:t>
            </a:r>
            <a:r>
              <a:rPr lang="en-US" altLang="en-US" b="1" dirty="0">
                <a:latin typeface="Courier New" panose="02070309020205020404" pitchFamily="49" charset="0"/>
              </a:rPr>
              <a:t>select()</a:t>
            </a:r>
            <a:r>
              <a:rPr lang="en-US" altLang="en-US" dirty="0"/>
              <a:t> functionality</a:t>
            </a:r>
          </a:p>
          <a:p>
            <a:r>
              <a:rPr lang="en-US" altLang="en-US" dirty="0"/>
              <a:t>Approaches vary widely (pipes, FIFOs, streams, queues, mailboxes)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201771B-5D0F-4A62-AB2C-C87579E34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Clocks and Timers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0C9AFA4-B43B-4521-A06A-43CDE51A2A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07457" y="1163637"/>
            <a:ext cx="7956032" cy="3397346"/>
          </a:xfrm>
        </p:spPr>
        <p:txBody>
          <a:bodyPr/>
          <a:lstStyle/>
          <a:p>
            <a:r>
              <a:rPr lang="en-US" altLang="en-US" dirty="0"/>
              <a:t>Provide current time, elapsed time, timer</a:t>
            </a:r>
          </a:p>
          <a:p>
            <a:r>
              <a:rPr lang="en-US" altLang="en-US" dirty="0"/>
              <a:t>Normal resolution about 1/60 second</a:t>
            </a:r>
          </a:p>
          <a:p>
            <a:r>
              <a:rPr lang="en-US" altLang="en-US" dirty="0"/>
              <a:t>Some systems provide higher-resolution timers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Programmable interval timer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used for timings, periodic interrupts</a:t>
            </a:r>
          </a:p>
          <a:p>
            <a:r>
              <a:rPr lang="en-US" altLang="en-US" b="1" dirty="0" err="1">
                <a:latin typeface="Courier New" panose="02070309020205020404" pitchFamily="49" charset="0"/>
              </a:rPr>
              <a:t>ioctl</a:t>
            </a:r>
            <a:r>
              <a:rPr lang="en-US" altLang="en-US" b="1" dirty="0">
                <a:latin typeface="Courier New" panose="02070309020205020404" pitchFamily="49" charset="0"/>
              </a:rPr>
              <a:t>()</a:t>
            </a:r>
            <a:r>
              <a:rPr lang="en-US" altLang="en-US" b="1" dirty="0"/>
              <a:t> </a:t>
            </a:r>
            <a:r>
              <a:rPr lang="en-US" altLang="en-US" dirty="0"/>
              <a:t>(on UNIX) covers odd aspects of I/O such as clocks and timers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8AB88CC-A4BF-494D-BD12-C3C0EE6EF6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09864" y="182563"/>
            <a:ext cx="7800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Nonblocking and Asynchronous I/O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88069E62-3753-486B-9E7E-7825B21093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4064" y="1029753"/>
            <a:ext cx="8352640" cy="4765119"/>
          </a:xfrm>
        </p:spPr>
        <p:txBody>
          <a:bodyPr>
            <a:normAutofit lnSpcReduction="10000"/>
          </a:bodyPr>
          <a:lstStyle/>
          <a:p>
            <a:r>
              <a:rPr lang="en-US" altLang="en-US" b="1" dirty="0">
                <a:solidFill>
                  <a:srgbClr val="3366FF"/>
                </a:solidFill>
              </a:rPr>
              <a:t>Blocking</a:t>
            </a:r>
            <a:r>
              <a:rPr lang="en-US" altLang="en-US" b="1" dirty="0"/>
              <a:t> </a:t>
            </a:r>
            <a:r>
              <a:rPr lang="en-US" altLang="en-US" dirty="0"/>
              <a:t>- process suspended until I/O completed</a:t>
            </a:r>
          </a:p>
          <a:p>
            <a:pPr lvl="1"/>
            <a:r>
              <a:rPr lang="en-US" altLang="en-US" dirty="0"/>
              <a:t>Easy to use and understand</a:t>
            </a:r>
          </a:p>
          <a:p>
            <a:pPr lvl="1"/>
            <a:r>
              <a:rPr lang="en-US" altLang="en-US" dirty="0"/>
              <a:t>Insufficient for some needs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Nonblocking</a:t>
            </a:r>
            <a:r>
              <a:rPr lang="en-US" altLang="en-US" dirty="0"/>
              <a:t> - I/O call returns as much as available</a:t>
            </a:r>
          </a:p>
          <a:p>
            <a:pPr lvl="1"/>
            <a:r>
              <a:rPr lang="en-US" altLang="en-US" dirty="0"/>
              <a:t>User interface, data copy (buffered I/O)</a:t>
            </a:r>
          </a:p>
          <a:p>
            <a:pPr lvl="1"/>
            <a:r>
              <a:rPr lang="en-US" altLang="en-US" dirty="0"/>
              <a:t>Implemented via multi-threading</a:t>
            </a:r>
          </a:p>
          <a:p>
            <a:pPr lvl="1"/>
            <a:r>
              <a:rPr lang="en-US" altLang="en-US" dirty="0"/>
              <a:t>Returns quickly with count of bytes read or written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select() </a:t>
            </a:r>
            <a:r>
              <a:rPr lang="en-US" altLang="en-US" dirty="0"/>
              <a:t>to find if data ready then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lang="en-US" altLang="en-US" b="1" dirty="0"/>
              <a:t> </a:t>
            </a:r>
            <a:r>
              <a:rPr lang="en-US" altLang="en-US" dirty="0"/>
              <a:t>to transfer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Asynchronous</a:t>
            </a:r>
            <a:r>
              <a:rPr lang="en-US" altLang="en-US" dirty="0"/>
              <a:t> - process runs while I/O executes</a:t>
            </a:r>
          </a:p>
          <a:p>
            <a:pPr lvl="1"/>
            <a:r>
              <a:rPr lang="en-US" altLang="en-US" dirty="0"/>
              <a:t>Difficult to use</a:t>
            </a:r>
          </a:p>
          <a:p>
            <a:pPr lvl="1"/>
            <a:r>
              <a:rPr lang="en-US" altLang="en-US" dirty="0"/>
              <a:t>I/O subsystem signals process when I/O completed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79F41495-3714-40CB-845E-3ED2A1F45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8276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Two I/O Methods</a:t>
            </a:r>
          </a:p>
        </p:txBody>
      </p:sp>
      <p:sp>
        <p:nvSpPr>
          <p:cNvPr id="50179" name="Text Box 4">
            <a:extLst>
              <a:ext uri="{FF2B5EF4-FFF2-40B4-BE49-F238E27FC236}">
                <a16:creationId xmlns:a16="http://schemas.microsoft.com/office/drawing/2014/main" id="{BA1B4CD3-82AF-4495-970E-42602D0AA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2088" y="5571772"/>
            <a:ext cx="1735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Synchronous</a:t>
            </a:r>
          </a:p>
        </p:txBody>
      </p:sp>
      <p:sp>
        <p:nvSpPr>
          <p:cNvPr id="50180" name="Text Box 5">
            <a:extLst>
              <a:ext uri="{FF2B5EF4-FFF2-40B4-BE49-F238E27FC236}">
                <a16:creationId xmlns:a16="http://schemas.microsoft.com/office/drawing/2014/main" id="{AFF7414D-5547-444D-9013-2D592B7BE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491" y="5566054"/>
            <a:ext cx="308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Asynchronous</a:t>
            </a:r>
          </a:p>
        </p:txBody>
      </p:sp>
      <p:pic>
        <p:nvPicPr>
          <p:cNvPr id="50181" name="Picture 2">
            <a:extLst>
              <a:ext uri="{FF2B5EF4-FFF2-40B4-BE49-F238E27FC236}">
                <a16:creationId xmlns:a16="http://schemas.microsoft.com/office/drawing/2014/main" id="{585027DA-8ABF-473E-9E07-5DEB09ED7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463" y="866785"/>
            <a:ext cx="8229600" cy="4503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30A6BD11-42EF-4D23-87F4-226A2D6EF0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09826" y="168276"/>
            <a:ext cx="780097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Vectored I/O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E3C33D9-F90C-4A19-9A44-5C1CCF71D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40493" y="1163637"/>
            <a:ext cx="6877050" cy="4530725"/>
          </a:xfrm>
        </p:spPr>
        <p:txBody>
          <a:bodyPr>
            <a:normAutofit lnSpcReduction="10000"/>
          </a:bodyPr>
          <a:lstStyle/>
          <a:p>
            <a:r>
              <a:rPr lang="en-US" altLang="en-US" b="1" dirty="0">
                <a:solidFill>
                  <a:srgbClr val="3366FF"/>
                </a:solidFill>
              </a:rPr>
              <a:t>Vectored I/O </a:t>
            </a:r>
            <a:r>
              <a:rPr lang="en-US" altLang="en-US" dirty="0"/>
              <a:t>allows one system call to perform multiple I/O operations</a:t>
            </a:r>
          </a:p>
          <a:p>
            <a:r>
              <a:rPr lang="en-US" altLang="en-US" dirty="0"/>
              <a:t>For example, Unix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readve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accepts a vector of multiple buffers to read into or write from</a:t>
            </a:r>
          </a:p>
          <a:p>
            <a:r>
              <a:rPr lang="en-US" altLang="en-US" dirty="0"/>
              <a:t>This scatter-gather method better than multiple individual I/O calls</a:t>
            </a:r>
          </a:p>
          <a:p>
            <a:pPr lvl="1"/>
            <a:r>
              <a:rPr lang="en-US" altLang="en-US" dirty="0"/>
              <a:t>Decreases context switching and system call overhead</a:t>
            </a:r>
          </a:p>
          <a:p>
            <a:pPr lvl="1"/>
            <a:r>
              <a:rPr lang="en-US" altLang="en-US" dirty="0"/>
              <a:t>Some versions provide atomicity</a:t>
            </a:r>
          </a:p>
          <a:p>
            <a:pPr lvl="2"/>
            <a:r>
              <a:rPr lang="en-US" altLang="en-US" dirty="0"/>
              <a:t>Avoid for example worry about multiple threads changing data as reads / writes occurring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576</Words>
  <Application>Microsoft Office PowerPoint</Application>
  <PresentationFormat>Widescreen</PresentationFormat>
  <Paragraphs>79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MS PGothic</vt:lpstr>
      <vt:lpstr>Arial</vt:lpstr>
      <vt:lpstr>Calibri</vt:lpstr>
      <vt:lpstr>Calibri Light</vt:lpstr>
      <vt:lpstr>Courier New</vt:lpstr>
      <vt:lpstr>Helvetica</vt:lpstr>
      <vt:lpstr>Times New Roman</vt:lpstr>
      <vt:lpstr>Office Theme</vt:lpstr>
      <vt:lpstr>I/O Systems Lesson 2 Application I/O Interface</vt:lpstr>
      <vt:lpstr>Application I/O Interface</vt:lpstr>
      <vt:lpstr>A Kernel I/O Structure</vt:lpstr>
      <vt:lpstr>Characteristics of I/O Devices (Cont.)</vt:lpstr>
      <vt:lpstr>UNIX and Linux Device Numbers</vt:lpstr>
      <vt:lpstr>Block and Character Devices</vt:lpstr>
      <vt:lpstr>Network Devices</vt:lpstr>
      <vt:lpstr>Clocks and Timers</vt:lpstr>
      <vt:lpstr>Nonblocking and Asynchronous I/O</vt:lpstr>
      <vt:lpstr>Two I/O Methods</vt:lpstr>
      <vt:lpstr>Vectored I/O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I/O Systems Lesson 2 Application I/O Interface</dc:title>
  <dc:creator>David Liu</dc:creator>
  <cp:lastModifiedBy>David Liu</cp:lastModifiedBy>
  <cp:revision>2</cp:revision>
  <dcterms:created xsi:type="dcterms:W3CDTF">2021-12-01T16:09:03Z</dcterms:created>
  <dcterms:modified xsi:type="dcterms:W3CDTF">2021-12-01T16:15:22Z</dcterms:modified>
</cp:coreProperties>
</file>