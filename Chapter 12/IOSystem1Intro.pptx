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77" r:id="rId13"/>
    <p:sldId id="376" r:id="rId14"/>
    <p:sldId id="344" r:id="rId15"/>
    <p:sldId id="378" r:id="rId16"/>
    <p:sldId id="34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E9D7C-DA24-4D7B-A382-B2A4AF2AF124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CA896-C92F-4D18-BE61-5684769AF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6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24F20ADB-D5C8-42E3-A5BD-8B258B606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EB5F9A-5EA7-4796-96C2-40419B5FD5B7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1DA1CA1-2BEC-4C53-BAF6-CA332CC03E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71B385F-42C5-4CF1-B595-B41683E48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24F20ADB-D5C8-42E3-A5BD-8B258B606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EB5F9A-5EA7-4796-96C2-40419B5FD5B7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1DA1CA1-2BEC-4C53-BAF6-CA332CC03E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71B385F-42C5-4CF1-B595-B41683E48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8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E91CED8-AF63-4FF3-9930-8D6516C365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2943DC6-B296-459F-9B93-D97F7215944D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4BF05A7-A55D-4132-A228-524EE7E5E9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AFF9B0C-3C97-454F-BADD-79A44108C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6E6AFD9-300D-43A0-8C53-EEB61512E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D5FD6-6929-4290-B6E4-0ABFBD2EB194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76BFAD4-0D5B-4BE4-B284-EB38C339EF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F315591-E23B-4C95-870F-EAEE421C7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AF4E71DC-D587-4C72-A9F6-3B2941E71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1587986-CD44-4D0E-8149-39AA2576AE8B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F3FEC3F-7476-4118-94A7-6920BFCB3F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C49B46B-8A2E-416B-B9DF-3A7F6BEF1A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4B7A282-65B7-4B8A-8F1A-E172F31B9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4E439C-395C-471B-B500-218F8AC5BE03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814E238-DC7E-4EC8-933F-10935149A4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525EC2A6-9A2B-4A57-A50E-16F18AFA9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9FA89538-560A-4042-9BDA-07E2BB80B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21D02A-D215-4ADB-8092-199B8DA05D58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6584A23-612F-4939-A990-D7AF734C70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F61DF99-5E05-4D3F-8430-A3B1955DA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C635BC5-8A58-4D2A-BE76-C5524332A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F6489B-D5C7-405E-9DB3-0A7499947FA0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235B234-88D3-4B41-9E8E-BA83850594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72BDAB5-611B-493C-A081-7CBE64919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99FEAFA-2CDB-4F15-A386-16D2747942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E22477-BAE1-40CF-84B8-AB6DDB9C3AD1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B6C51D9-0814-4ACD-A797-42FE93BAF6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789CD51-8357-46C4-9E8B-15F8BF0A0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2EE4892-7C3E-41F6-8B07-99FF56E9E9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8C4034-97E5-4F46-8320-7F177CEFC54C}" type="slidenum">
              <a:rPr lang="en-US" altLang="en-US" smtClean="0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6A7A068-2DF5-4662-BAAA-E0D40B3DCBD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CE89D52-32E3-4755-8B00-BAD769EF4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4C4A61D-7020-4983-B656-4873A66EDF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C84148-4CE4-445B-AD2C-5C9790C05D24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E78965F-5805-4613-95F7-9C315BB63E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21185F4-F24C-4184-B8B8-BA32804EF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99B0-6943-4A3A-AD35-57358AB47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29FD5-CA6E-46CB-9C3C-09EA3171F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9037-B8D9-40C1-B506-0C75F8AE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F068-6971-484D-8E93-BDA87CAB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A9A61-0E93-4CE7-9AB4-87CFF5FA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7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C051-347B-45CB-9D7E-E234EFA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D4127-2DC2-4488-8831-3EC3AA0F0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68B2B-5EFC-4BF7-877F-F3CAA2D4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3062-6CDA-4D40-AC18-CB7D4E7B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DB4E7-ED84-496B-96BB-362AE553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4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D3BE-671A-4188-A2B3-C4173639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2A9CA-412B-4EED-8609-DD1735086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04A54-2D48-424F-8CBF-6EBBDE27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8F9C2-F119-42B6-B4B0-3905A87D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9838C-152C-4623-9DF1-44777E97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8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AEE9-EF2B-497B-9886-6DD36209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CC4B-8AE2-4CEF-B568-860C6ABD9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21213-5A45-4D9A-A10A-BCF572FA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DD7C2-2841-4E86-A9A6-490615E0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67352-54F5-4D04-BD59-F0ECE766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A73A-A7D4-43EA-9578-8E569958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8DB7-E3F3-43F8-9695-CDCC1424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A780C-45A1-4B47-A6F4-2C112941B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39B8E-146F-46BB-9BA3-2E434A950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877E7-0284-424F-815E-C32CB603A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2F484-E0FA-44A9-8A45-3C85A067A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A27BA-A5B4-421F-ADE8-1067C32A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445E6-A8FB-4F20-8193-4CC3EB9C4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7E9C7-2458-4055-95E3-7081E0F9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5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C8FB-7642-4EBB-8042-CEB7912A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40457-83D0-46E7-B76D-D5C27D43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A5676-5D28-4D74-974E-413BA98C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6A734-5C35-4021-AE6F-EE83ABB9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8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1B8E6-46A6-4EBF-B02E-2343CF23F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F50F7-4299-4DCF-8FF1-5127D167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4BCDD-A59A-41AD-B4A8-AC911EF1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85E4-0E0F-484C-A87C-2E05857E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56C59-1137-4B49-A5D4-F0F5E94E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FD5A6-5439-481D-9B37-C5EC94845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7F9D1-9746-4C54-87CD-6E01F0E4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1A3B2-EF6A-4498-B088-63962017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DAFA8-1FF1-4EB4-B2CA-9F122BDE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F32B-599B-440D-B7E7-6268BC44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5C77-F6AF-427E-B037-918AEFEDA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96857-770B-4D9B-80C7-F32591F07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0F97A-C8A3-4457-B94E-FB9893D3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67D13-EE34-4D8F-B9D6-C651C1EB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88BBE-2E4B-43F4-B514-F2C9447B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4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9727-5DA6-41C2-B15C-941CF7B1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14731-A259-4BB1-8E5A-0A4AABFB6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8727F-4EAA-484C-B0C3-6FCC0AA8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6F261-8F08-4F0F-AB13-05FFA9DB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EEDF-668C-4C71-A839-C0DA4F89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8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A21DF-9E74-4FC3-B080-86296F288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A46FC-D071-4263-8AB4-A2496C830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6306-DC10-4F5A-833D-E4C638C9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E228B-2C0F-4F87-8CC0-8F8D31A6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FF16-A3F3-47DD-A346-A8B52264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1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13B76-803F-4AD7-B624-9E70A106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E6C61-CD9E-4C2B-BEAB-B7D32E56A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6D168-19CF-4146-87FC-5DA0F0F76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F9B3C-8A11-4DDF-8174-1717DFDA859A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3CA7-3ACB-4282-9E09-76158D1A1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4555-367D-450D-802F-487B5B5E5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9D940-25F9-4EF5-9261-491AF8F6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5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97B5-3E01-4C55-88CF-DE1877D6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7372-EFEA-40D5-880D-8DABC8DD7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Explore the structure of an operating system</a:t>
            </a:r>
            <a:r>
              <a:rPr lang="ja-JP" altLang="en-US" dirty="0"/>
              <a:t>’</a:t>
            </a:r>
            <a:r>
              <a:rPr lang="en-US" altLang="ja-JP" dirty="0"/>
              <a:t>s I/O subsystem</a:t>
            </a:r>
          </a:p>
          <a:p>
            <a:endParaRPr lang="en-US" altLang="en-US" dirty="0"/>
          </a:p>
          <a:p>
            <a:r>
              <a:rPr lang="en-US" altLang="en-US" dirty="0"/>
              <a:t>Discuss the principles and complexities of I/O hardware</a:t>
            </a:r>
          </a:p>
          <a:p>
            <a:endParaRPr lang="en-US" altLang="en-US" dirty="0"/>
          </a:p>
          <a:p>
            <a:r>
              <a:rPr lang="en-US" altLang="en-US" dirty="0"/>
              <a:t>Explain the performance aspects of I/O hardware and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0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6C0F7D1-93E1-430C-8221-90168FB69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5676" y="114301"/>
            <a:ext cx="79851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I/O Hardware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A0B0DBA-11FE-43F2-8237-ED1054A17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292" y="772224"/>
            <a:ext cx="9773415" cy="5313552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Incredible variety of I/O devices</a:t>
            </a:r>
          </a:p>
          <a:p>
            <a:pPr lvl="1"/>
            <a:r>
              <a:rPr lang="en-US" altLang="en-US" dirty="0"/>
              <a:t>Storage</a:t>
            </a:r>
          </a:p>
          <a:p>
            <a:pPr lvl="1"/>
            <a:r>
              <a:rPr lang="en-US" altLang="en-US" dirty="0"/>
              <a:t>Transmission</a:t>
            </a:r>
          </a:p>
          <a:p>
            <a:pPr lvl="1"/>
            <a:r>
              <a:rPr lang="en-US" altLang="en-US" dirty="0"/>
              <a:t>Human-interface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6C0F7D1-93E1-430C-8221-90168FB69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5676" y="114301"/>
            <a:ext cx="7985125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I/O Hardware Common concepts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A0B0DBA-11FE-43F2-8237-ED1054A17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292" y="772224"/>
            <a:ext cx="9773415" cy="5313552"/>
          </a:xfrm>
        </p:spPr>
        <p:txBody>
          <a:bodyPr>
            <a:normAutofit/>
          </a:bodyPr>
          <a:lstStyle/>
          <a:p>
            <a:r>
              <a:rPr lang="en-US" altLang="en-US" dirty="0"/>
              <a:t>Signals from I/O devices interface with computer</a:t>
            </a:r>
          </a:p>
          <a:p>
            <a:pPr marL="0" indent="0">
              <a:buNone/>
            </a:pPr>
            <a:endParaRPr lang="en-US" altLang="en-US" dirty="0"/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Port </a:t>
            </a:r>
            <a:r>
              <a:rPr lang="en-US" altLang="en-US" sz="2000" dirty="0"/>
              <a:t>– connection point for device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Bus</a:t>
            </a:r>
            <a:r>
              <a:rPr lang="en-US" altLang="en-US" sz="2000" dirty="0"/>
              <a:t> - </a:t>
            </a:r>
            <a:r>
              <a:rPr lang="en-US" altLang="en-US" sz="2000" b="1" dirty="0">
                <a:solidFill>
                  <a:srgbClr val="3366FF"/>
                </a:solidFill>
              </a:rPr>
              <a:t>daisy chain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shared direct access</a:t>
            </a:r>
          </a:p>
          <a:p>
            <a:pPr lvl="2"/>
            <a:r>
              <a:rPr lang="en-US" altLang="en-US" b="1" dirty="0">
                <a:solidFill>
                  <a:srgbClr val="3366FF"/>
                </a:solidFill>
              </a:rPr>
              <a:t>PCI</a:t>
            </a:r>
            <a:r>
              <a:rPr lang="en-US" altLang="en-US" dirty="0"/>
              <a:t> bus common in PCs and servers, PCI Express (</a:t>
            </a:r>
            <a:r>
              <a:rPr lang="en-US" altLang="en-US" b="1" dirty="0">
                <a:solidFill>
                  <a:srgbClr val="3366FF"/>
                </a:solidFill>
              </a:rPr>
              <a:t>PCIe</a:t>
            </a:r>
            <a:r>
              <a:rPr lang="en-US" altLang="en-US" dirty="0"/>
              <a:t>) </a:t>
            </a:r>
          </a:p>
          <a:p>
            <a:pPr lvl="2"/>
            <a:r>
              <a:rPr lang="en-US" altLang="en-US" b="1" dirty="0">
                <a:solidFill>
                  <a:srgbClr val="3366FF"/>
                </a:solidFill>
              </a:rPr>
              <a:t>expansion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bus</a:t>
            </a:r>
            <a:r>
              <a:rPr lang="en-US" altLang="en-US" dirty="0"/>
              <a:t> connects relatively slow devices</a:t>
            </a:r>
          </a:p>
          <a:p>
            <a:pPr lvl="2"/>
            <a:r>
              <a:rPr lang="en-US" altLang="en-US" b="1" dirty="0">
                <a:solidFill>
                  <a:srgbClr val="3366FF"/>
                </a:solidFill>
              </a:rPr>
              <a:t>Serial-attached SCSI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SAS</a:t>
            </a:r>
            <a:r>
              <a:rPr lang="en-US" altLang="en-US" dirty="0"/>
              <a:t>) common disk interface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Controller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3366FF"/>
                </a:solidFill>
              </a:rPr>
              <a:t>host adapter</a:t>
            </a:r>
            <a:r>
              <a:rPr lang="en-US" altLang="en-US" sz="2000" dirty="0"/>
              <a:t>) – electronics that operate port, bus, device</a:t>
            </a:r>
          </a:p>
          <a:p>
            <a:pPr lvl="2"/>
            <a:r>
              <a:rPr lang="en-US" altLang="en-US" dirty="0"/>
              <a:t>Sometimes integrated</a:t>
            </a:r>
          </a:p>
          <a:p>
            <a:pPr lvl="2"/>
            <a:r>
              <a:rPr lang="en-US" altLang="en-US" dirty="0"/>
              <a:t>Sometimes separate circuit board (host adapter)</a:t>
            </a:r>
          </a:p>
          <a:p>
            <a:pPr lvl="2"/>
            <a:r>
              <a:rPr lang="en-US" altLang="en-US" dirty="0"/>
              <a:t>Contains processor, microcode, private memory, bus controller,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3"/>
            <a:r>
              <a:rPr lang="en-US" altLang="en-US" sz="2000" dirty="0"/>
              <a:t>Some talk to per-device controller with bus controller, microcode, memory, </a:t>
            </a:r>
            <a:r>
              <a:rPr lang="en-US" altLang="en-US" sz="2000" dirty="0" err="1"/>
              <a:t>etc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233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>
            <a:extLst>
              <a:ext uri="{FF2B5EF4-FFF2-40B4-BE49-F238E27FC236}">
                <a16:creationId xmlns:a16="http://schemas.microsoft.com/office/drawing/2014/main" id="{486EF14D-C2ED-44E2-B022-3D717A42D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2826" y="127001"/>
            <a:ext cx="79279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 Typical PC Bus Structure</a:t>
            </a:r>
            <a:endParaRPr lang="en-US" altLang="en-US" sz="2400"/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A4765CAC-10B9-4050-8262-5EE4D9442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06" y="1341859"/>
            <a:ext cx="7117642" cy="444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69415D2-1FF0-4BCF-AF42-0506D6C9D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5576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I/O Hardware (Cont.)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566227DB-144F-4363-9E74-38941D17A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41356" y="1127144"/>
            <a:ext cx="8328769" cy="4603712"/>
          </a:xfrm>
        </p:spPr>
        <p:txBody>
          <a:bodyPr>
            <a:normAutofit lnSpcReduction="10000"/>
          </a:bodyPr>
          <a:lstStyle/>
          <a:p>
            <a:r>
              <a:rPr lang="en-US" altLang="en-US" b="1" dirty="0" err="1">
                <a:solidFill>
                  <a:srgbClr val="3366FF"/>
                </a:solidFill>
              </a:rPr>
              <a:t>Fibre</a:t>
            </a:r>
            <a:r>
              <a:rPr lang="en-US" altLang="en-US" b="1" dirty="0">
                <a:solidFill>
                  <a:srgbClr val="3366FF"/>
                </a:solidFill>
              </a:rPr>
              <a:t> channel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FC</a:t>
            </a:r>
            <a:r>
              <a:rPr lang="en-US" altLang="en-US" dirty="0"/>
              <a:t>) is complex controller, usually separate circuit board (</a:t>
            </a:r>
            <a:r>
              <a:rPr lang="en-US" altLang="en-US" b="1" dirty="0">
                <a:solidFill>
                  <a:srgbClr val="3366FF"/>
                </a:solidFill>
              </a:rPr>
              <a:t>host-bus adapter (HBA)</a:t>
            </a:r>
            <a:r>
              <a:rPr lang="en-US" altLang="en-US" dirty="0"/>
              <a:t>) plugging into bus</a:t>
            </a:r>
          </a:p>
          <a:p>
            <a:r>
              <a:rPr lang="en-US" altLang="en-US" dirty="0"/>
              <a:t>I/O instructions control devices</a:t>
            </a:r>
          </a:p>
          <a:p>
            <a:r>
              <a:rPr lang="en-US" altLang="en-US" dirty="0"/>
              <a:t>Devices usually have </a:t>
            </a:r>
            <a:r>
              <a:rPr lang="en-US" altLang="en-US" b="1" dirty="0"/>
              <a:t>registers</a:t>
            </a:r>
            <a:r>
              <a:rPr lang="en-US" altLang="en-US" dirty="0"/>
              <a:t> where device driver places </a:t>
            </a:r>
            <a:r>
              <a:rPr lang="en-US" altLang="en-US" dirty="0">
                <a:solidFill>
                  <a:schemeClr val="accent1"/>
                </a:solidFill>
              </a:rPr>
              <a:t>commands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chemeClr val="accent1"/>
                </a:solidFill>
              </a:rPr>
              <a:t>addresses</a:t>
            </a:r>
            <a:r>
              <a:rPr lang="en-US" altLang="en-US" dirty="0"/>
              <a:t>, and </a:t>
            </a:r>
            <a:r>
              <a:rPr lang="en-US" altLang="en-US" dirty="0">
                <a:solidFill>
                  <a:schemeClr val="accent1"/>
                </a:solidFill>
              </a:rPr>
              <a:t>data</a:t>
            </a:r>
            <a:r>
              <a:rPr lang="en-US" altLang="en-US" dirty="0"/>
              <a:t> to write, or read data from registers after command execution</a:t>
            </a:r>
          </a:p>
          <a:p>
            <a:pPr lvl="1"/>
            <a:r>
              <a:rPr lang="en-US" altLang="en-US" dirty="0"/>
              <a:t>Data-in register, data-out register, status register, control register</a:t>
            </a:r>
          </a:p>
          <a:p>
            <a:pPr lvl="1"/>
            <a:r>
              <a:rPr lang="en-US" altLang="en-US" dirty="0"/>
              <a:t>Typically 1-4 bytes, or FIFO buffer</a:t>
            </a:r>
          </a:p>
          <a:p>
            <a:r>
              <a:rPr lang="en-US" altLang="en-US" dirty="0"/>
              <a:t>Devices have addresses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D4B7655-4C50-411E-BBCD-B35F037C9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2575" y="127001"/>
            <a:ext cx="76200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Device I/O Port Locations on PCs (partial)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D2A8655-C307-42D6-B965-E3D54BA4A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758" y="1304428"/>
            <a:ext cx="8069052" cy="46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69415D2-1FF0-4BCF-AF42-0506D6C9D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5576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I/O Hardware Device Control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566227DB-144F-4363-9E74-38941D17A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41356" y="1127144"/>
            <a:ext cx="8328769" cy="4603712"/>
          </a:xfrm>
        </p:spPr>
        <p:txBody>
          <a:bodyPr>
            <a:normAutofit/>
          </a:bodyPr>
          <a:lstStyle/>
          <a:p>
            <a:r>
              <a:rPr lang="en-US" altLang="en-US" dirty="0"/>
              <a:t>Special I/O instructions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3366FF"/>
                </a:solidFill>
              </a:rPr>
              <a:t>Memory-mapped I/O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Device data and command registers mapped to processor address space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Especially for large address spaces (graphics)</a:t>
            </a:r>
          </a:p>
          <a:p>
            <a:endParaRPr lang="en-US" altLang="en-US" dirty="0"/>
          </a:p>
          <a:p>
            <a:r>
              <a:rPr lang="en-US" altLang="en-US" dirty="0"/>
              <a:t>Now commonly memory-mapped I/O</a:t>
            </a:r>
          </a:p>
        </p:txBody>
      </p:sp>
    </p:spTree>
    <p:extLst>
      <p:ext uri="{BB962C8B-B14F-4D97-AF65-F5344CB8AC3E}">
        <p14:creationId xmlns:p14="http://schemas.microsoft.com/office/powerpoint/2010/main" val="3361429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6EE3C4D-8E67-4629-A6DB-C686D6A39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Polling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0E52FD-DF27-4E49-A119-E722849D7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5241" y="981364"/>
            <a:ext cx="9055559" cy="509994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-128"/>
              </a:rPr>
              <a:t>For each byte of I/O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(host) Read </a:t>
            </a:r>
            <a:r>
              <a:rPr lang="en-US" b="1" dirty="0">
                <a:ea typeface="ＭＳ Ｐゴシック" charset="-128"/>
              </a:rPr>
              <a:t>busy bit </a:t>
            </a:r>
            <a:r>
              <a:rPr lang="en-US" dirty="0">
                <a:ea typeface="ＭＳ Ｐゴシック" charset="-128"/>
              </a:rPr>
              <a:t>from status register until </a:t>
            </a:r>
            <a:r>
              <a:rPr lang="en-US" b="1" dirty="0">
                <a:ea typeface="ＭＳ Ｐゴシック" charset="-128"/>
              </a:rPr>
              <a:t>busy bit </a:t>
            </a:r>
            <a:r>
              <a:rPr lang="en-US" dirty="0">
                <a:ea typeface="ＭＳ Ｐゴシック" charset="-128"/>
              </a:rPr>
              <a:t>is 0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Host sets read or write bit and if write copies data into data-out register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Host sets </a:t>
            </a:r>
            <a:r>
              <a:rPr lang="en-US" b="1" dirty="0">
                <a:ea typeface="ＭＳ Ｐゴシック" charset="-128"/>
              </a:rPr>
              <a:t>command-ready bit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Controller sets </a:t>
            </a:r>
            <a:r>
              <a:rPr lang="en-US" b="1" dirty="0">
                <a:ea typeface="ＭＳ Ｐゴシック" charset="-128"/>
              </a:rPr>
              <a:t>busy bit</a:t>
            </a:r>
            <a:r>
              <a:rPr lang="en-US" dirty="0">
                <a:ea typeface="ＭＳ Ｐゴシック" charset="-128"/>
              </a:rPr>
              <a:t>, executes transfer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Controller clears </a:t>
            </a:r>
            <a:r>
              <a:rPr lang="en-US" b="1" dirty="0">
                <a:ea typeface="ＭＳ Ｐゴシック" charset="-128"/>
              </a:rPr>
              <a:t>busy bit</a:t>
            </a:r>
            <a:r>
              <a:rPr lang="en-US" dirty="0">
                <a:ea typeface="ＭＳ Ｐゴシック" charset="-128"/>
              </a:rPr>
              <a:t>, error bit, command-ready bit when transfer done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-128"/>
              </a:rPr>
              <a:t>Step 1 is </a:t>
            </a:r>
            <a:r>
              <a:rPr lang="en-US" b="1" dirty="0">
                <a:solidFill>
                  <a:srgbClr val="3366FF"/>
                </a:solidFill>
                <a:ea typeface="ＭＳ Ｐゴシック" charset="-128"/>
              </a:rPr>
              <a:t>busy-wait</a:t>
            </a:r>
            <a:r>
              <a:rPr lang="en-US" b="1" dirty="0">
                <a:ea typeface="ＭＳ Ｐゴシック" charset="-128"/>
              </a:rPr>
              <a:t> </a:t>
            </a:r>
            <a:r>
              <a:rPr lang="en-US" dirty="0">
                <a:ea typeface="ＭＳ Ｐゴシック" charset="-128"/>
              </a:rPr>
              <a:t>cycle to wait for I/O from device</a:t>
            </a:r>
          </a:p>
          <a:p>
            <a:pPr marL="800077" lvl="1" indent="-342900">
              <a:defRPr/>
            </a:pPr>
            <a:r>
              <a:rPr lang="en-US" dirty="0">
                <a:ea typeface="ＭＳ Ｐゴシック" charset="-128"/>
              </a:rPr>
              <a:t>Reasonable if device is fast</a:t>
            </a:r>
          </a:p>
          <a:p>
            <a:pPr marL="800077" lvl="1" indent="-342900">
              <a:defRPr/>
            </a:pPr>
            <a:r>
              <a:rPr lang="en-US" dirty="0">
                <a:ea typeface="ＭＳ Ｐゴシック" charset="-128"/>
              </a:rPr>
              <a:t>But inefficient if device slow</a:t>
            </a:r>
          </a:p>
          <a:p>
            <a:pPr marL="800077" lvl="1" indent="-342900">
              <a:defRPr/>
            </a:pPr>
            <a:r>
              <a:rPr lang="en-US" dirty="0">
                <a:ea typeface="ＭＳ Ｐゴシック" charset="-128"/>
              </a:rPr>
              <a:t>CPU switches to other tasks?</a:t>
            </a:r>
          </a:p>
          <a:p>
            <a:pPr marL="1085796" lvl="2" indent="-228589">
              <a:buFont typeface="Webdings" charset="2"/>
              <a:buChar char="4"/>
              <a:defRPr/>
            </a:pPr>
            <a:r>
              <a:rPr lang="en-US" dirty="0">
                <a:ea typeface="ＭＳ Ｐゴシック" charset="-128"/>
              </a:rPr>
              <a:t>But if miss a cycle data overwritten / lost </a:t>
            </a:r>
          </a:p>
          <a:p>
            <a:pPr marL="1085796" lvl="2" indent="-228589">
              <a:buFont typeface="Webdings" charset="2"/>
              <a:buChar char="4"/>
              <a:defRPr/>
            </a:pPr>
            <a:r>
              <a:rPr lang="en-US" dirty="0">
                <a:ea typeface="ＭＳ Ｐゴシック" charset="-128"/>
              </a:rPr>
              <a:t>e.g. small buffer when streaming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18386C3-8D1C-43E8-BD4D-84A3A6142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Interrupts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73B632C-ABC4-40FA-9B09-82D79EA84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1901" y="1047940"/>
            <a:ext cx="9915983" cy="5220657"/>
          </a:xfrm>
        </p:spPr>
        <p:txBody>
          <a:bodyPr>
            <a:normAutofit/>
          </a:bodyPr>
          <a:lstStyle/>
          <a:p>
            <a:r>
              <a:rPr lang="en-US" altLang="en-US" dirty="0"/>
              <a:t>Polling can happen in 3 instruction cycles</a:t>
            </a:r>
          </a:p>
          <a:p>
            <a:pPr lvl="1"/>
            <a:r>
              <a:rPr lang="en-US" altLang="en-US" dirty="0"/>
              <a:t>Read status, logical-and to extract status bit, branch if not zero</a:t>
            </a:r>
          </a:p>
          <a:p>
            <a:pPr lvl="1"/>
            <a:r>
              <a:rPr lang="en-US" altLang="en-US" dirty="0"/>
              <a:t>How to be more efficient if </a:t>
            </a:r>
            <a:r>
              <a:rPr lang="en-US" altLang="en-US" dirty="0">
                <a:solidFill>
                  <a:srgbClr val="FF0000"/>
                </a:solidFill>
              </a:rPr>
              <a:t>non-zero infrequently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CPU </a:t>
            </a:r>
            <a:r>
              <a:rPr lang="en-US" altLang="en-US" b="1" dirty="0">
                <a:solidFill>
                  <a:srgbClr val="3366FF"/>
                </a:solidFill>
              </a:rPr>
              <a:t>Interrupt-request line</a:t>
            </a:r>
            <a:r>
              <a:rPr lang="en-US" altLang="en-US" dirty="0"/>
              <a:t> triggered by I/O device</a:t>
            </a:r>
          </a:p>
          <a:p>
            <a:pPr lvl="1"/>
            <a:r>
              <a:rPr lang="en-US" altLang="en-US" dirty="0"/>
              <a:t>Checked by processor after each instruction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Interrupt handler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receives interrupts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Maskable</a:t>
            </a:r>
            <a:r>
              <a:rPr lang="en-US" altLang="en-US" dirty="0"/>
              <a:t> to ignore or delay some interrupts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Interrupt vector </a:t>
            </a:r>
            <a:r>
              <a:rPr lang="en-US" altLang="en-US" dirty="0"/>
              <a:t>to dispatch interrupt to correct handler</a:t>
            </a:r>
          </a:p>
          <a:p>
            <a:pPr lvl="1"/>
            <a:r>
              <a:rPr lang="en-US" altLang="en-US" dirty="0"/>
              <a:t>Context switch at start and end</a:t>
            </a:r>
          </a:p>
          <a:p>
            <a:pPr lvl="1"/>
            <a:r>
              <a:rPr lang="en-US" altLang="en-US" dirty="0"/>
              <a:t>Based on priority</a:t>
            </a:r>
          </a:p>
          <a:p>
            <a:pPr lvl="1"/>
            <a:r>
              <a:rPr lang="en-US" altLang="en-US" dirty="0"/>
              <a:t>Some </a:t>
            </a:r>
            <a:r>
              <a:rPr lang="en-US" altLang="en-US" b="1" dirty="0" err="1">
                <a:solidFill>
                  <a:srgbClr val="3366FF"/>
                </a:solidFill>
              </a:rPr>
              <a:t>nonmaskable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Interrupt chaining if more than one device at same interrupt number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223ABDE-91D0-47D9-AB37-1F354BC6A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2988" y="168276"/>
            <a:ext cx="78978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Interrupt-Driven I/O Cycle</a:t>
            </a:r>
            <a:endParaRPr lang="en-US" altLang="en-US" sz="2400"/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F388BA31-DCBC-486F-8D7D-A1F5EB9BA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907" y="848472"/>
            <a:ext cx="5601675" cy="5520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CDCD6C2-5262-4F99-A47B-978DF4E4F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1" y="150814"/>
            <a:ext cx="7661275" cy="560387"/>
          </a:xfrm>
        </p:spPr>
        <p:txBody>
          <a:bodyPr/>
          <a:lstStyle/>
          <a:p>
            <a:pPr eaLnBrk="1" hangingPunct="1"/>
            <a:r>
              <a:rPr lang="en-US" altLang="en-US" sz="2800"/>
              <a:t>Intel Pentium Processor Event-Vector Table</a:t>
            </a:r>
          </a:p>
        </p:txBody>
      </p:sp>
      <p:pic>
        <p:nvPicPr>
          <p:cNvPr id="28675" name="Picture 5">
            <a:extLst>
              <a:ext uri="{FF2B5EF4-FFF2-40B4-BE49-F238E27FC236}">
                <a16:creationId xmlns:a16="http://schemas.microsoft.com/office/drawing/2014/main" id="{8955613B-292C-4FE9-9C30-4456873C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160463"/>
            <a:ext cx="5859463" cy="470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104ED51-8426-4BCF-B908-C4535545F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Interrupt Numbers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FA0C67B-2FA1-4857-9640-5812D34FA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08508" y="744539"/>
            <a:ext cx="7654925" cy="241538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Stressing interrupt management because even single-user systems </a:t>
            </a:r>
          </a:p>
          <a:p>
            <a:pPr lvl="1"/>
            <a:r>
              <a:rPr lang="en-US" altLang="en-US" dirty="0"/>
              <a:t>manage hundreds or interrupts per sec </a:t>
            </a:r>
          </a:p>
          <a:p>
            <a:pPr lvl="1"/>
            <a:r>
              <a:rPr lang="en-US" altLang="en-US" dirty="0"/>
              <a:t>servers hundreds of thousands per sec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For example, a quiet macOS desktop generated 23,000 interrupts over 10 seconds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A4293915-8A25-4C0F-893C-574221327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047" y="3159922"/>
            <a:ext cx="5105400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4A6F685-7B58-4318-9A0F-C6631FDEB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9234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Interrupts Mechanism for Other Usage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6C7D368-EC3C-40E0-8BDA-44F7F3221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2907" y="1594883"/>
            <a:ext cx="8346003" cy="4783883"/>
          </a:xfrm>
        </p:spPr>
        <p:txBody>
          <a:bodyPr>
            <a:normAutofit/>
          </a:bodyPr>
          <a:lstStyle/>
          <a:p>
            <a:r>
              <a:rPr lang="en-US" altLang="en-US" dirty="0"/>
              <a:t>Interrupt mechanism also used for </a:t>
            </a:r>
            <a:r>
              <a:rPr lang="en-US" altLang="en-US" b="1" dirty="0">
                <a:solidFill>
                  <a:srgbClr val="3366FF"/>
                </a:solidFill>
              </a:rPr>
              <a:t>exceptions</a:t>
            </a:r>
          </a:p>
          <a:p>
            <a:pPr lvl="1"/>
            <a:r>
              <a:rPr lang="en-US" altLang="en-US" dirty="0"/>
              <a:t>Terminate process, crash system due to hardware error</a:t>
            </a:r>
          </a:p>
          <a:p>
            <a:r>
              <a:rPr lang="en-US" altLang="en-US" dirty="0"/>
              <a:t>Page fault executes when memory access error</a:t>
            </a:r>
          </a:p>
          <a:p>
            <a:r>
              <a:rPr lang="en-US" altLang="en-US" dirty="0"/>
              <a:t>System call executes via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to trigger kernel to execute request</a:t>
            </a:r>
          </a:p>
          <a:p>
            <a:r>
              <a:rPr lang="en-US" altLang="en-US" dirty="0"/>
              <a:t>Multi-CPU systems can process interrupts concurrently</a:t>
            </a:r>
          </a:p>
          <a:p>
            <a:pPr lvl="1"/>
            <a:r>
              <a:rPr lang="en-US" altLang="en-US" dirty="0"/>
              <a:t>If operating system designed to handle it</a:t>
            </a:r>
          </a:p>
          <a:p>
            <a:r>
              <a:rPr lang="en-US" altLang="en-US" dirty="0"/>
              <a:t>Used for time-sensitive processing, frequent, must be fast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78C108B-DA38-4D8B-8B79-F25D89B16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Direct Memory Access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E63644D-F20B-4393-B21A-27EF0C38E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5429" y="990600"/>
            <a:ext cx="9150426" cy="5178846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Used to avoid </a:t>
            </a:r>
            <a:r>
              <a:rPr lang="en-US" altLang="en-US" b="1" dirty="0">
                <a:solidFill>
                  <a:srgbClr val="3366FF"/>
                </a:solidFill>
              </a:rPr>
              <a:t>programmed I/O</a:t>
            </a:r>
            <a:r>
              <a:rPr lang="en-US" altLang="en-US" dirty="0"/>
              <a:t> (one byte at a time) for large data movement </a:t>
            </a:r>
          </a:p>
          <a:p>
            <a:r>
              <a:rPr lang="en-US" altLang="en-US" dirty="0"/>
              <a:t>Offload from CPU to </a:t>
            </a:r>
            <a:r>
              <a:rPr lang="en-US" altLang="en-US" b="1" dirty="0">
                <a:solidFill>
                  <a:srgbClr val="3366FF"/>
                </a:solidFill>
              </a:rPr>
              <a:t>DMA</a:t>
            </a:r>
            <a:r>
              <a:rPr lang="en-US" altLang="en-US" dirty="0"/>
              <a:t> controller</a:t>
            </a:r>
          </a:p>
          <a:p>
            <a:r>
              <a:rPr lang="en-US" altLang="en-US" dirty="0"/>
              <a:t>Bypasses CPU to transfer data directly between I/O device and memory </a:t>
            </a:r>
            <a:endParaRPr lang="en-US" altLang="en-US" sz="800" dirty="0"/>
          </a:p>
          <a:p>
            <a:r>
              <a:rPr lang="en-US" altLang="en-US" dirty="0"/>
              <a:t>OS writes DMA command block into memory </a:t>
            </a:r>
          </a:p>
          <a:p>
            <a:pPr lvl="1"/>
            <a:r>
              <a:rPr lang="en-US" altLang="en-US" sz="1600" dirty="0"/>
              <a:t>Source and destination addresses</a:t>
            </a:r>
          </a:p>
          <a:p>
            <a:pPr lvl="1"/>
            <a:r>
              <a:rPr lang="en-US" altLang="en-US" sz="1600" dirty="0"/>
              <a:t>Read or write mode</a:t>
            </a:r>
          </a:p>
          <a:p>
            <a:pPr lvl="1"/>
            <a:r>
              <a:rPr lang="en-US" altLang="en-US" sz="1600" dirty="0"/>
              <a:t>Count of bytes</a:t>
            </a:r>
          </a:p>
          <a:p>
            <a:pPr lvl="1"/>
            <a:r>
              <a:rPr lang="en-US" altLang="en-US" sz="1600" dirty="0"/>
              <a:t>Writes location of command block to DMA controller</a:t>
            </a:r>
          </a:p>
          <a:p>
            <a:pPr lvl="1"/>
            <a:r>
              <a:rPr lang="en-US" altLang="en-US" sz="1600" dirty="0"/>
              <a:t>Bus mastering of DMA controller – grabs bus from CPU</a:t>
            </a:r>
          </a:p>
          <a:p>
            <a:pPr lvl="2"/>
            <a:r>
              <a:rPr lang="en-US" altLang="en-US" sz="1600" b="1" dirty="0">
                <a:solidFill>
                  <a:srgbClr val="3366FF"/>
                </a:solidFill>
              </a:rPr>
              <a:t>Cycle stealing </a:t>
            </a:r>
            <a:r>
              <a:rPr lang="en-US" altLang="en-US" sz="1600" dirty="0"/>
              <a:t>from CPU but still much more efficient</a:t>
            </a:r>
          </a:p>
          <a:p>
            <a:pPr lvl="1"/>
            <a:r>
              <a:rPr lang="en-US" altLang="en-US" sz="1600" dirty="0"/>
              <a:t>When done, interrupts to signal completion</a:t>
            </a:r>
            <a:endParaRPr lang="en-US" altLang="en-US" dirty="0"/>
          </a:p>
          <a:p>
            <a:r>
              <a:rPr lang="en-US" altLang="en-US" dirty="0"/>
              <a:t>Version that is aware of virtual addresses can be even more efficient - </a:t>
            </a:r>
            <a:r>
              <a:rPr lang="en-US" altLang="en-US" b="1" dirty="0">
                <a:solidFill>
                  <a:srgbClr val="3366FF"/>
                </a:solidFill>
              </a:rPr>
              <a:t>DVMA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38153BC-D49A-450C-91D2-996372A92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9" y="236538"/>
            <a:ext cx="771207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dirty="0"/>
              <a:t>Six</a:t>
            </a:r>
            <a:r>
              <a:rPr lang="en-US" altLang="en-US" sz="2800" dirty="0"/>
              <a:t> Step Process to Perform DMA Transfer</a:t>
            </a:r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0B59BC86-B14B-425D-A237-9437E8EF7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789" y="693738"/>
            <a:ext cx="6986700" cy="60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728</Words>
  <Application>Microsoft Office PowerPoint</Application>
  <PresentationFormat>Widescreen</PresentationFormat>
  <Paragraphs>110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MS PGothic</vt:lpstr>
      <vt:lpstr>MS PGothic</vt:lpstr>
      <vt:lpstr>Yu Gothic</vt:lpstr>
      <vt:lpstr>Arial</vt:lpstr>
      <vt:lpstr>Calibri</vt:lpstr>
      <vt:lpstr>Calibri Light</vt:lpstr>
      <vt:lpstr>Helvetica</vt:lpstr>
      <vt:lpstr>Monotype Sorts</vt:lpstr>
      <vt:lpstr>Times New Roman</vt:lpstr>
      <vt:lpstr>Webdings</vt:lpstr>
      <vt:lpstr>Wingdings</vt:lpstr>
      <vt:lpstr>Office Theme</vt:lpstr>
      <vt:lpstr>I/O Systems Lesson 1 Introduction</vt:lpstr>
      <vt:lpstr>Learning Outcomes</vt:lpstr>
      <vt:lpstr>I/O Hardware</vt:lpstr>
      <vt:lpstr>I/O Hardware Common concepts </vt:lpstr>
      <vt:lpstr>A Typical PC Bus Structure</vt:lpstr>
      <vt:lpstr>I/O Hardware (Cont.)</vt:lpstr>
      <vt:lpstr>Device I/O Port Locations on PCs (partial)</vt:lpstr>
      <vt:lpstr>I/O Hardware Device Control</vt:lpstr>
      <vt:lpstr>Polling</vt:lpstr>
      <vt:lpstr>Interrupts</vt:lpstr>
      <vt:lpstr>Interrupt-Driven I/O Cycle</vt:lpstr>
      <vt:lpstr>Intel Pentium Processor Event-Vector Table</vt:lpstr>
      <vt:lpstr>Interrupt Numbers</vt:lpstr>
      <vt:lpstr>Interrupts Mechanism for Other Usage</vt:lpstr>
      <vt:lpstr>Direct Memory Access</vt:lpstr>
      <vt:lpstr>Six Step Process to Perform DMA Transfer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1 Introduction</dc:title>
  <dc:creator>David Liu</dc:creator>
  <cp:lastModifiedBy>David Liu</cp:lastModifiedBy>
  <cp:revision>15</cp:revision>
  <dcterms:created xsi:type="dcterms:W3CDTF">2021-12-01T15:33:08Z</dcterms:created>
  <dcterms:modified xsi:type="dcterms:W3CDTF">2021-12-01T16:08:23Z</dcterms:modified>
</cp:coreProperties>
</file>