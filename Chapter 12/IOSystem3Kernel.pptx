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56" r:id="rId3"/>
    <p:sldId id="357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75" r:id="rId13"/>
    <p:sldId id="376" r:id="rId14"/>
    <p:sldId id="3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9842F-F294-4111-98B2-0A681D644F38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756151-721C-4233-B82D-B6290DB5A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758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1B12842D-76EA-4CBD-8207-13EBDE68A8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285025-4957-4FBE-ADC9-544CC8FF5CE0}" type="slidenum">
              <a:rPr lang="en-US" altLang="en-US" smtClean="0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E2751944-C0CA-462D-A789-6D30578D732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0F48ED8A-6811-41AF-8D38-9163914DE3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14E4FC08-CC1A-43EA-BBC3-860FE26209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FF96A9E-ED1D-4EDC-AC6D-F03E00D7735C}" type="slidenum">
              <a:rPr lang="en-US" altLang="en-US" smtClean="0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897B2792-DBF2-4803-986D-3621382D47D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86B667A5-54EE-4FC3-B482-E90090FAE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36E2D33E-B392-49A4-9A0A-2C5DC9002F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5EBD58-E191-457A-8C25-3D521BFC7045}" type="slidenum">
              <a:rPr lang="en-US" altLang="en-US" smtClean="0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8B75BB7E-525B-436B-AE27-5AF6A33080B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B1EE19CD-B90A-4FFE-B77B-7B2E2B64B7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B9309796-2D51-4F30-BFF9-B877526475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0300613-E338-4741-A140-4BEB69CFDE51}" type="slidenum">
              <a:rPr lang="en-US" altLang="en-US" smtClean="0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CFA755A6-49F2-4E18-8876-84E0A5EB5AF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9201AFC3-88E1-4E28-9D34-6E47C57383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4CCD2A3C-E252-4818-9944-7E09A716EB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78C4C50-9E7D-47AB-85CC-9783F5C40F92}" type="slidenum">
              <a:rPr lang="en-US" altLang="en-US" smtClean="0">
                <a:latin typeface="Helvetica" panose="020B0604020202020204" pitchFamily="34" charset="0"/>
              </a:rPr>
              <a:pPr/>
              <a:t>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9F01FCEE-43DC-4690-A1A4-71DB4E777EE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C5697F4D-5E14-4434-BE65-D796A68837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264F8855-0D2A-4DE3-A4A7-6769F63EAD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CBD0BDC-91D9-4DA5-A8B9-DE3158E176B3}" type="slidenum">
              <a:rPr lang="en-US" altLang="en-US" smtClean="0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EF67A1D7-6B66-48A8-9F20-C48EBCE7465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75F7346A-288B-492C-807A-719CF211EE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FAF48F1C-D551-4456-95BC-42390B43F9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1AD9F2E-C311-4539-8954-26E29CA05DDC}" type="slidenum">
              <a:rPr lang="en-US" altLang="en-US" smtClean="0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DADA31B1-D835-4CAB-AAB0-9C8CB679D92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F1BE5198-7D39-4F0F-95B5-21F8A108A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8812A674-FF77-415F-AEE3-661772947A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0C2966-6214-47D3-BC15-D7F5CE792A00}" type="slidenum">
              <a:rPr lang="en-US" altLang="en-US" smtClean="0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C8FFAE4E-646B-46AD-BD69-842161D0643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1482AF9A-FAB7-45C7-B219-E8A8A3870E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DBD87A5C-BCE8-46E8-90D2-41BF583AF2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4CFEF7-FB3A-4F04-8114-3FB42E1DEFA9}" type="slidenum">
              <a:rPr lang="en-US" altLang="en-US" smtClean="0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78FC488F-BA96-4F72-A414-695B257B892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5AB92110-F806-45B3-B551-5A3A06248F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DC0BD100-0AC3-4358-954B-67FFE37AC2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058A9C5-9B98-4B09-AF3F-C42C37969410}" type="slidenum">
              <a:rPr lang="en-US" altLang="en-US" smtClean="0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35C84B3D-5265-4EE9-8F2B-7BE67AFBE79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68D5CE05-FC8D-42A4-9A0A-A9FF3B711B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A3EA8C62-B512-4896-BB0A-2EC384677D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6583F9C-8F97-45C5-9861-CECEB3E6FE0B}" type="slidenum">
              <a:rPr lang="en-US" altLang="en-US" smtClean="0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3B24D284-1833-40AC-B4D0-BD9361ED3FF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5F58392E-00DF-48C0-B561-6CD7B6414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A3EA8C62-B512-4896-BB0A-2EC384677D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6583F9C-8F97-45C5-9861-CECEB3E6FE0B}" type="slidenum">
              <a:rPr lang="en-US" altLang="en-US" smtClean="0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3B24D284-1833-40AC-B4D0-BD9361ED3FF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5F58392E-00DF-48C0-B561-6CD7B6414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107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4F08AB3E-D42E-4358-AA0A-9234D685C2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3E119F-2B02-4128-9450-19469AEDD875}" type="slidenum">
              <a:rPr lang="en-US" altLang="en-US" smtClean="0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B6953C51-1D74-4CE3-81FC-37CFB388AD0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643909F6-DA3D-4480-8BFB-E38E958427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B1469-CE57-492E-9E88-97738DB2C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6A8C4-7741-42F7-8417-BDB8B2202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48CEF-5505-480A-BB40-50AB210E5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E641-2FF2-430E-8AB6-8FC07824E67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7DC5B-F293-4234-AD5A-B232BD159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CBF02-4A48-47D1-84BB-D104116BC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BD2A-ED15-478B-BB1A-66AB685D5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49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47381-18FD-41DE-B636-B755AD16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7B8CC-BA0B-4945-B697-F45BE9E58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39BC1-43BD-4465-96CD-C1AB92321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E641-2FF2-430E-8AB6-8FC07824E67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BA792-922C-467F-998E-B7E71215B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77330-606C-42FF-9200-7A75B32A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BD2A-ED15-478B-BB1A-66AB685D5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98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217E6-5F7D-4983-8EE5-BD769B62F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A3536-D8F9-4634-960C-125860F82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6BF7-FCAF-4AFB-9921-C39E3DA2A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E641-2FF2-430E-8AB6-8FC07824E67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63F61-F62F-4E46-A8A5-C5EA73259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6A8AC-7D9D-4870-9A21-E6F2497B3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BD2A-ED15-478B-BB1A-66AB685D5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20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082C5-C503-42E6-B07C-205E13DC6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E6FC9-D6A4-4029-8A6C-DA8000793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4B571-5001-49C8-A18D-A9D0690EA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0860B-0538-4876-A663-7399AF463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E641-2FF2-430E-8AB6-8FC07824E67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69AC0-EC20-4DC0-A619-8D519AE52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248BD-0392-4607-A208-FEAAAE43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BD2A-ED15-478B-BB1A-66AB685D5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356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14B34-8BA6-498D-B29F-BC98492EB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06BF8-B5ED-4DE8-B59F-DD78F4B39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A2728-11C7-46CE-A069-866EA393D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BD2A70-55DE-4F5A-A871-9D7A2DDE3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7772C1-5F17-4A88-A1F7-E1A0BF3D13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1E54D1-4C91-419C-8390-C8163526E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E641-2FF2-430E-8AB6-8FC07824E67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2B5885-34A6-4298-A33C-3914F886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8306CD-E589-4104-9BA2-ECB8BD7A1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BD2A-ED15-478B-BB1A-66AB685D5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23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02C1-14EC-47DE-B378-99451BBA5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199743-60D0-4B10-9D74-25621B53B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E641-2FF2-430E-8AB6-8FC07824E67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DF74A-3B56-4485-918F-B2B81CF8D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8AB07-9086-49B4-AE50-FB2478E5E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BD2A-ED15-478B-BB1A-66AB685D5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66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81027C-C14A-4B05-8EFC-FF2EE7EDF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E641-2FF2-430E-8AB6-8FC07824E67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358FD8-8847-428A-A9B9-D6C1CD694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CF0D1-A391-4A9B-9C36-9ED42B916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BD2A-ED15-478B-BB1A-66AB685D5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09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FF4EA-13FD-4360-97A0-BE4BE1914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DE151-8421-4A1D-AB94-493BA30B3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DA1876-6F93-4B49-A07C-03CBD34A7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1F1F7-AAF9-4D13-94E5-C5016BF9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E641-2FF2-430E-8AB6-8FC07824E67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72558-65EF-4C12-B7E6-9168715F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A28C4-BBE3-4344-B7F3-15E19C57B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BD2A-ED15-478B-BB1A-66AB685D5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96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C58D6-652C-439C-BEBD-049219D5C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42913F-2354-42B1-90D5-BC21C1CDC1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5D749-FD44-46E4-9DE5-35627D45F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FC096-498C-407E-A876-1C2CC7DBE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E641-2FF2-430E-8AB6-8FC07824E67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99353-0629-4ACD-BDD4-176DF64D2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92CA3-27A3-464E-A69B-8D48F537C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BD2A-ED15-478B-BB1A-66AB685D5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25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0D648-2067-49CA-9C8C-723A40EB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D2C4A-8117-4393-81C1-972ABA2DE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CB165-906A-43BE-9757-7CC24E251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E641-2FF2-430E-8AB6-8FC07824E67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87C28-2408-4A75-AE26-B18A492BE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D8DD4-DB1E-4498-86ED-A8F12E215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BD2A-ED15-478B-BB1A-66AB685D5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4389DD-F1C1-489D-AB30-B572E05A7C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67DB0-2916-48D8-B4EC-7AE412CAD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50E4F-0F29-4DD7-8947-0E90A970C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E641-2FF2-430E-8AB6-8FC07824E67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32B83-06D4-403D-969C-CB4FC8537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E242B-936B-4A9D-9B10-0CFC6A78D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BD2A-ED15-478B-BB1A-66AB685D5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143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801A74-2CE5-4A73-8580-D1A6F986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A08E4-2790-4C32-94ED-8DE4FAC27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CF445-05E6-4BA7-BCE7-8560CB60C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AE641-2FF2-430E-8AB6-8FC07824E67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21D05-40B5-4B34-9C51-52FAFA7E5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CF2BC-E994-45C6-9164-89D5BCF15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DBD2A-ED15-478B-BB1A-66AB685D5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30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E5FE-9D08-4528-BE79-F255F2EBA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I/O Systems</a:t>
            </a:r>
            <a:br>
              <a:rPr lang="en-US" dirty="0"/>
            </a:br>
            <a:r>
              <a:rPr lang="en-US" dirty="0"/>
              <a:t>Lesson 3</a:t>
            </a:r>
            <a:br>
              <a:rPr lang="en-US" dirty="0"/>
            </a:br>
            <a:r>
              <a:rPr lang="en-US" dirty="0"/>
              <a:t>Kernel I/O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D1B18-6A18-4CD8-9978-4AEA3A17C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</a:t>
            </a:r>
          </a:p>
        </p:txBody>
      </p:sp>
    </p:spTree>
    <p:extLst>
      <p:ext uri="{BB962C8B-B14F-4D97-AF65-F5344CB8AC3E}">
        <p14:creationId xmlns:p14="http://schemas.microsoft.com/office/powerpoint/2010/main" val="201950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65C26277-EED7-42B0-8E67-8D7FB6D38A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1250" y="182563"/>
            <a:ext cx="78295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Kernel I/O Subsystem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123250D-8D2E-4CB7-B40F-7412D986D7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65796" y="1015999"/>
            <a:ext cx="8171417" cy="4844973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Scheduling</a:t>
            </a:r>
          </a:p>
          <a:p>
            <a:pPr lvl="1"/>
            <a:r>
              <a:rPr lang="en-US" altLang="en-US" dirty="0"/>
              <a:t>Some I/O request ordering via per-device queue</a:t>
            </a:r>
          </a:p>
          <a:p>
            <a:pPr lvl="1"/>
            <a:r>
              <a:rPr lang="en-US" altLang="en-US" dirty="0"/>
              <a:t>Some OSs try fairness</a:t>
            </a:r>
          </a:p>
          <a:p>
            <a:pPr lvl="1"/>
            <a:r>
              <a:rPr lang="en-US" altLang="en-US" dirty="0"/>
              <a:t>Some implement Quality Of Service (i.e. IPQOS)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Buffering</a:t>
            </a:r>
            <a:r>
              <a:rPr lang="en-US" altLang="en-US" dirty="0"/>
              <a:t> - store data in memory while transferring between devices</a:t>
            </a:r>
          </a:p>
          <a:p>
            <a:pPr lvl="1"/>
            <a:r>
              <a:rPr lang="en-US" altLang="en-US" dirty="0"/>
              <a:t>To cope with device speed mismatch</a:t>
            </a:r>
          </a:p>
          <a:p>
            <a:pPr lvl="1"/>
            <a:r>
              <a:rPr lang="en-US" altLang="en-US" dirty="0"/>
              <a:t>To cope with device transfer size mismatch</a:t>
            </a:r>
          </a:p>
          <a:p>
            <a:pPr lvl="1"/>
            <a:r>
              <a:rPr lang="en-US" altLang="en-US" dirty="0"/>
              <a:t>To maintain </a:t>
            </a:r>
            <a:r>
              <a:rPr lang="ja-JP" altLang="en-US" dirty="0"/>
              <a:t>“</a:t>
            </a:r>
            <a:r>
              <a:rPr lang="en-US" altLang="ja-JP" dirty="0"/>
              <a:t>copy semantics</a:t>
            </a:r>
            <a:r>
              <a:rPr lang="ja-JP" altLang="en-US" dirty="0"/>
              <a:t>”</a:t>
            </a:r>
            <a:endParaRPr lang="en-US" altLang="ja-JP" dirty="0"/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Double buffering </a:t>
            </a:r>
            <a:r>
              <a:rPr lang="en-US" altLang="en-US" dirty="0"/>
              <a:t>– two copies of the data</a:t>
            </a:r>
          </a:p>
          <a:p>
            <a:pPr lvl="2"/>
            <a:r>
              <a:rPr lang="en-US" altLang="en-US" dirty="0"/>
              <a:t>Kernel and user</a:t>
            </a:r>
          </a:p>
          <a:p>
            <a:pPr lvl="2"/>
            <a:r>
              <a:rPr lang="en-US" altLang="en-US" dirty="0"/>
              <a:t>Varying sizes</a:t>
            </a:r>
          </a:p>
          <a:p>
            <a:pPr lvl="2"/>
            <a:r>
              <a:rPr lang="en-US" altLang="en-US" dirty="0"/>
              <a:t>Full  / being processed and not-full / being used</a:t>
            </a:r>
          </a:p>
          <a:p>
            <a:pPr lvl="2"/>
            <a:r>
              <a:rPr lang="en-US" altLang="en-US" dirty="0"/>
              <a:t>Copy-on-write can be used for efficiency in some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CF53E8FF-E54E-4D0D-869A-5E88B38F75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7926" y="141288"/>
            <a:ext cx="77628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Device-status Table</a:t>
            </a:r>
          </a:p>
        </p:txBody>
      </p:sp>
      <p:pic>
        <p:nvPicPr>
          <p:cNvPr id="56323" name="Picture 2">
            <a:extLst>
              <a:ext uri="{FF2B5EF4-FFF2-40B4-BE49-F238E27FC236}">
                <a16:creationId xmlns:a16="http://schemas.microsoft.com/office/drawing/2014/main" id="{8112F895-CE8F-447D-BCA7-4545641CD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992" y="1116817"/>
            <a:ext cx="7497762" cy="412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85B80466-2673-42D3-8732-40252283DD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16201" y="133351"/>
            <a:ext cx="8018463" cy="576263"/>
          </a:xfrm>
        </p:spPr>
        <p:txBody>
          <a:bodyPr/>
          <a:lstStyle/>
          <a:p>
            <a:pPr eaLnBrk="1" hangingPunct="1"/>
            <a:r>
              <a:rPr lang="en-US" altLang="en-US" sz="2000"/>
              <a:t>Common PC and Data-center I/O devices and Interface Speeds</a:t>
            </a:r>
          </a:p>
        </p:txBody>
      </p:sp>
      <p:pic>
        <p:nvPicPr>
          <p:cNvPr id="58371" name="Picture 2">
            <a:extLst>
              <a:ext uri="{FF2B5EF4-FFF2-40B4-BE49-F238E27FC236}">
                <a16:creationId xmlns:a16="http://schemas.microsoft.com/office/drawing/2014/main" id="{4B445AEA-1300-4FC2-A65C-184EBC15A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463" y="1022350"/>
            <a:ext cx="774541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D11F32AD-E1EB-4B46-BEC7-8030798832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1876" y="168276"/>
            <a:ext cx="7908925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Kernel I/O Subsystem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BB32BFC1-0319-49EB-B8C1-F9DADAD26F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44611" y="1163637"/>
            <a:ext cx="7600950" cy="4530725"/>
          </a:xfrm>
        </p:spPr>
        <p:txBody>
          <a:bodyPr>
            <a:normAutofit lnSpcReduction="10000"/>
          </a:bodyPr>
          <a:lstStyle/>
          <a:p>
            <a:r>
              <a:rPr lang="en-US" altLang="en-US" b="1" dirty="0">
                <a:solidFill>
                  <a:srgbClr val="3366FF"/>
                </a:solidFill>
              </a:rPr>
              <a:t>Caching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- faster device holding copy of data</a:t>
            </a:r>
          </a:p>
          <a:p>
            <a:pPr lvl="1"/>
            <a:r>
              <a:rPr lang="en-US" altLang="en-US" dirty="0"/>
              <a:t>Always just a copy</a:t>
            </a:r>
          </a:p>
          <a:p>
            <a:pPr lvl="1"/>
            <a:r>
              <a:rPr lang="en-US" altLang="en-US" dirty="0"/>
              <a:t>Key to performance</a:t>
            </a:r>
          </a:p>
          <a:p>
            <a:pPr lvl="1"/>
            <a:r>
              <a:rPr lang="en-US" altLang="en-US" dirty="0"/>
              <a:t>Sometimes combined with buffering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Spooling</a:t>
            </a:r>
            <a:r>
              <a:rPr lang="en-US" altLang="en-US" dirty="0"/>
              <a:t> - hold output for a device</a:t>
            </a:r>
          </a:p>
          <a:p>
            <a:pPr lvl="1"/>
            <a:r>
              <a:rPr lang="en-US" altLang="en-US" dirty="0"/>
              <a:t>If device can serve only one request at a time </a:t>
            </a:r>
          </a:p>
          <a:p>
            <a:pPr lvl="1"/>
            <a:r>
              <a:rPr lang="en-US" altLang="en-US" dirty="0"/>
              <a:t>i.e., Printing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Device reservation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- provides exclusive access to a device</a:t>
            </a:r>
          </a:p>
          <a:p>
            <a:pPr lvl="1"/>
            <a:r>
              <a:rPr lang="en-US" altLang="en-US" dirty="0"/>
              <a:t>System calls for allocation and de-allocation</a:t>
            </a:r>
          </a:p>
          <a:p>
            <a:pPr lvl="1"/>
            <a:r>
              <a:rPr lang="en-US" altLang="en-US" dirty="0"/>
              <a:t>Watch out for deadlock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4FC73560-AAB9-4E17-817B-15B8669FDF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5576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Error Handling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0F88FECA-BF78-481C-8FED-FF75FB1224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24522" y="1163637"/>
            <a:ext cx="6959600" cy="4530725"/>
          </a:xfrm>
        </p:spPr>
        <p:txBody>
          <a:bodyPr/>
          <a:lstStyle/>
          <a:p>
            <a:r>
              <a:rPr lang="en-US" altLang="en-US" dirty="0"/>
              <a:t>OS can recover from disk read, device unavailable, transient write failures</a:t>
            </a:r>
          </a:p>
          <a:p>
            <a:pPr lvl="1"/>
            <a:r>
              <a:rPr lang="en-US" altLang="en-US" dirty="0"/>
              <a:t>Retry a read or write, for example</a:t>
            </a:r>
          </a:p>
          <a:p>
            <a:pPr lvl="1"/>
            <a:r>
              <a:rPr lang="en-US" altLang="en-US" dirty="0"/>
              <a:t>Some systems more advanced – Solaris FMA, AIX </a:t>
            </a:r>
          </a:p>
          <a:p>
            <a:pPr lvl="2"/>
            <a:r>
              <a:rPr lang="en-US" altLang="en-US" dirty="0"/>
              <a:t>Track error frequencies, stop using device with increasing frequency of retry-able errors</a:t>
            </a:r>
          </a:p>
          <a:p>
            <a:r>
              <a:rPr lang="en-US" altLang="en-US" dirty="0"/>
              <a:t>Most return an error number or code when I/O request fails </a:t>
            </a:r>
          </a:p>
          <a:p>
            <a:r>
              <a:rPr lang="en-US" altLang="en-US" dirty="0"/>
              <a:t>System error logs hold problem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387565A1-D099-49B3-9590-7D68AC75A0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I/O Protection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9012327E-68CC-4ED1-A10C-FD48EF9D83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01642" y="1386234"/>
            <a:ext cx="8229600" cy="3538306"/>
          </a:xfrm>
        </p:spPr>
        <p:txBody>
          <a:bodyPr/>
          <a:lstStyle/>
          <a:p>
            <a:r>
              <a:rPr lang="en-US" altLang="en-US" dirty="0"/>
              <a:t>User process may accidentally or purposefully attempt to disrupt normal operation via illegal I/O instructions</a:t>
            </a:r>
          </a:p>
          <a:p>
            <a:pPr lvl="1"/>
            <a:r>
              <a:rPr lang="en-US" altLang="en-US" dirty="0"/>
              <a:t>All I/O instructions defined to be privileged</a:t>
            </a:r>
          </a:p>
          <a:p>
            <a:pPr lvl="1"/>
            <a:r>
              <a:rPr lang="en-US" altLang="en-US" dirty="0"/>
              <a:t>I/O must be performed via system calls</a:t>
            </a:r>
          </a:p>
          <a:p>
            <a:pPr lvl="2"/>
            <a:r>
              <a:rPr lang="en-US" altLang="en-US" dirty="0"/>
              <a:t>Memory-mapped and I/O port memory locations must be protected too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B92E0706-32CD-4677-B5AF-1A6C2ED2F1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25739" y="168276"/>
            <a:ext cx="770413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Use of a System Call to Perform I/O</a:t>
            </a:r>
          </a:p>
        </p:txBody>
      </p:sp>
      <p:pic>
        <p:nvPicPr>
          <p:cNvPr id="66563" name="Picture 4">
            <a:extLst>
              <a:ext uri="{FF2B5EF4-FFF2-40B4-BE49-F238E27FC236}">
                <a16:creationId xmlns:a16="http://schemas.microsoft.com/office/drawing/2014/main" id="{0B21A381-2F90-4C75-B7A9-961509110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930" y="1062831"/>
            <a:ext cx="4864100" cy="473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5735F89-C02F-4B53-8157-B61F151CE4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182563"/>
            <a:ext cx="7772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Kernel Data Structures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1E46CDFF-8844-4C86-8F59-FBD095D27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6946" y="1007719"/>
            <a:ext cx="7026275" cy="4530725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Kernel keeps state info for I/O components, including open file tables, network connections, character device state</a:t>
            </a:r>
          </a:p>
          <a:p>
            <a:r>
              <a:rPr lang="en-US" altLang="en-US" dirty="0"/>
              <a:t>Many, many complex data structures to track buffers, memory allocation, </a:t>
            </a:r>
            <a:r>
              <a:rPr lang="ja-JP" altLang="en-US" dirty="0"/>
              <a:t>“</a:t>
            </a:r>
            <a:r>
              <a:rPr lang="en-US" altLang="ja-JP" dirty="0"/>
              <a:t>dirty</a:t>
            </a:r>
            <a:r>
              <a:rPr lang="ja-JP" altLang="en-US" dirty="0"/>
              <a:t>”</a:t>
            </a:r>
            <a:r>
              <a:rPr lang="en-US" altLang="ja-JP" dirty="0"/>
              <a:t> blocks</a:t>
            </a:r>
          </a:p>
          <a:p>
            <a:r>
              <a:rPr lang="en-US" altLang="en-US" dirty="0"/>
              <a:t>Some use object-oriented methods and message passing to implement I/O</a:t>
            </a:r>
          </a:p>
          <a:p>
            <a:pPr lvl="1"/>
            <a:r>
              <a:rPr lang="en-US" altLang="en-US" dirty="0"/>
              <a:t>Windows uses message passing</a:t>
            </a:r>
          </a:p>
          <a:p>
            <a:pPr lvl="2"/>
            <a:r>
              <a:rPr lang="en-US" altLang="en-US" dirty="0"/>
              <a:t>Message with I/O information passed from user mode into kernel</a:t>
            </a:r>
          </a:p>
          <a:p>
            <a:pPr lvl="2"/>
            <a:r>
              <a:rPr lang="en-US" altLang="en-US" dirty="0"/>
              <a:t>Message modified as it flows through to device driver and back to process</a:t>
            </a:r>
          </a:p>
          <a:p>
            <a:pPr lvl="2"/>
            <a:r>
              <a:rPr lang="en-US" altLang="en-US" dirty="0"/>
              <a:t>Pros / cons?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032D2A70-9A38-4E74-B901-91B77F6975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32038" y="168276"/>
            <a:ext cx="7878762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UNIX I/O Kernel Structure</a:t>
            </a:r>
            <a:endParaRPr lang="en-US" altLang="en-US" sz="2400"/>
          </a:p>
        </p:txBody>
      </p:sp>
      <p:pic>
        <p:nvPicPr>
          <p:cNvPr id="70659" name="Picture 2">
            <a:extLst>
              <a:ext uri="{FF2B5EF4-FFF2-40B4-BE49-F238E27FC236}">
                <a16:creationId xmlns:a16="http://schemas.microsoft.com/office/drawing/2014/main" id="{C2941D11-CD59-4757-89D1-CB988F0E6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946" y="1122362"/>
            <a:ext cx="604996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CBB3DFE1-A9C8-4A72-8A56-D7C6D122CF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1876" y="182563"/>
            <a:ext cx="79089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Power Management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C7B69AA0-5F63-4E8F-87AB-E02F2FABD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43751" y="987905"/>
            <a:ext cx="7110413" cy="4530725"/>
          </a:xfrm>
        </p:spPr>
        <p:txBody>
          <a:bodyPr/>
          <a:lstStyle/>
          <a:p>
            <a:r>
              <a:rPr lang="en-US" altLang="en-US" dirty="0"/>
              <a:t>Not strictly domain of I/O, but much is I/O related</a:t>
            </a:r>
          </a:p>
          <a:p>
            <a:r>
              <a:rPr lang="en-US" altLang="en-US" dirty="0"/>
              <a:t>Computers and devices use electricity, generate heat, frequently require cooling</a:t>
            </a:r>
          </a:p>
          <a:p>
            <a:r>
              <a:rPr lang="en-US" altLang="en-US" dirty="0"/>
              <a:t>OSes can help manage and improve use</a:t>
            </a:r>
          </a:p>
          <a:p>
            <a:pPr lvl="1"/>
            <a:r>
              <a:rPr lang="en-US" altLang="en-US" dirty="0"/>
              <a:t>Cloud computing environments move virtual machines between servers</a:t>
            </a:r>
          </a:p>
          <a:p>
            <a:pPr lvl="2"/>
            <a:r>
              <a:rPr lang="en-US" altLang="en-US" dirty="0"/>
              <a:t>Can end up evacuating whole systems and shutting them down</a:t>
            </a:r>
          </a:p>
          <a:p>
            <a:r>
              <a:rPr lang="en-US" altLang="en-US" dirty="0"/>
              <a:t>Mobile computing has power management as first class OS aspect</a:t>
            </a:r>
          </a:p>
          <a:p>
            <a:pPr lvl="2"/>
            <a:endParaRPr lang="en-US" alt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05692D8-F20A-4C97-A86B-5A881F2DA5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1876" y="182563"/>
            <a:ext cx="79089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Power Management (Cont.)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939B87C7-AA82-4AE4-A135-B6B390C4D9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7726" y="1054198"/>
            <a:ext cx="8571046" cy="4994063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For example, Android implements</a:t>
            </a:r>
          </a:p>
          <a:p>
            <a:pPr lvl="1"/>
            <a:r>
              <a:rPr lang="en-US" altLang="en-US" sz="2000" dirty="0"/>
              <a:t>Component-level power management</a:t>
            </a:r>
          </a:p>
          <a:p>
            <a:pPr lvl="2"/>
            <a:r>
              <a:rPr lang="en-US" altLang="en-US" dirty="0"/>
              <a:t>Understands relationship between components</a:t>
            </a:r>
          </a:p>
          <a:p>
            <a:pPr lvl="2"/>
            <a:r>
              <a:rPr lang="en-US" altLang="en-US" dirty="0"/>
              <a:t>Build device tree representing physical device topology</a:t>
            </a:r>
          </a:p>
          <a:p>
            <a:pPr lvl="2"/>
            <a:r>
              <a:rPr lang="en-US" altLang="en-US" dirty="0"/>
              <a:t>System bus -&gt; I/O subsystem -&gt; {flash, USB storage}</a:t>
            </a:r>
          </a:p>
          <a:p>
            <a:pPr lvl="2"/>
            <a:r>
              <a:rPr lang="en-US" altLang="en-US" dirty="0"/>
              <a:t>Device driver tracks state of device, whether in use</a:t>
            </a:r>
          </a:p>
          <a:p>
            <a:pPr lvl="2"/>
            <a:r>
              <a:rPr lang="en-US" altLang="en-US" dirty="0"/>
              <a:t>Unused component – turn it off</a:t>
            </a:r>
          </a:p>
          <a:p>
            <a:pPr lvl="2"/>
            <a:r>
              <a:rPr lang="en-US" altLang="en-US" dirty="0"/>
              <a:t>All devices in tree branch unused – turn off branch</a:t>
            </a:r>
          </a:p>
          <a:p>
            <a:pPr lvl="1"/>
            <a:r>
              <a:rPr lang="en-US" altLang="en-US" sz="2000" dirty="0"/>
              <a:t>Wake locks – like other locks but prevent sleep of device when lock is held</a:t>
            </a:r>
          </a:p>
          <a:p>
            <a:pPr lvl="1"/>
            <a:r>
              <a:rPr lang="en-US" altLang="en-US" sz="2000" dirty="0"/>
              <a:t>Power collapse – put a device into very deep sleep</a:t>
            </a:r>
          </a:p>
          <a:p>
            <a:pPr lvl="2"/>
            <a:r>
              <a:rPr lang="en-US" altLang="en-US" dirty="0"/>
              <a:t>Marginal power use</a:t>
            </a:r>
          </a:p>
          <a:p>
            <a:pPr lvl="2"/>
            <a:r>
              <a:rPr lang="en-US" altLang="en-US" dirty="0"/>
              <a:t>Only awake enough to respond to external stimuli (button press, incoming call)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05692D8-F20A-4C97-A86B-5A881F2DA5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1876" y="182563"/>
            <a:ext cx="79089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Power Management (Cont.)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939B87C7-AA82-4AE4-A135-B6B390C4D9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39755" y="999113"/>
            <a:ext cx="8571046" cy="4994063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Modern systems use </a:t>
            </a:r>
            <a:r>
              <a:rPr lang="en-US" altLang="en-US" sz="2000" b="1" dirty="0">
                <a:solidFill>
                  <a:srgbClr val="3366FF"/>
                </a:solidFill>
              </a:rPr>
              <a:t>advanced configuration and power interface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3366FF"/>
                </a:solidFill>
              </a:rPr>
              <a:t>ACPI</a:t>
            </a:r>
            <a:r>
              <a:rPr lang="en-US" altLang="en-US" sz="2000" dirty="0"/>
              <a:t>) firmware providing code that runs as routines called by kernel for device discovery, management, error and power management </a:t>
            </a:r>
          </a:p>
          <a:p>
            <a:pPr lvl="2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89321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DD7006E4-F676-4255-8519-461C5E4DDC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1876" y="182563"/>
            <a:ext cx="79089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Kernel I/O Subsystem Summary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DE997634-79E3-492C-A6E0-923FB9743C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30434" y="1065214"/>
            <a:ext cx="9883889" cy="4795759"/>
          </a:xfrm>
        </p:spPr>
        <p:txBody>
          <a:bodyPr/>
          <a:lstStyle/>
          <a:p>
            <a:r>
              <a:rPr lang="en-US" altLang="en-US" sz="2000" dirty="0"/>
              <a:t>In summary, the I/O subsystem coordinates an extensive collection of services that are available to applications and to other parts of the kernel</a:t>
            </a:r>
          </a:p>
          <a:p>
            <a:pPr lvl="1"/>
            <a:r>
              <a:rPr lang="en-US" altLang="en-US" sz="2000" dirty="0"/>
              <a:t>Management of the name space for files and devices</a:t>
            </a:r>
          </a:p>
          <a:p>
            <a:pPr lvl="1"/>
            <a:r>
              <a:rPr lang="en-US" altLang="en-US" sz="2000" dirty="0"/>
              <a:t>Access control to files and devices</a:t>
            </a:r>
          </a:p>
          <a:p>
            <a:pPr lvl="1"/>
            <a:r>
              <a:rPr lang="en-US" altLang="en-US" sz="2000" dirty="0"/>
              <a:t>Operation control (for example, a modem cannot seek())</a:t>
            </a:r>
          </a:p>
          <a:p>
            <a:pPr lvl="1"/>
            <a:r>
              <a:rPr lang="en-US" altLang="en-US" sz="2000" dirty="0"/>
              <a:t>File-system space allocation</a:t>
            </a:r>
          </a:p>
          <a:p>
            <a:pPr lvl="1"/>
            <a:r>
              <a:rPr lang="en-US" altLang="en-US" sz="2000" dirty="0"/>
              <a:t>Device allocation</a:t>
            </a:r>
          </a:p>
          <a:p>
            <a:pPr lvl="1"/>
            <a:r>
              <a:rPr lang="en-US" altLang="en-US" sz="2000" dirty="0"/>
              <a:t>Buffering, caching, and spooling</a:t>
            </a:r>
          </a:p>
          <a:p>
            <a:pPr lvl="1"/>
            <a:r>
              <a:rPr lang="en-US" altLang="en-US" sz="2000" dirty="0"/>
              <a:t>I/O scheduling</a:t>
            </a:r>
          </a:p>
          <a:p>
            <a:pPr lvl="1"/>
            <a:r>
              <a:rPr lang="en-US" altLang="en-US" sz="2000" dirty="0"/>
              <a:t>Device-status monitoring, error handling, and failure recovery</a:t>
            </a:r>
          </a:p>
          <a:p>
            <a:pPr lvl="1"/>
            <a:r>
              <a:rPr lang="en-US" altLang="en-US" sz="2000" dirty="0"/>
              <a:t>Device-driver configuration and initialization</a:t>
            </a:r>
          </a:p>
          <a:p>
            <a:pPr lvl="1"/>
            <a:r>
              <a:rPr lang="en-US" altLang="en-US" sz="2000" dirty="0"/>
              <a:t>Power management of I/O devices</a:t>
            </a:r>
          </a:p>
          <a:p>
            <a:r>
              <a:rPr lang="en-US" altLang="en-US" sz="2000" dirty="0"/>
              <a:t>The upper levels of the I/O subsystem access devices via the uniform interface provided by the device drivers</a:t>
            </a:r>
          </a:p>
          <a:p>
            <a:pPr lvl="2"/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736</Words>
  <Application>Microsoft Office PowerPoint</Application>
  <PresentationFormat>Widescreen</PresentationFormat>
  <Paragraphs>100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MS PGothic</vt:lpstr>
      <vt:lpstr>Yu Gothic</vt:lpstr>
      <vt:lpstr>Arial</vt:lpstr>
      <vt:lpstr>Calibri</vt:lpstr>
      <vt:lpstr>Calibri Light</vt:lpstr>
      <vt:lpstr>Helvetica</vt:lpstr>
      <vt:lpstr>Times New Roman</vt:lpstr>
      <vt:lpstr>Office Theme</vt:lpstr>
      <vt:lpstr>I/O Systems Lesson 3 Kernel I/O Systems</vt:lpstr>
      <vt:lpstr>Kernel I/O Subsystem</vt:lpstr>
      <vt:lpstr>Device-status Table</vt:lpstr>
      <vt:lpstr>Common PC and Data-center I/O devices and Interface Speeds</vt:lpstr>
      <vt:lpstr>Kernel I/O Subsystem</vt:lpstr>
      <vt:lpstr>Error Handling</vt:lpstr>
      <vt:lpstr>I/O Protection</vt:lpstr>
      <vt:lpstr>Use of a System Call to Perform I/O</vt:lpstr>
      <vt:lpstr>Kernel Data Structures</vt:lpstr>
      <vt:lpstr>UNIX I/O Kernel Structure</vt:lpstr>
      <vt:lpstr>Power Management</vt:lpstr>
      <vt:lpstr>Power Management (Cont.)</vt:lpstr>
      <vt:lpstr>Power Management (Cont.)</vt:lpstr>
      <vt:lpstr>Kernel I/O Subsystem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I/O Systems Lesson 3 Kernel I/O Systems</dc:title>
  <dc:creator>David Liu</dc:creator>
  <cp:lastModifiedBy>David Liu</cp:lastModifiedBy>
  <cp:revision>3</cp:revision>
  <dcterms:created xsi:type="dcterms:W3CDTF">2021-12-01T16:14:49Z</dcterms:created>
  <dcterms:modified xsi:type="dcterms:W3CDTF">2021-12-01T16:19:10Z</dcterms:modified>
</cp:coreProperties>
</file>