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9" r:id="rId19"/>
    <p:sldId id="273" r:id="rId20"/>
    <p:sldId id="274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6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9EB3C-EEC4-49E4-94AC-14C908532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FE85F9-C5D4-48C0-B588-87A39BCDF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8A3A2-4D27-4381-97B9-434855E45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0F54D-8F3E-4C03-B6AA-3DDD0B015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1B7314-B3E7-43E9-884B-0EC063F49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709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282A7-A450-4D40-9396-BD09B1581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A6738-C9ED-42FE-9567-3C5391460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56CEE0-8C33-49DA-AD4B-F941A0166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761539-4300-4894-9BA0-98E55538F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E749BE-EFD9-4F77-BCE9-A63A90AC2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9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7201F-60A9-438F-8430-2F55AA8EC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CB9AC5-619B-41B5-831A-EF4FCD0676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F4DDC-9E7D-4FD9-BC49-9ED334B1E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74167-F04C-4AF6-9EF7-761425347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3C01F-DB75-4FE5-BB72-CBE7D066A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166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14946-8A85-4D9A-AA91-CBBEBB0926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A36BC-38DC-47B4-88EF-943AC8505D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C3A5F8-CAE1-49A3-981B-76C7AD3464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EC9EC-CDC1-496F-862F-564A8C321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F3E7C-8CA3-4E8F-989B-0E5E8080E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524780-2F1E-41F6-8D08-242FDE428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99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FB285-ADF6-443C-BD25-E9D4A980D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A7BC0-313D-4AF4-84AA-00F403803C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37DEC9-CA5C-4972-8A10-145EDDC3B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CA216-337A-413A-8DFB-D46B7D101B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3E0256-36B4-4831-98A8-06ABB2E17A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FFF5FE-5B88-4693-BA4F-3BDBEADDC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ED216-E984-42F4-8F30-43CB3C64C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BCA1BF-DD68-486B-81E6-CB9EBBE6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1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125C0-9CAD-48AB-976B-4F9F3DC46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282815-051E-41DE-99E9-10100FC5D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087EE5-2360-427A-8F26-98278046A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8E463-64C4-4FEB-8597-C7C79E27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41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5C13C3-A9E6-429B-80CD-307B8478C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9678D5-4AA2-4E4F-B629-F9F100681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4DDBB4-A194-4595-955A-8DC05B77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7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7D349-09E0-4D51-B11D-25948B948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5DA39-472C-42AD-AAAD-520D0F9D9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98FB57-AC0A-4B47-8EC2-5F955ADCBB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2339DF-9748-4DA2-8DF2-C64BB09778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E74247-1100-4F05-A2B4-003D2469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4B981-EA4F-4A62-ABB6-1A6B901F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56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ED1F7-C0D7-48CF-A227-E7C75110E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892D09-0ADA-4039-B72F-BE12A53EC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576496-1398-4D10-8653-AF0E3D65B8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6CBA0-F19C-4A25-9BF6-BC399176D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0DB78-DC94-43DD-B833-181D1274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326BA-4FA4-46CC-813F-7E8C4AA47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474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62DB6-9C7E-4D4B-9434-5F399B1D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96C1D-8F06-48CA-B430-9178BD327F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109DB-3F78-456A-9A0C-29062511D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9F167-3CAE-4EC1-9A49-3CE10AAF6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14E2B4-CC58-4602-BA80-D79CBF7C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1426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AEF58D-7911-4A6B-94E8-3A3E762582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87142-805B-4EFD-BF0C-7D73C7831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579E0-96D6-40FB-863E-3F7FBE57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729276-6769-4CA8-A9BD-115C6A29B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CFCB7F-4176-4CB8-9780-7153B83B4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276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360D5-B413-4631-BDFC-7A70A55FE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218167-7577-49B5-BAC5-9719C15D7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3FB1F-EB97-4365-A3F5-5F78BC7630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A835C-935C-404B-886E-A9C240CF7C14}" type="datetimeFigureOut">
              <a:rPr lang="en-US" smtClean="0"/>
              <a:t>1/25/2022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E9E369-F0F7-400D-87BD-38500345A4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C85CD9-87BC-48A5-BE29-69702CBCB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883376-3E0A-46E2-9EC4-5D8A2F7965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7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7FC61-47BA-4412-AEC6-DB6D5F2C51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OS Structures 2</a:t>
            </a:r>
            <a:br>
              <a:rPr lang="en-US" dirty="0"/>
            </a:br>
            <a:r>
              <a:rPr lang="en-US" dirty="0"/>
              <a:t>Design and Implementation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4667A-9558-4B4B-A942-DE4AE2281D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David Liu</a:t>
            </a:r>
          </a:p>
          <a:p>
            <a:r>
              <a:rPr lang="en-US" dirty="0"/>
              <a:t>Fall 2021</a:t>
            </a:r>
          </a:p>
        </p:txBody>
      </p:sp>
    </p:spTree>
    <p:extLst>
      <p:ext uri="{BB962C8B-B14F-4D97-AF65-F5344CB8AC3E}">
        <p14:creationId xmlns:p14="http://schemas.microsoft.com/office/powerpoint/2010/main" val="408000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1832-80D2-4C0D-ADD6-4BB10F066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BAE08-CCEB-47A7-8755-D3CDC67FF7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services provided by an OS</a:t>
            </a:r>
          </a:p>
          <a:p>
            <a:r>
              <a:rPr lang="en-US" dirty="0"/>
              <a:t>Illustrate how system calls are used to provide OS services</a:t>
            </a:r>
          </a:p>
          <a:p>
            <a:r>
              <a:rPr lang="en-US" dirty="0">
                <a:solidFill>
                  <a:schemeClr val="accent1"/>
                </a:solidFill>
              </a:rPr>
              <a:t>Understand OS design with goals and specifications</a:t>
            </a:r>
          </a:p>
          <a:p>
            <a:r>
              <a:rPr lang="en-US" dirty="0">
                <a:solidFill>
                  <a:schemeClr val="accent1"/>
                </a:solidFill>
              </a:rPr>
              <a:t>Understand design principles</a:t>
            </a:r>
          </a:p>
          <a:p>
            <a:r>
              <a:rPr lang="en-US" dirty="0">
                <a:solidFill>
                  <a:schemeClr val="accent1"/>
                </a:solidFill>
              </a:rPr>
              <a:t>Understand various ways of OS implementations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1CACDC-7F3D-4F24-A0BA-520C669E1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4F55D-1000-4A2B-B407-B55360D166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448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907C9-40A7-46E9-A73A-C26263B75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A3C5-BC72-44F3-A495-D48A54509F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Design Goals</a:t>
            </a:r>
          </a:p>
          <a:p>
            <a:pPr lvl="1"/>
            <a:r>
              <a:rPr lang="en-US" dirty="0"/>
              <a:t>Highest Design levels: hardware and system types</a:t>
            </a:r>
          </a:p>
          <a:p>
            <a:pPr lvl="1"/>
            <a:r>
              <a:rPr lang="en-US" dirty="0"/>
              <a:t>User goals</a:t>
            </a:r>
          </a:p>
          <a:p>
            <a:pPr lvl="2"/>
            <a:r>
              <a:rPr lang="en-US" dirty="0"/>
              <a:t>e.g. be convenient to use, easy to learn, reliable, safe, and fast</a:t>
            </a:r>
          </a:p>
          <a:p>
            <a:pPr lvl="1"/>
            <a:r>
              <a:rPr lang="en-US" dirty="0"/>
              <a:t>System goals</a:t>
            </a:r>
          </a:p>
          <a:p>
            <a:pPr lvl="2"/>
            <a:r>
              <a:rPr lang="en-US" dirty="0"/>
              <a:t>e.g. (a) be easy to design, implement, and maintain; </a:t>
            </a:r>
          </a:p>
          <a:p>
            <a:pPr marL="914400" lvl="2" indent="0">
              <a:buNone/>
            </a:pPr>
            <a:r>
              <a:rPr lang="en-US" dirty="0"/>
              <a:t>            (b) flexible, reliable, error-free, and efficient</a:t>
            </a:r>
          </a:p>
        </p:txBody>
      </p:sp>
    </p:spTree>
    <p:extLst>
      <p:ext uri="{BB962C8B-B14F-4D97-AF65-F5344CB8AC3E}">
        <p14:creationId xmlns:p14="http://schemas.microsoft.com/office/powerpoint/2010/main" val="1331038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56B14-120D-40CE-89EB-6B3150ED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Design Principle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48A32-93E9-4359-8008-2C81BE938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general software design principle</a:t>
            </a:r>
          </a:p>
          <a:p>
            <a:r>
              <a:rPr lang="en-US" dirty="0"/>
              <a:t>Separation of policy from mechanisms</a:t>
            </a:r>
          </a:p>
          <a:p>
            <a:pPr lvl="1"/>
            <a:r>
              <a:rPr lang="en-US" dirty="0"/>
              <a:t>What: policy often changes</a:t>
            </a:r>
          </a:p>
          <a:p>
            <a:pPr lvl="1"/>
            <a:r>
              <a:rPr lang="en-US" dirty="0"/>
              <a:t>How: general mechanisms support various policies (</a:t>
            </a:r>
            <a:r>
              <a:rPr lang="en-US" b="1" dirty="0"/>
              <a:t>flexibility</a:t>
            </a:r>
            <a:r>
              <a:rPr lang="en-US" dirty="0"/>
              <a:t>)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Timer</a:t>
            </a:r>
          </a:p>
          <a:p>
            <a:pPr lvl="1"/>
            <a:r>
              <a:rPr lang="en-US" dirty="0"/>
              <a:t>Priority scheduling</a:t>
            </a:r>
          </a:p>
          <a:p>
            <a:pPr lvl="1"/>
            <a:r>
              <a:rPr lang="en-US" dirty="0"/>
              <a:t>Microkernel-based OS vs Microsoft Windows vs Apple macOS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94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3035-7C32-4283-874F-929F926BA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9CDB9-7BC2-482B-83E4-CE3CA2B99C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Language choices</a:t>
            </a:r>
          </a:p>
          <a:p>
            <a:pPr lvl="1"/>
            <a:r>
              <a:rPr lang="en-US" dirty="0"/>
              <a:t>Assembly languages</a:t>
            </a:r>
          </a:p>
          <a:p>
            <a:pPr lvl="1"/>
            <a:r>
              <a:rPr lang="en-US" dirty="0"/>
              <a:t>High level languages: C and C++ (</a:t>
            </a:r>
            <a:r>
              <a:rPr lang="en-US" b="1" dirty="0"/>
              <a:t>easy port to other hardware</a:t>
            </a:r>
            <a:r>
              <a:rPr lang="en-US" dirty="0"/>
              <a:t>)</a:t>
            </a:r>
          </a:p>
          <a:p>
            <a:r>
              <a:rPr lang="en-US" dirty="0"/>
              <a:t>A mix of languages</a:t>
            </a:r>
          </a:p>
          <a:p>
            <a:pPr lvl="1"/>
            <a:r>
              <a:rPr lang="en-US" dirty="0"/>
              <a:t>Assembly language in lowest levels</a:t>
            </a:r>
          </a:p>
          <a:p>
            <a:pPr lvl="1"/>
            <a:r>
              <a:rPr lang="en-US" dirty="0"/>
              <a:t>C for main body</a:t>
            </a:r>
          </a:p>
          <a:p>
            <a:pPr lvl="1"/>
            <a:r>
              <a:rPr lang="en-US" dirty="0"/>
              <a:t>C, C++, scripting lang. (Python), shell scripts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706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BA4E6-B835-4322-8065-11FBD17FA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System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8DD96F-CD87-42E0-BAE9-D02E3E89A1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Monolithic</a:t>
            </a:r>
          </a:p>
          <a:p>
            <a:r>
              <a:rPr lang="en-US" dirty="0"/>
              <a:t>Layered</a:t>
            </a:r>
          </a:p>
          <a:p>
            <a:r>
              <a:rPr lang="en-US" dirty="0"/>
              <a:t>Microkernel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674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3E2F1-6F65-478F-909B-A8FF9E10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E7F8-53D3-427E-AD05-80079F124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functionality of the kernel into </a:t>
            </a:r>
          </a:p>
          <a:p>
            <a:pPr lvl="1"/>
            <a:r>
              <a:rPr lang="en-US" dirty="0"/>
              <a:t>a single, static binary file</a:t>
            </a:r>
          </a:p>
          <a:p>
            <a:pPr lvl="1"/>
            <a:r>
              <a:rPr lang="en-US" dirty="0"/>
              <a:t>runs in a single address space</a:t>
            </a:r>
          </a:p>
          <a:p>
            <a:r>
              <a:rPr lang="en-US" dirty="0"/>
              <a:t>Difficult to implement</a:t>
            </a:r>
          </a:p>
          <a:p>
            <a:r>
              <a:rPr lang="en-US" dirty="0"/>
              <a:t>Performance advantage</a:t>
            </a:r>
          </a:p>
          <a:p>
            <a:pPr lvl="1"/>
            <a:r>
              <a:rPr lang="en-US" dirty="0"/>
              <a:t>Efficient system-call interface</a:t>
            </a:r>
          </a:p>
          <a:p>
            <a:pPr lvl="1"/>
            <a:r>
              <a:rPr lang="en-US" dirty="0"/>
              <a:t>Fast communication within kernel</a:t>
            </a:r>
          </a:p>
        </p:txBody>
      </p:sp>
    </p:spTree>
    <p:extLst>
      <p:ext uri="{BB962C8B-B14F-4D97-AF65-F5344CB8AC3E}">
        <p14:creationId xmlns:p14="http://schemas.microsoft.com/office/powerpoint/2010/main" val="739666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4FBC-FC75-4885-92D9-57ADC15BF3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Monolithic OSes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09F62B-1ED9-49D9-80DB-BA31379982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73" y="1827701"/>
            <a:ext cx="5050639" cy="4256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7F89A0A-0629-4A7D-B4BD-DC3AECE978DF}"/>
              </a:ext>
            </a:extLst>
          </p:cNvPr>
          <p:cNvSpPr txBox="1">
            <a:spLocks/>
          </p:cNvSpPr>
          <p:nvPr/>
        </p:nvSpPr>
        <p:spPr>
          <a:xfrm>
            <a:off x="913701" y="1379909"/>
            <a:ext cx="4480420" cy="44779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Traditional UNIX</a:t>
            </a:r>
          </a:p>
        </p:txBody>
      </p:sp>
    </p:spTree>
    <p:extLst>
      <p:ext uri="{BB962C8B-B14F-4D97-AF65-F5344CB8AC3E}">
        <p14:creationId xmlns:p14="http://schemas.microsoft.com/office/powerpoint/2010/main" val="394599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EA0A-4C1D-464E-A6FC-4A5B2D98E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Layered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93AA-48A8-4142-BE3D-1B5AEFE838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34761" cy="4351338"/>
          </a:xfrm>
        </p:spPr>
        <p:txBody>
          <a:bodyPr/>
          <a:lstStyle/>
          <a:p>
            <a:r>
              <a:rPr lang="en-US" dirty="0"/>
              <a:t>Number of layers (levels)</a:t>
            </a:r>
          </a:p>
          <a:p>
            <a:r>
              <a:rPr lang="en-US" dirty="0"/>
              <a:t>Advantages: simplicity of constructing and debugging</a:t>
            </a:r>
          </a:p>
          <a:p>
            <a:r>
              <a:rPr lang="en-US" dirty="0"/>
              <a:t>Overhead to traverse layers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69C04D-89C7-4F76-AC2A-7DA5CF2A1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184" y="1825625"/>
            <a:ext cx="4273714" cy="3962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097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A2E74-DA9E-4017-AD86-647D8C01A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Microkernels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EA330-E1E9-4271-B6F2-F92CA0101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696" y="1863499"/>
            <a:ext cx="2861602" cy="3131002"/>
          </a:xfrm>
        </p:spPr>
        <p:txBody>
          <a:bodyPr>
            <a:normAutofit/>
          </a:bodyPr>
          <a:lstStyle/>
          <a:p>
            <a:r>
              <a:rPr lang="en-US" dirty="0"/>
              <a:t>Small kernel</a:t>
            </a:r>
          </a:p>
          <a:p>
            <a:pPr lvl="1"/>
            <a:r>
              <a:rPr lang="en-US" dirty="0"/>
              <a:t>minimum process management</a:t>
            </a:r>
          </a:p>
          <a:p>
            <a:pPr lvl="1"/>
            <a:r>
              <a:rPr lang="en-US" dirty="0"/>
              <a:t>memory management</a:t>
            </a:r>
          </a:p>
          <a:p>
            <a:pPr lvl="1"/>
            <a:r>
              <a:rPr lang="en-US" dirty="0"/>
              <a:t>Communication facility</a:t>
            </a:r>
          </a:p>
          <a:p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470328A-11D3-4B42-B614-F3B3B10849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3579" y="2179222"/>
            <a:ext cx="8340725" cy="403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550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9BD74-560C-4C75-B354-0DE317A5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Microkernel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9659E-FAB2-444D-A6E1-A232CB280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Easy to port, secure, reliable</a:t>
            </a:r>
          </a:p>
          <a:p>
            <a:r>
              <a:rPr lang="en-US" dirty="0"/>
              <a:t>Performance issues</a:t>
            </a:r>
          </a:p>
          <a:p>
            <a:pPr lvl="1"/>
            <a:r>
              <a:rPr lang="en-US" dirty="0"/>
              <a:t>Copying messages</a:t>
            </a:r>
          </a:p>
          <a:p>
            <a:pPr lvl="1"/>
            <a:r>
              <a:rPr lang="en-US" dirty="0"/>
              <a:t>Switching between processes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8595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BF418A-B294-4847-9DE0-FA0360E2B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02BD2-270B-4CCD-8535-6312F214C5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Kernel: core components</a:t>
            </a:r>
          </a:p>
          <a:p>
            <a:r>
              <a:rPr lang="en-US" dirty="0"/>
              <a:t>Loadable kernel modules (LKMs)</a:t>
            </a:r>
          </a:p>
          <a:p>
            <a:pPr lvl="1"/>
            <a:r>
              <a:rPr lang="en-US" dirty="0"/>
              <a:t>boot time</a:t>
            </a:r>
          </a:p>
          <a:p>
            <a:pPr lvl="1"/>
            <a:r>
              <a:rPr lang="en-US" dirty="0"/>
              <a:t>run time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5AA057F-E521-477F-A3DE-3D22993C4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1620" y="2079246"/>
            <a:ext cx="5202180" cy="3602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192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2B868-E2A7-49DD-9335-71BD459CB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Hybrid: MacOS,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3D8AE-279F-4A67-8897-2F4AAD51C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023" y="1412264"/>
            <a:ext cx="6116273" cy="556848"/>
          </a:xfrm>
        </p:spPr>
        <p:txBody>
          <a:bodyPr/>
          <a:lstStyle/>
          <a:p>
            <a:r>
              <a:rPr lang="en-US" dirty="0"/>
              <a:t>Layered &amp; Modules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BCF728-B9F9-4AD8-A163-A6668C2C2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527" y="2194741"/>
            <a:ext cx="2962913" cy="45723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E1E0EB-3CEE-41A6-B23A-00B0D32EEB53}"/>
              </a:ext>
            </a:extLst>
          </p:cNvPr>
          <p:cNvSpPr txBox="1"/>
          <p:nvPr/>
        </p:nvSpPr>
        <p:spPr>
          <a:xfrm>
            <a:off x="8539993" y="1412264"/>
            <a:ext cx="9509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Linux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FDA6A5-8EE3-4B6C-8937-645051ED1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7581" y="2627594"/>
            <a:ext cx="4499238" cy="370668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10D4271-DF23-4AD9-A921-F8B1A8141DDB}"/>
              </a:ext>
            </a:extLst>
          </p:cNvPr>
          <p:cNvSpPr txBox="1"/>
          <p:nvPr/>
        </p:nvSpPr>
        <p:spPr>
          <a:xfrm>
            <a:off x="3105324" y="1969112"/>
            <a:ext cx="19848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macOS / iOS</a:t>
            </a:r>
          </a:p>
        </p:txBody>
      </p:sp>
    </p:spTree>
    <p:extLst>
      <p:ext uri="{BB962C8B-B14F-4D97-AF65-F5344CB8AC3E}">
        <p14:creationId xmlns:p14="http://schemas.microsoft.com/office/powerpoint/2010/main" val="357671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323D-D388-4431-997B-FC71820C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Hybrid: Darwin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B968-9274-4B83-A4BB-65ECCFF40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236"/>
            <a:ext cx="7517235" cy="51490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MacOS and Darwin</a:t>
            </a:r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B88F1F58-0B20-490A-AF7E-006CA5F692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1696" y="3016250"/>
            <a:ext cx="29591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94E861-6316-44EB-B26F-20CA1D4E5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6762" y="2174588"/>
            <a:ext cx="4499238" cy="3706689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24B3099-E777-4885-B8FB-F2F1F4CC9823}"/>
              </a:ext>
            </a:extLst>
          </p:cNvPr>
          <p:cNvCxnSpPr/>
          <p:nvPr/>
        </p:nvCxnSpPr>
        <p:spPr>
          <a:xfrm flipV="1">
            <a:off x="6249798" y="4160939"/>
            <a:ext cx="1400962" cy="113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219C8C8-DF3D-4192-9274-00D8057B3C5E}"/>
              </a:ext>
            </a:extLst>
          </p:cNvPr>
          <p:cNvCxnSpPr/>
          <p:nvPr/>
        </p:nvCxnSpPr>
        <p:spPr>
          <a:xfrm>
            <a:off x="6203367" y="5881277"/>
            <a:ext cx="1422226" cy="1168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7351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779A42-5C03-4F51-AC57-8AE95BBDE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Hybrid: Android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F8A6898-4793-41F0-BE46-2D401D4D0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3945" y="1378343"/>
            <a:ext cx="3219450" cy="5005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3913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FE33F-0424-4825-9695-5563EEFC8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Hybrid: iOS</a:t>
            </a:r>
          </a:p>
        </p:txBody>
      </p:sp>
      <p:pic>
        <p:nvPicPr>
          <p:cNvPr id="4" name="Picture 1" descr="2_17.pdf">
            <a:extLst>
              <a:ext uri="{FF2B5EF4-FFF2-40B4-BE49-F238E27FC236}">
                <a16:creationId xmlns:a16="http://schemas.microsoft.com/office/drawing/2014/main" id="{0856A857-3713-4B46-BAA4-893D792DE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2573" y="2014514"/>
            <a:ext cx="3527537" cy="3691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0835EC-9A07-4FEB-827C-92A873141872}"/>
              </a:ext>
            </a:extLst>
          </p:cNvPr>
          <p:cNvSpPr/>
          <p:nvPr/>
        </p:nvSpPr>
        <p:spPr>
          <a:xfrm>
            <a:off x="427838" y="2221856"/>
            <a:ext cx="4311941" cy="25991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Courier New" panose="02070309020205020404" pitchFamily="49" charset="0"/>
              <a:buChar char="o"/>
            </a:pPr>
            <a:r>
              <a:rPr kumimoji="1" lang="en-US" altLang="en-US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Cocoa Touch </a:t>
            </a: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Objective-C API for developing apps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Courier New" panose="02070309020205020404" pitchFamily="49" charset="0"/>
              <a:buChar char="o"/>
            </a:pPr>
            <a:r>
              <a:rPr kumimoji="1" lang="en-US" altLang="en-US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Media services </a:t>
            </a: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layer for graphics, audio, video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Courier New" panose="02070309020205020404" pitchFamily="49" charset="0"/>
              <a:buChar char="o"/>
            </a:pPr>
            <a:r>
              <a:rPr kumimoji="1" lang="en-US" altLang="en-US" b="1" kern="0" dirty="0">
                <a:solidFill>
                  <a:srgbClr val="3366FF"/>
                </a:solidFill>
                <a:latin typeface="Helvetica"/>
                <a:ea typeface="MS PGothic" pitchFamily="34" charset="-128"/>
              </a:rPr>
              <a:t>Core services </a:t>
            </a: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provides cloud computing, databases</a:t>
            </a:r>
          </a:p>
          <a:p>
            <a:pPr marL="742950" lvl="1" indent="-28575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Courier New" panose="02070309020205020404" pitchFamily="49" charset="0"/>
              <a:buChar char="o"/>
            </a:pPr>
            <a:r>
              <a:rPr kumimoji="1" lang="en-US" altLang="en-US" kern="0" dirty="0">
                <a:solidFill>
                  <a:srgbClr val="000000"/>
                </a:solidFill>
                <a:latin typeface="Helvetica"/>
                <a:ea typeface="MS PGothic" pitchFamily="34" charset="-128"/>
              </a:rPr>
              <a:t>Core operating system, based on Mac OS X kernel</a:t>
            </a:r>
          </a:p>
        </p:txBody>
      </p:sp>
    </p:spTree>
    <p:extLst>
      <p:ext uri="{BB962C8B-B14F-4D97-AF65-F5344CB8AC3E}">
        <p14:creationId xmlns:p14="http://schemas.microsoft.com/office/powerpoint/2010/main" val="14135429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D4CD-D236-4473-946F-C280A908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Hybrid: Windows</a:t>
            </a:r>
          </a:p>
        </p:txBody>
      </p:sp>
      <p:pic>
        <p:nvPicPr>
          <p:cNvPr id="1028" name="Picture 4" descr="Windows Architecture | by putra sulung | Medium">
            <a:extLst>
              <a:ext uri="{FF2B5EF4-FFF2-40B4-BE49-F238E27FC236}">
                <a16:creationId xmlns:a16="http://schemas.microsoft.com/office/drawing/2014/main" id="{D68273C2-7E82-44EE-8078-15660D832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4587" y="1305719"/>
            <a:ext cx="7362825" cy="539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98469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57712-22EC-4373-BE65-C5364141A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Subsystem for Linux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4B042-B7BD-44FF-A93F-5E03306C4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Linux lets developers run a GNU/Linux environment </a:t>
            </a:r>
          </a:p>
          <a:p>
            <a:pPr marL="0" indent="0">
              <a:buNone/>
            </a:pPr>
            <a:r>
              <a:rPr lang="en-US" dirty="0"/>
              <a:t>    -- including most command-line tools, utilities, and applications -- directly on Windows, unmodified, without the overhead of a traditional virtual machine or dual boot setup.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https://docs.microsoft.com/en-us/windows/wsl/about</a:t>
            </a:r>
          </a:p>
        </p:txBody>
      </p:sp>
    </p:spTree>
    <p:extLst>
      <p:ext uri="{BB962C8B-B14F-4D97-AF65-F5344CB8AC3E}">
        <p14:creationId xmlns:p14="http://schemas.microsoft.com/office/powerpoint/2010/main" val="4166417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B71F8-B36B-4F06-A2E7-368CCCC5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36CC2-24E1-42DF-99DB-DADB28C43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Write the operating system source code</a:t>
            </a:r>
          </a:p>
          <a:p>
            <a:r>
              <a:rPr lang="en-US" dirty="0"/>
              <a:t>Configure the operating system for the system on which it will run</a:t>
            </a:r>
          </a:p>
          <a:p>
            <a:r>
              <a:rPr lang="en-US" dirty="0"/>
              <a:t>Compile the operating system</a:t>
            </a:r>
          </a:p>
          <a:p>
            <a:r>
              <a:rPr lang="en-US" dirty="0"/>
              <a:t>Install the operating system</a:t>
            </a:r>
          </a:p>
          <a:p>
            <a:r>
              <a:rPr lang="en-US" dirty="0"/>
              <a:t>Boot the computer and its new operating system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9311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D9572-A892-4768-856F-B00A62CDA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07111-19A8-4D39-B489-35FF86D906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CPU execute at a fixed memory location</a:t>
            </a:r>
          </a:p>
          <a:p>
            <a:pPr lvl="1"/>
            <a:r>
              <a:rPr lang="en-US" dirty="0"/>
              <a:t>Bootstrap loader (ROM or EEPROM) locates the kernel, load to memory</a:t>
            </a:r>
          </a:p>
          <a:p>
            <a:pPr lvl="1"/>
            <a:r>
              <a:rPr lang="en-US" dirty="0"/>
              <a:t>Kernel loads and system is running</a:t>
            </a:r>
          </a:p>
        </p:txBody>
      </p:sp>
    </p:spTree>
    <p:extLst>
      <p:ext uri="{BB962C8B-B14F-4D97-AF65-F5344CB8AC3E}">
        <p14:creationId xmlns:p14="http://schemas.microsoft.com/office/powerpoint/2010/main" val="19667701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565F1-580C-4AE3-ACAE-9C0F36746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Debugging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363E-2ACC-4C10-87BB-967A618E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Log files</a:t>
            </a:r>
          </a:p>
          <a:p>
            <a:r>
              <a:rPr lang="en-US" dirty="0"/>
              <a:t>Core dump of memory for processes</a:t>
            </a:r>
          </a:p>
          <a:p>
            <a:r>
              <a:rPr lang="en-US" dirty="0"/>
              <a:t>Crash dump for kernel memory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40815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E8E77-1174-471A-AA35-35717092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Performance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17EB-1B7B-43CB-9DA5-853ADE7013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profiling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7B81B35B-590D-4859-B8AB-621A2C5931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1332" y="2457028"/>
            <a:ext cx="6389687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ADF75F7-53C4-41E8-AF37-C1D07AFE8AFE}"/>
              </a:ext>
            </a:extLst>
          </p:cNvPr>
          <p:cNvSpPr txBox="1"/>
          <p:nvPr/>
        </p:nvSpPr>
        <p:spPr>
          <a:xfrm>
            <a:off x="6409189" y="1835562"/>
            <a:ext cx="26945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Windows 10 Task Manager</a:t>
            </a:r>
          </a:p>
        </p:txBody>
      </p:sp>
    </p:spTree>
    <p:extLst>
      <p:ext uri="{BB962C8B-B14F-4D97-AF65-F5344CB8AC3E}">
        <p14:creationId xmlns:p14="http://schemas.microsoft.com/office/powerpoint/2010/main" val="25198394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D98D-0CC9-47DD-A63F-48CFC1FDA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OS Performance Tuning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17893D-65AD-4AD5-8FE3-8B8FBA1446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strace</a:t>
            </a:r>
            <a:r>
              <a:rPr lang="en-US" dirty="0"/>
              <a:t> – trace system calls invoked by a process</a:t>
            </a:r>
          </a:p>
          <a:p>
            <a:r>
              <a:rPr lang="en-US" dirty="0" err="1"/>
              <a:t>gdb</a:t>
            </a:r>
            <a:r>
              <a:rPr lang="en-US" dirty="0"/>
              <a:t> – source-level debugger</a:t>
            </a:r>
          </a:p>
          <a:p>
            <a:r>
              <a:rPr lang="en-US" dirty="0"/>
              <a:t>perf – collection of Linux performance tools</a:t>
            </a:r>
          </a:p>
          <a:p>
            <a:r>
              <a:rPr lang="en-US" dirty="0" err="1"/>
              <a:t>tcpdump</a:t>
            </a:r>
            <a:r>
              <a:rPr lang="en-US" dirty="0"/>
              <a:t> – collects network packets</a:t>
            </a:r>
          </a:p>
        </p:txBody>
      </p:sp>
    </p:spTree>
    <p:extLst>
      <p:ext uri="{BB962C8B-B14F-4D97-AF65-F5344CB8AC3E}">
        <p14:creationId xmlns:p14="http://schemas.microsoft.com/office/powerpoint/2010/main" val="2869339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532</Words>
  <Application>Microsoft Office PowerPoint</Application>
  <PresentationFormat>Widescreen</PresentationFormat>
  <Paragraphs>109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MS PGothic</vt:lpstr>
      <vt:lpstr>Arial</vt:lpstr>
      <vt:lpstr>Calibri</vt:lpstr>
      <vt:lpstr>Calibri Light</vt:lpstr>
      <vt:lpstr>Courier New</vt:lpstr>
      <vt:lpstr>Helvetica</vt:lpstr>
      <vt:lpstr>Office Theme</vt:lpstr>
      <vt:lpstr>OS Structures 2 Design and Implementation </vt:lpstr>
      <vt:lpstr>Learning Outcomes</vt:lpstr>
      <vt:lpstr>OS Design</vt:lpstr>
      <vt:lpstr>OS Design Principle</vt:lpstr>
      <vt:lpstr>Implementation</vt:lpstr>
      <vt:lpstr>OS System Structure</vt:lpstr>
      <vt:lpstr>Monolithic</vt:lpstr>
      <vt:lpstr>Monolithic OSes</vt:lpstr>
      <vt:lpstr>Layered Approach</vt:lpstr>
      <vt:lpstr>Microkernels</vt:lpstr>
      <vt:lpstr>Microkernel</vt:lpstr>
      <vt:lpstr>Modules</vt:lpstr>
      <vt:lpstr>Hybrid: MacOS, LINUX</vt:lpstr>
      <vt:lpstr>Hybrid: Darwin</vt:lpstr>
      <vt:lpstr>Hybrid: Android</vt:lpstr>
      <vt:lpstr>Hybrid: iOS</vt:lpstr>
      <vt:lpstr>Hybrid: Windows</vt:lpstr>
      <vt:lpstr>Windows Subsystem for Linux</vt:lpstr>
      <vt:lpstr>Building OS</vt:lpstr>
      <vt:lpstr>System Boot</vt:lpstr>
      <vt:lpstr>OS Debugging</vt:lpstr>
      <vt:lpstr>OS Performance Tuning</vt:lpstr>
      <vt:lpstr>OS Performance Tuning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Structures 2 </dc:title>
  <dc:creator>David Liu</dc:creator>
  <cp:lastModifiedBy>David Liu</cp:lastModifiedBy>
  <cp:revision>35</cp:revision>
  <dcterms:created xsi:type="dcterms:W3CDTF">2021-09-13T15:54:47Z</dcterms:created>
  <dcterms:modified xsi:type="dcterms:W3CDTF">2022-01-25T16:50:18Z</dcterms:modified>
</cp:coreProperties>
</file>