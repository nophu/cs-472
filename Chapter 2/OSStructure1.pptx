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76" r:id="rId7"/>
    <p:sldId id="261" r:id="rId8"/>
    <p:sldId id="262" r:id="rId9"/>
    <p:sldId id="263" r:id="rId10"/>
    <p:sldId id="265" r:id="rId11"/>
    <p:sldId id="264" r:id="rId12"/>
    <p:sldId id="266" r:id="rId13"/>
    <p:sldId id="267" r:id="rId14"/>
    <p:sldId id="268" r:id="rId15"/>
    <p:sldId id="271" r:id="rId16"/>
    <p:sldId id="269" r:id="rId17"/>
    <p:sldId id="270" r:id="rId18"/>
    <p:sldId id="272" r:id="rId19"/>
    <p:sldId id="273" r:id="rId20"/>
    <p:sldId id="277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2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EFD9B0-6FCA-45EA-9F4B-C427190DE1A8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026ED3-F5B5-4B6F-854E-588CC98E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5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B7DDA-544C-4693-BF43-C33FC68AA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BBAA7B-358C-4C0E-AC58-FB6D804B9F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9D3C5-35F2-4F4F-B87D-910A412E1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343F2-71A2-4818-AF64-A6C4AF416055}" type="datetime1">
              <a:rPr lang="en-US" smtClean="0"/>
              <a:t>1/25/2022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0FAB0-92E5-4C6B-8382-831835FB5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F815B-112D-4E79-B3B7-FAAC368C0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087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FCDDC-968F-48ED-AEF8-EE2955F43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2D7A0-A1AB-40C4-A634-83DF913B1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802C1-902F-4419-BC44-157ED3721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683E4-439C-429C-9F43-ECD304B8DA18}" type="datetime1">
              <a:rPr lang="en-US" smtClean="0"/>
              <a:t>1/25/2022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261D8-EBA5-4ADB-9C3D-870768188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175DA-2E50-4ED9-8AE9-FB7958E9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990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344AD-4844-4C19-B1D5-0D802362E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973D5-4492-4A21-8920-A8E380F2F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5A277-AB7B-48EF-8ED2-F9BE0882A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6AFC-F087-4520-BC12-B9FE455E0FDD}" type="datetime1">
              <a:rPr lang="en-US" smtClean="0"/>
              <a:t>1/25/2022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05012-3F66-4155-ACCF-2B027CDAA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E4D2A-5D41-4BE8-80E9-0440F7011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694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28627-2935-4138-9F91-308EBC5F8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33420-E92B-48A7-AA45-B68DCEEC5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174029-81C1-4F36-A75C-B21137311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E4F414-A8AD-46DE-B924-DD4DEA39A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5FA2F-801C-4797-AD74-DC33F0B751D2}" type="datetime1">
              <a:rPr lang="en-US" smtClean="0"/>
              <a:t>1/25/2022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BE59C-B5FF-49FD-9A58-E95DC69A9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82C7FC-14CC-4F43-A07D-56D5AB20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609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D54DB-7B5C-4DA0-9434-C71673C12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D63D9-AD2A-4DD7-AA4B-342024F8F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298905-8A0C-4FE3-B51A-C0789F2D4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A16EB9-6F72-4692-BDAF-7B01363694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660685-F88F-4084-9422-7EFF31C95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C5FD17-BB62-4473-AE7C-3593FBDF0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4B080-8B4E-465E-9C3E-C51BEA40997A}" type="datetime1">
              <a:rPr lang="en-US" smtClean="0"/>
              <a:t>1/25/2022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37928C-60D1-46C1-A184-35C686146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EA4136-63D8-43ED-A273-5E892662F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332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7A46D-843E-4100-9D4B-AABB2DABD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D72826-9B12-4EA3-A095-9F48D7D86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0DFFE-B767-4FCC-AB85-D76F112FF478}" type="datetime1">
              <a:rPr lang="en-US" smtClean="0"/>
              <a:t>1/25/2022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BBDA52-8040-42D2-BA65-2C1F66348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1C982-24E0-4FB8-AA67-F21B45013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383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DFCFF9-1575-419E-AC66-9BBD2510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24352-A4BA-46E8-B605-FCD7F0A1AC45}" type="datetime1">
              <a:rPr lang="en-US" smtClean="0"/>
              <a:t>1/25/2022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2EAD91-AD2D-4D45-B7BC-3BF08788A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EDF98-79E8-4F87-8F39-B73D450FB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92E3C-9583-49F2-BBB1-E81DBB67A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ADD79-C88A-4AD0-9064-1BA61B5D3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4D1DD-9E3F-4ED2-8E87-297A77C2F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DDC95-D390-4809-8018-EDA021221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E50C1-B4A3-4430-9F69-27FFE52851D3}" type="datetime1">
              <a:rPr lang="en-US" smtClean="0"/>
              <a:t>1/25/2022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8F04E-1788-4915-90EC-EB4AFD66F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A26D7-E76B-43B6-88A1-8BA1240CA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449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2E5A9-07FA-4B90-B4A8-F09186C79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8AABA-9A59-4128-9438-F9FCA1E2AC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29DA1-5FA0-4BFD-A0FC-3DDFD2A1B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7707D-CB46-4A5B-9629-DE1480B68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FABD1-B830-4949-96C0-11ECBEC5F371}" type="datetime1">
              <a:rPr lang="en-US" smtClean="0"/>
              <a:t>1/25/2022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89736-C2A5-4206-A671-97D14BA8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48AF8F-82FC-407B-8F63-CEF004797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029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1780A-E741-4000-B1BD-FA13A4AD0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9256D0-5247-42FF-83E5-F7E9257D9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0B48C-2690-4C9C-97B2-C031D21E8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C14E7-B650-4001-81B8-76330D2935E3}" type="datetime1">
              <a:rPr lang="en-US" smtClean="0"/>
              <a:t>1/25/2022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60CD9-F300-4A5D-9F72-D6196682E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43077-7487-4D27-B3CF-D3290B0AF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68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F1FB1F-4642-4C7C-9795-D7CA3008D6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BBC003-C3A3-4974-B160-1EF0D46AB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06BCB-533A-4990-AB69-83163B42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4415C-8F8E-4B5E-BB40-411D46AFB99B}" type="datetime1">
              <a:rPr lang="en-US" smtClean="0"/>
              <a:t>1/25/2022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F63C8-4D84-4BA9-90CA-1F735301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B405C-8D15-48E2-82AF-40EF24713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122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8632A1-3023-4FCA-903D-CBDF76C62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99B3F5-E6FD-4F89-9BF0-217EFB14C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2D769-9292-4E00-A249-97C478F6B7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388BA-713A-4B9D-ABF2-AB85ED41BE66}" type="datetime1">
              <a:rPr lang="en-US" smtClean="0"/>
              <a:t>1/25/2022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2BA3C-87F5-446A-9AC1-BDA7FDDE0C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2FF0E-4A9A-48AB-800A-49ED5DF12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34F55D-1000-4A2B-B407-B55360D16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636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51CAA-81F0-449D-B53F-B8611A50B9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OS Structures 1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02BDF0-3BAE-4D50-A746-509292E861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D85AE-02CE-4FB3-87CB-104F8942D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998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1832-80D2-4C0D-ADD6-4BB10F066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BAE08-CCEB-47A7-8755-D3CDC67FF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Identify services provided by an OS</a:t>
            </a:r>
          </a:p>
          <a:p>
            <a:r>
              <a:rPr lang="en-US" dirty="0">
                <a:solidFill>
                  <a:schemeClr val="accent1"/>
                </a:solidFill>
              </a:rPr>
              <a:t>Illustrate how system calls are used to provide OS services</a:t>
            </a:r>
          </a:p>
          <a:p>
            <a:r>
              <a:rPr lang="en-US" dirty="0"/>
              <a:t>Understand OS design with goals and specifications</a:t>
            </a:r>
          </a:p>
          <a:p>
            <a:r>
              <a:rPr lang="en-US" dirty="0"/>
              <a:t>Understand design principles</a:t>
            </a:r>
          </a:p>
          <a:p>
            <a:r>
              <a:rPr lang="en-US" dirty="0"/>
              <a:t>Understand various ways of OS implementations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CACDC-7F3D-4F24-A0BA-520C669E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44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B5751-D23A-493F-97E1-07C483D95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64157-7905-471F-98DF-A260E849A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035" y="1507754"/>
            <a:ext cx="10515600" cy="103309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An execution environment for programs and users</a:t>
            </a:r>
          </a:p>
          <a:p>
            <a:pPr lvl="1"/>
            <a:r>
              <a:rPr lang="en-US" dirty="0"/>
              <a:t>Services for users</a:t>
            </a:r>
          </a:p>
          <a:p>
            <a:pPr lvl="1"/>
            <a:r>
              <a:rPr lang="en-US" dirty="0"/>
              <a:t>Services for system itself</a:t>
            </a:r>
          </a:p>
          <a:p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D03440D-6E9E-4C69-AFA1-A172C8633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5231" y="2833318"/>
            <a:ext cx="7221538" cy="3595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31C5B-EFDD-42B3-8EBC-54B8C9EC1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380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B5751-D23A-493F-97E1-07C483D95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Services for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64157-7905-471F-98DF-A260E849A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execution environment for programs and users</a:t>
            </a:r>
          </a:p>
          <a:p>
            <a:r>
              <a:rPr lang="en-US" dirty="0"/>
              <a:t>Services for users</a:t>
            </a:r>
          </a:p>
          <a:p>
            <a:pPr lvl="1"/>
            <a:r>
              <a:rPr lang="en-US" dirty="0"/>
              <a:t>User interface (UI)</a:t>
            </a:r>
          </a:p>
          <a:p>
            <a:pPr lvl="1"/>
            <a:r>
              <a:rPr lang="en-US" dirty="0"/>
              <a:t>Program execution</a:t>
            </a:r>
          </a:p>
          <a:p>
            <a:pPr lvl="1"/>
            <a:r>
              <a:rPr lang="en-US" dirty="0"/>
              <a:t>I/O operations  - files and I/O devices</a:t>
            </a:r>
          </a:p>
          <a:p>
            <a:pPr lvl="1"/>
            <a:r>
              <a:rPr lang="en-US" dirty="0"/>
              <a:t>File-system manipulation</a:t>
            </a:r>
          </a:p>
          <a:p>
            <a:pPr lvl="1"/>
            <a:r>
              <a:rPr lang="en-US" dirty="0"/>
              <a:t>Communications: same computer or over a network</a:t>
            </a:r>
          </a:p>
          <a:p>
            <a:pPr lvl="1"/>
            <a:r>
              <a:rPr lang="en-US" dirty="0"/>
              <a:t>Error detection: correct and consistent computing; debugging facilities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645EC-A31B-4794-9FC9-1FC0BECD1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718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B5751-D23A-493F-97E1-07C483D95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Services for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64157-7905-471F-98DF-A260E849A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execution environment for programs and users</a:t>
            </a:r>
          </a:p>
          <a:p>
            <a:r>
              <a:rPr lang="en-US" dirty="0"/>
              <a:t>Services for System itself</a:t>
            </a:r>
          </a:p>
          <a:p>
            <a:pPr lvl="1"/>
            <a:r>
              <a:rPr lang="en-US" dirty="0"/>
              <a:t>Resource allocations</a:t>
            </a:r>
          </a:p>
          <a:p>
            <a:pPr lvl="1"/>
            <a:r>
              <a:rPr lang="en-US" dirty="0"/>
              <a:t>Logging</a:t>
            </a:r>
          </a:p>
          <a:p>
            <a:pPr lvl="1"/>
            <a:r>
              <a:rPr lang="en-US" dirty="0"/>
              <a:t>Protection and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CBF08-B9FE-4627-AF7A-F298804E3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080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44537-03D6-4373-A27B-A01B752F1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Operating System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CCC14-1DFC-4D27-9D42-5A9C74FCD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54227" cy="4351338"/>
          </a:xfrm>
        </p:spPr>
        <p:txBody>
          <a:bodyPr/>
          <a:lstStyle/>
          <a:p>
            <a:r>
              <a:rPr lang="en-US" dirty="0"/>
              <a:t>Command interpreter (CLI)</a:t>
            </a:r>
          </a:p>
          <a:p>
            <a:pPr lvl="1"/>
            <a:r>
              <a:rPr lang="en-US" dirty="0"/>
              <a:t>In kernel or system programs</a:t>
            </a:r>
          </a:p>
          <a:p>
            <a:pPr lvl="1"/>
            <a:r>
              <a:rPr lang="en-US" dirty="0"/>
              <a:t>Shells</a:t>
            </a:r>
          </a:p>
          <a:p>
            <a:r>
              <a:rPr lang="en-US" dirty="0"/>
              <a:t>Graphic user interface (GUI)</a:t>
            </a:r>
          </a:p>
          <a:p>
            <a:r>
              <a:rPr lang="en-US" dirty="0"/>
              <a:t>Touchscreen interface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73CE2-0A13-4948-BB03-7E69D80BF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9719B5-0042-4117-9C53-658FC7926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872" y="1541345"/>
            <a:ext cx="2767824" cy="491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739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B5751-D23A-493F-97E1-07C483D95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Calls for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64157-7905-471F-98DF-A260E849A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1348"/>
            <a:ext cx="10515600" cy="4351338"/>
          </a:xfrm>
        </p:spPr>
        <p:txBody>
          <a:bodyPr/>
          <a:lstStyle/>
          <a:p>
            <a:r>
              <a:rPr lang="en-US" dirty="0"/>
              <a:t>Program access OS services through </a:t>
            </a:r>
            <a:r>
              <a:rPr lang="en-US" dirty="0">
                <a:solidFill>
                  <a:srgbClr val="FF0000"/>
                </a:solidFill>
              </a:rPr>
              <a:t>system calls</a:t>
            </a:r>
          </a:p>
          <a:p>
            <a:pPr lvl="1"/>
            <a:r>
              <a:rPr lang="en-US" dirty="0"/>
              <a:t>Direct system call</a:t>
            </a:r>
          </a:p>
          <a:p>
            <a:pPr lvl="1"/>
            <a:r>
              <a:rPr lang="en-US" dirty="0"/>
              <a:t>Application Program Interface (API) </a:t>
            </a:r>
          </a:p>
          <a:p>
            <a:pPr lvl="2"/>
            <a:r>
              <a:rPr lang="en-US" dirty="0"/>
              <a:t>Wind32 API</a:t>
            </a:r>
          </a:p>
          <a:p>
            <a:pPr lvl="2"/>
            <a:r>
              <a:rPr lang="en-US" dirty="0"/>
              <a:t>POSIX (Portable Operating System Interface) API</a:t>
            </a:r>
          </a:p>
          <a:p>
            <a:pPr lvl="2"/>
            <a:r>
              <a:rPr lang="en-US" dirty="0"/>
              <a:t>Java API</a:t>
            </a:r>
          </a:p>
          <a:p>
            <a:pPr marL="914400" lvl="2" indent="0">
              <a:buNone/>
            </a:pPr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66A21F-244A-42AF-840C-8649AA489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985" y="3829719"/>
            <a:ext cx="4282643" cy="25784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D95C55-1B61-40E8-8E18-289FC6B55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645" y="1489967"/>
            <a:ext cx="3903636" cy="50029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653265-D434-45ED-82DE-E0A654280A0D}"/>
              </a:ext>
            </a:extLst>
          </p:cNvPr>
          <p:cNvSpPr/>
          <p:nvPr/>
        </p:nvSpPr>
        <p:spPr>
          <a:xfrm>
            <a:off x="8479517" y="6408196"/>
            <a:ext cx="31399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the Windows 2000 architecture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4B5598-4FE4-4998-8FE2-0D4900BC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81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968EE-9EE9-44A3-8C59-7C6340055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5D214-16DA-42ED-BCE5-7BA53ACF7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“The essence of abstractions is preserving information that is relevant in a given context, and forgetting information that is irrelevant in that context.”</a:t>
            </a:r>
          </a:p>
          <a:p>
            <a:pPr marL="0" indent="0">
              <a:buNone/>
            </a:pPr>
            <a:r>
              <a:rPr lang="en-US" dirty="0"/>
              <a:t>    ---- John V. </a:t>
            </a:r>
            <a:r>
              <a:rPr lang="en-US" dirty="0" err="1"/>
              <a:t>Guttag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8FDCD-FFA8-4D8F-B653-175B98086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717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F8683-92A6-4905-8E47-FF018C51B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Call Example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87CEBB80-B88D-4266-94A5-21DD11B36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531" y="1770016"/>
            <a:ext cx="5937250" cy="401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8670CD-B1FC-4155-96E4-D8ED636B2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5C6F67-9A5A-46D0-B005-E4CFB3BF7036}"/>
              </a:ext>
            </a:extLst>
          </p:cNvPr>
          <p:cNvSpPr txBox="1"/>
          <p:nvPr/>
        </p:nvSpPr>
        <p:spPr>
          <a:xfrm>
            <a:off x="4021014" y="1351920"/>
            <a:ext cx="1358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File copy</a:t>
            </a:r>
          </a:p>
        </p:txBody>
      </p:sp>
    </p:spTree>
    <p:extLst>
      <p:ext uri="{BB962C8B-B14F-4D97-AF65-F5344CB8AC3E}">
        <p14:creationId xmlns:p14="http://schemas.microsoft.com/office/powerpoint/2010/main" val="3737884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D7BDB-9124-4621-A165-C1605C164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Run-Time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67FCC-A7F5-42D7-81C4-5BC11D974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32285" cy="4351338"/>
          </a:xfrm>
        </p:spPr>
        <p:txBody>
          <a:bodyPr/>
          <a:lstStyle/>
          <a:p>
            <a:r>
              <a:rPr lang="en-US" dirty="0"/>
              <a:t>Full suite of software needed to execute applications written in a given programming language</a:t>
            </a:r>
          </a:p>
          <a:p>
            <a:pPr lvl="1"/>
            <a:r>
              <a:rPr lang="en-US" dirty="0"/>
              <a:t>Provide a </a:t>
            </a:r>
            <a:r>
              <a:rPr lang="en-US" b="1" dirty="0"/>
              <a:t>system-call interface</a:t>
            </a:r>
          </a:p>
          <a:p>
            <a:pPr lvl="1"/>
            <a:r>
              <a:rPr lang="en-US" dirty="0"/>
              <a:t>Compiler or interpreter</a:t>
            </a:r>
          </a:p>
          <a:p>
            <a:pPr lvl="1"/>
            <a:r>
              <a:rPr lang="en-US" dirty="0"/>
              <a:t>Library</a:t>
            </a:r>
          </a:p>
          <a:p>
            <a:pPr lvl="1"/>
            <a:r>
              <a:rPr lang="en-US" dirty="0"/>
              <a:t>loader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4A23E4-75B0-4758-BEAD-E607CE16D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046" y="3875154"/>
            <a:ext cx="2999728" cy="26637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10352D-13F1-4720-90A1-47B328544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460" y="1301036"/>
            <a:ext cx="3459480" cy="28829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9B066-0267-46D3-BE7C-AABB77FEC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036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7EB3F-B81A-40F0-AF17-3D0C1F010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API, System Call, OS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1B9CD82-6A4A-4438-AF65-8712098AB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618" y="1421799"/>
            <a:ext cx="7559675" cy="461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529CA0-AF97-4084-8A7A-8449BBF10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169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1EFE6-DB13-4C73-9725-8A164F08D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Call Parameter Passing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213C148-629C-4A33-94A8-7E7CECF9ED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2447" y="2742843"/>
            <a:ext cx="7834039" cy="41151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1114C3-15EC-4537-8D8D-099B2948E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891" y="1295949"/>
            <a:ext cx="4151736" cy="10425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1C2769-DE34-45D5-A834-AB1A7A9A7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0500" y="2197521"/>
            <a:ext cx="487722" cy="512108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78D78-3260-469A-BD0C-C5E3FDF8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647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D02FF-4447-4058-A2F5-FD3B00508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Call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36DA5-0C31-43EC-8248-88337096B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 control</a:t>
            </a:r>
          </a:p>
          <a:p>
            <a:pPr lvl="1"/>
            <a:r>
              <a:rPr lang="en-US" dirty="0"/>
              <a:t>create, terminate, etc.</a:t>
            </a:r>
          </a:p>
          <a:p>
            <a:r>
              <a:rPr lang="en-US" dirty="0"/>
              <a:t>File management</a:t>
            </a:r>
          </a:p>
          <a:p>
            <a:r>
              <a:rPr lang="en-US" dirty="0"/>
              <a:t>Device management</a:t>
            </a:r>
          </a:p>
          <a:p>
            <a:r>
              <a:rPr lang="en-US" dirty="0"/>
              <a:t>Information maintenance</a:t>
            </a:r>
          </a:p>
          <a:p>
            <a:r>
              <a:rPr lang="en-US" dirty="0"/>
              <a:t>Communications</a:t>
            </a:r>
          </a:p>
          <a:p>
            <a:pPr lvl="1"/>
            <a:r>
              <a:rPr lang="en-US" dirty="0"/>
              <a:t>Messaging passing or shared-memory</a:t>
            </a:r>
          </a:p>
          <a:p>
            <a:r>
              <a:rPr lang="en-US" dirty="0"/>
              <a:t>Protection</a:t>
            </a:r>
          </a:p>
          <a:p>
            <a:pPr lvl="1"/>
            <a:r>
              <a:rPr lang="en-US" dirty="0"/>
              <a:t>File permission etc.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C0248-0827-4F8B-9F3E-6E7CC6A0C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467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6CC4D-C873-4B8F-BEEF-2BFFC5308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Systems Calls Windows vs Unix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48D26-5408-4C8B-8113-AA28CD97A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133774-7774-4743-8A30-7068B3180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8692" y="1455738"/>
            <a:ext cx="4751387" cy="513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8969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0B26B-07CD-4CD2-B094-73BEFB6F3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Control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7421C-44CF-4F9B-AD18-523C5B32E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Arduino</a:t>
            </a:r>
          </a:p>
          <a:p>
            <a:r>
              <a:rPr lang="en-US" dirty="0"/>
              <a:t>FreeBSD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1F76E-E8A4-4F9D-A5EF-65A9990DC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8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02CBB-27D9-4AB4-B03B-4924A3FC9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Arduino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D4683-77AB-4198-BE83-1EFF7875A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Single-tasking</a:t>
            </a:r>
          </a:p>
          <a:p>
            <a:r>
              <a:rPr lang="en-US" dirty="0">
                <a:solidFill>
                  <a:srgbClr val="FF0000"/>
                </a:solidFill>
              </a:rPr>
              <a:t>No 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5F280-26AD-45D9-99A4-E8933F5BF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48943D-18B2-4BD0-AD06-9CF565D06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794" y="2281957"/>
            <a:ext cx="4029805" cy="31640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5B9FFA-B48C-4953-8131-0189B367B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413" y="5501062"/>
            <a:ext cx="5078408" cy="81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2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93A0F-633D-4E61-94DE-C302EA225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FreeBSD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56751-CF8E-4A36-A826-D2023FE22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Multitasking</a:t>
            </a:r>
          </a:p>
          <a:p>
            <a:r>
              <a:rPr lang="en-US" dirty="0"/>
              <a:t>Unix variant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B0C1B-AB2A-4075-8BC0-9A7A18F8B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3FBC4D-E340-430A-85F4-D28E44297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619" y="2179447"/>
            <a:ext cx="2700762" cy="39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441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1DF39-2427-4CCF-81E0-B89EE1F3E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AF37B-A3EE-4CBC-8965-B3126EC42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Known as System utilities (programs)</a:t>
            </a:r>
          </a:p>
          <a:p>
            <a:pPr lvl="1"/>
            <a:r>
              <a:rPr lang="en-US" altLang="en-US" sz="2000" dirty="0"/>
              <a:t>File manipulation </a:t>
            </a:r>
          </a:p>
          <a:p>
            <a:pPr lvl="1"/>
            <a:r>
              <a:rPr lang="en-US" altLang="en-US" sz="2000" dirty="0"/>
              <a:t>Status information sometimes stored in a file</a:t>
            </a:r>
          </a:p>
          <a:p>
            <a:pPr lvl="1"/>
            <a:r>
              <a:rPr lang="en-US" altLang="en-US" sz="2000" dirty="0"/>
              <a:t>Programming language support</a:t>
            </a:r>
          </a:p>
          <a:p>
            <a:pPr lvl="1"/>
            <a:r>
              <a:rPr lang="en-US" altLang="en-US" sz="2000" dirty="0"/>
              <a:t>Program loading and execution</a:t>
            </a:r>
          </a:p>
          <a:p>
            <a:pPr lvl="1"/>
            <a:r>
              <a:rPr lang="en-US" altLang="en-US" sz="2000" dirty="0"/>
              <a:t>Communications</a:t>
            </a:r>
          </a:p>
          <a:p>
            <a:pPr lvl="1"/>
            <a:r>
              <a:rPr lang="en-US" altLang="en-US" sz="2000" dirty="0"/>
              <a:t>Background services</a:t>
            </a:r>
          </a:p>
          <a:p>
            <a:pPr lvl="1"/>
            <a:r>
              <a:rPr lang="en-US" altLang="en-US" sz="2000" dirty="0"/>
              <a:t>Application programs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4EA76-65A2-40C6-A8E7-CF1CC12C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339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D2E9-3BA9-4107-B940-FA070D784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Linker and Loader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50A5F4-3C08-4552-B08D-7321C16572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5206" y="1690688"/>
            <a:ext cx="4127492" cy="43513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2E1CC-D2EB-426A-B50A-8B36FC698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206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30184-AEA1-4781-B31E-9E96AAB53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and Executable File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CF5F7-4C50-4D13-9DCD-A5BCCE8A8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UNIX/LINUX: ELF (Executable and Linkable Format)</a:t>
            </a:r>
          </a:p>
          <a:p>
            <a:r>
              <a:rPr lang="en-US" dirty="0"/>
              <a:t>Windows: Portable Executable (PE) format</a:t>
            </a:r>
          </a:p>
          <a:p>
            <a:r>
              <a:rPr lang="en-US" dirty="0"/>
              <a:t>MacOS: Mach-O format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3C815-4B73-4FEE-94EA-C5582FFB2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17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070F9-1CAB-46C4-B434-C702A1118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Designed for Each 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8844A-DF0A-492D-885D-67D96250D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Apps compiled on one system usually not executable on other operating systems</a:t>
            </a:r>
          </a:p>
          <a:p>
            <a:r>
              <a:rPr lang="en-US" dirty="0"/>
              <a:t>Each operating system provides its own unique system calls</a:t>
            </a:r>
          </a:p>
          <a:p>
            <a:r>
              <a:rPr lang="en-US" dirty="0"/>
              <a:t>Apps can be multi-operating system</a:t>
            </a:r>
          </a:p>
          <a:p>
            <a:pPr lvl="1"/>
            <a:r>
              <a:rPr lang="en-US" dirty="0"/>
              <a:t>Interpreted language: Python, Ruby</a:t>
            </a:r>
          </a:p>
          <a:p>
            <a:pPr lvl="1"/>
            <a:r>
              <a:rPr lang="en-US" dirty="0"/>
              <a:t>Running in a VM: Java</a:t>
            </a:r>
          </a:p>
          <a:p>
            <a:pPr lvl="1"/>
            <a:r>
              <a:rPr lang="en-US" dirty="0"/>
              <a:t>Compiled for each 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D881A-3250-4FAA-9C67-E2A47567C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7066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F4023-2F20-42B0-BFCB-851B3FE9E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and ABI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F5975-344B-414B-A94A-05BF82701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dirty="0"/>
              <a:t>API: application level interface</a:t>
            </a:r>
          </a:p>
          <a:p>
            <a:r>
              <a:rPr lang="en-US" dirty="0"/>
              <a:t>ABI (Application Binary Interface): architecture level interface</a:t>
            </a:r>
          </a:p>
          <a:p>
            <a:pPr lvl="1"/>
            <a:r>
              <a:rPr lang="en-US" dirty="0"/>
              <a:t>Address width</a:t>
            </a:r>
          </a:p>
          <a:p>
            <a:pPr lvl="1"/>
            <a:r>
              <a:rPr lang="en-US" dirty="0"/>
              <a:t>Parameter passing to system calls</a:t>
            </a:r>
          </a:p>
          <a:p>
            <a:pPr lvl="1"/>
            <a:r>
              <a:rPr lang="en-US" dirty="0"/>
              <a:t>Run time stack</a:t>
            </a:r>
          </a:p>
          <a:p>
            <a:pPr lvl="1"/>
            <a:r>
              <a:rPr lang="en-US" dirty="0"/>
              <a:t>Binary format of system libraries</a:t>
            </a:r>
          </a:p>
          <a:p>
            <a:pPr lvl="1"/>
            <a:r>
              <a:rPr lang="en-US" dirty="0"/>
              <a:t>e.g. ABI for the ARMv8 processor</a:t>
            </a:r>
          </a:p>
          <a:p>
            <a:pPr lvl="1"/>
            <a:endParaRPr lang="en-US" dirty="0"/>
          </a:p>
          <a:p>
            <a:r>
              <a:rPr lang="en-US" dirty="0"/>
              <a:t>Application are designed and compiled for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specific Operating System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specific CPU type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C293A-76B4-489F-9F40-642B5D8A6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0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494</Words>
  <Application>Microsoft Office PowerPoint</Application>
  <PresentationFormat>Widescreen</PresentationFormat>
  <Paragraphs>130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OS Structures 1 </vt:lpstr>
      <vt:lpstr>Learning Outcomes</vt:lpstr>
      <vt:lpstr>OS Services</vt:lpstr>
      <vt:lpstr>OS Services for Users</vt:lpstr>
      <vt:lpstr>OS Services for System</vt:lpstr>
      <vt:lpstr>User Operating System Interface</vt:lpstr>
      <vt:lpstr>System Calls for Programs</vt:lpstr>
      <vt:lpstr>Abstraction</vt:lpstr>
      <vt:lpstr>System Call Example</vt:lpstr>
      <vt:lpstr>Run-Time Environment</vt:lpstr>
      <vt:lpstr>API, System Call, OS</vt:lpstr>
      <vt:lpstr>System Call Parameter Passing</vt:lpstr>
      <vt:lpstr>System Call Types</vt:lpstr>
      <vt:lpstr>Systems Calls Windows vs Unix</vt:lpstr>
      <vt:lpstr>Process Control Examples</vt:lpstr>
      <vt:lpstr>Arduino</vt:lpstr>
      <vt:lpstr>FreeBSD</vt:lpstr>
      <vt:lpstr>System Services</vt:lpstr>
      <vt:lpstr>Linker and Loader</vt:lpstr>
      <vt:lpstr>Object and Executable File Format</vt:lpstr>
      <vt:lpstr>Applications Designed for Each OS</vt:lpstr>
      <vt:lpstr>API and ABI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Structures 1 </dc:title>
  <dc:creator>David Liu</dc:creator>
  <cp:lastModifiedBy>David Liu</cp:lastModifiedBy>
  <cp:revision>33</cp:revision>
  <dcterms:created xsi:type="dcterms:W3CDTF">2021-09-08T15:18:52Z</dcterms:created>
  <dcterms:modified xsi:type="dcterms:W3CDTF">2022-01-25T16:01:01Z</dcterms:modified>
</cp:coreProperties>
</file>