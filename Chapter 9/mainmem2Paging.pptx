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48" r:id="rId4"/>
    <p:sldId id="349" r:id="rId5"/>
    <p:sldId id="350" r:id="rId6"/>
    <p:sldId id="351" r:id="rId7"/>
    <p:sldId id="352" r:id="rId8"/>
    <p:sldId id="353" r:id="rId9"/>
    <p:sldId id="360" r:id="rId10"/>
    <p:sldId id="361" r:id="rId11"/>
    <p:sldId id="362" r:id="rId12"/>
    <p:sldId id="363" r:id="rId13"/>
    <p:sldId id="364" r:id="rId14"/>
    <p:sldId id="419" r:id="rId15"/>
    <p:sldId id="365" r:id="rId16"/>
    <p:sldId id="366" r:id="rId17"/>
    <p:sldId id="367" r:id="rId18"/>
    <p:sldId id="400" r:id="rId19"/>
    <p:sldId id="368" r:id="rId20"/>
    <p:sldId id="420" r:id="rId21"/>
    <p:sldId id="369" r:id="rId22"/>
    <p:sldId id="370" r:id="rId23"/>
    <p:sldId id="371" r:id="rId24"/>
    <p:sldId id="372" r:id="rId25"/>
    <p:sldId id="373" r:id="rId26"/>
    <p:sldId id="3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A51BD-2257-4E1F-B66B-226B0B69F975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8D843-0B15-4C76-9BDB-C14B4825C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3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B6B11E42-DA66-43EF-90C7-D2D4B020C3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55F9B7-511B-46E2-8592-445C9B78213F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99CD42F-575E-4FE6-BDE6-C721F123C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41B711E-9CB1-453F-9D20-2FAC6198D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EC755F9-3894-4AD8-BC66-1B707C13CC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1E050A-45A0-42FE-8B7C-CA6826D80372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FB7E97E-4D27-4EF2-B366-794869A76D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E59E3A82-EE19-425A-BF64-24F93FC68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10F92380-765D-489D-8CE4-FA6F6D532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F0FE-D917-43DA-BF79-86C417A0FD35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3F78107-6C4E-476C-8E64-FD9AD7A12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FD615BF-BB6F-4B4F-AB06-1D744F3BC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43C7169-5E0B-4F0C-90EC-E84E0A2FC7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6B8ECF-FA9F-4392-836E-0DCD1B0B280D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C3A2E28-ADE9-4144-81B9-37D1AD508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72B34A7-DA06-4167-A4AF-6B5C48531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F4244C5-E73A-400E-901C-70D75C1F9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9472BD-D1B2-4A50-9906-FD5FB687CD5C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C8527B0-CE6B-4F29-AE2E-72D3569E6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DC89964-7ABA-4267-9861-88CD482B0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71A7087-37E9-415C-A63D-56EC22F06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203B95-19E4-4A18-BDF1-F0C29B125EB5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5AD10FE-4237-44C1-BFE1-536CAB38D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3A458E0-310A-4502-B8A3-7544C4627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71A7087-37E9-415C-A63D-56EC22F06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203B95-19E4-4A18-BDF1-F0C29B125EB5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5AD10FE-4237-44C1-BFE1-536CAB38D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3A458E0-310A-4502-B8A3-7544C4627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38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C0AD859-2A40-4CC2-AAC8-57E8A356B5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3E55CB-FD3A-4295-BC84-5B90C92DC071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A610963-F5AF-4A12-A50B-F8B8ADABA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FFB8973-15D0-45F3-BEE1-6B55743F4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5B34677-27FC-4E56-BD49-8461B80163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4A664D-1F34-4888-8347-75134AD8EA38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73E9382-4DE7-4169-B065-58661531B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18C2312-5B1B-4F83-80E6-B4AD40FCA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B7F1C030-6934-4218-BF98-B7BA13520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7EDCE8-7B65-4E54-9D82-E629CCFF2A5E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249CD65-1420-4D12-BDD0-3D52E6A5C4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065AE9E-B821-4224-95D6-D4E37906B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0FD273E-944F-4921-B31B-3455B1BE1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9724E-B6CD-43F0-943A-46A7E3D91410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82936E7-41F9-43C1-BF8F-13E9C02E0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DD53865D-082B-4C55-AF19-8765DCF9B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1768FA69-114B-4FFF-B1B4-DE889965E0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9FDA51-0CF7-4E98-834E-5F01367BD212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8B58677-25EE-4ABE-BE9E-95B97EF10C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5BF75D4-2B1D-4E46-8CFA-39FB5FB40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33C9F10-BBEB-4503-81FC-A0F0A81AE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D6A427-119F-4DCF-9473-8742063E0265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BF2E74C-0EC8-4603-AABC-768714B32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75DAE8E-70BF-436A-875A-E9F093E87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7E8EB59D-BD80-4461-8BE1-B76A7729E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8E030E-00D3-4852-B67F-BFEC832B0E77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023870D-84E5-4C80-A9E5-1108BEF0B4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9C353C7-8878-4146-BD25-47F968CC2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AE945B39-803E-410E-A439-9604D577F8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9F5749-4303-4950-A451-E23B048278CD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2647A9E-CB53-401F-AF16-210AFBF35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7522768-4652-4377-87A9-F80158E57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2C7D37C-9F7E-40EB-96DE-A6E1CE4C0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6BF1F9-9059-42BC-9D74-2990C23CAA26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0193753-3A06-48A7-9AFC-0C001BDB0C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40EEFEB-51BF-4B14-8FEC-2A21E3238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D76DEDB3-1B7F-43CF-B9D4-520DE5B582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5A1F1E-52A1-4094-8783-3FED1F76288C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90E1D23-A6D8-4CAB-8E7D-226E9E32A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BE8CF8E1-7C33-4C7C-961A-65E87CBAF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86AD00F-C8D7-453D-8AE5-01376F738E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DAA222-A7E3-4DEB-A05F-C0E830B68B2D}" type="slidenum">
              <a:rPr lang="en-US" altLang="en-US" smtClean="0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D62CA2E-D81F-407A-8408-F3DDC771A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C5955D1-2C97-4465-94AE-8A164DEB0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9EB5D8B5-3210-475D-B235-1EC03E2C8B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F281E-A3A6-4916-9DB7-06649DB0815D}" type="slidenum">
              <a:rPr lang="en-US" altLang="en-US" smtClean="0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E37EF79-9159-4786-8F9E-5D614B8CBA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9030A62-B9FE-493B-A066-ACB3DEDE5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15157A51-FF6D-46FD-B62B-CDFC07DD5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8A31E8-4D0E-4A26-AA78-AA2FCE758D5F}" type="slidenum">
              <a:rPr lang="en-US" altLang="en-US" smtClean="0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401AE463-0D95-461B-9EA0-85F0FEA8F0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76C57B51-D4B6-4885-B946-9A74A0A0A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D97F-AA12-47A1-8C14-0C025F6BF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9C32F-706A-4E14-AA82-2686F1310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EB955-55FE-4315-AA61-28898BDEC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819AE-8E23-40E2-9704-72E62379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213FD-E532-454D-9D33-0D0A0E2A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3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4793-F607-4274-82B5-EEFB8973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2E5B7-57C0-428A-B85B-E8074F56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29C2A-4779-4A51-854B-7B46B8E8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86DE-7598-45D2-BD37-AEA13340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C8B6-46EB-48D4-8FC8-104E5385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5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886F-AE2C-4B93-A3F4-4E1D65BB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7D8C9-F596-4A04-B006-B1B30C58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50C07-09C2-4636-904E-F45CDFDA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AC93-905B-49C9-95D0-0CB3EF48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4214-C997-49E8-B361-577C992C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3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CF21-8F76-44AC-9955-74A8C1F7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B72D0-BCD8-4243-9A00-CEBCEC352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5A94E-0574-4E8A-94FA-0BF4CEF05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CCCCF-FD4D-4591-8FD8-C776D882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CC001-FA2A-4F14-BFD3-5B36CCF4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359DC-6F44-40DE-8BBC-A73CBEF2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2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501A-3CC5-4117-A725-895F4716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91A0F-A251-4BD3-AF76-C51577E2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C8FA4-98C6-4018-A219-53E5A204E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F93A6-FD6A-4DF3-8996-12DEEDD71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37118-86D0-4572-A385-350FD34AA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A67C8-9149-48D0-98E7-03F2CAC3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245EE-CCCD-43C8-94F6-3E96CF7D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2BE43-2A1F-422B-BC21-7703EF25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6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56BA-FDCE-4B69-B18C-F4445302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EA060-B3B6-4216-B07A-12AB0384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32083-9555-4E02-91CE-8153B257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CA412-7484-4A44-A870-05C85114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A7705-649A-42FA-AF4F-FC99A307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1F7BF-5F62-431E-ACE1-1F93077B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5582-36B3-4EBE-8B52-25A47235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5EBC-9C51-43B1-9F80-F5EEB8D1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BDBE-14EC-4B19-A1A9-14E1F6F2F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9C2F1-ADDD-4203-BF21-D98B3735F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C0857-845A-432C-B6A8-93586466B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B1442-AD77-4FB8-9943-8225CAB5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0CFE0-FE02-4ED0-AD61-11CB7722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7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F15B-214B-44D8-90E2-8A5C2A32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F6AF5-37FB-4985-BE06-2DF2A2E64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59174-8075-4ACB-8BBE-B4CEAF431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BF27B-B3D4-44FC-B495-9081E26B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E2208-2A2E-4CA3-9D83-1596804C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F858-B0DA-4D3C-AFF6-FEE513D1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1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ABD9-0ABF-4BFD-AC67-6D4950F6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15CAF-5E19-42FD-985C-DC610C97E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8C636-727F-4AB7-8010-64E56175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FCDF3-8F82-4600-962E-312123E6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F2F3-B9CE-4E11-9590-444086F4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2B6926-BCDB-4D90-A596-F72D8FAD3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3E163-7A25-497B-9392-9EB3F312E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83937-79EA-4FEC-8375-0895D9C1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C605-8E80-4965-9E7C-55EE989F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F6945-11B7-4391-98F1-FCE7D73F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7D472-B1F0-48E7-9202-43313167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89C17-DB16-4C9C-BC39-86C37E0A8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A2A2-8AC6-4F2F-A3FA-E7D549BA6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165B1-9746-44F2-B837-36EAFFA92AFA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AE2AA-F4D2-4D1C-9310-4C5845A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64FC2-73FE-4515-A9F2-E8F8E7778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A65C0-1EA0-404E-B8BD-9FED4AF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6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E0E7-9261-492A-8AEB-AC9096010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Memory Allocation and Paging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DD185-577F-421B-9B23-3284028BA0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406177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6D3D-CD84-4874-A099-868FAF2B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6EB53-5FBE-4011-A2C6-546CFA6A7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Contiguous Memory Allocation</a:t>
            </a:r>
          </a:p>
          <a:p>
            <a:r>
              <a:rPr lang="en-US" dirty="0"/>
              <a:t>Paging</a:t>
            </a:r>
          </a:p>
          <a:p>
            <a:pPr lvl="1"/>
            <a:r>
              <a:rPr lang="en-US" dirty="0"/>
              <a:t>Fixed-sized blocks: frames in physical memory or pages in logical memory</a:t>
            </a:r>
          </a:p>
        </p:txBody>
      </p:sp>
    </p:spTree>
    <p:extLst>
      <p:ext uri="{BB962C8B-B14F-4D97-AF65-F5344CB8AC3E}">
        <p14:creationId xmlns:p14="http://schemas.microsoft.com/office/powerpoint/2010/main" val="415148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>
            <a:extLst>
              <a:ext uri="{FF2B5EF4-FFF2-40B4-BE49-F238E27FC236}">
                <a16:creationId xmlns:a16="http://schemas.microsoft.com/office/drawing/2014/main" id="{3BF9E079-7190-4D85-8D18-5F043A5C7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0776" y="166688"/>
            <a:ext cx="78200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Contiguous Allocation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83FF7155-BAB6-4B49-86E6-C8C122A41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556" y="1020040"/>
            <a:ext cx="6567346" cy="5160842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00FF"/>
                </a:solidFill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sz="2800" dirty="0"/>
              <a:t>Resident operating system, usually held in high memory with interrupt vector</a:t>
            </a:r>
          </a:p>
          <a:p>
            <a:pPr lvl="1"/>
            <a:r>
              <a:rPr lang="en-US" altLang="en-US" sz="2800" dirty="0"/>
              <a:t>User processes then held in low memory</a:t>
            </a:r>
          </a:p>
          <a:p>
            <a:pPr lvl="1"/>
            <a:r>
              <a:rPr lang="en-US" altLang="en-US" sz="2800" dirty="0"/>
              <a:t>Each process contained in single </a:t>
            </a:r>
            <a:r>
              <a:rPr lang="en-US" altLang="en-US" sz="2800" b="1" dirty="0"/>
              <a:t>contiguous</a:t>
            </a:r>
            <a:r>
              <a:rPr lang="en-US" altLang="en-US" sz="2800" dirty="0"/>
              <a:t> section of memory</a:t>
            </a:r>
          </a:p>
          <a:p>
            <a:endParaRPr lang="en-US" altLang="en-US" dirty="0"/>
          </a:p>
        </p:txBody>
      </p:sp>
      <p:pic>
        <p:nvPicPr>
          <p:cNvPr id="4" name="Picture 5" descr="W:\os-book\OS10\slide-dir\os-figures\9_01.jpg">
            <a:extLst>
              <a:ext uri="{FF2B5EF4-FFF2-40B4-BE49-F238E27FC236}">
                <a16:creationId xmlns:a16="http://schemas.microsoft.com/office/drawing/2014/main" id="{38BC3836-1318-4193-A472-A20118E6D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395" y="1214586"/>
            <a:ext cx="4147182" cy="405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0C9AE9E-A018-4B42-9622-39D128E52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7301" y="166688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Hardware Support for Relocation and Limit Registers</a:t>
            </a:r>
          </a:p>
        </p:txBody>
      </p:sp>
      <p:pic>
        <p:nvPicPr>
          <p:cNvPr id="37891" name="Picture 4" descr="8">
            <a:extLst>
              <a:ext uri="{FF2B5EF4-FFF2-40B4-BE49-F238E27FC236}">
                <a16:creationId xmlns:a16="http://schemas.microsoft.com/office/drawing/2014/main" id="{015ACEFA-0EFC-49E4-BB54-74C631918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87" y="2239038"/>
            <a:ext cx="8275456" cy="4108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57474A5-8497-42CA-B0C4-84F64A837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3021" y="162046"/>
            <a:ext cx="7212012" cy="83014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Variable Partition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8751043-8801-43C5-9492-EC0424DAC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8024" y="992186"/>
            <a:ext cx="9633672" cy="4908551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2000" dirty="0"/>
              <a:t>Degree of multiprogramming limited by number of partitions</a:t>
            </a:r>
          </a:p>
          <a:p>
            <a:pPr lvl="1"/>
            <a:r>
              <a:rPr lang="en-US" altLang="en-US" sz="2000" b="1" dirty="0">
                <a:solidFill>
                  <a:srgbClr val="0000FF"/>
                </a:solidFill>
              </a:rPr>
              <a:t>Variable-partition </a:t>
            </a:r>
            <a:r>
              <a:rPr lang="en-US" altLang="en-US" sz="2000" dirty="0"/>
              <a:t>sizes for efficiency (sized to a given process’ needs)</a:t>
            </a:r>
          </a:p>
          <a:p>
            <a:pPr lvl="1"/>
            <a:r>
              <a:rPr lang="en-US" altLang="en-US" sz="2000" b="1" dirty="0">
                <a:solidFill>
                  <a:srgbClr val="0000FF"/>
                </a:solidFill>
              </a:rPr>
              <a:t>Hole</a:t>
            </a:r>
            <a:r>
              <a:rPr lang="en-US" altLang="en-US" sz="20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20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2000" dirty="0"/>
              <a:t>Process exiting frees its partition, adjacent free partitions combined</a:t>
            </a:r>
          </a:p>
          <a:p>
            <a:pPr lvl="1"/>
            <a:r>
              <a:rPr lang="en-US" altLang="en-US" sz="2000" dirty="0"/>
              <a:t>Operating system maintains information about:</a:t>
            </a:r>
            <a:br>
              <a:rPr lang="en-US" altLang="en-US" sz="2000" dirty="0"/>
            </a:br>
            <a:r>
              <a:rPr lang="en-US" altLang="en-US" sz="2000" dirty="0"/>
              <a:t>a) allocated partitions    b) free partitions (hole)</a:t>
            </a:r>
          </a:p>
        </p:txBody>
      </p:sp>
      <p:pic>
        <p:nvPicPr>
          <p:cNvPr id="39940" name="Picture 5" descr="W:\os-book\OS10\slide-dir\os-figures\9_07.jpg">
            <a:extLst>
              <a:ext uri="{FF2B5EF4-FFF2-40B4-BE49-F238E27FC236}">
                <a16:creationId xmlns:a16="http://schemas.microsoft.com/office/drawing/2014/main" id="{E831811F-D9D2-49B6-A970-B73ED5A75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862" y="4458161"/>
            <a:ext cx="6154788" cy="1826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F9309B4-26E2-4CD8-B23B-2BD4A5954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4475" y="198438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Dynamic Storage-Allocation Problem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6357F5F-3018-4650-9B7B-BECB16C99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29411" y="1700523"/>
            <a:ext cx="9335986" cy="3467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8BD30765-AE8C-42B8-8264-9213C2494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071" y="983404"/>
            <a:ext cx="8085858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solidFill>
                  <a:srgbClr val="FF0000"/>
                </a:solidFill>
              </a:rPr>
              <a:t>How to satisfy a request of size </a:t>
            </a:r>
            <a:r>
              <a:rPr kumimoji="0" lang="en-US" altLang="en-US" sz="2400" b="1" i="1" dirty="0">
                <a:solidFill>
                  <a:srgbClr val="FF0000"/>
                </a:solidFill>
              </a:rPr>
              <a:t>n</a:t>
            </a:r>
            <a:r>
              <a:rPr kumimoji="0" lang="en-US" altLang="en-US" sz="2400" dirty="0">
                <a:solidFill>
                  <a:srgbClr val="FF0000"/>
                </a:solidFill>
              </a:rPr>
              <a:t> from a list of free holes?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72A7C6F1-BFE1-4694-B11C-DE6E75652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749" y="4920493"/>
            <a:ext cx="8033192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800" dirty="0">
                <a:solidFill>
                  <a:srgbClr val="FFC000"/>
                </a:solidFill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>
            <a:extLst>
              <a:ext uri="{FF2B5EF4-FFF2-40B4-BE49-F238E27FC236}">
                <a16:creationId xmlns:a16="http://schemas.microsoft.com/office/drawing/2014/main" id="{5D229147-8215-4725-8FFA-90B3EC6FA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9664" y="152401"/>
            <a:ext cx="78311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Fragmentation</a:t>
            </a:r>
          </a:p>
        </p:txBody>
      </p:sp>
      <p:sp>
        <p:nvSpPr>
          <p:cNvPr id="44035" name="Rectangle 1027">
            <a:extLst>
              <a:ext uri="{FF2B5EF4-FFF2-40B4-BE49-F238E27FC236}">
                <a16:creationId xmlns:a16="http://schemas.microsoft.com/office/drawing/2014/main" id="{0DC1C8FC-5FA0-4B72-82F9-7C70A53E7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0922" y="1137573"/>
            <a:ext cx="9449362" cy="441827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External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</a:t>
            </a:r>
            <a:r>
              <a:rPr lang="en-US" altLang="en-US" b="1" dirty="0"/>
              <a:t>satisfy a request</a:t>
            </a:r>
            <a:r>
              <a:rPr lang="en-US" altLang="en-US" dirty="0"/>
              <a:t>, but it is </a:t>
            </a:r>
            <a:r>
              <a:rPr lang="en-US" altLang="en-US" b="1" dirty="0"/>
              <a:t>not contiguous, </a:t>
            </a:r>
            <a:r>
              <a:rPr lang="en-US" altLang="en-US" b="1" dirty="0">
                <a:solidFill>
                  <a:srgbClr val="FF0000"/>
                </a:solidFill>
              </a:rPr>
              <a:t>CAN NOT BE USED</a:t>
            </a:r>
          </a:p>
          <a:p>
            <a:endParaRPr lang="en-US" altLang="en-US" b="1" dirty="0">
              <a:solidFill>
                <a:srgbClr val="FF0000"/>
              </a:solidFill>
            </a:endParaRPr>
          </a:p>
          <a:p>
            <a:r>
              <a:rPr lang="en-US" altLang="en-US" b="1" dirty="0">
                <a:solidFill>
                  <a:srgbClr val="3366FF"/>
                </a:solidFill>
              </a:rPr>
              <a:t>Internal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</a:t>
            </a:r>
            <a:r>
              <a:rPr lang="en-US" altLang="en-US" dirty="0">
                <a:solidFill>
                  <a:srgbClr val="FF0000"/>
                </a:solidFill>
              </a:rPr>
              <a:t>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3366FF"/>
                </a:solidFill>
              </a:rPr>
              <a:t>50-percent rule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5DD0E444-C896-4B1C-ACF1-0DDC70951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7777" y="298572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External Fragmentation Solutions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CB0B034B-FD42-4FEC-A8FB-3911B7AD8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8526" y="1536079"/>
            <a:ext cx="8968851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b="1" dirty="0"/>
              <a:t>Expensive</a:t>
            </a:r>
          </a:p>
          <a:p>
            <a:r>
              <a:rPr lang="en-US" altLang="en-US" dirty="0"/>
              <a:t>Allow non-contiguous memory allocation: </a:t>
            </a:r>
            <a:r>
              <a:rPr lang="en-US" altLang="en-US" sz="3600" dirty="0">
                <a:solidFill>
                  <a:srgbClr val="FF0000"/>
                </a:solidFill>
              </a:rPr>
              <a:t>Paging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>
            <a:extLst>
              <a:ext uri="{FF2B5EF4-FFF2-40B4-BE49-F238E27FC236}">
                <a16:creationId xmlns:a16="http://schemas.microsoft.com/office/drawing/2014/main" id="{E5E4DEE8-441C-4A43-A4EE-BDDDB56B1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Paging  I</a:t>
            </a:r>
          </a:p>
        </p:txBody>
      </p:sp>
      <p:sp>
        <p:nvSpPr>
          <p:cNvPr id="47107" name="Rectangle 1027">
            <a:extLst>
              <a:ext uri="{FF2B5EF4-FFF2-40B4-BE49-F238E27FC236}">
                <a16:creationId xmlns:a16="http://schemas.microsoft.com/office/drawing/2014/main" id="{DE73B0EA-0C1F-429D-A7E9-4AD0926F4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2784" y="1045368"/>
            <a:ext cx="9654269" cy="5147087"/>
          </a:xfrm>
        </p:spPr>
        <p:txBody>
          <a:bodyPr>
            <a:normAutofit/>
          </a:bodyPr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3366FF"/>
                </a:solidFill>
              </a:rPr>
              <a:t>frames</a:t>
            </a:r>
            <a:endParaRPr lang="en-US" altLang="en-US" dirty="0">
              <a:solidFill>
                <a:srgbClr val="3366FF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3366FF"/>
                </a:solidFill>
              </a:rPr>
              <a:t>pages</a:t>
            </a:r>
            <a:endParaRPr lang="en-US" altLang="en-US" sz="800" b="1" dirty="0">
              <a:solidFill>
                <a:srgbClr val="3366FF"/>
              </a:solidFill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>
            <a:extLst>
              <a:ext uri="{FF2B5EF4-FFF2-40B4-BE49-F238E27FC236}">
                <a16:creationId xmlns:a16="http://schemas.microsoft.com/office/drawing/2014/main" id="{E5E4DEE8-441C-4A43-A4EE-BDDDB56B1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Paging  II</a:t>
            </a:r>
          </a:p>
        </p:txBody>
      </p:sp>
      <p:sp>
        <p:nvSpPr>
          <p:cNvPr id="47107" name="Rectangle 1027">
            <a:extLst>
              <a:ext uri="{FF2B5EF4-FFF2-40B4-BE49-F238E27FC236}">
                <a16:creationId xmlns:a16="http://schemas.microsoft.com/office/drawing/2014/main" id="{DE73B0EA-0C1F-429D-A7E9-4AD0926F4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2784" y="1045368"/>
            <a:ext cx="9654269" cy="5147087"/>
          </a:xfrm>
        </p:spPr>
        <p:txBody>
          <a:bodyPr>
            <a:normAutofit/>
          </a:bodyPr>
          <a:lstStyle/>
          <a:p>
            <a:r>
              <a:rPr lang="en-US" altLang="en-US" dirty="0"/>
              <a:t>Keep track of </a:t>
            </a:r>
            <a:r>
              <a:rPr lang="en-US" altLang="en-US" dirty="0">
                <a:solidFill>
                  <a:srgbClr val="FF0000"/>
                </a:solidFill>
              </a:rPr>
              <a:t>all free frames</a:t>
            </a:r>
            <a:endParaRPr lang="en-US" altLang="en-US" sz="800" dirty="0">
              <a:solidFill>
                <a:srgbClr val="FF0000"/>
              </a:solidFill>
            </a:endParaRPr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3366FF"/>
                </a:solidFill>
              </a:rPr>
              <a:t>page 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Still have Internal fragmentation  (</a:t>
            </a:r>
            <a:r>
              <a:rPr lang="en-US" altLang="en-US" dirty="0">
                <a:solidFill>
                  <a:srgbClr val="FF0000"/>
                </a:solidFill>
              </a:rPr>
              <a:t>average size of a page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1383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>
            <a:extLst>
              <a:ext uri="{FF2B5EF4-FFF2-40B4-BE49-F238E27FC236}">
                <a16:creationId xmlns:a16="http://schemas.microsoft.com/office/drawing/2014/main" id="{FDA1081F-2A62-4C0F-96AD-3B22EB97D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152401"/>
            <a:ext cx="78406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71BCAD12-1D6C-4173-82AE-A068106BC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9872" y="1125538"/>
            <a:ext cx="8792619" cy="54373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/>
              <a:t>Logical 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number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3366FF"/>
                </a:solidFill>
              </a:rPr>
              <a:t>page table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offset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  <a:p>
            <a:pPr lvl="1">
              <a:defRPr/>
            </a:pPr>
            <a:r>
              <a:rPr lang="en-US" altLang="en-US" dirty="0"/>
              <a:t>Page size is determined by hardware</a:t>
            </a:r>
          </a:p>
        </p:txBody>
      </p:sp>
      <p:pic>
        <p:nvPicPr>
          <p:cNvPr id="49156" name="Picture 3">
            <a:extLst>
              <a:ext uri="{FF2B5EF4-FFF2-40B4-BE49-F238E27FC236}">
                <a16:creationId xmlns:a16="http://schemas.microsoft.com/office/drawing/2014/main" id="{687DD54B-699B-4E69-97B9-974EFDFAA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929" y="3229829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CB1A6E0-6968-49B5-8F0A-7D373FC19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5789" y="537339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51203" name="Picture 7" descr="C:\Users\as668\Desktop\9_08.jpg">
            <a:extLst>
              <a:ext uri="{FF2B5EF4-FFF2-40B4-BE49-F238E27FC236}">
                <a16:creationId xmlns:a16="http://schemas.microsoft.com/office/drawing/2014/main" id="{40426760-B968-4832-9342-70EAF2612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728" y="1759474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6">
            <a:extLst>
              <a:ext uri="{FF2B5EF4-FFF2-40B4-BE49-F238E27FC236}">
                <a16:creationId xmlns:a16="http://schemas.microsoft.com/office/drawing/2014/main" id="{680968CB-B0D3-4860-9B30-3B2A69CB4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7794" y="485877"/>
            <a:ext cx="9694843" cy="644525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Paging Model of Logical and  Physical Memory</a:t>
            </a:r>
          </a:p>
        </p:txBody>
      </p:sp>
      <p:pic>
        <p:nvPicPr>
          <p:cNvPr id="53251" name="Picture 1030">
            <a:extLst>
              <a:ext uri="{FF2B5EF4-FFF2-40B4-BE49-F238E27FC236}">
                <a16:creationId xmlns:a16="http://schemas.microsoft.com/office/drawing/2014/main" id="{3F4F01CA-0C35-4FFB-B214-D3D325547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85" y="1369549"/>
            <a:ext cx="6119450" cy="571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730876B-C4F9-4F68-8391-D7A25DD32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120651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B760579C-70BD-40E9-9C14-3C9D17C42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826" y="1220600"/>
            <a:ext cx="3693369" cy="4319967"/>
          </a:xfrm>
        </p:spPr>
        <p:txBody>
          <a:bodyPr>
            <a:normAutofit/>
          </a:bodyPr>
          <a:lstStyle/>
          <a:p>
            <a:r>
              <a:rPr lang="en-US" altLang="en-US" dirty="0"/>
              <a:t>Logical address:  </a:t>
            </a:r>
          </a:p>
          <a:p>
            <a:pPr lvl="1"/>
            <a:r>
              <a:rPr lang="en-US" altLang="en-US" dirty="0"/>
              <a:t> n = 2 and  m = 4.  </a:t>
            </a:r>
          </a:p>
          <a:p>
            <a:pPr lvl="1"/>
            <a:r>
              <a:rPr lang="en-US" altLang="en-US" dirty="0"/>
              <a:t>page size of 4 bytes</a:t>
            </a:r>
          </a:p>
          <a:p>
            <a:pPr lvl="1"/>
            <a:r>
              <a:rPr lang="en-US" altLang="en-US" dirty="0"/>
              <a:t>a physical memory of 32 bytes (8 pages)</a:t>
            </a:r>
          </a:p>
        </p:txBody>
      </p:sp>
      <p:pic>
        <p:nvPicPr>
          <p:cNvPr id="55300" name="Picture 6">
            <a:extLst>
              <a:ext uri="{FF2B5EF4-FFF2-40B4-BE49-F238E27FC236}">
                <a16:creationId xmlns:a16="http://schemas.microsoft.com/office/drawing/2014/main" id="{819B0C1F-7DC2-47F0-8A9F-5C0749BED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0" y="1084666"/>
            <a:ext cx="4483261" cy="558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4D87F8-EC64-4651-8B8F-C61F24716C61}"/>
              </a:ext>
            </a:extLst>
          </p:cNvPr>
          <p:cNvSpPr txBox="1"/>
          <p:nvPr/>
        </p:nvSpPr>
        <p:spPr>
          <a:xfrm>
            <a:off x="5165216" y="1325830"/>
            <a:ext cx="80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D370A-B9E3-4F88-A0D4-1726484B0AA0}"/>
              </a:ext>
            </a:extLst>
          </p:cNvPr>
          <p:cNvSpPr txBox="1"/>
          <p:nvPr/>
        </p:nvSpPr>
        <p:spPr>
          <a:xfrm>
            <a:off x="8561408" y="4641448"/>
            <a:ext cx="9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Frame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ADE81FEA-200B-4D16-9DBF-F4BCE32A8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7896" y="491764"/>
            <a:ext cx="9418054" cy="636588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Paging -- Calculating internal fragmentation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D4E99E55-744F-4B9F-8783-67AB5325C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77896" y="1445326"/>
            <a:ext cx="8086965" cy="4920909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Page size = 2,048 bytes   (2 KB</a:t>
            </a:r>
            <a:r>
              <a:rPr lang="en-US" altLang="en-US"/>
              <a:t>, n=</a:t>
            </a:r>
            <a:r>
              <a:rPr lang="en-US" altLang="en-US" dirty="0"/>
              <a:t>11)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 -&gt; larger page table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9D3D1305-B0C7-4D29-9471-C93622070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57347" name="Text Box 4">
            <a:extLst>
              <a:ext uri="{FF2B5EF4-FFF2-40B4-BE49-F238E27FC236}">
                <a16:creationId xmlns:a16="http://schemas.microsoft.com/office/drawing/2014/main" id="{9C53858E-9406-4A47-AFB0-2CFEF4A53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650" y="57086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Before allocation</a:t>
            </a:r>
          </a:p>
        </p:txBody>
      </p:sp>
      <p:sp>
        <p:nvSpPr>
          <p:cNvPr id="57348" name="Text Box 5">
            <a:extLst>
              <a:ext uri="{FF2B5EF4-FFF2-40B4-BE49-F238E27FC236}">
                <a16:creationId xmlns:a16="http://schemas.microsoft.com/office/drawing/2014/main" id="{EE26387A-6CEB-4A90-A52F-ECAAE58B6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331" y="57086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After allocation</a:t>
            </a:r>
          </a:p>
        </p:txBody>
      </p:sp>
      <p:pic>
        <p:nvPicPr>
          <p:cNvPr id="57349" name="Picture 7">
            <a:extLst>
              <a:ext uri="{FF2B5EF4-FFF2-40B4-BE49-F238E27FC236}">
                <a16:creationId xmlns:a16="http://schemas.microsoft.com/office/drawing/2014/main" id="{EB7A4860-1823-44FB-9A5F-FE99D485C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259" y="1100932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1018582-F31F-42CA-98C8-96FB050B6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0113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Implementation of Page Table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6E83659-1747-49F9-9ABE-D39BD03AA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9892" y="1085850"/>
            <a:ext cx="8711495" cy="487511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Page table is kept in </a:t>
            </a:r>
            <a:r>
              <a:rPr lang="en-US" altLang="en-US" b="1" dirty="0"/>
              <a:t>main memory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Page-table base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Page-table length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</a:t>
            </a:r>
            <a:r>
              <a:rPr lang="en-US" altLang="en-US" b="1" dirty="0"/>
              <a:t>two memory accesses</a:t>
            </a:r>
          </a:p>
          <a:p>
            <a:pPr lvl="1"/>
            <a:r>
              <a:rPr lang="en-US" altLang="en-US" dirty="0"/>
              <a:t>One for the page table </a:t>
            </a:r>
          </a:p>
          <a:p>
            <a:pPr lvl="1"/>
            <a:r>
              <a:rPr lang="en-US" altLang="en-US" dirty="0"/>
              <a:t>one for the data / instruction</a:t>
            </a:r>
          </a:p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</a:rPr>
              <a:t>two memory access problem </a:t>
            </a:r>
            <a:r>
              <a:rPr lang="en-US" altLang="en-US" dirty="0"/>
              <a:t>can be solved by the use of a special fast-lookup hardware cache called  </a:t>
            </a:r>
            <a:r>
              <a:rPr lang="en-US" altLang="en-US" b="1" dirty="0">
                <a:solidFill>
                  <a:srgbClr val="3366FF"/>
                </a:solidFill>
              </a:rPr>
              <a:t>translation look-aside buffers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3366FF"/>
                </a:solidFill>
              </a:rPr>
              <a:t>associative 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1256677-AF06-439A-91BF-3F875FEE9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9688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T</a:t>
            </a:r>
            <a:r>
              <a:rPr lang="en-US" altLang="en-US" dirty="0"/>
              <a:t>ranslation </a:t>
            </a:r>
            <a:r>
              <a:rPr lang="en-US" altLang="en-US" dirty="0">
                <a:solidFill>
                  <a:srgbClr val="FF0000"/>
                </a:solidFill>
              </a:rPr>
              <a:t>L</a:t>
            </a:r>
            <a:r>
              <a:rPr lang="en-US" altLang="en-US" dirty="0"/>
              <a:t>ook-Aside </a:t>
            </a:r>
            <a:r>
              <a:rPr lang="en-US" altLang="en-US" dirty="0">
                <a:solidFill>
                  <a:srgbClr val="FF0000"/>
                </a:solidFill>
              </a:rPr>
              <a:t>B</a:t>
            </a:r>
            <a:r>
              <a:rPr lang="en-US" altLang="en-US" dirty="0"/>
              <a:t>uffer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2D8FCD6-2A3D-41E2-AFB5-35DFD3478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2237" y="1085849"/>
            <a:ext cx="7855692" cy="4967709"/>
          </a:xfrm>
        </p:spPr>
        <p:txBody>
          <a:bodyPr>
            <a:normAutofit/>
          </a:bodyPr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address-space identifiers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</a:t>
            </a:r>
            <a:r>
              <a:rPr lang="en-US" altLang="en-US" dirty="0">
                <a:solidFill>
                  <a:srgbClr val="FF0000"/>
                </a:solidFill>
              </a:rPr>
              <a:t>each process </a:t>
            </a:r>
            <a:r>
              <a:rPr lang="en-US" altLang="en-US" dirty="0"/>
              <a:t>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wired down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050">
            <a:extLst>
              <a:ext uri="{FF2B5EF4-FFF2-40B4-BE49-F238E27FC236}">
                <a16:creationId xmlns:a16="http://schemas.microsoft.com/office/drawing/2014/main" id="{DEB129A5-03C5-4033-B8EB-17BCC0278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Associative Memory</a:t>
            </a:r>
          </a:p>
        </p:txBody>
      </p:sp>
      <p:sp>
        <p:nvSpPr>
          <p:cNvPr id="63491" name="Rectangle 2051">
            <a:extLst>
              <a:ext uri="{FF2B5EF4-FFF2-40B4-BE49-F238E27FC236}">
                <a16:creationId xmlns:a16="http://schemas.microsoft.com/office/drawing/2014/main" id="{6E117B2E-6AB2-4D48-926C-D2840B166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2525" y="1001043"/>
            <a:ext cx="8342715" cy="5156476"/>
          </a:xfrm>
        </p:spPr>
        <p:txBody>
          <a:bodyPr>
            <a:normAutofit/>
          </a:bodyPr>
          <a:lstStyle/>
          <a:p>
            <a:r>
              <a:rPr lang="en-US" altLang="en-US" dirty="0"/>
              <a:t>Associative memory  (</a:t>
            </a:r>
            <a:r>
              <a:rPr lang="en-US" altLang="en-US" dirty="0">
                <a:solidFill>
                  <a:srgbClr val="FF0000"/>
                </a:solidFill>
              </a:rPr>
              <a:t>CAM, Content-addressable Memory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parallel search</a:t>
            </a:r>
          </a:p>
          <a:p>
            <a:pPr lvl="1"/>
            <a:r>
              <a:rPr lang="en-US" altLang="en-US" dirty="0"/>
              <a:t>Compared with all keys </a:t>
            </a:r>
            <a:r>
              <a:rPr lang="en-US" altLang="en-US" dirty="0">
                <a:solidFill>
                  <a:srgbClr val="FF0000"/>
                </a:solidFill>
              </a:rPr>
              <a:t>simultaneously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63492" name="Picture 1">
            <a:extLst>
              <a:ext uri="{FF2B5EF4-FFF2-40B4-BE49-F238E27FC236}">
                <a16:creationId xmlns:a16="http://schemas.microsoft.com/office/drawing/2014/main" id="{C0F6572E-56D8-48C7-83E3-26D1FFF50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976" y="278394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BE03-709F-4DDF-AA82-02F1811C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Lookup in Pipelining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18D9B-33D3-4CDF-9153-4D0DD2C7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TLB lookup is part of instruction pipeline</a:t>
            </a:r>
          </a:p>
          <a:p>
            <a:r>
              <a:rPr lang="en-US" dirty="0"/>
              <a:t>Adding </a:t>
            </a:r>
            <a:r>
              <a:rPr lang="en-US" b="1" dirty="0"/>
              <a:t>no performance penalty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7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C6D0FB9-6B7C-4C87-A883-AD98CC3B8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Paging Hardware With TLB</a:t>
            </a:r>
            <a:endParaRPr lang="en-US" altLang="en-US" sz="2400"/>
          </a:p>
        </p:txBody>
      </p:sp>
      <p:pic>
        <p:nvPicPr>
          <p:cNvPr id="65539" name="Picture 5">
            <a:extLst>
              <a:ext uri="{FF2B5EF4-FFF2-40B4-BE49-F238E27FC236}">
                <a16:creationId xmlns:a16="http://schemas.microsoft.com/office/drawing/2014/main" id="{F019049E-889B-4070-A765-54B5F3D08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970" y="1214840"/>
            <a:ext cx="6429134" cy="4859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5C70154-E087-4C5B-A386-CEE77CE07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B4FEAA9-5B0D-498F-90AE-06CA1DF5F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5797" y="904875"/>
            <a:ext cx="7381352" cy="513711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Effective Access 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050">
            <a:extLst>
              <a:ext uri="{FF2B5EF4-FFF2-40B4-BE49-F238E27FC236}">
                <a16:creationId xmlns:a16="http://schemas.microsoft.com/office/drawing/2014/main" id="{3A898E98-8928-41D5-A476-93ECD4809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 Protection</a:t>
            </a:r>
          </a:p>
        </p:txBody>
      </p:sp>
      <p:sp>
        <p:nvSpPr>
          <p:cNvPr id="69635" name="Rectangle 2051">
            <a:extLst>
              <a:ext uri="{FF2B5EF4-FFF2-40B4-BE49-F238E27FC236}">
                <a16:creationId xmlns:a16="http://schemas.microsoft.com/office/drawing/2014/main" id="{125B4C1B-5CFD-4971-BE65-0768237FE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5455" y="1029966"/>
            <a:ext cx="7689487" cy="472265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3366FF"/>
                </a:solidFill>
              </a:rPr>
              <a:t>page-table length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BA7CB9C-8736-4515-BEF4-C7CD56E81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3944" y="276224"/>
            <a:ext cx="8351777" cy="90328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Valid (v) or Invalid (</a:t>
            </a:r>
            <a:r>
              <a:rPr lang="en-US" altLang="en-US" sz="4000" dirty="0" err="1"/>
              <a:t>i</a:t>
            </a:r>
            <a:r>
              <a:rPr lang="en-US" altLang="en-US" sz="4000" dirty="0"/>
              <a:t>) Bit In A Page Table</a:t>
            </a:r>
          </a:p>
        </p:txBody>
      </p:sp>
      <p:pic>
        <p:nvPicPr>
          <p:cNvPr id="71683" name="Picture 5">
            <a:extLst>
              <a:ext uri="{FF2B5EF4-FFF2-40B4-BE49-F238E27FC236}">
                <a16:creationId xmlns:a16="http://schemas.microsoft.com/office/drawing/2014/main" id="{D8888F6A-9276-49E8-A2F2-AE48E7FFF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200" y="1179512"/>
            <a:ext cx="5853263" cy="5080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078BB89-2A2E-4192-8F89-CFD836AF6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2D9441C-7AB9-41AF-9EC0-60E9026FC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13004" y="1095114"/>
            <a:ext cx="6842125" cy="4483100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Shared 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3366FF"/>
                </a:solidFill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Private code and 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F91151D-A3E0-4B20-8554-E820E2908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198438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75779" name="Picture 5" descr="W:\os-book\OS10\slide-dir\os-figures\9_14.jpg">
            <a:extLst>
              <a:ext uri="{FF2B5EF4-FFF2-40B4-BE49-F238E27FC236}">
                <a16:creationId xmlns:a16="http://schemas.microsoft.com/office/drawing/2014/main" id="{F43EF7C9-9D83-4DB9-8F34-01C9588BE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809" y="877812"/>
            <a:ext cx="5304882" cy="57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1276</Words>
  <Application>Microsoft Office PowerPoint</Application>
  <PresentationFormat>Widescreen</PresentationFormat>
  <Paragraphs>170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Helvetica</vt:lpstr>
      <vt:lpstr>Monotype Sorts</vt:lpstr>
      <vt:lpstr>Times New Roman</vt:lpstr>
      <vt:lpstr>Office Theme</vt:lpstr>
      <vt:lpstr>Main Memory Lesson 2 Memory Allocation and Paging</vt:lpstr>
      <vt:lpstr>Process Memory Allocation</vt:lpstr>
      <vt:lpstr>Contiguous Allocation</vt:lpstr>
      <vt:lpstr>Hardware Support for Relocation and Limit Registers</vt:lpstr>
      <vt:lpstr>Variable Partition</vt:lpstr>
      <vt:lpstr>Dynamic Storage-Allocation Problem</vt:lpstr>
      <vt:lpstr>Fragmentation</vt:lpstr>
      <vt:lpstr>External Fragmentation Solutions</vt:lpstr>
      <vt:lpstr>Paging  I</vt:lpstr>
      <vt:lpstr>Paging  II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Associative Memory</vt:lpstr>
      <vt:lpstr>TLB Lookup in Pipelining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2 Memory Allocation and Paging</dc:title>
  <dc:creator>David Liu</dc:creator>
  <cp:lastModifiedBy>David</cp:lastModifiedBy>
  <cp:revision>20</cp:revision>
  <dcterms:created xsi:type="dcterms:W3CDTF">2021-11-14T22:03:59Z</dcterms:created>
  <dcterms:modified xsi:type="dcterms:W3CDTF">2025-03-27T16:30:54Z</dcterms:modified>
</cp:coreProperties>
</file>