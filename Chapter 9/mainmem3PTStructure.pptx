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376" r:id="rId4"/>
    <p:sldId id="378" r:id="rId5"/>
    <p:sldId id="379" r:id="rId6"/>
    <p:sldId id="380" r:id="rId7"/>
    <p:sldId id="381" r:id="rId8"/>
    <p:sldId id="383" r:id="rId9"/>
    <p:sldId id="384" r:id="rId10"/>
    <p:sldId id="385" r:id="rId11"/>
    <p:sldId id="386" r:id="rId12"/>
    <p:sldId id="40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67C59-F850-4B3B-A081-185AC69D7A70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C98AB-EAB8-442D-B3C2-63CFB820D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182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C20C7630-02E4-49B3-B6FE-7D074F2CBF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AEB28A8-7526-4350-885E-C2AFB3F8AC34}" type="slidenum">
              <a:rPr lang="en-US" altLang="en-US" smtClean="0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31105F95-3FF5-4099-9FEF-4713F10FF1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7C61388C-754F-419C-A25C-D5EC806AD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AD7087AB-9E0C-425B-BFF7-6C686A0FF2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DC3190-6756-418F-926A-943B71BA0EC4}" type="slidenum">
              <a:rPr lang="en-US" altLang="en-US" smtClean="0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6AD911C2-B4D3-4203-B84A-877C53DDD2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19EA6401-78AA-43DE-9AAE-5D99E81974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B1237D61-416C-44A4-A876-9253F15F78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7D8A68-1031-41BC-B2A8-7744F71D5F6E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D86BCCEF-7FF8-4683-B548-7A80F1B861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2A885E7C-FBE8-4E17-BF92-E680DD793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9B9170B7-F04C-442B-8806-6598D33763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9D64F8-9674-402F-9A9B-FACE61BE9C59}" type="slidenum">
              <a:rPr lang="en-US" altLang="en-US" smtClean="0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666456D-A8CF-49F9-BBB1-8B4127EFA9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1DF857DA-73B1-4362-AF2B-A4694F0D9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C1807AF4-E642-4CFA-A71B-F507296D55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A748AA-4C77-4062-AB89-F0E275F4D5B1}" type="slidenum">
              <a:rPr lang="en-US" altLang="en-US" smtClean="0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97EA6D2B-F137-4A7C-9491-933E72795D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86FBB959-6816-4CA2-9372-47B69D2CD5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31C69A8-4600-47AE-B4A5-16439C4834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9A1E67-385F-4484-A8D7-85D5E3716563}" type="slidenum">
              <a:rPr lang="en-US" altLang="en-US" smtClean="0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760D487B-ECED-4522-89B7-9C963F4C22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B5BB8820-FA4C-478F-A643-9D1A5AFBA2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923610E1-0EBA-4E17-A498-8ABA63161E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946467-4C53-4FB1-BF29-FEF89D7B0EB7}" type="slidenum">
              <a:rPr lang="en-US" altLang="en-US" smtClean="0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54445F7F-D378-48DC-BC98-E6C208892D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1C1E7671-F251-4470-9D46-31D4DDF00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BC55AC11-35C3-4B0F-BE51-9C3620C742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3E058D-CFCD-49C1-8AD5-F0CEC16FCE77}" type="slidenum">
              <a:rPr lang="en-US" altLang="en-US" smtClean="0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BB8ABF05-1AEA-4526-8F0D-241BA41ECA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8FB6A6C5-8B00-42B3-B1CF-30640BE1E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7AACB991-042D-409C-B59A-7AFAEF50FF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731F1E7-6FBD-499A-8309-EC902B6D37FC}" type="slidenum">
              <a:rPr lang="en-US" altLang="en-US" smtClean="0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F4190B3D-0785-4838-A3CE-1122C5A94C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C4805DA0-F4B5-4A04-807A-081DDF174B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CEA00-BB03-409C-8BE1-953498870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7A8CB5-53D6-46DA-AC51-7D582B889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75ED3-DF61-448B-8370-AD85D3D1E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168BA-2F07-4C44-A9D9-EFB81CD3C940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C2F89-7756-47A6-9065-65CBE633A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D8617-B4E1-4094-AED5-239153D9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3C1E-ABDA-484D-B32D-71DDDABD9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9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096BB-D55A-48E4-9E00-A12FC3DA9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99608-E882-407E-AFA8-1B16AB241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0452F-D613-41BF-B245-F50F5C06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168BA-2F07-4C44-A9D9-EFB81CD3C940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522E3-5E8A-46FD-83F8-8EA306322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CA8B4-E784-43EE-99D0-5B31DA76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3C1E-ABDA-484D-B32D-71DDDABD9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1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EB93-F501-4615-AB2D-C8D93B3E2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7C842-BB6D-43A6-97BD-9E24CC9A7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FF9D0-E1E8-4338-B879-97393803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168BA-2F07-4C44-A9D9-EFB81CD3C940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D779F-0EFA-43F9-B5DD-1E1A63960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DD56F-3945-4D62-9900-7B2858A84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3C1E-ABDA-484D-B32D-71DDDABD9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0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40500-1F7B-4697-AB0F-554C4C580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18FD-F580-4EE5-A6F7-94BC05E057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CE3A4-507D-4E34-B266-2B0DB23DE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D0D32-5C4F-4D22-BE7F-55F032FB9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168BA-2F07-4C44-A9D9-EFB81CD3C940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EB579-B313-4784-A004-124B6496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54B67-7CBF-4E49-8303-A1EFDA58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3C1E-ABDA-484D-B32D-71DDDABD9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145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1C6B0-226B-4D09-8276-516DFB52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444B1-306A-45D0-A79E-DD3DD3232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A8DC4-C94E-4C67-A4DA-C7719420F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909CE-3307-4157-82E6-E430B8150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E0D079-90F3-427B-98BD-FA708D6D6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E23473-58D5-48CF-8EF7-B6694D07A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168BA-2F07-4C44-A9D9-EFB81CD3C940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6D31B9-F5A8-4950-8599-4A64D5FDB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75D328-4F7B-442C-9E7A-BC3E46567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3C1E-ABDA-484D-B32D-71DDDABD9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0B922-C9BF-404C-A84E-01EE92CB1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4A5D2E-7885-45CD-B632-687784966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168BA-2F07-4C44-A9D9-EFB81CD3C940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437F80-005B-4E2C-8DEB-5C7BE789D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7BCF4-94C7-4058-8881-38FD4EFE4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3C1E-ABDA-484D-B32D-71DDDABD9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0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39DC0-8D9B-4800-9979-89135A7AA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168BA-2F07-4C44-A9D9-EFB81CD3C940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BAB960-2C72-45F5-9DDB-E31A860E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53D28-D49C-4894-8AB6-1834054C2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3C1E-ABDA-484D-B32D-71DDDABD9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71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4CAC4-1799-4C1B-BD3A-3C02A9888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6613-3A8F-40EF-9127-9F7A5F9EB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70227-1FDA-4440-9BA0-04BDDF1C8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FD4F4-FC77-4EBC-9A54-9C68275B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168BA-2F07-4C44-A9D9-EFB81CD3C940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E602A-9AFB-435B-9D75-3CA8E3A2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82295-A784-48FA-9C5F-F36683F6A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3C1E-ABDA-484D-B32D-71DDDABD9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94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7866A-643F-4133-8F88-86FC29B58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4387E-8DC3-4606-B45C-4367AE1C1F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6C478-2DC7-452A-A628-10CB3A597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59529-BEE5-4386-A29A-2BED5A04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168BA-2F07-4C44-A9D9-EFB81CD3C940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E098D-6E7D-4ABF-A49B-D05F8150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F0D80-87A4-400A-8918-10B074B8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3C1E-ABDA-484D-B32D-71DDDABD9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45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4405D-6657-49B6-98EC-B6B30DABB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17347-68D1-4D5D-8045-54A7C55DE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EEEF8-F513-4D04-934B-C14DDE834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168BA-2F07-4C44-A9D9-EFB81CD3C940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ECDD3-EAAD-41DE-8A81-58E9E6E4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26707-B8D6-4805-9523-258E3EE08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3C1E-ABDA-484D-B32D-71DDDABD9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29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89F00E-E311-4AA9-8D13-EC00E462B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8D2C76-60E1-4022-B978-0DAEBE6EF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8753F-EDD9-4F35-BB0A-636E4F23C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168BA-2F07-4C44-A9D9-EFB81CD3C940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602D1-9C0E-4618-924F-4FE1DCFB4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F86F6-FCAB-4802-93F9-143C279C7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3C1E-ABDA-484D-B32D-71DDDABD9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0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A0D2F1-CA27-4FD8-88C1-935A0EE7E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FA029-EE91-4F62-8E23-018EC102F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BF36C-03F1-4844-9878-FA4DEEAE1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168BA-2F07-4C44-A9D9-EFB81CD3C940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264C6-0350-4189-A4F7-96F1B1E28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2A454-5E43-4E49-8D95-3148F9AFF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C1E-ABDA-484D-B32D-71DDDABD9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0F7B4-97BB-4EC6-B4B1-EF6CD579F4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Memory</a:t>
            </a:r>
            <a:br>
              <a:rPr lang="en-US" dirty="0"/>
            </a:br>
            <a:r>
              <a:rPr lang="en-US" dirty="0"/>
              <a:t>Lesson 2</a:t>
            </a:r>
            <a:br>
              <a:rPr lang="en-US" dirty="0"/>
            </a:br>
            <a:r>
              <a:rPr lang="en-US" dirty="0"/>
              <a:t>Page Table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89A41-42A2-4076-A4B3-F5A2EA537E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</p:spTree>
    <p:extLst>
      <p:ext uri="{BB962C8B-B14F-4D97-AF65-F5344CB8AC3E}">
        <p14:creationId xmlns:p14="http://schemas.microsoft.com/office/powerpoint/2010/main" val="4744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53E84-F7CC-4A8D-A49E-16DDCF186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Straight-Forward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1A4E7A-3D8A-4D9A-882C-4A6AE96CD3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1760" y="1429017"/>
            <a:ext cx="11004933" cy="5063857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Huge Memory Size</a:t>
            </a:r>
          </a:p>
          <a:p>
            <a:pPr lvl="1"/>
            <a:r>
              <a:rPr lang="en-US" altLang="en-US" dirty="0"/>
              <a:t>Consider a 32-bit logical address space (4 GB) as on modern computers</a:t>
            </a:r>
          </a:p>
          <a:p>
            <a:pPr lvl="1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</a:p>
          <a:p>
            <a:pPr lvl="2"/>
            <a:r>
              <a:rPr lang="en-US" altLang="en-US" sz="2400" dirty="0"/>
              <a:t>Don</a:t>
            </a:r>
            <a:r>
              <a:rPr lang="ja-JP" altLang="en-US" sz="2400" dirty="0"/>
              <a:t>’</a:t>
            </a:r>
            <a:r>
              <a:rPr lang="en-US" altLang="ja-JP" sz="2400" dirty="0"/>
              <a:t>t want to allocate that contiguously in main memory</a:t>
            </a:r>
          </a:p>
          <a:p>
            <a:pPr lvl="1"/>
            <a:r>
              <a:rPr lang="en-US" altLang="en-US" dirty="0"/>
              <a:t>One simple solution is to divide the page table into smaller units</a:t>
            </a:r>
          </a:p>
          <a:p>
            <a:pPr lvl="2"/>
            <a:r>
              <a:rPr lang="en-US" altLang="en-US" sz="2400" dirty="0"/>
              <a:t>Hierarchical Paging</a:t>
            </a:r>
          </a:p>
          <a:p>
            <a:pPr lvl="2"/>
            <a:r>
              <a:rPr lang="en-US" altLang="en-US" sz="2400" dirty="0"/>
              <a:t>Hashed Page Tables</a:t>
            </a:r>
          </a:p>
          <a:p>
            <a:pPr lvl="2"/>
            <a:r>
              <a:rPr lang="en-US" altLang="en-US" sz="2400" dirty="0"/>
              <a:t>Inverted Page Tables</a:t>
            </a:r>
          </a:p>
        </p:txBody>
      </p:sp>
    </p:spTree>
    <p:extLst>
      <p:ext uri="{BB962C8B-B14F-4D97-AF65-F5344CB8AC3E}">
        <p14:creationId xmlns:p14="http://schemas.microsoft.com/office/powerpoint/2010/main" val="1001993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99A9423C-B5B9-4C13-BA97-7FCADBA7B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7075" y="1666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Hierarchical Page Tables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8104BD36-11CF-498C-9818-BE656A2D12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7624" y="1010395"/>
            <a:ext cx="4682169" cy="4178550"/>
          </a:xfrm>
        </p:spPr>
        <p:txBody>
          <a:bodyPr>
            <a:normAutofit/>
          </a:bodyPr>
          <a:lstStyle/>
          <a:p>
            <a:r>
              <a:rPr lang="en-US" altLang="en-US" dirty="0"/>
              <a:t>Break up the logical address space into multiple page tables</a:t>
            </a:r>
          </a:p>
          <a:p>
            <a:r>
              <a:rPr lang="en-US" altLang="en-US" dirty="0"/>
              <a:t>A simple technique is a two-level page table</a:t>
            </a:r>
          </a:p>
          <a:p>
            <a:r>
              <a:rPr lang="en-US" altLang="en-US" dirty="0"/>
              <a:t>We then page the page table</a:t>
            </a:r>
          </a:p>
        </p:txBody>
      </p:sp>
      <p:pic>
        <p:nvPicPr>
          <p:cNvPr id="79876" name="Picture 4" descr="8">
            <a:extLst>
              <a:ext uri="{FF2B5EF4-FFF2-40B4-BE49-F238E27FC236}">
                <a16:creationId xmlns:a16="http://schemas.microsoft.com/office/drawing/2014/main" id="{5CEED000-F404-4690-8AD2-C3126F134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926" y="947048"/>
            <a:ext cx="4923620" cy="5207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EC3B627A-A884-41D0-9317-49C6C716B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9676" y="152401"/>
            <a:ext cx="776287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Two-Level Paging Example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879A2E72-E8F1-4759-BF11-C1B17CF79F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08956" y="855662"/>
            <a:ext cx="8433595" cy="584993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A logical address (on 32-bit machine with 4K page size) is divided into:</a:t>
            </a:r>
          </a:p>
          <a:p>
            <a:pPr marL="627063" lvl="1"/>
            <a:r>
              <a:rPr lang="en-US" altLang="en-US" dirty="0"/>
              <a:t>a page number consisting of 20 bits</a:t>
            </a:r>
          </a:p>
          <a:p>
            <a:pPr marL="627063" lvl="1"/>
            <a:r>
              <a:rPr lang="en-US" altLang="en-US" dirty="0"/>
              <a:t>a page offset consisting of 12 bits</a:t>
            </a:r>
          </a:p>
          <a:p>
            <a:pPr marL="627063" lvl="1"/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</a:p>
          <a:p>
            <a:pPr marL="627063" lvl="1"/>
            <a:r>
              <a:rPr lang="en-US" altLang="en-US" dirty="0"/>
              <a:t>a 10-bit page number </a:t>
            </a:r>
          </a:p>
          <a:p>
            <a:pPr marL="627063" lvl="1"/>
            <a:r>
              <a:rPr lang="en-US" altLang="en-US" dirty="0"/>
              <a:t>a 12-bit page offset</a:t>
            </a:r>
          </a:p>
          <a:p>
            <a:pPr marL="627063" lvl="1"/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3366FF"/>
                </a:solidFill>
              </a:rPr>
              <a:t>forward-mapped page table</a:t>
            </a:r>
          </a:p>
        </p:txBody>
      </p:sp>
      <p:pic>
        <p:nvPicPr>
          <p:cNvPr id="81924" name="Picture 5" descr="W:\os-book\OS10\slide-dir\os-figures\in-9_3.jpg">
            <a:extLst>
              <a:ext uri="{FF2B5EF4-FFF2-40B4-BE49-F238E27FC236}">
                <a16:creationId xmlns:a16="http://schemas.microsoft.com/office/drawing/2014/main" id="{37F5774A-B2D6-4688-8C0C-9634D505E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026">
            <a:extLst>
              <a:ext uri="{FF2B5EF4-FFF2-40B4-BE49-F238E27FC236}">
                <a16:creationId xmlns:a16="http://schemas.microsoft.com/office/drawing/2014/main" id="{EE3282FD-7AC9-4EAC-B384-3C07D2ED0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2714" y="152401"/>
            <a:ext cx="755808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Address-Translation Scheme</a:t>
            </a:r>
            <a:endParaRPr lang="en-US" altLang="en-US" sz="2400"/>
          </a:p>
        </p:txBody>
      </p:sp>
      <p:pic>
        <p:nvPicPr>
          <p:cNvPr id="83971" name="Picture 1035">
            <a:extLst>
              <a:ext uri="{FF2B5EF4-FFF2-40B4-BE49-F238E27FC236}">
                <a16:creationId xmlns:a16="http://schemas.microsoft.com/office/drawing/2014/main" id="{1CBD1F77-C083-4C9A-BF57-C35C08693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517" y="1424142"/>
            <a:ext cx="9138523" cy="385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>
            <a:extLst>
              <a:ext uri="{FF2B5EF4-FFF2-40B4-BE49-F238E27FC236}">
                <a16:creationId xmlns:a16="http://schemas.microsoft.com/office/drawing/2014/main" id="{709DA80A-B304-4290-84F0-E16454C844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0575" y="166688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Multiple-Level Paging Scheme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E1439D63-A398-4187-B608-5F843F912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228" y="1130300"/>
            <a:ext cx="8805880" cy="5149314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en-US" dirty="0"/>
              <a:t>64-bit Logical Address Space</a:t>
            </a:r>
          </a:p>
          <a:p>
            <a:pPr>
              <a:defRPr/>
            </a:pPr>
            <a:r>
              <a:rPr lang="en-US" altLang="en-US" dirty="0"/>
              <a:t>Even two-level paging scheme not sufficient</a:t>
            </a:r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>
              <a:defRPr/>
            </a:pPr>
            <a:r>
              <a:rPr lang="en-US" altLang="en-US" dirty="0"/>
              <a:t>Address would look like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86020" name="Picture 5" descr="W:\os-book\OS10\slide-dir\os-figures\in-9_5.jpg">
            <a:extLst>
              <a:ext uri="{FF2B5EF4-FFF2-40B4-BE49-F238E27FC236}">
                <a16:creationId xmlns:a16="http://schemas.microsoft.com/office/drawing/2014/main" id="{5E6834F9-23BC-4B8B-96BB-BA19A2C2E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4237" y="343723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269D6229-7743-4C5D-831C-38336B6E61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9188" y="214313"/>
            <a:ext cx="78216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Three-level Paging Scheme</a:t>
            </a:r>
          </a:p>
        </p:txBody>
      </p:sp>
      <p:pic>
        <p:nvPicPr>
          <p:cNvPr id="87043" name="Picture 6">
            <a:extLst>
              <a:ext uri="{FF2B5EF4-FFF2-40B4-BE49-F238E27FC236}">
                <a16:creationId xmlns:a16="http://schemas.microsoft.com/office/drawing/2014/main" id="{B6BD4B8D-B166-4F5F-A42C-983928D44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1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44" name="Picture 7">
            <a:extLst>
              <a:ext uri="{FF2B5EF4-FFF2-40B4-BE49-F238E27FC236}">
                <a16:creationId xmlns:a16="http://schemas.microsoft.com/office/drawing/2014/main" id="{B1990747-50F3-41F0-A693-80A6A7062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3D6746E-A112-4BBE-A690-6C81A81D2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/>
              <a:t>Hashed Page Table</a:t>
            </a:r>
            <a:endParaRPr lang="en-US" altLang="en-US" sz="2400" b="1" dirty="0"/>
          </a:p>
        </p:txBody>
      </p:sp>
      <p:pic>
        <p:nvPicPr>
          <p:cNvPr id="91139" name="Picture 6">
            <a:extLst>
              <a:ext uri="{FF2B5EF4-FFF2-40B4-BE49-F238E27FC236}">
                <a16:creationId xmlns:a16="http://schemas.microsoft.com/office/drawing/2014/main" id="{E0843DB5-DD53-4ED8-A33B-7D3425EE9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048" y="1329848"/>
            <a:ext cx="8059365" cy="465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4A346BD1-2A09-42D1-9797-725BF34E73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4250" y="152401"/>
            <a:ext cx="795655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/>
              <a:t>Inverted Page Table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6FF34739-DDC1-4063-88D9-655BD8611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8122" y="993135"/>
            <a:ext cx="7956550" cy="5172773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Track all physical pages, not logical addresses</a:t>
            </a:r>
          </a:p>
          <a:p>
            <a:r>
              <a:rPr lang="en-US" altLang="en-US" dirty="0"/>
              <a:t>One entry for each real page of memory</a:t>
            </a:r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</a:p>
          <a:p>
            <a:r>
              <a:rPr lang="en-US" altLang="en-US" dirty="0"/>
              <a:t>Use hash table to limit the search to one — or at most a few — page-table entries</a:t>
            </a:r>
          </a:p>
          <a:p>
            <a:pPr lvl="1"/>
            <a:r>
              <a:rPr lang="en-US" altLang="en-US" dirty="0"/>
              <a:t>TLB can accelerate access</a:t>
            </a:r>
          </a:p>
          <a:p>
            <a:r>
              <a:rPr lang="en-US" altLang="en-US" dirty="0"/>
              <a:t>But how to implement shared memory?</a:t>
            </a:r>
          </a:p>
          <a:p>
            <a:pPr lvl="1"/>
            <a:r>
              <a:rPr lang="en-US" altLang="en-US" dirty="0"/>
              <a:t>One mapping of a virtual address to the shared physical address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B0A3E780-86F9-4C95-8629-7A1F181FD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2850" y="182563"/>
            <a:ext cx="7791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Inverted Page Table Architecture</a:t>
            </a:r>
            <a:endParaRPr lang="en-US" altLang="en-US" sz="2400"/>
          </a:p>
        </p:txBody>
      </p:sp>
      <p:pic>
        <p:nvPicPr>
          <p:cNvPr id="95235" name="Picture 6">
            <a:extLst>
              <a:ext uri="{FF2B5EF4-FFF2-40B4-BE49-F238E27FC236}">
                <a16:creationId xmlns:a16="http://schemas.microsoft.com/office/drawing/2014/main" id="{B8B2B833-F03A-4738-8712-535C2FFCD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781" y="1132149"/>
            <a:ext cx="7211007" cy="4986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1E5353F6-81F9-4A43-B74A-C9B8650389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4250" y="198438"/>
            <a:ext cx="79565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Oracle SPARC Solaris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1DAE2B64-25A2-4DDF-9397-0213D3EF8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5150" y="897731"/>
            <a:ext cx="8571364" cy="5159120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Consider modern, 64-bit operating system example with tightly integrated HW</a:t>
            </a:r>
          </a:p>
          <a:p>
            <a:pPr lvl="1"/>
            <a:r>
              <a:rPr lang="en-US" altLang="en-US" dirty="0"/>
              <a:t>Goals are efficiency, low overhead</a:t>
            </a:r>
          </a:p>
          <a:p>
            <a:r>
              <a:rPr lang="en-US" altLang="en-US" dirty="0"/>
              <a:t>Based on hashing, but more complex</a:t>
            </a:r>
          </a:p>
          <a:p>
            <a:r>
              <a:rPr lang="en-US" altLang="en-US" dirty="0"/>
              <a:t>Two hash tables</a:t>
            </a:r>
          </a:p>
          <a:p>
            <a:pPr lvl="1"/>
            <a:r>
              <a:rPr lang="en-US" altLang="en-US" dirty="0"/>
              <a:t>One kernel and one for all user processes</a:t>
            </a:r>
          </a:p>
          <a:p>
            <a:pPr lvl="1"/>
            <a:r>
              <a:rPr lang="en-US" altLang="en-US" dirty="0"/>
              <a:t>Each maps memory addresses from virtual to physical memory</a:t>
            </a:r>
          </a:p>
          <a:p>
            <a:pPr lvl="1"/>
            <a:r>
              <a:rPr lang="en-US" altLang="en-US" dirty="0"/>
              <a:t>Each entry represents a contiguous area of mapped virtual memory,</a:t>
            </a:r>
          </a:p>
          <a:p>
            <a:pPr lvl="2"/>
            <a:r>
              <a:rPr lang="en-US" altLang="en-US" dirty="0"/>
              <a:t>More efficient than having a separate hash-table entry for each page</a:t>
            </a:r>
          </a:p>
          <a:p>
            <a:pPr lvl="1"/>
            <a:r>
              <a:rPr lang="en-US" altLang="en-US" dirty="0"/>
              <a:t>Each entry has  base address and  </a:t>
            </a:r>
            <a:r>
              <a:rPr lang="en-US" altLang="en-US" dirty="0">
                <a:solidFill>
                  <a:srgbClr val="FF0000"/>
                </a:solidFill>
              </a:rPr>
              <a:t>span</a:t>
            </a:r>
            <a:r>
              <a:rPr lang="en-US" altLang="en-US" dirty="0"/>
              <a:t> (indicating the number of pages the entry represents)</a:t>
            </a:r>
          </a:p>
          <a:p>
            <a:endParaRPr lang="en-US" alt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35BCADB0-E165-474E-A462-A2F211E7C6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198438"/>
            <a:ext cx="79565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Oracle SPARC Solaris (Cont.)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0EF64993-BC99-43FF-A6CC-BAF4E87CC4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278" y="1048733"/>
            <a:ext cx="6831871" cy="5108786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TLB holds translation table entries (TTEs) for fast hardware lookups</a:t>
            </a:r>
          </a:p>
          <a:p>
            <a:pPr lvl="1"/>
            <a:r>
              <a:rPr lang="en-US" altLang="en-US" dirty="0"/>
              <a:t>A cache of TTEs reside in a translation storage buffer (</a:t>
            </a:r>
            <a:r>
              <a:rPr lang="en-US" altLang="en-US" dirty="0">
                <a:solidFill>
                  <a:srgbClr val="FF0000"/>
                </a:solidFill>
              </a:rPr>
              <a:t>TSB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dirty="0"/>
              <a:t>Includes an entry per recently accessed page</a:t>
            </a:r>
          </a:p>
          <a:p>
            <a:r>
              <a:rPr lang="en-US" altLang="en-US" dirty="0"/>
              <a:t>Virtual address reference causes TLB search </a:t>
            </a:r>
          </a:p>
          <a:p>
            <a:pPr lvl="1"/>
            <a:r>
              <a:rPr lang="en-US" altLang="en-US" dirty="0"/>
              <a:t>If miss, hardware walks the in-memory TSB looking for the TTE corresponding to the address</a:t>
            </a:r>
          </a:p>
          <a:p>
            <a:pPr lvl="2"/>
            <a:r>
              <a:rPr lang="en-US" altLang="en-US" dirty="0"/>
              <a:t>If match found, the CPU copies the TSB entry into the TLB and translation completes</a:t>
            </a:r>
          </a:p>
          <a:p>
            <a:pPr lvl="2"/>
            <a:r>
              <a:rPr lang="en-US" altLang="en-US" dirty="0"/>
              <a:t>If no match found, kernel interrupted to search the hash table</a:t>
            </a:r>
          </a:p>
          <a:p>
            <a:pPr lvl="3"/>
            <a:r>
              <a:rPr lang="en-US" altLang="en-US" dirty="0"/>
              <a:t>The kernel then creates a TTE from the appropriate hash table and stores it in the TSB, Interrupt handler returns control to the MMU, which completes the address translation. </a:t>
            </a:r>
          </a:p>
          <a:p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F5340-1FB5-4DED-8FD0-858420F67D7A}"/>
              </a:ext>
            </a:extLst>
          </p:cNvPr>
          <p:cNvSpPr txBox="1"/>
          <p:nvPr/>
        </p:nvSpPr>
        <p:spPr>
          <a:xfrm>
            <a:off x="8405769" y="2374084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TLB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0CE2F1-C1AB-4A1D-90C2-B0E7991E2B1F}"/>
              </a:ext>
            </a:extLst>
          </p:cNvPr>
          <p:cNvSpPr txBox="1"/>
          <p:nvPr/>
        </p:nvSpPr>
        <p:spPr>
          <a:xfrm>
            <a:off x="9715996" y="2374084"/>
            <a:ext cx="526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TSB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8E837C-425D-4865-A6BE-8D066E1DE47B}"/>
              </a:ext>
            </a:extLst>
          </p:cNvPr>
          <p:cNvSpPr txBox="1"/>
          <p:nvPr/>
        </p:nvSpPr>
        <p:spPr>
          <a:xfrm>
            <a:off x="8665616" y="1837189"/>
            <a:ext cx="812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Search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0D8010-3162-477F-A07F-934259839FB9}"/>
              </a:ext>
            </a:extLst>
          </p:cNvPr>
          <p:cNvCxnSpPr>
            <a:endCxn id="2" idx="0"/>
          </p:cNvCxnSpPr>
          <p:nvPr/>
        </p:nvCxnSpPr>
        <p:spPr>
          <a:xfrm flipH="1">
            <a:off x="8665616" y="2206521"/>
            <a:ext cx="259847" cy="167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F8CFCB-5F37-4DA6-8677-8D9B63468962}"/>
              </a:ext>
            </a:extLst>
          </p:cNvPr>
          <p:cNvCxnSpPr>
            <a:endCxn id="5" idx="1"/>
          </p:cNvCxnSpPr>
          <p:nvPr/>
        </p:nvCxnSpPr>
        <p:spPr>
          <a:xfrm flipV="1">
            <a:off x="9185945" y="2558750"/>
            <a:ext cx="530051" cy="16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5E875DD-77B9-454A-B3C5-260E0236C5FD}"/>
              </a:ext>
            </a:extLst>
          </p:cNvPr>
          <p:cNvSpPr txBox="1"/>
          <p:nvPr/>
        </p:nvSpPr>
        <p:spPr>
          <a:xfrm>
            <a:off x="9626400" y="3003697"/>
            <a:ext cx="627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CA357-2486-4BAD-A766-7C1A8858BFA3}"/>
              </a:ext>
            </a:extLst>
          </p:cNvPr>
          <p:cNvSpPr txBox="1"/>
          <p:nvPr/>
        </p:nvSpPr>
        <p:spPr>
          <a:xfrm>
            <a:off x="10660750" y="2374084"/>
            <a:ext cx="1121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Hash Take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F633D0-740E-49AA-82BE-581078D2F40F}"/>
              </a:ext>
            </a:extLst>
          </p:cNvPr>
          <p:cNvCxnSpPr>
            <a:endCxn id="13" idx="1"/>
          </p:cNvCxnSpPr>
          <p:nvPr/>
        </p:nvCxnSpPr>
        <p:spPr>
          <a:xfrm>
            <a:off x="10301681" y="2558750"/>
            <a:ext cx="3590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E16482A-1788-49FE-A3BB-D31B01FF7F02}"/>
              </a:ext>
            </a:extLst>
          </p:cNvPr>
          <p:cNvCxnSpPr/>
          <p:nvPr/>
        </p:nvCxnSpPr>
        <p:spPr>
          <a:xfrm rot="10800000">
            <a:off x="8665617" y="2743417"/>
            <a:ext cx="1313657" cy="920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AA0269C-DA9A-4993-A35C-6CC123414488}"/>
              </a:ext>
            </a:extLst>
          </p:cNvPr>
          <p:cNvCxnSpPr/>
          <p:nvPr/>
        </p:nvCxnSpPr>
        <p:spPr>
          <a:xfrm rot="10800000">
            <a:off x="10160256" y="2789449"/>
            <a:ext cx="1313657" cy="920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664</Words>
  <Application>Microsoft Office PowerPoint</Application>
  <PresentationFormat>Widescreen</PresentationFormat>
  <Paragraphs>90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MS PGothic</vt:lpstr>
      <vt:lpstr>游ゴシック</vt:lpstr>
      <vt:lpstr>Arial</vt:lpstr>
      <vt:lpstr>Calibri</vt:lpstr>
      <vt:lpstr>Calibri Light</vt:lpstr>
      <vt:lpstr>Helvetica</vt:lpstr>
      <vt:lpstr>Times New Roman</vt:lpstr>
      <vt:lpstr>Wingdings</vt:lpstr>
      <vt:lpstr>Office Theme</vt:lpstr>
      <vt:lpstr>Main Memory Lesson 2 Page Table Structure</vt:lpstr>
      <vt:lpstr>Straight-Forward Structure</vt:lpstr>
      <vt:lpstr>Hierarchical Page Tables</vt:lpstr>
      <vt:lpstr>Two-Level Paging Example</vt:lpstr>
      <vt:lpstr>Address-Translation Scheme</vt:lpstr>
      <vt:lpstr>Multiple-Level Paging Scheme</vt:lpstr>
      <vt:lpstr>Three-level Paging Scheme</vt:lpstr>
      <vt:lpstr>Hashed Page Table</vt:lpstr>
      <vt:lpstr>Inverted Page Table</vt:lpstr>
      <vt:lpstr>Inverted Page Table Architecture</vt:lpstr>
      <vt:lpstr>Oracle SPARC Solaris</vt:lpstr>
      <vt:lpstr>Oracle SPARC Solaris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Memory Lesson 2 Page Table Structure</dc:title>
  <dc:creator>David Liu</dc:creator>
  <cp:lastModifiedBy>David Liu</cp:lastModifiedBy>
  <cp:revision>11</cp:revision>
  <dcterms:created xsi:type="dcterms:W3CDTF">2021-11-15T17:54:39Z</dcterms:created>
  <dcterms:modified xsi:type="dcterms:W3CDTF">2022-03-29T14:27:56Z</dcterms:modified>
</cp:coreProperties>
</file>