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439" r:id="rId4"/>
    <p:sldId id="440" r:id="rId5"/>
    <p:sldId id="441" r:id="rId6"/>
    <p:sldId id="443" r:id="rId7"/>
    <p:sldId id="444" r:id="rId8"/>
    <p:sldId id="445" r:id="rId9"/>
    <p:sldId id="446" r:id="rId10"/>
    <p:sldId id="44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9EDA07-7782-41E4-96E6-2CA5941F1B5D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BF091-23E6-48A2-949E-A130D1C88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491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8DA00474-A35B-4556-86B0-6074F50405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7BDB033-BFFE-4753-8E2C-994D1498EA05}" type="slidenum">
              <a:rPr lang="en-US" altLang="en-US" smtClean="0">
                <a:latin typeface="Helvetica" panose="020B0604020202020204" pitchFamily="34" charset="0"/>
              </a:rPr>
              <a:pPr/>
              <a:t>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BDED1835-9A14-4729-AEA5-625EE5F27C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13C05AFF-ECA6-481B-8AAC-0A15937AD3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C0B6B7CE-E3A5-40CF-9B8B-5C993CC5BD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8B836C7-A28A-45FF-8EDD-8FA256BFF6D2}" type="slidenum">
              <a:rPr lang="en-US" altLang="en-US" smtClean="0">
                <a:latin typeface="Helvetica" panose="020B0604020202020204" pitchFamily="34" charset="0"/>
              </a:rPr>
              <a:pPr/>
              <a:t>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513B8CD1-0F13-492D-A43B-6BB4D73950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D2634BE2-4EC4-498C-8C71-BE93037165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4E8C51D9-F989-4157-AFA0-E6D82862D8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D3244B8-D434-4EC0-8CF8-4175173A0296}" type="slidenum">
              <a:rPr lang="en-US" altLang="en-US" smtClean="0">
                <a:latin typeface="Helvetica" panose="020B0604020202020204" pitchFamily="34" charset="0"/>
              </a:rPr>
              <a:pPr/>
              <a:t>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066E73AA-FE97-4070-A7D2-459A8B3311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380F068F-4AFC-4A15-9A87-2C91B6FDF3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678F48A9-52DC-4B44-BF65-16BC09D8AA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84EFBFB-9AE6-4DBA-8E20-D582D3ADCAA9}" type="slidenum">
              <a:rPr lang="en-US" altLang="en-US" smtClean="0">
                <a:latin typeface="Helvetica" panose="020B0604020202020204" pitchFamily="34" charset="0"/>
              </a:rPr>
              <a:pPr/>
              <a:t>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C1E75B1E-405D-47D6-86E8-970A6FBF73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9AE2C079-9EF1-4C57-A36D-B3B7CCC8E9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>
            <a:extLst>
              <a:ext uri="{FF2B5EF4-FFF2-40B4-BE49-F238E27FC236}">
                <a16:creationId xmlns:a16="http://schemas.microsoft.com/office/drawing/2014/main" id="{56A9A967-3BDC-4FBE-9A2D-F51569A1E6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D7AB3DD-9DBA-479F-AAD1-BBE4214297C0}" type="slidenum">
              <a:rPr lang="en-US" altLang="en-US" smtClean="0">
                <a:latin typeface="Helvetica" panose="020B0604020202020204" pitchFamily="34" charset="0"/>
              </a:rPr>
              <a:pPr/>
              <a:t>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A5C47BB3-4151-430F-8083-678F9C90CC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B8A96F09-9147-485E-94A4-33BC369B8F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>
            <a:extLst>
              <a:ext uri="{FF2B5EF4-FFF2-40B4-BE49-F238E27FC236}">
                <a16:creationId xmlns:a16="http://schemas.microsoft.com/office/drawing/2014/main" id="{A134E5F7-69A4-4A63-B4B0-A1042F7FF8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4C8555F-66FE-4C95-8DF0-3861E18A30E8}" type="slidenum">
              <a:rPr lang="en-US" altLang="en-US" smtClean="0">
                <a:latin typeface="Helvetica" panose="020B0604020202020204" pitchFamily="34" charset="0"/>
              </a:rPr>
              <a:pPr/>
              <a:t>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63907BCA-C746-42B6-8533-1A025F4623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C58A9004-16B2-49B4-BA59-6ECCCFADCC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>
            <a:extLst>
              <a:ext uri="{FF2B5EF4-FFF2-40B4-BE49-F238E27FC236}">
                <a16:creationId xmlns:a16="http://schemas.microsoft.com/office/drawing/2014/main" id="{5A0B069E-AF53-4EA2-8356-6F638D06A6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E2D39A8-1E5C-4C2B-84A3-0EA35116B7A3}" type="slidenum">
              <a:rPr lang="en-US" altLang="en-US" smtClean="0">
                <a:latin typeface="Helvetica" panose="020B0604020202020204" pitchFamily="34" charset="0"/>
              </a:rPr>
              <a:pPr/>
              <a:t>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5E834335-2573-4A25-B98C-F93A857732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>
            <a:extLst>
              <a:ext uri="{FF2B5EF4-FFF2-40B4-BE49-F238E27FC236}">
                <a16:creationId xmlns:a16="http://schemas.microsoft.com/office/drawing/2014/main" id="{1A2CC819-C970-4BF3-97A9-741C839241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E2A4F-1824-41C0-980B-8FDDC168C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49BFB1-3667-4A31-B248-DD811A536E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40F8C-AB92-4038-BFDE-8754C27DB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FCB5E-27C1-409F-B243-FA194708D5D9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62372-CBF8-407F-831B-53A29F03C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BB4E0-FF58-42E0-AB0C-9FAC541FF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CE568-1CE4-4E0F-B042-1D84397A7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387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D86A9-1788-459E-88DA-4B03A7D11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00396-3DF3-400E-9551-FBC0FB409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1C125-F922-40A3-96BE-A575C07F5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FCB5E-27C1-409F-B243-FA194708D5D9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BAD66-5FD6-463C-B58A-3C27D397F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392BE-24B8-4C7F-9BB5-95736445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CE568-1CE4-4E0F-B042-1D84397A7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796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E5B77-01F7-4F58-8FA1-D96574195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23F2FF-E63B-4401-BDD4-7001852F32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EEFFB-6983-4227-A8EC-0D0E9C720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FCB5E-27C1-409F-B243-FA194708D5D9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102CD-A0DD-452F-8488-73466728B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E92E3-FE7A-4E5D-97EC-48C11D198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CE568-1CE4-4E0F-B042-1D84397A7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982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8B0FC-89CF-47F4-832D-C27218BBF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146E6-BCD7-4BE7-90F7-C660023069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1A76CF-3B62-472B-9C36-C875634441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138EB3-2C32-46EB-A2EE-1B13DCDFF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FCB5E-27C1-409F-B243-FA194708D5D9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8AF65-3C03-439D-BC43-852C35653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19C51C-6C5C-4801-BC6A-12E540B9D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CE568-1CE4-4E0F-B042-1D84397A7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681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41069-FC65-4E91-BFA6-6301506A1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7DBF7-5E68-45DD-87B6-FE230F999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4A9FCA-3D0C-4155-B123-D56CE27153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133305-D2E3-4123-81E0-BD05DB5FA6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8D5F64-BA18-466D-A4CF-DB08D1D90B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140682-8501-47A7-9291-189BC55DC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FCB5E-27C1-409F-B243-FA194708D5D9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79C167-0704-419E-8B17-CFC062A91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3FD5B7-8767-43DA-953E-4533C6B70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CE568-1CE4-4E0F-B042-1D84397A7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535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F495F-1C08-4D74-9366-1CB3A7006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523550-8267-451F-ACE2-8B32A876A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FCB5E-27C1-409F-B243-FA194708D5D9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9B7F81-9184-4834-B43A-7143EE2D6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0544FF-43F2-4A34-AB13-9A828A79F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CE568-1CE4-4E0F-B042-1D84397A7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081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08A831-7154-4AE0-8ACF-F1FFBB160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FCB5E-27C1-409F-B243-FA194708D5D9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B9CF58-7A2D-4E5F-89B1-91674F9F3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4E9F0A-B3B7-4F6F-8DA0-35D3B8173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CE568-1CE4-4E0F-B042-1D84397A7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160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7DDFB-F621-4EE3-A36D-55EEEE731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24963-C020-4445-AA2E-FE3292B75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CE37A5-AC11-41DF-8219-018D8A8D4C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126F6C-FB52-46DB-B996-A1CCB87BF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FCB5E-27C1-409F-B243-FA194708D5D9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6971D-D74D-4B77-8451-7FAE55056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68A826-A330-4275-88DD-608C0A848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CE568-1CE4-4E0F-B042-1D84397A7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290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5A428-344E-4CAD-A49F-FE629598F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F46141-4413-456A-9D55-F3962F9026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E96EC5-2B20-4177-8D25-04074EB46E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6A209-323C-440A-B9F2-2C93C6DB6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FCB5E-27C1-409F-B243-FA194708D5D9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D0D09C-6092-4420-8659-C4D631261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48F539-21A0-4E5B-90D0-5CC10DAE5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CE568-1CE4-4E0F-B042-1D84397A7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78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32785-11F0-42D8-9E4B-46EE4F74C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017AB5-6B35-4504-96F6-4003991C16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0D5BC-61F0-4262-860A-2D1D36DD3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FCB5E-27C1-409F-B243-FA194708D5D9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31FA5-1817-47FF-AAF8-92A5980AC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50F55-6264-49FD-893A-927CFE51E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CE568-1CE4-4E0F-B042-1D84397A7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497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202B63-276A-4C04-8176-E567CBD7B4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76C4A9-6CFD-4B3D-BD38-6EB4139E2A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9EEA9-9C51-490F-A3CE-034871C8A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FCB5E-27C1-409F-B243-FA194708D5D9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6FADC-4C71-4E0A-BA2B-541E0CF11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16698-E936-4F5A-9B1D-7216AD633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CE568-1CE4-4E0F-B042-1D84397A7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864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0CB93D-E764-4319-92DA-F651BFBFF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739EC-E43D-494F-A73A-8D6A4996C5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CEF9E-D48E-47DF-A2E2-402A1D3AA6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AFCB5E-27C1-409F-B243-FA194708D5D9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74FD0-447C-4B65-98A7-D07F5CE83D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A9D90-65E4-4309-B4CE-DF27EA16C7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6CE568-1CE4-4E0F-B042-1D84397A7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144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67635-6FF1-48EB-BCEF-78EB58F475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Main Memory</a:t>
            </a:r>
            <a:br>
              <a:rPr lang="en-US" dirty="0"/>
            </a:br>
            <a:r>
              <a:rPr lang="en-US" dirty="0"/>
              <a:t>Lesson 5</a:t>
            </a:r>
            <a:br>
              <a:rPr lang="en-US" dirty="0"/>
            </a:br>
            <a:r>
              <a:rPr lang="en-US" dirty="0"/>
              <a:t>Memory Architectures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4EFC25-D42B-4937-8E98-D00A0F2748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Fall 2021, Spring 2022</a:t>
            </a:r>
          </a:p>
        </p:txBody>
      </p:sp>
    </p:spTree>
    <p:extLst>
      <p:ext uri="{BB962C8B-B14F-4D97-AF65-F5344CB8AC3E}">
        <p14:creationId xmlns:p14="http://schemas.microsoft.com/office/powerpoint/2010/main" val="524607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7028E-3916-4D1D-B579-7240F240F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E1469-A6B8-460B-B4C3-72171A492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Intel IA-32</a:t>
            </a:r>
          </a:p>
          <a:p>
            <a:r>
              <a:rPr lang="en-US" dirty="0"/>
              <a:t>x86-64  (started by AMD)</a:t>
            </a:r>
          </a:p>
          <a:p>
            <a:r>
              <a:rPr lang="en-US" dirty="0"/>
              <a:t>ARM ARMv8</a:t>
            </a:r>
          </a:p>
        </p:txBody>
      </p:sp>
    </p:spTree>
    <p:extLst>
      <p:ext uri="{BB962C8B-B14F-4D97-AF65-F5344CB8AC3E}">
        <p14:creationId xmlns:p14="http://schemas.microsoft.com/office/powerpoint/2010/main" val="2308776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0C610F21-E42E-403F-8FE2-B639E5DB9B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92349" y="134224"/>
            <a:ext cx="8521059" cy="709394"/>
          </a:xfrm>
        </p:spPr>
        <p:txBody>
          <a:bodyPr>
            <a:noAutofit/>
          </a:bodyPr>
          <a:lstStyle/>
          <a:p>
            <a:r>
              <a:rPr lang="en-US" altLang="en-US" dirty="0"/>
              <a:t>Intel IA-32 Architecture</a:t>
            </a: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B53A4F1D-0BB2-46F1-B170-681A20A893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47764" y="1070661"/>
            <a:ext cx="8521059" cy="4826800"/>
          </a:xfrm>
        </p:spPr>
        <p:txBody>
          <a:bodyPr/>
          <a:lstStyle/>
          <a:p>
            <a:r>
              <a:rPr lang="en-US" altLang="en-US" dirty="0"/>
              <a:t>Supports both segmentation and segmentation with paging</a:t>
            </a:r>
          </a:p>
          <a:p>
            <a:pPr lvl="1"/>
            <a:r>
              <a:rPr lang="en-US" altLang="en-US" dirty="0"/>
              <a:t>Each segment can be 4 GB</a:t>
            </a:r>
          </a:p>
          <a:p>
            <a:pPr lvl="1"/>
            <a:r>
              <a:rPr lang="en-US" altLang="en-US" dirty="0"/>
              <a:t>Up to 16 K segments per process</a:t>
            </a:r>
          </a:p>
          <a:p>
            <a:pPr lvl="1"/>
            <a:r>
              <a:rPr lang="en-US" altLang="en-US" dirty="0"/>
              <a:t>Divided into two partitions</a:t>
            </a:r>
          </a:p>
          <a:p>
            <a:pPr lvl="2"/>
            <a:r>
              <a:rPr lang="en-US" altLang="en-US" dirty="0"/>
              <a:t>First partition of up to 8 K segments are private to process (kept in </a:t>
            </a:r>
            <a:r>
              <a:rPr lang="en-US" altLang="en-US" b="1" dirty="0">
                <a:solidFill>
                  <a:srgbClr val="3366FF"/>
                </a:solidFill>
              </a:rPr>
              <a:t>local descriptor table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LDT</a:t>
            </a:r>
            <a:r>
              <a:rPr lang="en-US" altLang="en-US" dirty="0"/>
              <a:t>))</a:t>
            </a:r>
          </a:p>
          <a:p>
            <a:pPr lvl="2"/>
            <a:r>
              <a:rPr lang="en-US" altLang="en-US" dirty="0"/>
              <a:t>Second partition of up to 8K segments shared among all processes (kept in </a:t>
            </a:r>
            <a:r>
              <a:rPr lang="en-US" altLang="en-US" b="1" dirty="0">
                <a:solidFill>
                  <a:srgbClr val="3366FF"/>
                </a:solidFill>
              </a:rPr>
              <a:t>global descriptor table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GDT</a:t>
            </a:r>
            <a:r>
              <a:rPr lang="en-US" altLang="en-US" dirty="0"/>
              <a:t>))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740" name="Picture 1" descr="Screen Shot 2013-01-04 at 12.24.50 PM.png">
            <a:extLst>
              <a:ext uri="{FF2B5EF4-FFF2-40B4-BE49-F238E27FC236}">
                <a16:creationId xmlns:a16="http://schemas.microsoft.com/office/drawing/2014/main" id="{9F1FDDE6-546E-4760-973D-E3BB5E1323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3090" y="1600276"/>
            <a:ext cx="3089959" cy="994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6738" name="Rectangle 2">
            <a:extLst>
              <a:ext uri="{FF2B5EF4-FFF2-40B4-BE49-F238E27FC236}">
                <a16:creationId xmlns:a16="http://schemas.microsoft.com/office/drawing/2014/main" id="{B525340F-4FB9-412A-8383-A05819BF25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17826" y="257584"/>
            <a:ext cx="7607300" cy="576263"/>
          </a:xfrm>
        </p:spPr>
        <p:txBody>
          <a:bodyPr>
            <a:noAutofit/>
          </a:bodyPr>
          <a:lstStyle/>
          <a:p>
            <a:r>
              <a:rPr lang="en-US" altLang="en-US" sz="4000" dirty="0"/>
              <a:t>Intel IA-32 Architecture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7578CA23-4958-41C9-896A-9B44D01583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8404" y="944878"/>
            <a:ext cx="6475677" cy="5271364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CPU generates logical address</a:t>
            </a:r>
          </a:p>
          <a:p>
            <a:pPr lvl="1">
              <a:defRPr/>
            </a:pPr>
            <a:r>
              <a:rPr lang="en-US" altLang="en-US" dirty="0"/>
              <a:t>Selector: 16 bits</a:t>
            </a:r>
          </a:p>
          <a:p>
            <a:pPr lvl="2">
              <a:defRPr/>
            </a:pPr>
            <a:endParaRPr lang="en-US" altLang="en-US" dirty="0"/>
          </a:p>
          <a:p>
            <a:pPr marL="914400" lvl="2" indent="0">
              <a:buNone/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Offset: 32 bits</a:t>
            </a:r>
          </a:p>
          <a:p>
            <a:pPr>
              <a:defRPr/>
            </a:pPr>
            <a:r>
              <a:rPr lang="en-US" altLang="en-US" dirty="0"/>
              <a:t>IA-32 Linear Address</a:t>
            </a:r>
          </a:p>
          <a:p>
            <a:pPr lvl="1">
              <a:defRPr/>
            </a:pPr>
            <a:r>
              <a:rPr lang="en-US" altLang="en-US" dirty="0"/>
              <a:t>segment base + offset</a:t>
            </a:r>
          </a:p>
          <a:p>
            <a:pPr marL="457200" lvl="1" indent="0">
              <a:buNone/>
              <a:defRPr/>
            </a:pPr>
            <a:endParaRPr lang="en-US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0FDA4C-17FF-4789-AAA0-D2415F080653}"/>
              </a:ext>
            </a:extLst>
          </p:cNvPr>
          <p:cNvSpPr txBox="1"/>
          <p:nvPr/>
        </p:nvSpPr>
        <p:spPr>
          <a:xfrm>
            <a:off x="4080369" y="2535063"/>
            <a:ext cx="10112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LDT or GDT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5F674D-71AF-4FDA-B360-801158414E82}"/>
              </a:ext>
            </a:extLst>
          </p:cNvPr>
          <p:cNvSpPr txBox="1"/>
          <p:nvPr/>
        </p:nvSpPr>
        <p:spPr>
          <a:xfrm>
            <a:off x="5219847" y="2535062"/>
            <a:ext cx="150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protection</a:t>
            </a:r>
          </a:p>
        </p:txBody>
      </p:sp>
      <p:pic>
        <p:nvPicPr>
          <p:cNvPr id="12" name="Picture 4" descr="8">
            <a:extLst>
              <a:ext uri="{FF2B5EF4-FFF2-40B4-BE49-F238E27FC236}">
                <a16:creationId xmlns:a16="http://schemas.microsoft.com/office/drawing/2014/main" id="{48508907-ECAA-4AFC-8E9A-4BADD51C1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8953" y="1180226"/>
            <a:ext cx="6034088" cy="370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E26907C6-C884-424E-AED1-42BCD5B972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00962" y="184559"/>
            <a:ext cx="9823508" cy="96876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4000" dirty="0"/>
              <a:t>IA-32 Logical to Physical Address Translation</a:t>
            </a:r>
          </a:p>
        </p:txBody>
      </p:sp>
      <p:pic>
        <p:nvPicPr>
          <p:cNvPr id="118787" name="Picture 4">
            <a:extLst>
              <a:ext uri="{FF2B5EF4-FFF2-40B4-BE49-F238E27FC236}">
                <a16:creationId xmlns:a16="http://schemas.microsoft.com/office/drawing/2014/main" id="{DFC1A4B3-E38B-462D-9772-506A8E1B2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" t="35571" r="661" b="35571"/>
          <a:stretch>
            <a:fillRect/>
          </a:stretch>
        </p:blipFill>
        <p:spPr bwMode="auto">
          <a:xfrm>
            <a:off x="3338571" y="3243903"/>
            <a:ext cx="4595812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8788" name="Picture 5">
            <a:extLst>
              <a:ext uri="{FF2B5EF4-FFF2-40B4-BE49-F238E27FC236}">
                <a16:creationId xmlns:a16="http://schemas.microsoft.com/office/drawing/2014/main" id="{79F0271C-7FB4-4E2B-9910-9CF305ECA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413" y="1515611"/>
            <a:ext cx="6157912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35A92E39-9AFC-470C-9D91-36CC6BB0FC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41564" y="182563"/>
            <a:ext cx="786923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Intel IA-32 Paging Architecture</a:t>
            </a:r>
          </a:p>
        </p:txBody>
      </p:sp>
      <p:pic>
        <p:nvPicPr>
          <p:cNvPr id="122883" name="Picture 4">
            <a:extLst>
              <a:ext uri="{FF2B5EF4-FFF2-40B4-BE49-F238E27FC236}">
                <a16:creationId xmlns:a16="http://schemas.microsoft.com/office/drawing/2014/main" id="{0428B773-E1CF-452F-A726-72DCE4DF07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9943" y="904583"/>
            <a:ext cx="5648005" cy="5510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D8676DBF-3AB7-43BF-93CE-E1AEFC9AA1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" t="35571" r="661" b="35571"/>
          <a:stretch>
            <a:fillRect/>
          </a:stretch>
        </p:blipFill>
        <p:spPr bwMode="auto">
          <a:xfrm>
            <a:off x="234645" y="970487"/>
            <a:ext cx="3389399" cy="743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D30CF36-2685-49F2-9990-805FCD01C0E8}"/>
              </a:ext>
            </a:extLst>
          </p:cNvPr>
          <p:cNvSpPr txBox="1"/>
          <p:nvPr/>
        </p:nvSpPr>
        <p:spPr>
          <a:xfrm>
            <a:off x="6096000" y="3984771"/>
            <a:ext cx="17532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Page_Size</a:t>
            </a:r>
            <a:r>
              <a:rPr lang="en-US" sz="1600" dirty="0"/>
              <a:t> = 1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E922C5-CFE3-4302-883D-F464761C93A7}"/>
              </a:ext>
            </a:extLst>
          </p:cNvPr>
          <p:cNvSpPr txBox="1"/>
          <p:nvPr/>
        </p:nvSpPr>
        <p:spPr>
          <a:xfrm>
            <a:off x="6024512" y="1713930"/>
            <a:ext cx="503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20 bits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8FFCEB-082A-4652-ADB4-39B78A00019B}"/>
              </a:ext>
            </a:extLst>
          </p:cNvPr>
          <p:cNvSpPr txBox="1"/>
          <p:nvPr/>
        </p:nvSpPr>
        <p:spPr>
          <a:xfrm>
            <a:off x="7720486" y="2467022"/>
            <a:ext cx="503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20 bits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1655E21-55BE-4C61-952D-A7C32126D2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214349"/>
              </p:ext>
            </p:extLst>
          </p:nvPr>
        </p:nvGraphicFramePr>
        <p:xfrm>
          <a:off x="290014" y="2759409"/>
          <a:ext cx="3334030" cy="403655"/>
        </p:xfrm>
        <a:graphic>
          <a:graphicData uri="http://schemas.openxmlformats.org/drawingml/2006/table">
            <a:tbl>
              <a:tblPr/>
              <a:tblGrid>
                <a:gridCol w="1011894">
                  <a:extLst>
                    <a:ext uri="{9D8B030D-6E8A-4147-A177-3AD203B41FA5}">
                      <a16:colId xmlns:a16="http://schemas.microsoft.com/office/drawing/2014/main" val="1159224256"/>
                    </a:ext>
                  </a:extLst>
                </a:gridCol>
                <a:gridCol w="2322136">
                  <a:extLst>
                    <a:ext uri="{9D8B030D-6E8A-4147-A177-3AD203B41FA5}">
                      <a16:colId xmlns:a16="http://schemas.microsoft.com/office/drawing/2014/main" val="336403879"/>
                    </a:ext>
                  </a:extLst>
                </a:gridCol>
              </a:tblGrid>
              <a:tr h="40365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944374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4F0B51C-76DC-48FC-840E-7FBDD2CB0874}"/>
              </a:ext>
            </a:extLst>
          </p:cNvPr>
          <p:cNvSpPr txBox="1"/>
          <p:nvPr/>
        </p:nvSpPr>
        <p:spPr>
          <a:xfrm>
            <a:off x="700216" y="34290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C10BF5-2204-46FB-8320-4187BBDD3AE0}"/>
              </a:ext>
            </a:extLst>
          </p:cNvPr>
          <p:cNvSpPr txBox="1"/>
          <p:nvPr/>
        </p:nvSpPr>
        <p:spPr>
          <a:xfrm>
            <a:off x="2270079" y="347523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5A3559-8404-43EE-83D8-62463D506896}"/>
              </a:ext>
            </a:extLst>
          </p:cNvPr>
          <p:cNvSpPr txBox="1"/>
          <p:nvPr/>
        </p:nvSpPr>
        <p:spPr>
          <a:xfrm>
            <a:off x="2270079" y="4138659"/>
            <a:ext cx="1218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4MB page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2CC572CD-1E7A-47FD-80C4-F0DCF7AE88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51139" y="214313"/>
            <a:ext cx="786923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Intel IA-32 Page Address Extensions</a:t>
            </a:r>
          </a:p>
        </p:txBody>
      </p:sp>
      <p:pic>
        <p:nvPicPr>
          <p:cNvPr id="124931" name="Picture 1" descr="8_24.pdf">
            <a:extLst>
              <a:ext uri="{FF2B5EF4-FFF2-40B4-BE49-F238E27FC236}">
                <a16:creationId xmlns:a16="http://schemas.microsoft.com/office/drawing/2014/main" id="{7BFC2D7C-39D3-4140-A8B2-8DE60BF91B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139" y="3737428"/>
            <a:ext cx="6157912" cy="263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4932" name="Rectangle 3">
            <a:extLst>
              <a:ext uri="{FF2B5EF4-FFF2-40B4-BE49-F238E27FC236}">
                <a16:creationId xmlns:a16="http://schemas.microsoft.com/office/drawing/2014/main" id="{5F962303-5526-49EC-B12E-555B0112B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8586" y="790575"/>
            <a:ext cx="7743825" cy="2774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1060450" indent="-407988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b="1" dirty="0">
                <a:solidFill>
                  <a:srgbClr val="3366FF"/>
                </a:solidFill>
              </a:rPr>
              <a:t>page address extension </a:t>
            </a:r>
            <a:r>
              <a:rPr lang="en-US" altLang="en-US" sz="1600" dirty="0"/>
              <a:t>(</a:t>
            </a:r>
            <a:r>
              <a:rPr lang="en-US" altLang="en-US" sz="1600" b="1" dirty="0">
                <a:solidFill>
                  <a:srgbClr val="3366FF"/>
                </a:solidFill>
              </a:rPr>
              <a:t>PAE</a:t>
            </a:r>
            <a:r>
              <a:rPr lang="en-US" altLang="en-US" sz="1600" dirty="0"/>
              <a:t>), allowing 32-bit apps access to more than 4GB of memory space</a:t>
            </a:r>
          </a:p>
          <a:p>
            <a:pPr lvl="1"/>
            <a:r>
              <a:rPr lang="en-US" altLang="en-US" sz="1600" dirty="0"/>
              <a:t>More than 4 GB space</a:t>
            </a:r>
          </a:p>
          <a:p>
            <a:pPr lvl="1"/>
            <a:r>
              <a:rPr lang="en-US" altLang="en-US" sz="1600" dirty="0"/>
              <a:t>Paging went to a 3-level scheme</a:t>
            </a:r>
          </a:p>
          <a:p>
            <a:pPr lvl="1"/>
            <a:r>
              <a:rPr lang="en-US" altLang="en-US" sz="1600" dirty="0"/>
              <a:t>Top two bits refer to a </a:t>
            </a:r>
            <a:r>
              <a:rPr lang="en-US" altLang="en-US" sz="1600" b="1" dirty="0">
                <a:solidFill>
                  <a:srgbClr val="3366FF"/>
                </a:solidFill>
              </a:rPr>
              <a:t>page directory pointer table</a:t>
            </a:r>
          </a:p>
          <a:p>
            <a:pPr lvl="1"/>
            <a:r>
              <a:rPr lang="en-US" altLang="en-US" sz="1600" dirty="0"/>
              <a:t>Page-directory and page-table entries moved to 64-bits in size</a:t>
            </a:r>
          </a:p>
          <a:p>
            <a:pPr lvl="1"/>
            <a:r>
              <a:rPr lang="en-US" altLang="en-US" sz="1600" dirty="0"/>
              <a:t>IA-32 address space</a:t>
            </a:r>
          </a:p>
          <a:p>
            <a:pPr lvl="2"/>
            <a:r>
              <a:rPr lang="en-US" altLang="en-US" sz="1600" dirty="0"/>
              <a:t>20 + 12 = 32           2</a:t>
            </a:r>
            <a:r>
              <a:rPr lang="en-US" altLang="en-US" sz="1600" baseline="30000" dirty="0"/>
              <a:t>32</a:t>
            </a:r>
            <a:r>
              <a:rPr lang="en-US" altLang="en-US" sz="1600" dirty="0"/>
              <a:t>   = 4GB</a:t>
            </a:r>
          </a:p>
          <a:p>
            <a:pPr lvl="2"/>
            <a:r>
              <a:rPr lang="en-US" altLang="en-US" sz="1600" dirty="0"/>
              <a:t>20 + 4 + 12 = 36 (PAE)        2</a:t>
            </a:r>
            <a:r>
              <a:rPr lang="en-US" altLang="en-US" sz="1600" baseline="30000" dirty="0"/>
              <a:t>36</a:t>
            </a:r>
            <a:r>
              <a:rPr lang="en-US" altLang="en-US" sz="1600" dirty="0"/>
              <a:t>   = 64GB</a:t>
            </a:r>
          </a:p>
          <a:p>
            <a:pPr lvl="1"/>
            <a:endParaRPr lang="en-US" altLang="en-US" b="1" dirty="0">
              <a:solidFill>
                <a:srgbClr val="3366FF"/>
              </a:solidFill>
            </a:endParaRPr>
          </a:p>
          <a:p>
            <a:endParaRPr lang="en-US" altLang="en-US" dirty="0"/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13D68B72-4D30-4F9D-BB99-E526B7C4A3DD}"/>
              </a:ext>
            </a:extLst>
          </p:cNvPr>
          <p:cNvSpPr/>
          <p:nvPr/>
        </p:nvSpPr>
        <p:spPr>
          <a:xfrm>
            <a:off x="4664280" y="3112184"/>
            <a:ext cx="268448" cy="756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83B1C104-A9BD-4F46-81C4-5EDF2284CE42}"/>
              </a:ext>
            </a:extLst>
          </p:cNvPr>
          <p:cNvSpPr/>
          <p:nvPr/>
        </p:nvSpPr>
        <p:spPr>
          <a:xfrm>
            <a:off x="5563046" y="3452070"/>
            <a:ext cx="267049" cy="775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27306E-D4CE-4878-934B-D7291CC96D6C}"/>
              </a:ext>
            </a:extLst>
          </p:cNvPr>
          <p:cNvSpPr txBox="1"/>
          <p:nvPr/>
        </p:nvSpPr>
        <p:spPr>
          <a:xfrm>
            <a:off x="5956183" y="5637402"/>
            <a:ext cx="503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24 bits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B81F53-6E22-4FBE-8858-0F63D2F25232}"/>
              </a:ext>
            </a:extLst>
          </p:cNvPr>
          <p:cNvSpPr txBox="1"/>
          <p:nvPr/>
        </p:nvSpPr>
        <p:spPr>
          <a:xfrm>
            <a:off x="7551489" y="5637402"/>
            <a:ext cx="503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24 bits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7A87AF4B-4CE9-4F86-B78C-2EAED2E28F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9175" y="315914"/>
            <a:ext cx="786923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x86-64</a:t>
            </a: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42940239-9CCA-4123-90D0-ADB3F8F822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9175" y="1256506"/>
            <a:ext cx="7869237" cy="298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1060450" indent="-407988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ClrTx/>
              <a:buFont typeface="Arial" panose="020B0604020202020204" pitchFamily="34" charset="0"/>
              <a:buChar char="•"/>
            </a:pPr>
            <a:r>
              <a:rPr lang="en-US" altLang="en-US" dirty="0"/>
              <a:t>Current generation Intel x86 architecture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altLang="en-US" dirty="0"/>
              <a:t>64 bits is ginormous (&gt; 16 exabytes)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altLang="en-US" dirty="0"/>
              <a:t>In practice only implement </a:t>
            </a:r>
            <a:r>
              <a:rPr lang="en-US" altLang="en-US" b="1" dirty="0"/>
              <a:t>48</a:t>
            </a:r>
            <a:r>
              <a:rPr lang="en-US" altLang="en-US" dirty="0"/>
              <a:t> bit addressing</a:t>
            </a: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en-US" altLang="en-US" b="1" dirty="0"/>
              <a:t>256 TB</a:t>
            </a: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en-US" altLang="en-US" dirty="0"/>
              <a:t>Page sizes of 4 KB, 2 MB, 1 GB</a:t>
            </a: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en-US" altLang="en-US" dirty="0"/>
              <a:t>Four levels of paging hierarchy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altLang="en-US" dirty="0"/>
              <a:t>Can also use PAE so virtual addresses are 48 bits and physical addresses are 52 bits</a:t>
            </a:r>
          </a:p>
        </p:txBody>
      </p:sp>
      <p:pic>
        <p:nvPicPr>
          <p:cNvPr id="126980" name="Picture 2" descr="8_25.pdf">
            <a:extLst>
              <a:ext uri="{FF2B5EF4-FFF2-40B4-BE49-F238E27FC236}">
                <a16:creationId xmlns:a16="http://schemas.microsoft.com/office/drawing/2014/main" id="{E7B93391-A2D2-4AEA-AF0A-86E711E2BD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8160" y="4427231"/>
            <a:ext cx="7283450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A6F61EC3-7C39-40F4-A47D-965D298967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57439" y="182563"/>
            <a:ext cx="786923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ARM Architecture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C32D1EF8-66FC-4D47-B3D4-DF3C19678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820" y="1198542"/>
            <a:ext cx="4300465" cy="389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1060450" indent="-407988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ClrTx/>
              <a:buFont typeface="Wingdings" panose="05000000000000000000" pitchFamily="2" charset="2"/>
              <a:buChar char="§"/>
            </a:pPr>
            <a:r>
              <a:rPr lang="en-US" altLang="en-US" sz="1400" dirty="0"/>
              <a:t>Dominant mobile platform chip (Apple iOS and Google Android devices for example)</a:t>
            </a:r>
          </a:p>
          <a:p>
            <a:pPr>
              <a:buClrTx/>
              <a:buFont typeface="Wingdings" panose="05000000000000000000" pitchFamily="2" charset="2"/>
              <a:buChar char="§"/>
            </a:pPr>
            <a:r>
              <a:rPr lang="en-US" altLang="en-US" sz="1400" dirty="0"/>
              <a:t>Modern, energy efficient, 32-bit CPU</a:t>
            </a:r>
          </a:p>
          <a:p>
            <a:pPr>
              <a:buClrTx/>
              <a:buFont typeface="Wingdings" panose="05000000000000000000" pitchFamily="2" charset="2"/>
              <a:buChar char="§"/>
            </a:pPr>
            <a:r>
              <a:rPr lang="en-US" altLang="en-US" sz="1400" dirty="0"/>
              <a:t>4 KB and 16 KB pages</a:t>
            </a:r>
          </a:p>
          <a:p>
            <a:pPr>
              <a:buClrTx/>
              <a:buFont typeface="Wingdings" panose="05000000000000000000" pitchFamily="2" charset="2"/>
              <a:buChar char="§"/>
            </a:pPr>
            <a:r>
              <a:rPr lang="en-US" altLang="en-US" sz="1400" dirty="0"/>
              <a:t>1 MB and 16 MB pages (termed </a:t>
            </a:r>
            <a:r>
              <a:rPr lang="en-US" altLang="en-US" sz="1400" b="1" dirty="0">
                <a:solidFill>
                  <a:srgbClr val="3366FF"/>
                </a:solidFill>
              </a:rPr>
              <a:t>sections</a:t>
            </a:r>
            <a:r>
              <a:rPr lang="en-US" altLang="en-US" sz="1400" dirty="0"/>
              <a:t>)</a:t>
            </a:r>
          </a:p>
          <a:p>
            <a:pPr>
              <a:buClrTx/>
              <a:buFont typeface="Wingdings" panose="05000000000000000000" pitchFamily="2" charset="2"/>
              <a:buChar char="§"/>
            </a:pPr>
            <a:r>
              <a:rPr lang="en-US" altLang="en-US" sz="1400" dirty="0"/>
              <a:t>One-level paging for sections, two-level for smaller pages</a:t>
            </a:r>
          </a:p>
          <a:p>
            <a:pPr>
              <a:buClrTx/>
              <a:buFont typeface="Wingdings" panose="05000000000000000000" pitchFamily="2" charset="2"/>
              <a:buChar char="§"/>
            </a:pPr>
            <a:r>
              <a:rPr lang="en-US" altLang="en-US" sz="1400" dirty="0"/>
              <a:t>Two levels of TLBs</a:t>
            </a:r>
          </a:p>
          <a:p>
            <a:pPr lvl="1">
              <a:buClrTx/>
              <a:buFont typeface="Wingdings" panose="05000000000000000000" pitchFamily="2" charset="2"/>
              <a:buChar char="§"/>
            </a:pPr>
            <a:r>
              <a:rPr lang="en-US" altLang="en-US" sz="1400" dirty="0"/>
              <a:t>Outer level has two micro TLBs (one data, one instruction)</a:t>
            </a:r>
          </a:p>
          <a:p>
            <a:pPr lvl="1">
              <a:buClrTx/>
              <a:buFont typeface="Wingdings" panose="05000000000000000000" pitchFamily="2" charset="2"/>
              <a:buChar char="§"/>
            </a:pPr>
            <a:r>
              <a:rPr lang="en-US" altLang="en-US" sz="1400" dirty="0"/>
              <a:t>Inner is single main TLB</a:t>
            </a:r>
          </a:p>
          <a:p>
            <a:pPr lvl="1">
              <a:buClrTx/>
              <a:buFont typeface="Wingdings" panose="05000000000000000000" pitchFamily="2" charset="2"/>
              <a:buChar char="§"/>
            </a:pPr>
            <a:r>
              <a:rPr lang="en-US" altLang="en-US" sz="1400" dirty="0"/>
              <a:t>First inner is checked, on miss outers are checked, and on miss page table walk performed by CPU</a:t>
            </a:r>
          </a:p>
          <a:p>
            <a:endParaRPr lang="en-US" altLang="en-US" sz="1400" dirty="0"/>
          </a:p>
        </p:txBody>
      </p:sp>
      <p:pic>
        <p:nvPicPr>
          <p:cNvPr id="129028" name="Picture 1" descr="8_26.pdf">
            <a:extLst>
              <a:ext uri="{FF2B5EF4-FFF2-40B4-BE49-F238E27FC236}">
                <a16:creationId xmlns:a16="http://schemas.microsoft.com/office/drawing/2014/main" id="{E88ACD39-6450-49F7-B468-3F032CF97D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467333"/>
            <a:ext cx="4600894" cy="3359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AEF3A-6300-4299-8986-C53938676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415AE-FA2E-4A61-BB1C-B5584914F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74703" cy="4351338"/>
          </a:xfrm>
        </p:spPr>
        <p:txBody>
          <a:bodyPr/>
          <a:lstStyle/>
          <a:p>
            <a:r>
              <a:rPr lang="en-US" dirty="0"/>
              <a:t>ARMv8 </a:t>
            </a:r>
          </a:p>
          <a:p>
            <a:pPr lvl="1"/>
            <a:r>
              <a:rPr lang="en-US" dirty="0"/>
              <a:t>64 bit</a:t>
            </a:r>
          </a:p>
          <a:p>
            <a:pPr lvl="1"/>
            <a:r>
              <a:rPr lang="en-US" dirty="0"/>
              <a:t>48-bit used</a:t>
            </a:r>
          </a:p>
        </p:txBody>
      </p:sp>
      <p:pic>
        <p:nvPicPr>
          <p:cNvPr id="1026" name="Picture 2" descr="Diagram shows 64-bit ARM translation granule that includes offset from bit 0 to 11, level 3 index from 12 to 20, level 2 index from 21 to 29, level 1 index from 30 to 47, and unused from 48 to 63.">
            <a:extLst>
              <a:ext uri="{FF2B5EF4-FFF2-40B4-BE49-F238E27FC236}">
                <a16:creationId xmlns:a16="http://schemas.microsoft.com/office/drawing/2014/main" id="{CAC50D84-9B19-4255-BDBB-AA2B1CAB3B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6781" y="1548788"/>
            <a:ext cx="6600825" cy="71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iagram shows level 0 table with inputs from TTBR register and index 0, level 1 table with inputs from level 0 table and index 1, level 2 table with inputs from level 1 table and index 2, level 3 table with inputs from level 2 table and index 3, and 4-KB page with inputs from offset and level 3 table.">
            <a:extLst>
              <a:ext uri="{FF2B5EF4-FFF2-40B4-BE49-F238E27FC236}">
                <a16:creationId xmlns:a16="http://schemas.microsoft.com/office/drawing/2014/main" id="{D33D3E15-990C-4FF1-9C58-AE3E12482F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5998" y="2831387"/>
            <a:ext cx="6248400" cy="3114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8F6B84B-C103-4C24-9500-F39C28FD49A2}"/>
              </a:ext>
            </a:extLst>
          </p:cNvPr>
          <p:cNvSpPr txBox="1"/>
          <p:nvPr/>
        </p:nvSpPr>
        <p:spPr>
          <a:xfrm>
            <a:off x="7509222" y="4939880"/>
            <a:ext cx="477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19B64C-BFAA-424D-9CA1-1E672D53427A}"/>
              </a:ext>
            </a:extLst>
          </p:cNvPr>
          <p:cNvSpPr txBox="1"/>
          <p:nvPr/>
        </p:nvSpPr>
        <p:spPr>
          <a:xfrm>
            <a:off x="8768969" y="4664442"/>
            <a:ext cx="477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2628231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385</Words>
  <Application>Microsoft Office PowerPoint</Application>
  <PresentationFormat>Widescreen</PresentationFormat>
  <Paragraphs>75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MS PGothic</vt:lpstr>
      <vt:lpstr>Arial</vt:lpstr>
      <vt:lpstr>Calibri</vt:lpstr>
      <vt:lpstr>Calibri Light</vt:lpstr>
      <vt:lpstr>Helvetica</vt:lpstr>
      <vt:lpstr>Monotype Sorts</vt:lpstr>
      <vt:lpstr>Times New Roman</vt:lpstr>
      <vt:lpstr>Webdings</vt:lpstr>
      <vt:lpstr>Wingdings</vt:lpstr>
      <vt:lpstr>Office Theme</vt:lpstr>
      <vt:lpstr>Main Memory Lesson 5 Memory Architectures</vt:lpstr>
      <vt:lpstr>Architecture Examples</vt:lpstr>
      <vt:lpstr>Intel IA-32 Architecture</vt:lpstr>
      <vt:lpstr>Intel IA-32 Architecture</vt:lpstr>
      <vt:lpstr>IA-32 Logical to Physical Address Translation</vt:lpstr>
      <vt:lpstr>Intel IA-32 Paging Architecture</vt:lpstr>
      <vt:lpstr>Intel IA-32 Page Address Extensions</vt:lpstr>
      <vt:lpstr>x86-64</vt:lpstr>
      <vt:lpstr>ARM Architecture</vt:lpstr>
      <vt:lpstr>ARM Architecture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 Memory Lesson 4 Chip Architectures</dc:title>
  <dc:creator>David Liu</dc:creator>
  <cp:lastModifiedBy>David Liu</cp:lastModifiedBy>
  <cp:revision>17</cp:revision>
  <dcterms:created xsi:type="dcterms:W3CDTF">2021-11-17T15:40:23Z</dcterms:created>
  <dcterms:modified xsi:type="dcterms:W3CDTF">2022-03-29T14:45:32Z</dcterms:modified>
</cp:coreProperties>
</file>