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432" r:id="rId5"/>
    <p:sldId id="437" r:id="rId6"/>
    <p:sldId id="436" r:id="rId7"/>
    <p:sldId id="438" r:id="rId8"/>
    <p:sldId id="43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6BF78-5943-45D7-B1F8-5CACDF403010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623B4-DFC7-436C-B3A7-004787703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8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37F333C1-0110-44FE-B872-0A185A1893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84742-E2D6-4A92-B35D-39943BB7C113}" type="slidenum">
              <a:rPr lang="en-US" altLang="en-US" smtClean="0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C71F82A6-A954-4591-ABE4-0CBEDD5747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EF1B33D6-1CA3-4208-9C7F-3D6F30DD6B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DCDCF07E-0CE7-47F9-9905-B5DABE498C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C4F156B-0364-4498-91AD-4EFA89DDD4BD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D144F79-CD46-4510-9C6B-29E076D226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AEF65C21-EAAB-4B5D-B395-9DF9AB106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9B3A-1573-44DF-B758-D05D05B84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943D0-7939-45C0-9500-4AA446B1B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C8E97-9902-4CED-BDC1-5B22295C6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A2B9A-7D90-4240-A639-1BA4B2ECD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3D49D-68F7-47FD-8ABE-B287BFCA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2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1B3E0-F179-4C31-A02A-0DA80408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41353-0CBB-41FD-9C83-395B8BF8F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01629-E375-48CC-B82D-31870069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3B05A-0985-4B8A-8B6F-027304E6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41B11-097C-4277-8FAA-6F91E1C4F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4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56898-B6BF-494B-91F2-7D96CCBD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54D9D-10D1-4F7B-84D7-1E2791A9E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AEEE9-6803-469B-A250-2E9A6D8FF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75BD0-6715-4CCE-B7AF-5936024E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4F5A-2846-4934-B423-2129E51F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7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9FA6-71BC-48BD-8AF6-99011731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D0EC7-5B68-45D6-87A4-E1CD833CB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AED00-5BEB-4F72-95B7-2549C64D4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E3A89-D6ED-404C-88F4-979F5CE2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CCA89-7697-4E0A-8758-A3145A184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DC393-0059-4084-92EC-0DC66F61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56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7D75-F97B-4288-8646-19936429B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4FC59-255E-467B-BCFE-42D1ABBF2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EEB1D-138D-425D-A0A9-A4D90CCEF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BA6EA-24A8-40F6-9AE1-DF6FFD5BB9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1F93A-05BA-4FA3-ADD6-A9F2B9DE0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61B57-C5A7-477E-A1DA-A9D539673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EFE28-B3E3-453F-BCD8-701EC560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534516-2723-4FF8-83E4-D0103630C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82A1-0293-4BB1-8497-76AF0792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D517FA-6468-4942-AC11-E769F38D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5A873-7405-472E-A9EC-7346921C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CC5DB-B267-4D60-B7AE-E8268A1D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99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19D42A-2B04-4491-B8F4-EF66E38E7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54D60-9B32-4FA0-A03A-D07DAED9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360D8-FBAE-4FFA-89F6-7159EF22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8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9F13-6C65-441B-A3FF-4432EB24A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E78FC-5117-4913-B755-78130BAEF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BFD46-D650-4B0A-9C93-EA1F80660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BD3FE-8434-426C-AC0C-7B39D978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D28A6-4C6F-4BA1-8ED1-9A61112F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9F1E0-7F14-4845-971F-734A91560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10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1ABA-ADF9-44B6-AA27-3D995AAC6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F2450-B2EB-4831-B6BA-7F63A2BAB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236FF-B5EC-4D46-A7DB-FFFB6842D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EA31-B352-473A-BFC1-DEED5AAAB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A4E7B-B295-4F92-AF38-E5929D775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3F855-C42E-4863-ABDD-3966BA75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9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6D71-5037-424D-AD84-232C55F6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88975E-BCDC-434D-AC83-04349EAF5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00AB8-A0BF-4DBF-973E-EC2C20A1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7C303-6165-4D9F-9A44-DC564CAC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18E7-D0AC-4086-9A7D-727ABAA0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3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4164AF-4E76-4844-90D1-FFAA7A76E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DACBE-9F97-466A-BC9F-7646DA079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0C339-3450-4133-B81B-19EE523CC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83FD5-617F-4CD5-9A01-1665C611F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B6F06-D24E-437C-B1F5-F2D31107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07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6FFF0D-1608-4163-9532-06DEA5F8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C3D36-9A61-41F2-B401-4FBFDFAA7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AA1DD-761F-434B-8707-AAF9A32F8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B9CEF-195B-43A4-B13B-E15ABDB47F38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7F2ED-663B-405B-8E7B-7D1D72B55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5D9AE-794C-4385-BBE2-77EF4F20C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B276D-2411-4021-ADEC-DFF49D3A5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9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9E04-59B3-4224-B702-9D2CB752C9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Memory</a:t>
            </a:r>
            <a:br>
              <a:rPr lang="en-US" dirty="0"/>
            </a:br>
            <a:r>
              <a:rPr lang="en-US" dirty="0"/>
              <a:t>Lesson 4</a:t>
            </a:r>
            <a:br>
              <a:rPr lang="en-US" dirty="0"/>
            </a:br>
            <a:r>
              <a:rPr lang="en-US" dirty="0"/>
              <a:t>Swapping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5FC7F-586B-4BE9-A602-C8641DFE9C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388097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6753-E87A-423D-BC10-3C83FB5C5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&amp; Why Swapping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E4A00-F3E8-4082-98CD-C3EE0EF2E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250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Swapping:</a:t>
            </a:r>
          </a:p>
          <a:p>
            <a:pPr lvl="1"/>
            <a:r>
              <a:rPr lang="en-US" dirty="0"/>
              <a:t>A process can be swapped temporarily out of memory to a </a:t>
            </a:r>
            <a:r>
              <a:rPr lang="en-US" b="1" dirty="0"/>
              <a:t>backing store</a:t>
            </a:r>
            <a:r>
              <a:rPr lang="en-US" dirty="0"/>
              <a:t>, and then brought back into memory for continued execution</a:t>
            </a:r>
          </a:p>
          <a:p>
            <a:r>
              <a:rPr lang="en-US" dirty="0"/>
              <a:t>Reason:</a:t>
            </a:r>
          </a:p>
          <a:p>
            <a:pPr lvl="1"/>
            <a:r>
              <a:rPr lang="en-US" dirty="0"/>
              <a:t>Total physical memory space of processes can exceed physical memory</a:t>
            </a:r>
          </a:p>
          <a:p>
            <a:r>
              <a:rPr lang="en-US" dirty="0"/>
              <a:t>Backing Store</a:t>
            </a:r>
          </a:p>
          <a:p>
            <a:pPr lvl="1"/>
            <a:r>
              <a:rPr lang="en-US" b="1" dirty="0"/>
              <a:t>fast dis</a:t>
            </a:r>
            <a:r>
              <a:rPr lang="en-US" dirty="0"/>
              <a:t>k large enough to accommodate copies of all memory images for all users; must provide direct access to these memory images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4" descr="8">
            <a:extLst>
              <a:ext uri="{FF2B5EF4-FFF2-40B4-BE49-F238E27FC236}">
                <a16:creationId xmlns:a16="http://schemas.microsoft.com/office/drawing/2014/main" id="{BA3F7BB1-B69E-4233-8AB1-6394D996B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702" y="2103145"/>
            <a:ext cx="4096165" cy="3064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7419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7577-FDCB-4B5E-8D74-CB3F29DE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0B13-6510-4B99-B9A1-3B21801A1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Roll out, roll 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3366FF"/>
                </a:solidFill>
              </a:rPr>
              <a:t>ready 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228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7F19BEC2-10C3-4BA7-9E02-B30C3078E6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295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Swapping (Cont.)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3042A62E-7017-4A02-AA9D-BFBE3AA41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9655" y="1118503"/>
            <a:ext cx="9538312" cy="5055794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altLang="en-US" dirty="0"/>
              <a:t>Does the swapped out process need to swap back in to </a:t>
            </a:r>
            <a:r>
              <a:rPr lang="en-US" altLang="en-US" b="1" dirty="0"/>
              <a:t>same physical</a:t>
            </a:r>
            <a:r>
              <a:rPr lang="en-US" altLang="en-US" dirty="0"/>
              <a:t> addresses?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Depends on address binding method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Plus consider pending I/O to / from process memory space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Standard Swapping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Moving the </a:t>
            </a:r>
            <a:r>
              <a:rPr lang="en-US" altLang="en-US" b="1" dirty="0"/>
              <a:t>entire process </a:t>
            </a:r>
            <a:r>
              <a:rPr lang="en-US" altLang="en-US" dirty="0"/>
              <a:t>between main memory and a backing store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Modified versions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Swapping </a:t>
            </a:r>
            <a:r>
              <a:rPr lang="en-US" altLang="en-US" b="1" dirty="0"/>
              <a:t>pages,</a:t>
            </a:r>
            <a:r>
              <a:rPr lang="en-US" altLang="en-US" dirty="0"/>
              <a:t> not an entire process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UNIX, Linux, and Windows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BE3B16D8-008D-4FE9-B5F2-2EED14D2E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18256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Swapping with Paging</a:t>
            </a:r>
            <a:endParaRPr lang="en-US" altLang="en-US" sz="2400"/>
          </a:p>
        </p:txBody>
      </p:sp>
      <p:pic>
        <p:nvPicPr>
          <p:cNvPr id="110595" name="Picture 2" descr="W:\os-book\OS10\slide-dir\os-figures\9_20.jpg">
            <a:extLst>
              <a:ext uri="{FF2B5EF4-FFF2-40B4-BE49-F238E27FC236}">
                <a16:creationId xmlns:a16="http://schemas.microsoft.com/office/drawing/2014/main" id="{1224762E-242D-41D1-AF6A-E77627090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67CCD3D1-0DF7-47AB-9895-8AFDAB3E8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2950" y="1666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Swapping on Mobile Systems</a:t>
            </a:r>
          </a:p>
        </p:txBody>
      </p:sp>
      <p:sp>
        <p:nvSpPr>
          <p:cNvPr id="109571" name="Content Placeholder 2">
            <a:extLst>
              <a:ext uri="{FF2B5EF4-FFF2-40B4-BE49-F238E27FC236}">
                <a16:creationId xmlns:a16="http://schemas.microsoft.com/office/drawing/2014/main" id="{2771D094-ED6E-40D5-AF49-9A83A5702F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14726" y="892670"/>
            <a:ext cx="8920511" cy="525646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Not </a:t>
            </a:r>
            <a:r>
              <a:rPr lang="en-US" altLang="en-US" dirty="0"/>
              <a:t>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3366FF"/>
                </a:solidFill>
              </a:rPr>
              <a:t>application 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61151-B0A8-4462-87A8-D8E1D20A8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App Memory Usage Caution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ABC8-C1DF-481C-8F07-F8B8ECB91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Mobile systems and apps developers must carefully allocate and release memory to ensure that their applications do not use too much memory or suffer from </a:t>
            </a:r>
            <a:r>
              <a:rPr lang="en-US" dirty="0">
                <a:solidFill>
                  <a:srgbClr val="FF0000"/>
                </a:solidFill>
              </a:rPr>
              <a:t>memory leaks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4022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EE3D-B406-4319-8F54-8994871A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8046B-A243-4862-BBF0-B9CA6263A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Swapping pages is more efficient than swapping entire processes</a:t>
            </a:r>
          </a:p>
          <a:p>
            <a:r>
              <a:rPr lang="en-US" dirty="0"/>
              <a:t>Swapping is a sign there are more active processes than available physical memory</a:t>
            </a:r>
          </a:p>
          <a:p>
            <a:r>
              <a:rPr lang="en-US" dirty="0"/>
              <a:t>To solve the problem</a:t>
            </a:r>
          </a:p>
          <a:p>
            <a:pPr lvl="1"/>
            <a:r>
              <a:rPr lang="en-US" dirty="0"/>
              <a:t>Terminate some processes</a:t>
            </a:r>
          </a:p>
          <a:p>
            <a:pPr lvl="1"/>
            <a:r>
              <a:rPr lang="en-US" dirty="0"/>
              <a:t>Get </a:t>
            </a:r>
            <a:r>
              <a:rPr lang="en-US"/>
              <a:t>more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2416562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388</Words>
  <Application>Microsoft Office PowerPoint</Application>
  <PresentationFormat>Widescreen</PresentationFormat>
  <Paragraphs>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MS PGothic</vt:lpstr>
      <vt:lpstr>Arial</vt:lpstr>
      <vt:lpstr>Calibri</vt:lpstr>
      <vt:lpstr>Calibri Light</vt:lpstr>
      <vt:lpstr>Helvetica</vt:lpstr>
      <vt:lpstr>Monotype Sorts</vt:lpstr>
      <vt:lpstr>Times New Roman</vt:lpstr>
      <vt:lpstr>Office Theme</vt:lpstr>
      <vt:lpstr>Main Memory Lesson 4 Swapping</vt:lpstr>
      <vt:lpstr>What &amp; Why Swapping</vt:lpstr>
      <vt:lpstr>Swapping</vt:lpstr>
      <vt:lpstr>Swapping (Cont.)</vt:lpstr>
      <vt:lpstr>Swapping with Paging</vt:lpstr>
      <vt:lpstr>Swapping on Mobile Systems</vt:lpstr>
      <vt:lpstr>Mobile App Memory Usage Caution</vt:lpstr>
      <vt:lpstr>System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Memory Lesson 3 Swapping</dc:title>
  <dc:creator>David Liu</dc:creator>
  <cp:lastModifiedBy>David Liu</cp:lastModifiedBy>
  <cp:revision>7</cp:revision>
  <dcterms:created xsi:type="dcterms:W3CDTF">2021-11-17T15:28:12Z</dcterms:created>
  <dcterms:modified xsi:type="dcterms:W3CDTF">2022-03-29T14:35:05Z</dcterms:modified>
</cp:coreProperties>
</file>