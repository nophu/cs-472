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334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404" r:id="rId12"/>
    <p:sldId id="405" r:id="rId13"/>
    <p:sldId id="34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018F1-667D-4F45-8F2F-A95B4C301C66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D97CA-8E59-4D33-8451-430B5649F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050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7BF3E749-CB74-4D40-B491-8FEE48AFE3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B50FDB3-7692-4D2F-8B01-67DEC42589A5}" type="slidenum">
              <a:rPr lang="en-US" altLang="en-US" smtClean="0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BB98EA07-B9C9-4632-8FA5-18FB80C93C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F4F898D8-EE69-4EC2-99B2-3E4BBA2A27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7BF3E749-CB74-4D40-B491-8FEE48AFE3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B50FDB3-7692-4D2F-8B01-67DEC42589A5}" type="slidenum">
              <a:rPr lang="en-US" altLang="en-US" smtClean="0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BB98EA07-B9C9-4632-8FA5-18FB80C93C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F4F898D8-EE69-4EC2-99B2-3E4BBA2A27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193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7B025E0E-CC27-437B-9E6B-6F88EE18A2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852DB2E-4267-46B0-B062-933625C006C6}" type="slidenum">
              <a:rPr lang="en-US" altLang="en-US" smtClean="0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010F7D0F-00B7-4DA7-AD35-876D30D7F0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95889C58-ABCC-4926-87C5-CEA43EAFFE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DC0A9993-5BBE-482A-A0E4-41BC89F1B9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47AA1D4-FC5A-4169-9FFB-EDF0384DDE99}" type="slidenum">
              <a:rPr lang="en-US" altLang="en-US" smtClean="0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754F3977-A70F-4B88-AB3A-8808FE696A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4021B718-B78A-4578-AA43-CF0AB8216C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FCA738C6-F59E-416D-B804-6E8CE3EC10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9DC62D1-CC49-41D1-A6D6-43B801AE5E43}" type="slidenum">
              <a:rPr lang="en-US" altLang="en-US" smtClean="0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881B45D0-E365-4644-ACF8-B956F128F2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E1AAE30D-B4CD-4F82-91DF-F61C9A788B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AC8CCD40-0D28-4B99-8A3E-C2F18B5A28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D265211-D0DA-4281-8E57-8EE65F8C69DA}" type="slidenum">
              <a:rPr lang="en-US" altLang="en-US" smtClean="0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31BEEFF-A07E-4AB8-826B-049A14CE1A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0B774E7D-1B56-45F0-9219-720B8D3F89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3D1A5F1A-AB63-4B43-9B92-5C70ECC7DA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6E8D2EA-5CB0-4719-8AB3-932697300587}" type="slidenum">
              <a:rPr lang="en-US" altLang="en-US" smtClean="0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06DDD705-9FF6-4490-A14A-683CEC757F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86C9D783-3C86-4E85-B732-CC80CC3E01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481BEAD7-D8F1-4E0E-9508-79241B0265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E7E02BF-D3B4-482F-8F77-82B887DCF278}" type="slidenum">
              <a:rPr lang="en-US" altLang="en-US" smtClean="0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E6E5B514-34C7-427C-BE40-7A50099E3C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75AB4457-92B2-4AE6-897D-4F6C8D5C97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7538C-C818-41EA-A30C-03E552279A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28BF3-A98C-437C-BA14-DC17A2B90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D0BB1-E265-449F-9FB4-EBD22A77D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310B-82C6-4DFE-AE19-09F98AF782ED}" type="datetime1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A9894-8F2C-4D1E-A80B-E985E8717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258BF-6ED1-43A8-BE5D-FB1FA5E6E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E4303-7455-4087-B240-36D27C2BA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B445D-F72A-441C-A7C4-2E8B479AB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E2CEC-BCC6-480F-A763-26F0F8500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B86E-BF13-4A6D-AF37-7311CCAA0889}" type="datetime1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E344D-E4DE-4D94-9CAD-A07097EA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280D1-A358-4616-A4AB-C310641C0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43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31742-0AAE-4829-9862-F6A24D462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68944-EE8D-4861-85C2-269B1547A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2E4A9-FC33-481F-9682-FFAD437E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A7A0-E0A3-4875-BBCA-09F8075F8C6F}" type="datetime1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0F7B0-7C1F-4D8E-91F1-BDC2C6F77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73240-970A-49A5-91C1-DDA091E27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944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35B39-7889-4D14-AC9E-FB5DD6D82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FE01E-7CAD-46D7-9DC4-7481D6CD61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E570DB-9F8A-4D2B-BF45-BB1F12A4C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574428-101B-4779-B223-4C7C94AE1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7959-A5E1-4552-9D85-B8E2CD0C8A5E}" type="datetime1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49B42-73C7-4AA2-BBC6-FA7178F5A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C10AD-EFC9-4C9F-B0BB-CC8B45998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408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6DB8E-9B58-4093-84D4-F6489F341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9DDA0-E994-4882-9E9E-A27C9A5E6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19724-4557-4E30-B7CA-D9076F528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78E97C-C573-4C85-A43B-408B8A8527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BD0FDF-FA16-4E2A-BF0B-F4019D2A3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D985D0-430E-40B7-A16F-C93AA1944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37BE-4987-4B9A-8FA3-914CDF6B2DA6}" type="datetime1">
              <a:rPr lang="en-US" smtClean="0"/>
              <a:t>3/24/2022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43130-422D-4014-885A-AE7A78FE8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E7044-E417-4932-A60F-82B30B0FD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10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07BAB-DB88-4670-BAF8-7D9D8D315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E7C9D2-A1D7-4826-9D37-060D5ECF0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499B0-803A-4DF0-9A58-A6B9FA32DD53}" type="datetime1">
              <a:rPr lang="en-US" smtClean="0"/>
              <a:t>3/24/2022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BC35EC-57E0-4BC4-9D82-BB4D2997B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14BE78-F2A2-4193-8301-3C45CFF1A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00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A24BA3-CBF1-4745-B64D-85099511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A54BC-6539-465E-A49A-43EE526C50D0}" type="datetime1">
              <a:rPr lang="en-US" smtClean="0"/>
              <a:t>3/24/2022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C01E09-7AE9-4068-9796-35EE36AE0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630A9-0278-40FD-8AFC-0560A067F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52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43C9E-6308-429F-B99C-92B4365B0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28649-4AA6-442F-BF3A-D9F7E9E40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A4A67-6A10-44A2-9481-3738903A2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E9A82-31C1-4642-A4E9-6FDD84A4E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94C32-0196-4B99-9EB6-1615A8F130EC}" type="datetime1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87B8B-E8AE-4F70-9D6A-C05E4A1EC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5A75E-CF5C-4F37-8A0C-725997C00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54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B80CE-9E5E-4346-923B-04452DC58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A70265-D71D-4659-97E7-CDBF65CE7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2C7C5-6F54-428C-8BF0-B79F0D4FB8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CA7CF-86A9-4292-A2C5-53F76BF94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61D41-0C7C-45AD-8787-E0C095E40991}" type="datetime1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BC8A1F-FCB1-403F-89F4-5BDC04307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C2802-DAB4-417B-89C1-B495ACD3F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781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019C7-2D2C-49CE-A9C3-F572CAE0F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762AD6-8186-4519-96AE-CD8E082F8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D7E19-4CDA-4D4C-A041-AE741E575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4B559-9648-4F97-8504-7F42B61CC9D4}" type="datetime1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39E64-1AF3-4781-ADC2-37F4265B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9C79F-1596-4086-928D-BD55EB6FA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2AAF4A-388C-4BE2-B0D8-D166BB2818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CC740F-CF23-46E4-B0C9-49BB159D0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A8D75-2715-4038-8F97-66763CDF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1264-C6A4-46F9-BB71-6CC7E7DDFA7C}" type="datetime1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D954C-2811-4334-8A68-795D79C74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1B408-62FF-4F30-A3A5-C4B4BEF0F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7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C3042A-4CE7-4AF9-99FD-0DA246536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A6106-29E9-49B6-9AED-170C9BCD7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2C098-3C19-47A0-BDBB-8278EAA34C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32753-94F5-4760-BAFF-4A93B0D608DA}" type="datetime1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DC7FA-CC39-44CE-B263-2B7A07A04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A74E0-56C7-4A66-BBC8-7EC142CE4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55B6C-76B8-41EB-9426-9CA1B3D65E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03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E141D-E76D-411D-A731-988B8410E1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 Memory</a:t>
            </a:r>
            <a:br>
              <a:rPr lang="en-US" dirty="0"/>
            </a:br>
            <a:r>
              <a:rPr lang="en-US" dirty="0"/>
              <a:t>Lesson 1</a:t>
            </a:r>
            <a:br>
              <a:rPr lang="en-US" dirty="0"/>
            </a:br>
            <a:r>
              <a:rPr lang="en-US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125598-C8B4-4420-9CA2-4828D11AD9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AE308-A5CE-4CED-AD91-CAB8B4FFF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08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C67B6-7923-4B98-9AF2-726EE0212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F606E-C113-4F78-B130-1D0E58346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To provide a detailed description of various ways of organizing </a:t>
            </a:r>
            <a:r>
              <a:rPr lang="en-US" altLang="en-US" b="1" dirty="0"/>
              <a:t>memory</a:t>
            </a:r>
            <a:r>
              <a:rPr lang="en-US" altLang="en-US" dirty="0"/>
              <a:t> hardware</a:t>
            </a:r>
          </a:p>
          <a:p>
            <a:r>
              <a:rPr lang="en-US" altLang="en-US" dirty="0"/>
              <a:t>To discuss various memory-</a:t>
            </a:r>
            <a:r>
              <a:rPr lang="en-US" altLang="en-US" b="1" dirty="0"/>
              <a:t>management</a:t>
            </a:r>
            <a:r>
              <a:rPr lang="en-US" altLang="en-US" dirty="0"/>
              <a:t> techniques, </a:t>
            </a:r>
          </a:p>
          <a:p>
            <a:r>
              <a:rPr lang="en-US" altLang="en-US" dirty="0"/>
              <a:t>To provide a detailed description of the Intel Pentium, which supports both pure </a:t>
            </a:r>
            <a:r>
              <a:rPr lang="en-US" altLang="en-US" b="1" dirty="0"/>
              <a:t>segmentation</a:t>
            </a:r>
            <a:r>
              <a:rPr lang="en-US" altLang="en-US" dirty="0"/>
              <a:t> and segmentation with </a:t>
            </a:r>
            <a:r>
              <a:rPr lang="en-US" altLang="en-US" b="1" dirty="0"/>
              <a:t>paging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661D8-E487-4CE3-A1AC-BFED8616A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88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>
            <a:extLst>
              <a:ext uri="{FF2B5EF4-FFF2-40B4-BE49-F238E27FC236}">
                <a16:creationId xmlns:a16="http://schemas.microsoft.com/office/drawing/2014/main" id="{B96BDADB-1286-4B20-91DB-DB84100A9F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5641" y="306732"/>
            <a:ext cx="6764338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Background I</a:t>
            </a:r>
          </a:p>
        </p:txBody>
      </p:sp>
      <p:sp>
        <p:nvSpPr>
          <p:cNvPr id="11267" name="Rectangle 1027">
            <a:extLst>
              <a:ext uri="{FF2B5EF4-FFF2-40B4-BE49-F238E27FC236}">
                <a16:creationId xmlns:a16="http://schemas.microsoft.com/office/drawing/2014/main" id="{C24E9452-C3B8-4290-97C2-306E4718A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69744" y="1064868"/>
            <a:ext cx="9305601" cy="5104577"/>
          </a:xfrm>
        </p:spPr>
        <p:txBody>
          <a:bodyPr>
            <a:normAutofit/>
          </a:bodyPr>
          <a:lstStyle/>
          <a:p>
            <a:r>
              <a:rPr lang="en-US" altLang="en-US" dirty="0"/>
              <a:t>Program must be brought (from disk)  </a:t>
            </a:r>
            <a:r>
              <a:rPr lang="en-US" altLang="en-US" b="1" dirty="0"/>
              <a:t>into memory </a:t>
            </a:r>
            <a:r>
              <a:rPr lang="en-US" altLang="en-US" dirty="0"/>
              <a:t>and placed within a process for it to be </a:t>
            </a:r>
            <a:r>
              <a:rPr lang="en-US" altLang="en-US" b="1" dirty="0"/>
              <a:t>run</a:t>
            </a:r>
            <a:endParaRPr lang="en-US" altLang="en-US" sz="800" b="1" dirty="0"/>
          </a:p>
          <a:p>
            <a:r>
              <a:rPr lang="en-US" altLang="en-US" b="1" dirty="0"/>
              <a:t>Main memory </a:t>
            </a:r>
            <a:r>
              <a:rPr lang="en-US" altLang="en-US" dirty="0"/>
              <a:t>and </a:t>
            </a:r>
            <a:r>
              <a:rPr lang="en-US" altLang="en-US" b="1" dirty="0"/>
              <a:t>registers</a:t>
            </a:r>
            <a:r>
              <a:rPr lang="en-US" altLang="en-US" dirty="0"/>
              <a:t> are only storage CPU can access directly</a:t>
            </a:r>
          </a:p>
          <a:p>
            <a:r>
              <a:rPr lang="en-US" altLang="en-US" dirty="0"/>
              <a:t>Memory unit only sees a stream of:</a:t>
            </a:r>
          </a:p>
          <a:p>
            <a:pPr lvl="1"/>
            <a:r>
              <a:rPr lang="en-US" altLang="en-US" dirty="0"/>
              <a:t>addresses + </a:t>
            </a:r>
            <a:r>
              <a:rPr lang="en-US" altLang="en-US" b="1" dirty="0"/>
              <a:t>read</a:t>
            </a:r>
            <a:r>
              <a:rPr lang="en-US" altLang="en-US" dirty="0"/>
              <a:t> requests, or </a:t>
            </a:r>
          </a:p>
          <a:p>
            <a:pPr lvl="1"/>
            <a:r>
              <a:rPr lang="en-US" altLang="en-US" dirty="0"/>
              <a:t>address + data and </a:t>
            </a:r>
            <a:r>
              <a:rPr lang="en-US" altLang="en-US" b="1" dirty="0"/>
              <a:t>write</a:t>
            </a:r>
            <a:r>
              <a:rPr lang="en-US" altLang="en-US" dirty="0"/>
              <a:t> requests</a:t>
            </a: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B3422C-7173-48BF-8A7C-87E825FB1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>
            <a:extLst>
              <a:ext uri="{FF2B5EF4-FFF2-40B4-BE49-F238E27FC236}">
                <a16:creationId xmlns:a16="http://schemas.microsoft.com/office/drawing/2014/main" id="{B96BDADB-1286-4B20-91DB-DB84100A9F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5641" y="306732"/>
            <a:ext cx="6764338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Background II</a:t>
            </a:r>
          </a:p>
        </p:txBody>
      </p:sp>
      <p:sp>
        <p:nvSpPr>
          <p:cNvPr id="11267" name="Rectangle 1027">
            <a:extLst>
              <a:ext uri="{FF2B5EF4-FFF2-40B4-BE49-F238E27FC236}">
                <a16:creationId xmlns:a16="http://schemas.microsoft.com/office/drawing/2014/main" id="{C24E9452-C3B8-4290-97C2-306E4718A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69744" y="1064868"/>
            <a:ext cx="9305601" cy="5104577"/>
          </a:xfrm>
        </p:spPr>
        <p:txBody>
          <a:bodyPr>
            <a:normAutofit/>
          </a:bodyPr>
          <a:lstStyle/>
          <a:p>
            <a:r>
              <a:rPr lang="en-US" altLang="en-US" dirty="0"/>
              <a:t>Register access is done in one CPU clock (or less)</a:t>
            </a:r>
            <a:endParaRPr lang="en-US" altLang="en-US" sz="800" dirty="0"/>
          </a:p>
          <a:p>
            <a:r>
              <a:rPr lang="en-US" altLang="en-US" dirty="0"/>
              <a:t>Main memory can take many cycles, causing a </a:t>
            </a:r>
            <a:r>
              <a:rPr lang="en-US" altLang="en-US" b="1" dirty="0">
                <a:solidFill>
                  <a:srgbClr val="3366FF"/>
                </a:solidFill>
              </a:rPr>
              <a:t>stall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sits between main memory and CPU registers</a:t>
            </a:r>
            <a:endParaRPr lang="en-US" altLang="en-US" sz="800" dirty="0"/>
          </a:p>
          <a:p>
            <a:r>
              <a:rPr lang="en-US" altLang="en-US" dirty="0"/>
              <a:t>Memory unit only sees a stream of:</a:t>
            </a:r>
          </a:p>
          <a:p>
            <a:pPr lvl="1"/>
            <a:r>
              <a:rPr lang="en-US" altLang="en-US" dirty="0"/>
              <a:t>addresses + </a:t>
            </a:r>
            <a:r>
              <a:rPr lang="en-US" altLang="en-US" b="1" dirty="0"/>
              <a:t>read</a:t>
            </a:r>
            <a:r>
              <a:rPr lang="en-US" altLang="en-US" dirty="0"/>
              <a:t> requests, or </a:t>
            </a:r>
          </a:p>
          <a:p>
            <a:pPr lvl="1"/>
            <a:r>
              <a:rPr lang="en-US" altLang="en-US" dirty="0"/>
              <a:t>address + data and </a:t>
            </a:r>
            <a:r>
              <a:rPr lang="en-US" altLang="en-US" b="1" dirty="0"/>
              <a:t>write</a:t>
            </a:r>
            <a:r>
              <a:rPr lang="en-US" altLang="en-US" dirty="0"/>
              <a:t> requests</a:t>
            </a:r>
          </a:p>
          <a:p>
            <a:pPr>
              <a:buFont typeface="Monotype Sorts" pitchFamily="-84" charset="2"/>
              <a:buNone/>
            </a:pPr>
            <a:endParaRPr lang="en-US" alt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E46BF1-68F3-4EC6-90AE-ADC7C3260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48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11763FD-2FC3-4D5B-9E10-6D7583962D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17209" y="322033"/>
            <a:ext cx="65595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Protection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D9141AE-E3D0-4D9E-8AB6-64D46459E4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86673" y="1237735"/>
            <a:ext cx="6074291" cy="4590188"/>
          </a:xfrm>
        </p:spPr>
        <p:txBody>
          <a:bodyPr>
            <a:normAutofit/>
          </a:bodyPr>
          <a:lstStyle/>
          <a:p>
            <a:r>
              <a:rPr lang="en-US" altLang="en-US" dirty="0"/>
              <a:t>Protection of memory required to ensure correct operation</a:t>
            </a:r>
          </a:p>
          <a:p>
            <a:r>
              <a:rPr lang="en-US" altLang="en-US" dirty="0"/>
              <a:t>Need to censure that a process can access only access those addresses in it address space.</a:t>
            </a:r>
          </a:p>
          <a:p>
            <a:r>
              <a:rPr lang="en-US" altLang="en-US" dirty="0"/>
              <a:t>We can provide this protection by using  a pair of </a:t>
            </a:r>
            <a:r>
              <a:rPr lang="en-US" altLang="en-US" b="1" dirty="0">
                <a:solidFill>
                  <a:srgbClr val="3366FF"/>
                </a:solidFill>
              </a:rPr>
              <a:t>base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limit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registers</a:t>
            </a:r>
            <a:r>
              <a:rPr lang="en-US" altLang="en-US" dirty="0"/>
              <a:t> define the logical address space of a process</a:t>
            </a:r>
          </a:p>
        </p:txBody>
      </p:sp>
      <p:pic>
        <p:nvPicPr>
          <p:cNvPr id="13316" name="Picture 5" descr="W:\os-book\OS10\slide-dir\os-figures\9_01.jpg">
            <a:extLst>
              <a:ext uri="{FF2B5EF4-FFF2-40B4-BE49-F238E27FC236}">
                <a16:creationId xmlns:a16="http://schemas.microsoft.com/office/drawing/2014/main" id="{D8D96B9E-2F77-4BCB-AA16-3C25582C4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197" y="1237735"/>
            <a:ext cx="4147182" cy="4050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9845BE-C020-4D30-BE71-94D018635B92}"/>
              </a:ext>
            </a:extLst>
          </p:cNvPr>
          <p:cNvSpPr txBox="1"/>
          <p:nvPr/>
        </p:nvSpPr>
        <p:spPr>
          <a:xfrm>
            <a:off x="11105327" y="3078249"/>
            <a:ext cx="982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81D84E0-4DDF-4AB4-A988-991255A0E0C8}"/>
              </a:ext>
            </a:extLst>
          </p:cNvPr>
          <p:cNvCxnSpPr>
            <a:cxnSpLocks/>
          </p:cNvCxnSpPr>
          <p:nvPr/>
        </p:nvCxnSpPr>
        <p:spPr>
          <a:xfrm flipH="1" flipV="1">
            <a:off x="10521109" y="3064563"/>
            <a:ext cx="495759" cy="900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CE2A780-A9A1-4ED8-83B7-21F8AD4D26A7}"/>
              </a:ext>
            </a:extLst>
          </p:cNvPr>
          <p:cNvCxnSpPr>
            <a:cxnSpLocks/>
          </p:cNvCxnSpPr>
          <p:nvPr/>
        </p:nvCxnSpPr>
        <p:spPr>
          <a:xfrm flipH="1">
            <a:off x="10565825" y="3262915"/>
            <a:ext cx="484742" cy="103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5A126E-568F-4A2B-A115-9FE67490E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8804FDCC-2FBB-48C8-8E09-6ED71BF13A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5388" y="153988"/>
            <a:ext cx="7745412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Hardware Address Protection</a:t>
            </a:r>
          </a:p>
        </p:txBody>
      </p:sp>
      <p:sp>
        <p:nvSpPr>
          <p:cNvPr id="15363" name="Content Placeholder 3">
            <a:extLst>
              <a:ext uri="{FF2B5EF4-FFF2-40B4-BE49-F238E27FC236}">
                <a16:creationId xmlns:a16="http://schemas.microsoft.com/office/drawing/2014/main" id="{D5FC248C-C2D3-4612-8E3A-6F5A9529EB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5851" y="1135234"/>
            <a:ext cx="4755633" cy="4263298"/>
          </a:xfrm>
        </p:spPr>
        <p:txBody>
          <a:bodyPr>
            <a:normAutofit/>
          </a:bodyPr>
          <a:lstStyle/>
          <a:p>
            <a:r>
              <a:rPr lang="en-US" altLang="en-US" dirty="0"/>
              <a:t>CPU must check every memory access generated in user mode to be sure it is between base and limit for that user process</a:t>
            </a:r>
          </a:p>
          <a:p>
            <a:r>
              <a:rPr lang="en-US" altLang="en-US" dirty="0"/>
              <a:t>the instructions to loading the base and limit registers are </a:t>
            </a:r>
            <a:r>
              <a:rPr lang="en-US" altLang="en-US" b="1" dirty="0"/>
              <a:t>privileged</a:t>
            </a:r>
            <a:r>
              <a:rPr lang="en-US" altLang="en-US" dirty="0"/>
              <a:t>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15364" name="Picture 4" descr="W:\os-book\OS10\slide-dir\os-figures\9_02.jpg">
            <a:extLst>
              <a:ext uri="{FF2B5EF4-FFF2-40B4-BE49-F238E27FC236}">
                <a16:creationId xmlns:a16="http://schemas.microsoft.com/office/drawing/2014/main" id="{9FD319E3-F601-4036-8524-B56561EC9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429" y="1613358"/>
            <a:ext cx="525145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EB1DD7-F9D0-4F12-AF60-E5E9A592BBF9}"/>
              </a:ext>
            </a:extLst>
          </p:cNvPr>
          <p:cNvSpPr txBox="1"/>
          <p:nvPr/>
        </p:nvSpPr>
        <p:spPr>
          <a:xfrm>
            <a:off x="7789250" y="1135234"/>
            <a:ext cx="982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C8346E-DC54-434C-9E63-7F93DBCB7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52D896D6-0196-4C00-AAA6-0E627207D2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8913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Address Binding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CB3BD6DE-A8CA-4103-B469-240DEB9A7F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83894" y="965994"/>
            <a:ext cx="6521986" cy="4926012"/>
          </a:xfrm>
        </p:spPr>
        <p:txBody>
          <a:bodyPr/>
          <a:lstStyle/>
          <a:p>
            <a:r>
              <a:rPr lang="en-US" altLang="en-US" sz="2000" dirty="0"/>
              <a:t>Programs on disk, ready to be brought into memory to execute</a:t>
            </a:r>
          </a:p>
          <a:p>
            <a:r>
              <a:rPr lang="en-US" altLang="en-US" sz="2000" dirty="0"/>
              <a:t>User process physical address can start any where in physical memory decided by OS</a:t>
            </a:r>
          </a:p>
          <a:p>
            <a:r>
              <a:rPr lang="en-US" altLang="en-US" sz="2000" dirty="0"/>
              <a:t>Addresses represented in different ways at different stages of a program</a:t>
            </a:r>
            <a:r>
              <a:rPr lang="ja-JP" altLang="en-US" sz="2000" dirty="0"/>
              <a:t>’</a:t>
            </a:r>
            <a:r>
              <a:rPr lang="en-US" altLang="ja-JP" sz="2000" dirty="0"/>
              <a:t>s life</a:t>
            </a:r>
          </a:p>
          <a:p>
            <a:pPr lvl="1"/>
            <a:r>
              <a:rPr lang="en-US" altLang="en-US" sz="2000" dirty="0"/>
              <a:t>Source code addresses usually symbolic</a:t>
            </a:r>
          </a:p>
          <a:p>
            <a:pPr lvl="1"/>
            <a:r>
              <a:rPr lang="en-US" altLang="en-US" sz="2000" dirty="0"/>
              <a:t>Compiled code addresses </a:t>
            </a:r>
            <a:r>
              <a:rPr lang="en-US" altLang="en-US" sz="2000" b="1" dirty="0">
                <a:solidFill>
                  <a:srgbClr val="0000FF"/>
                </a:solidFill>
              </a:rPr>
              <a:t>bind </a:t>
            </a:r>
            <a:r>
              <a:rPr lang="en-US" altLang="en-US" sz="2000" dirty="0"/>
              <a:t>to relocatable addresses</a:t>
            </a:r>
          </a:p>
          <a:p>
            <a:pPr lvl="2"/>
            <a:r>
              <a:rPr lang="en-US" altLang="en-US" dirty="0"/>
              <a:t>i.e. </a:t>
            </a:r>
            <a:r>
              <a:rPr lang="ja-JP" altLang="en-US" dirty="0"/>
              <a:t>“</a:t>
            </a:r>
            <a:r>
              <a:rPr lang="en-US" altLang="ja-JP" dirty="0"/>
              <a:t>14 bytes from beginning of this module</a:t>
            </a:r>
            <a:r>
              <a:rPr lang="ja-JP" altLang="en-US" dirty="0"/>
              <a:t>”</a:t>
            </a:r>
            <a:endParaRPr lang="en-US" altLang="ja-JP" dirty="0"/>
          </a:p>
          <a:p>
            <a:pPr lvl="1"/>
            <a:r>
              <a:rPr lang="en-US" altLang="en-US" sz="2000" dirty="0"/>
              <a:t>Linker or loader will bind relocatable addresses to absolute addresses</a:t>
            </a:r>
          </a:p>
          <a:p>
            <a:pPr lvl="2"/>
            <a:r>
              <a:rPr lang="en-US" altLang="en-US" dirty="0"/>
              <a:t>i.e. 74014</a:t>
            </a:r>
          </a:p>
          <a:p>
            <a:pPr lvl="1"/>
            <a:r>
              <a:rPr lang="en-US" altLang="en-US" sz="2000" dirty="0"/>
              <a:t>Each binding maps one address space to another</a:t>
            </a:r>
          </a:p>
          <a:p>
            <a:pPr>
              <a:buFont typeface="Monotype Sorts" pitchFamily="-84" charset="2"/>
              <a:buNone/>
            </a:pPr>
            <a:endParaRPr kumimoji="0" lang="en-US" altLang="en-US" dirty="0"/>
          </a:p>
          <a:p>
            <a:pPr lvl="1"/>
            <a:endParaRPr kumimoji="0" lang="en-US" alt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EB2BFD7-AF48-4A2D-A41B-752E440C4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614" y="1076163"/>
            <a:ext cx="4127492" cy="43513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518C38-7853-4136-AB46-AC6217ED4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EC0CDCD-7A8A-4281-9F46-EAE6DCBE57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9314" y="275422"/>
            <a:ext cx="8134350" cy="4572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dirty="0"/>
              <a:t>Binding of Instructions and Data to Memory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DC54F549-D8E5-4545-BD93-3314934309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0648" y="1129114"/>
            <a:ext cx="6923872" cy="4996264"/>
          </a:xfrm>
        </p:spPr>
        <p:txBody>
          <a:bodyPr>
            <a:normAutofit/>
          </a:bodyPr>
          <a:lstStyle/>
          <a:p>
            <a:r>
              <a:rPr kumimoji="0" lang="en-US" altLang="en-US" dirty="0"/>
              <a:t>Address binding of instructions and data to memory addresses can happen at three different stages</a:t>
            </a:r>
          </a:p>
          <a:p>
            <a:pPr lvl="1"/>
            <a:r>
              <a:rPr lang="en-US" altLang="en-US" b="1" dirty="0"/>
              <a:t>Compile time</a:t>
            </a:r>
            <a:r>
              <a:rPr lang="en-US" altLang="en-US" dirty="0"/>
              <a:t>:  If memory location known a priori, </a:t>
            </a:r>
            <a:r>
              <a:rPr lang="en-US" altLang="en-US" b="1" dirty="0">
                <a:solidFill>
                  <a:srgbClr val="3366FF"/>
                </a:solidFill>
              </a:rPr>
              <a:t>absolute code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can be generated; must recompile code if starting location changes</a:t>
            </a:r>
          </a:p>
          <a:p>
            <a:pPr lvl="1"/>
            <a:r>
              <a:rPr lang="en-US" altLang="en-US" b="1" dirty="0"/>
              <a:t>Load time</a:t>
            </a:r>
            <a:r>
              <a:rPr lang="en-US" altLang="en-US" dirty="0"/>
              <a:t>:  Must generate </a:t>
            </a:r>
            <a:r>
              <a:rPr lang="en-US" altLang="en-US" b="1" dirty="0">
                <a:solidFill>
                  <a:srgbClr val="3366FF"/>
                </a:solidFill>
              </a:rPr>
              <a:t>relocatable code</a:t>
            </a:r>
            <a:r>
              <a:rPr lang="en-US" altLang="en-US" dirty="0"/>
              <a:t> if memory location is not known at compile time</a:t>
            </a:r>
          </a:p>
          <a:p>
            <a:pPr lvl="1"/>
            <a:r>
              <a:rPr lang="en-US" altLang="en-US" b="1" dirty="0"/>
              <a:t>Execution time</a:t>
            </a:r>
            <a:r>
              <a:rPr lang="en-US" altLang="en-US" dirty="0"/>
              <a:t>:  Binding delayed until run time if the process can be moved during its execution from one memory segment to another</a:t>
            </a:r>
          </a:p>
          <a:p>
            <a:pPr lvl="2"/>
            <a:r>
              <a:rPr lang="en-US" altLang="en-US" dirty="0"/>
              <a:t>Need hardware support for address maps (e.g., base and limit</a:t>
            </a:r>
            <a:r>
              <a:rPr lang="en-US" altLang="en-US" i="1" dirty="0"/>
              <a:t> </a:t>
            </a:r>
            <a:r>
              <a:rPr lang="en-US" altLang="en-US" dirty="0"/>
              <a:t>registers)</a:t>
            </a:r>
          </a:p>
        </p:txBody>
      </p:sp>
      <p:pic>
        <p:nvPicPr>
          <p:cNvPr id="5" name="Picture 4" descr="8">
            <a:extLst>
              <a:ext uri="{FF2B5EF4-FFF2-40B4-BE49-F238E27FC236}">
                <a16:creationId xmlns:a16="http://schemas.microsoft.com/office/drawing/2014/main" id="{38DBAAD7-D035-426D-A77F-82F8017BE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552" y="934444"/>
            <a:ext cx="2874809" cy="5335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054948-C115-47DC-B027-2D396BED4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CD8D12E-3795-4E67-B539-E4EC91C85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00363" y="198438"/>
            <a:ext cx="75485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Logical vs. Physical Address Space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A637440-55FA-4745-BBD9-810967AC58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0295" y="1062391"/>
            <a:ext cx="8293194" cy="4897734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The concept of a logical address space that is bound to a separate </a:t>
            </a:r>
            <a:r>
              <a:rPr lang="en-US" altLang="en-US" b="1" dirty="0">
                <a:solidFill>
                  <a:srgbClr val="3366FF"/>
                </a:solidFill>
              </a:rPr>
              <a:t>physical address space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central to proper memory management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Logical 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generated by the CPU; also referred to as </a:t>
            </a:r>
            <a:r>
              <a:rPr lang="en-US" altLang="en-US" b="1" dirty="0">
                <a:solidFill>
                  <a:srgbClr val="3366FF"/>
                </a:solidFill>
              </a:rPr>
              <a:t>virtual address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Physical 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address seen by the memory unit</a:t>
            </a:r>
          </a:p>
          <a:p>
            <a:r>
              <a:rPr lang="en-US" altLang="en-US" dirty="0"/>
              <a:t>Logical and physical addresses are the same in compile-time and load-time address-binding schemes; logical (virtual) and physical addresses differ in execution-time address-binding scheme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Logical address space </a:t>
            </a:r>
            <a:r>
              <a:rPr lang="en-US" altLang="en-US" dirty="0"/>
              <a:t>is the set of all logical addresses generated by a program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Physical address space </a:t>
            </a:r>
            <a:r>
              <a:rPr lang="en-US" altLang="en-US" dirty="0"/>
              <a:t>is the set of all physical addresses generated by a program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3C49B5-D003-44DE-A78C-733FE80FE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542C398-783D-49F3-931B-E0AB610017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03476" y="141288"/>
            <a:ext cx="78390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Memory-Management Unit (</a:t>
            </a:r>
            <a:r>
              <a:rPr lang="en-US" altLang="en-US" sz="2800"/>
              <a:t>MMU</a:t>
            </a:r>
            <a:r>
              <a:rPr lang="en-US" altLang="en-US"/>
              <a:t>)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05A7825-7838-4B94-9723-183337383B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63738" y="1041590"/>
            <a:ext cx="8771779" cy="4929551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3366FF"/>
                </a:solidFill>
              </a:rPr>
              <a:t>Logical address space </a:t>
            </a:r>
            <a:r>
              <a:rPr lang="en-US" altLang="en-US" dirty="0"/>
              <a:t>is the set of all logical addresses generated by a program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Physical address space </a:t>
            </a:r>
            <a:r>
              <a:rPr lang="en-US" altLang="en-US" dirty="0"/>
              <a:t>is the set of all physical addresses generated by a program</a:t>
            </a:r>
          </a:p>
          <a:p>
            <a:r>
              <a:rPr lang="en-US" altLang="en-US" dirty="0"/>
              <a:t>Hardware device that </a:t>
            </a:r>
            <a:r>
              <a:rPr lang="en-US" altLang="en-US" b="1" dirty="0"/>
              <a:t>at run time maps</a:t>
            </a:r>
            <a:r>
              <a:rPr lang="en-US" altLang="en-US" dirty="0"/>
              <a:t> virtual to physical address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23556" name="Picture 4" descr="W:\os-book\OS10\slide-dir\os-figures\9_04.jpg">
            <a:extLst>
              <a:ext uri="{FF2B5EF4-FFF2-40B4-BE49-F238E27FC236}">
                <a16:creationId xmlns:a16="http://schemas.microsoft.com/office/drawing/2014/main" id="{046541AA-DF02-4BA6-986F-183E0F40E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374" y="3684147"/>
            <a:ext cx="6654644" cy="241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9E4A0E-ACE7-461C-97DE-B07B83302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E55A1BB-60CD-4370-AFCF-2B7E01ADE4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03476" y="141288"/>
            <a:ext cx="78390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MMU Simple Mapping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E935F62-18C6-4CA7-90F7-0BE7CD621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793" y="1089444"/>
            <a:ext cx="10609530" cy="1411385"/>
          </a:xfrm>
        </p:spPr>
        <p:txBody>
          <a:bodyPr/>
          <a:lstStyle/>
          <a:p>
            <a:r>
              <a:rPr lang="en-US" altLang="en-US" dirty="0"/>
              <a:t>Physical address = </a:t>
            </a:r>
          </a:p>
          <a:p>
            <a:pPr marL="0" indent="0">
              <a:buNone/>
            </a:pPr>
            <a:r>
              <a:rPr lang="en-US" altLang="en-US" dirty="0"/>
              <a:t>    relocation register + logical address</a:t>
            </a:r>
          </a:p>
          <a:p>
            <a:pPr marL="342900" lvl="1" indent="-342900"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lang="en-US" altLang="en-US" dirty="0"/>
              <a:t>The base register: </a:t>
            </a:r>
            <a:r>
              <a:rPr lang="en-US" altLang="en-US" b="1" dirty="0">
                <a:solidFill>
                  <a:srgbClr val="0000FF"/>
                </a:solidFill>
              </a:rPr>
              <a:t>relocation register</a:t>
            </a:r>
          </a:p>
        </p:txBody>
      </p:sp>
      <p:pic>
        <p:nvPicPr>
          <p:cNvPr id="27652" name="Picture 2" descr="W:\os-book\OS10\slide-dir\os-figures\9_05.jpg">
            <a:extLst>
              <a:ext uri="{FF2B5EF4-FFF2-40B4-BE49-F238E27FC236}">
                <a16:creationId xmlns:a16="http://schemas.microsoft.com/office/drawing/2014/main" id="{D7173A23-F699-4B99-BD5F-AB0B16164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595" y="2872723"/>
            <a:ext cx="4778029" cy="3370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3A2AE-4829-4932-BCE0-64DFBC07D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D3A99-299C-4B8D-AE0A-11C3FDF6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40D8B-6902-41BA-A730-F7F58959A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Entire program is not needed at all time</a:t>
            </a:r>
          </a:p>
          <a:p>
            <a:r>
              <a:rPr lang="en-US" dirty="0"/>
              <a:t>Code for infrequently occurring case</a:t>
            </a:r>
          </a:p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Do not load a routine until it is called</a:t>
            </a:r>
          </a:p>
          <a:p>
            <a:r>
              <a:rPr lang="en-US" dirty="0"/>
              <a:t>Benefit:</a:t>
            </a:r>
          </a:p>
          <a:p>
            <a:pPr lvl="1"/>
            <a:r>
              <a:rPr lang="en-US" dirty="0"/>
              <a:t>Better memory-space utilization</a:t>
            </a:r>
          </a:p>
          <a:p>
            <a:r>
              <a:rPr lang="en-US" dirty="0"/>
              <a:t>No special support from the operating system is required since relocatable </a:t>
            </a:r>
            <a:r>
              <a:rPr lang="en-US" b="1" dirty="0"/>
              <a:t>linking loader </a:t>
            </a:r>
            <a:r>
              <a:rPr lang="en-US" dirty="0"/>
              <a:t>can be called to load the desired routine into memory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3727D-1004-4055-A2A5-6D92BBE68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68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9F51D5C6-FC0E-43EB-A2E7-EA936CA653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71031" y="211445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Dynamic Linking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C555F297-8225-4FCE-AAB5-F2DA0207C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238" y="1073054"/>
            <a:ext cx="9511651" cy="4997239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b="1" dirty="0">
                <a:solidFill>
                  <a:srgbClr val="3366FF"/>
                </a:solidFill>
              </a:rPr>
              <a:t>Static linking </a:t>
            </a:r>
            <a:r>
              <a:rPr lang="en-US" altLang="en-US" dirty="0"/>
              <a:t>– system libraries and program code combined by the loader into the binary program image</a:t>
            </a:r>
          </a:p>
          <a:p>
            <a:r>
              <a:rPr lang="en-US" altLang="en-US" dirty="0"/>
              <a:t>Dynamic linking –</a:t>
            </a:r>
            <a:r>
              <a:rPr lang="en-US" altLang="en-US" b="1" dirty="0"/>
              <a:t>linking postponed until execution time</a:t>
            </a:r>
            <a:endParaRPr lang="en-US" altLang="en-US" sz="800" b="1" dirty="0"/>
          </a:p>
          <a:p>
            <a:r>
              <a:rPr lang="en-US" altLang="en-US" dirty="0"/>
              <a:t>Small piece of code, </a:t>
            </a:r>
            <a:r>
              <a:rPr lang="en-US" altLang="en-US" b="1" dirty="0">
                <a:solidFill>
                  <a:srgbClr val="3366FF"/>
                </a:solidFill>
              </a:rPr>
              <a:t>stub</a:t>
            </a:r>
            <a:r>
              <a:rPr lang="en-US" altLang="en-US" dirty="0"/>
              <a:t>, used to locate the appropriate memory-resident library routine</a:t>
            </a:r>
            <a:endParaRPr lang="en-US" altLang="en-US" sz="800" dirty="0"/>
          </a:p>
          <a:p>
            <a:r>
              <a:rPr lang="en-US" altLang="en-US" dirty="0"/>
              <a:t>Stub replaces itself with the address of the routine, and executes the routine</a:t>
            </a:r>
            <a:endParaRPr lang="en-US" altLang="en-US" sz="800" dirty="0"/>
          </a:p>
          <a:p>
            <a:r>
              <a:rPr lang="en-US" altLang="en-US" dirty="0"/>
              <a:t>Operating system checks if routine is in processes</a:t>
            </a:r>
            <a:r>
              <a:rPr lang="ja-JP" altLang="en-US" dirty="0"/>
              <a:t>’</a:t>
            </a:r>
            <a:r>
              <a:rPr lang="en-US" altLang="ja-JP" dirty="0"/>
              <a:t> memory address</a:t>
            </a:r>
          </a:p>
          <a:p>
            <a:pPr lvl="1"/>
            <a:r>
              <a:rPr lang="en-US" altLang="en-US" dirty="0"/>
              <a:t>If not in address space, add to address space</a:t>
            </a:r>
            <a:endParaRPr lang="en-US" altLang="en-US" sz="800" dirty="0"/>
          </a:p>
          <a:p>
            <a:r>
              <a:rPr lang="en-US" altLang="en-US" dirty="0"/>
              <a:t>Dynamic linking is particularly useful for libraries</a:t>
            </a:r>
            <a:endParaRPr lang="en-US" altLang="en-US" sz="800" dirty="0"/>
          </a:p>
          <a:p>
            <a:r>
              <a:rPr lang="en-US" altLang="en-US" dirty="0"/>
              <a:t>System also known as </a:t>
            </a:r>
            <a:r>
              <a:rPr lang="en-US" altLang="en-US" b="1" dirty="0">
                <a:solidFill>
                  <a:srgbClr val="3366FF"/>
                </a:solidFill>
              </a:rPr>
              <a:t>shared libraries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Consider applicability to patching system libraries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Versioning may be needed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A74CAE-55E0-4139-9E9F-3872656F9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55B6C-76B8-41EB-9426-9CA1B3D65EEC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777</Words>
  <Application>Microsoft Office PowerPoint</Application>
  <PresentationFormat>Widescreen</PresentationFormat>
  <Paragraphs>115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MS PGothic</vt:lpstr>
      <vt:lpstr>游ゴシック</vt:lpstr>
      <vt:lpstr>Arial</vt:lpstr>
      <vt:lpstr>Calibri</vt:lpstr>
      <vt:lpstr>Calibri Light</vt:lpstr>
      <vt:lpstr>Helvetica</vt:lpstr>
      <vt:lpstr>Monotype Sorts</vt:lpstr>
      <vt:lpstr>Times New Roman</vt:lpstr>
      <vt:lpstr>Office Theme</vt:lpstr>
      <vt:lpstr>Main Memory Lesson 1 Introduction</vt:lpstr>
      <vt:lpstr>Learning Outcomes</vt:lpstr>
      <vt:lpstr>Background I</vt:lpstr>
      <vt:lpstr>Background II</vt:lpstr>
      <vt:lpstr>Protection</vt:lpstr>
      <vt:lpstr>Hardware Address Protection</vt:lpstr>
      <vt:lpstr>Address Binding</vt:lpstr>
      <vt:lpstr>Binding of Instructions and Data to Memory</vt:lpstr>
      <vt:lpstr>Logical vs. Physical Address Space</vt:lpstr>
      <vt:lpstr>Memory-Management Unit (MMU)</vt:lpstr>
      <vt:lpstr>MMU Simple Mapping</vt:lpstr>
      <vt:lpstr>Dynamic Loading</vt:lpstr>
      <vt:lpstr>Dynamic Linking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Memory Lesson 1 Introduction</dc:title>
  <dc:creator>David Liu</dc:creator>
  <cp:lastModifiedBy>David Liu</cp:lastModifiedBy>
  <cp:revision>15</cp:revision>
  <dcterms:created xsi:type="dcterms:W3CDTF">2021-11-14T21:18:06Z</dcterms:created>
  <dcterms:modified xsi:type="dcterms:W3CDTF">2022-03-24T15:28:56Z</dcterms:modified>
</cp:coreProperties>
</file>