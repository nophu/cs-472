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1" r:id="rId6"/>
    <p:sldId id="257" r:id="rId7"/>
    <p:sldId id="258" r:id="rId8"/>
    <p:sldId id="265" r:id="rId9"/>
    <p:sldId id="266" r:id="rId10"/>
    <p:sldId id="267" r:id="rId11"/>
    <p:sldId id="260" r:id="rId12"/>
    <p:sldId id="268" r:id="rId13"/>
    <p:sldId id="262" r:id="rId14"/>
    <p:sldId id="269" r:id="rId15"/>
    <p:sldId id="264" r:id="rId16"/>
    <p:sldId id="270" r:id="rId17"/>
    <p:sldId id="26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B1FB7-1576-479C-8277-CF1416BB39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F789C3-BA30-4018-924F-5955691DA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B7D64-079A-4DB0-9FE7-B061C079F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C7B4B-8C67-46B9-BB13-7872BABFB46F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C4EE6-9BC3-4BFB-8190-C69D3A89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00FB4-8E24-4516-A4D2-1E9523A04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0013A-78AC-484E-8875-E045510DC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1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A58F4-12C1-4B0C-8DE5-6A68F677C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5D94D-B665-49BA-8A8E-22BB3578D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57B4E-F6D7-4AD9-B899-A1E2966B4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C7B4B-8C67-46B9-BB13-7872BABFB46F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DFD53-EB47-49BD-AAE1-60ABCCBF6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505C3-90D2-46D5-8279-88B8C6E0F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0013A-78AC-484E-8875-E045510DC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632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C9759-9CE2-4CE3-B906-2F4417FE9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CE9DD-3987-4041-A16E-2B7129C65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2FF7D-A664-418B-B1E9-0002873E1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C7B4B-8C67-46B9-BB13-7872BABFB46F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76A62-9F23-4CEB-8292-BDFBBE3E7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EBAE6-D7AE-432C-901A-B75747ECC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0013A-78AC-484E-8875-E045510DC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859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DF9C7-4B26-47DC-B7FC-E7118817E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58056-F321-477B-8845-360ECE7A1E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7D84B-8306-4E78-BC9F-A3373C303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78649-E830-4D93-8CDB-3B9A174C6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C7B4B-8C67-46B9-BB13-7872BABFB46F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B93D9-0204-45C7-B232-49F59655D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52F20-87DB-43B0-9B73-39D70DB95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0013A-78AC-484E-8875-E045510DC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377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70F7B-652A-4B0A-9D44-37DFD7A25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535CE-9DBB-48EF-B485-5D5B5F9B3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E84C7-582A-4A1B-933F-9B71B6F5FB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78FD1E-C93E-49DA-9080-2EF9659657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E79E03-B7DE-48C8-BBA6-3F559AA3D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893D85-9C43-40E1-A1C1-9A9C61A45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C7B4B-8C67-46B9-BB13-7872BABFB46F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1EA41F-FC73-48C5-909B-0F70977B2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A7F8B0-0158-41D9-8732-08986227E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0013A-78AC-484E-8875-E045510DC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45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6D4A7-7D56-4A10-AFC9-968880B3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C68FAA-BEC6-4014-8D8F-A6B575CF1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C7B4B-8C67-46B9-BB13-7872BABFB46F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54876D-92FB-4607-BAAE-42836B94F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1DB3F-E1E6-48EE-9861-0389E28CF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0013A-78AC-484E-8875-E045510DC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2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07516F-A5C5-47E2-B442-566B3791E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C7B4B-8C67-46B9-BB13-7872BABFB46F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5C43EA-BABC-4425-B2F5-F8F44FD05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A9D67-E3F7-4EDE-A4EA-652F28BA8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0013A-78AC-484E-8875-E045510DC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564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0A965-5E1F-4CF9-8784-3726504A9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CB2E7-FCFB-4A82-B0E5-F38E55166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83C0C-DCA6-40B4-8872-02F923FDA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556E2B-6132-49AA-9624-5FB5B29C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C7B4B-8C67-46B9-BB13-7872BABFB46F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0C63B-BA63-4CC4-86E2-20B02ECD8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85C483-6B86-40CF-95E8-5800B4A5D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0013A-78AC-484E-8875-E045510DC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890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5707F-2BF9-4351-B21D-F3656DEA7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3672E0-78A8-4512-82C7-6E90F5CF83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1B3A9B-17E3-4762-95D4-8FBA30370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5C8A6B-6A0F-4DB3-A18B-9AF985486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C7B4B-8C67-46B9-BB13-7872BABFB46F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E7484-88E7-4970-B3ED-770DC0413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AFC188-6BB0-4B2A-A20E-C884AD38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0013A-78AC-484E-8875-E045510DC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930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1F77E-EF94-4990-A91D-A841E3C1D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A1D66D-2B25-4F8E-835B-1968AE556E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ACBA9-EB2B-45AA-B7B6-C36B44444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C7B4B-8C67-46B9-BB13-7872BABFB46F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D596A-A9FB-4B0D-AB3E-9AD35F044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3FECD-90E7-4764-AF12-C1E7426F0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0013A-78AC-484E-8875-E045510DC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81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7419E6-8849-44AE-ABEC-F8F56DE83C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E957B-6333-423C-8151-37661A6F67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FBC33-B243-47B8-B745-B321414E7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C7B4B-8C67-46B9-BB13-7872BABFB46F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083FF-318D-4B2C-B073-D0178333F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9A3CD-5D06-4F0C-9907-EB95B3EB6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0013A-78AC-484E-8875-E045510DC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558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40658D-0C5A-4A66-940F-FC95E7AF0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59C60-5BDE-4A99-8BD1-524906EB5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59308-0F92-4A9F-86EB-1305F70D30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8C7B4B-8C67-46B9-BB13-7872BABFB46F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2ECCB-9D79-4EEA-9140-69B965C638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86F10-1091-4232-8FE3-98BDE3D614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0013A-78AC-484E-8875-E045510DC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696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826FA-BB24-4A03-ADCD-726CC8C2B3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OS Introduction 5</a:t>
            </a:r>
            <a:br>
              <a:rPr lang="en-US" dirty="0"/>
            </a:br>
            <a:r>
              <a:rPr lang="en-US" dirty="0"/>
              <a:t>Resource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35082F-50B0-452C-9895-D4CC5F9E34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</a:t>
            </a:r>
            <a:r>
              <a:rPr lang="en-US"/>
              <a:t>, Spring 2022, Fall 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392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57D93-5905-42A8-825A-67467675D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5A515-34F1-4456-BA38-2F9A35AF6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Discuss the role and importance of operating systems</a:t>
            </a:r>
          </a:p>
          <a:p>
            <a:r>
              <a:rPr lang="en-US" dirty="0"/>
              <a:t>Describe the general organization of a computer system and the role of interrupts</a:t>
            </a:r>
          </a:p>
          <a:p>
            <a:r>
              <a:rPr lang="en-US" dirty="0"/>
              <a:t>Describe the components in a modern, multiprocessor computer system</a:t>
            </a:r>
          </a:p>
          <a:p>
            <a:r>
              <a:rPr lang="en-US" dirty="0"/>
              <a:t>Illustrate the transition from user mode to kernel mode</a:t>
            </a:r>
          </a:p>
          <a:p>
            <a:r>
              <a:rPr lang="en-US" dirty="0">
                <a:solidFill>
                  <a:srgbClr val="FF0000"/>
                </a:solidFill>
              </a:rPr>
              <a:t>Discuss how OS manages computing resources</a:t>
            </a:r>
          </a:p>
          <a:p>
            <a:r>
              <a:rPr lang="en-US" dirty="0"/>
              <a:t>Discuss how operating systems are used in various computing environments</a:t>
            </a:r>
          </a:p>
          <a:p>
            <a:r>
              <a:rPr lang="en-US" dirty="0"/>
              <a:t>Provide examples of free and open-source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360599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05F8F-1A32-43FB-BDB5-A14F80AA3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F4CB5-6671-431F-B2FE-4560F38EC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536" y="250666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Process management</a:t>
            </a:r>
          </a:p>
          <a:p>
            <a:r>
              <a:rPr lang="en-US" dirty="0"/>
              <a:t>Memory management</a:t>
            </a:r>
          </a:p>
          <a:p>
            <a:r>
              <a:rPr lang="en-US" dirty="0"/>
              <a:t>File-System management</a:t>
            </a:r>
          </a:p>
          <a:p>
            <a:r>
              <a:rPr lang="en-US" dirty="0"/>
              <a:t>Mass-Storage management</a:t>
            </a:r>
          </a:p>
          <a:p>
            <a:r>
              <a:rPr lang="en-US" dirty="0"/>
              <a:t>Cache Management</a:t>
            </a:r>
          </a:p>
          <a:p>
            <a:r>
              <a:rPr lang="en-US" dirty="0"/>
              <a:t>I/O System Management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C53794-0DF2-4ECF-AEF4-F1C6B75C3123}"/>
              </a:ext>
            </a:extLst>
          </p:cNvPr>
          <p:cNvSpPr txBox="1"/>
          <p:nvPr/>
        </p:nvSpPr>
        <p:spPr>
          <a:xfrm>
            <a:off x="1157680" y="1388825"/>
            <a:ext cx="7969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Operating System manages computing resources: CPU, memory space, file-storage, I/O devices, etc.</a:t>
            </a:r>
          </a:p>
        </p:txBody>
      </p:sp>
    </p:spTree>
    <p:extLst>
      <p:ext uri="{BB962C8B-B14F-4D97-AF65-F5344CB8AC3E}">
        <p14:creationId xmlns:p14="http://schemas.microsoft.com/office/powerpoint/2010/main" val="1959412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0CBFA-09FA-4608-9C64-09E47ECE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E53E5-8759-4DD4-9374-45E43B94A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process?</a:t>
            </a:r>
          </a:p>
          <a:p>
            <a:r>
              <a:rPr lang="en-US" dirty="0"/>
              <a:t>Is OS running as a process?</a:t>
            </a:r>
          </a:p>
          <a:p>
            <a:r>
              <a:rPr lang="en-US" dirty="0"/>
              <a:t>Resource for process</a:t>
            </a:r>
          </a:p>
          <a:p>
            <a:pPr lvl="1"/>
            <a:endParaRPr lang="en-US" dirty="0"/>
          </a:p>
          <a:p>
            <a:r>
              <a:rPr lang="en-US" dirty="0"/>
              <a:t>Program Counter: </a:t>
            </a:r>
          </a:p>
          <a:p>
            <a:r>
              <a:rPr lang="en-US" dirty="0"/>
              <a:t>How many program counters per process?</a:t>
            </a:r>
          </a:p>
          <a:p>
            <a:r>
              <a:rPr lang="en-US" dirty="0"/>
              <a:t>How many process can run at the same time?</a:t>
            </a:r>
          </a:p>
        </p:txBody>
      </p:sp>
    </p:spTree>
    <p:extLst>
      <p:ext uri="{BB962C8B-B14F-4D97-AF65-F5344CB8AC3E}">
        <p14:creationId xmlns:p14="http://schemas.microsoft.com/office/powerpoint/2010/main" val="1104475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27FD4-0BDE-4DDB-8D6A-26573B5CB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Management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8584C-5101-4633-A9E4-ACE3ECD82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Five Process Management Activities</a:t>
            </a:r>
          </a:p>
          <a:p>
            <a:r>
              <a:rPr lang="en-US" dirty="0"/>
              <a:t>Creating and deleting __________________________</a:t>
            </a:r>
          </a:p>
          <a:p>
            <a:r>
              <a:rPr lang="en-US" dirty="0"/>
              <a:t>Scheduling _____________________</a:t>
            </a:r>
          </a:p>
          <a:p>
            <a:r>
              <a:rPr lang="en-US" dirty="0"/>
              <a:t>Suspending and resuming ______________</a:t>
            </a:r>
          </a:p>
          <a:p>
            <a:r>
              <a:rPr lang="en-US" dirty="0"/>
              <a:t>______________ for process  synchronization</a:t>
            </a:r>
          </a:p>
          <a:p>
            <a:r>
              <a:rPr lang="en-US" dirty="0"/>
              <a:t>______________ for process communication</a:t>
            </a:r>
          </a:p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598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707E7-136E-40D9-B7BA-3AED3641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E14CB-FE2A-4EF0-A33A-59AB7E5B6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(or part) of the instructions must be in memory</a:t>
            </a:r>
          </a:p>
          <a:p>
            <a:r>
              <a:rPr lang="en-US" altLang="en-US" dirty="0"/>
              <a:t>All  (or part) of the data that is needed by the program must be in memory</a:t>
            </a:r>
            <a:endParaRPr lang="en-US" altLang="en-US" sz="1050" dirty="0"/>
          </a:p>
          <a:p>
            <a:r>
              <a:rPr lang="en-US" dirty="0"/>
              <a:t>Purpose</a:t>
            </a:r>
          </a:p>
          <a:p>
            <a:pPr lvl="1"/>
            <a:r>
              <a:rPr lang="en-US" dirty="0"/>
              <a:t>CPU utilization</a:t>
            </a:r>
          </a:p>
          <a:p>
            <a:pPr lvl="1"/>
            <a:r>
              <a:rPr lang="en-US" dirty="0"/>
              <a:t>Response time</a:t>
            </a:r>
          </a:p>
        </p:txBody>
      </p:sp>
    </p:spTree>
    <p:extLst>
      <p:ext uri="{BB962C8B-B14F-4D97-AF65-F5344CB8AC3E}">
        <p14:creationId xmlns:p14="http://schemas.microsoft.com/office/powerpoint/2010/main" val="1824627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19637-E3A7-4F05-B9CC-45F0BF164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Management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1CEBE-9C67-43B6-BA2E-FA2650C3C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Three MM Activities</a:t>
            </a:r>
          </a:p>
          <a:p>
            <a:r>
              <a:rPr lang="en-US" dirty="0"/>
              <a:t>Which process uses parts of memory</a:t>
            </a:r>
          </a:p>
          <a:p>
            <a:r>
              <a:rPr lang="en-US" dirty="0"/>
              <a:t>Allocate and deallocate</a:t>
            </a:r>
          </a:p>
          <a:p>
            <a:r>
              <a:rPr lang="en-US" dirty="0"/>
              <a:t>Which Parts of process or data into or out of memory</a:t>
            </a:r>
          </a:p>
        </p:txBody>
      </p:sp>
    </p:spTree>
    <p:extLst>
      <p:ext uri="{BB962C8B-B14F-4D97-AF65-F5344CB8AC3E}">
        <p14:creationId xmlns:p14="http://schemas.microsoft.com/office/powerpoint/2010/main" val="3644116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3C5FF-F34A-4861-A414-A41C0AF54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File-System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B7107-6015-4867-B4D3-B01D6E5DD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Logical storage unit</a:t>
            </a:r>
          </a:p>
          <a:p>
            <a:r>
              <a:rPr lang="en-US" dirty="0"/>
              <a:t>Hierarchical directories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868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ADCB-7861-4B4D-99D4-F5D0EF163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File-System management Four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8F537-2C89-4040-B600-79B0B5DC1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Creating and deleting files and directories</a:t>
            </a:r>
          </a:p>
          <a:p>
            <a:r>
              <a:rPr lang="en-US" dirty="0"/>
              <a:t>Primitives to manipulate files and directories</a:t>
            </a:r>
          </a:p>
          <a:p>
            <a:r>
              <a:rPr lang="en-US" dirty="0"/>
              <a:t>Mapping files onto secondary storage</a:t>
            </a:r>
          </a:p>
          <a:p>
            <a:r>
              <a:rPr lang="en-US" dirty="0"/>
              <a:t>Backup files onto stable (non-volatile) storage media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282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80720-691A-460D-A173-1A7F9EA32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Mass-Storage management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784AB-D47F-4B0E-9377-7703C0108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 up main memory</a:t>
            </a:r>
          </a:p>
          <a:p>
            <a:r>
              <a:rPr lang="en-US" dirty="0"/>
              <a:t>Both programs and data</a:t>
            </a:r>
          </a:p>
          <a:p>
            <a:r>
              <a:rPr lang="en-US" dirty="0"/>
              <a:t>Secondary and tertiary storage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F23A537-7BF9-4B49-9B3D-78B0FD12B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5761" y="2471351"/>
            <a:ext cx="5928241" cy="3442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5719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E42BB-1ADE-4FE5-BA21-DB642B7E6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Mass Storage Management Six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D1B1B-63DD-46FE-B296-284E17E00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Mounting and unmounting</a:t>
            </a:r>
          </a:p>
          <a:p>
            <a:r>
              <a:rPr lang="en-US" dirty="0"/>
              <a:t>Free-space management</a:t>
            </a:r>
          </a:p>
          <a:p>
            <a:r>
              <a:rPr lang="en-US" dirty="0"/>
              <a:t>Storage allocation</a:t>
            </a:r>
          </a:p>
          <a:p>
            <a:r>
              <a:rPr lang="en-US" dirty="0"/>
              <a:t>Disk scheduling</a:t>
            </a:r>
          </a:p>
          <a:p>
            <a:r>
              <a:rPr lang="en-US" dirty="0"/>
              <a:t>Partitioning</a:t>
            </a:r>
          </a:p>
          <a:p>
            <a:r>
              <a:rPr lang="en-US" dirty="0"/>
              <a:t>Protection</a:t>
            </a:r>
          </a:p>
        </p:txBody>
      </p:sp>
    </p:spTree>
    <p:extLst>
      <p:ext uri="{BB962C8B-B14F-4D97-AF65-F5344CB8AC3E}">
        <p14:creationId xmlns:p14="http://schemas.microsoft.com/office/powerpoint/2010/main" val="4235271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C7180-D455-4E8D-9224-D04DA825F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Cache Management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A4FB17D-57E6-4453-A436-D45A3A03E9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3073935"/>
              </p:ext>
            </p:extLst>
          </p:nvPr>
        </p:nvGraphicFramePr>
        <p:xfrm>
          <a:off x="2256638" y="1825625"/>
          <a:ext cx="633369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6845">
                  <a:extLst>
                    <a:ext uri="{9D8B030D-6E8A-4147-A177-3AD203B41FA5}">
                      <a16:colId xmlns:a16="http://schemas.microsoft.com/office/drawing/2014/main" val="3559244350"/>
                    </a:ext>
                  </a:extLst>
                </a:gridCol>
                <a:gridCol w="3166845">
                  <a:extLst>
                    <a:ext uri="{9D8B030D-6E8A-4147-A177-3AD203B41FA5}">
                      <a16:colId xmlns:a16="http://schemas.microsoft.com/office/drawing/2014/main" val="13564096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Cache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125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Main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Cache (hardware)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714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Main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Registers (programmable)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772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Main memory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759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5787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02B00-2CF9-4B95-9690-7186659E3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Coherency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C940B-5377-41BB-A7FA-8E561EEDC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process vs </a:t>
            </a:r>
            <a:r>
              <a:rPr lang="en-US" dirty="0" err="1"/>
              <a:t>multiprocesses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Multiprocessor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F3189DC-A46A-4BF4-B99C-4CB1AF09E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625" y="2430251"/>
            <a:ext cx="5267179" cy="64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80069677-4956-4071-9C5C-9F881B816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0880" y="3214467"/>
            <a:ext cx="3913101" cy="2962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5443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147FF-29F5-4A91-A075-81356B75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System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66985-D2C9-46CB-A927-804F1BD4F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Hide peculiarity of hardware devices from the users</a:t>
            </a:r>
          </a:p>
          <a:p>
            <a:r>
              <a:rPr lang="en-US" dirty="0"/>
              <a:t>Components</a:t>
            </a:r>
          </a:p>
          <a:p>
            <a:pPr lvl="1"/>
            <a:r>
              <a:rPr lang="en-US" dirty="0"/>
              <a:t>Memory management of I/O </a:t>
            </a:r>
          </a:p>
          <a:p>
            <a:pPr lvl="2"/>
            <a:r>
              <a:rPr lang="en-US" dirty="0"/>
              <a:t>Buffering</a:t>
            </a:r>
          </a:p>
          <a:p>
            <a:pPr lvl="2"/>
            <a:r>
              <a:rPr lang="en-US" dirty="0"/>
              <a:t>Caching</a:t>
            </a:r>
          </a:p>
          <a:p>
            <a:pPr lvl="2"/>
            <a:r>
              <a:rPr lang="en-US" dirty="0"/>
              <a:t>Spooling</a:t>
            </a:r>
          </a:p>
          <a:p>
            <a:pPr lvl="1"/>
            <a:r>
              <a:rPr lang="en-US" dirty="0"/>
              <a:t>General device-driver interface</a:t>
            </a:r>
          </a:p>
          <a:p>
            <a:pPr lvl="1"/>
            <a:r>
              <a:rPr lang="en-US" dirty="0"/>
              <a:t>Drivers for specific hardware devices</a:t>
            </a:r>
          </a:p>
        </p:txBody>
      </p:sp>
    </p:spTree>
    <p:extLst>
      <p:ext uri="{BB962C8B-B14F-4D97-AF65-F5344CB8AC3E}">
        <p14:creationId xmlns:p14="http://schemas.microsoft.com/office/powerpoint/2010/main" val="1477469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8B82B6DC9B934B8A6F4E93EC1EB3F2" ma:contentTypeVersion="8" ma:contentTypeDescription="Create a new document." ma:contentTypeScope="" ma:versionID="bb3086e54c6e9df4f8672ad748b8b39f">
  <xsd:schema xmlns:xsd="http://www.w3.org/2001/XMLSchema" xmlns:xs="http://www.w3.org/2001/XMLSchema" xmlns:p="http://schemas.microsoft.com/office/2006/metadata/properties" xmlns:ns3="830b5502-767e-430d-95ec-02d53adf60ec" xmlns:ns4="5f4802cd-4a75-4983-9c82-4bf481d0a785" targetNamespace="http://schemas.microsoft.com/office/2006/metadata/properties" ma:root="true" ma:fieldsID="fb6fce34b1b4ab61c4c0ed965cb18f17" ns3:_="" ns4:_="">
    <xsd:import namespace="830b5502-767e-430d-95ec-02d53adf60ec"/>
    <xsd:import namespace="5f4802cd-4a75-4983-9c82-4bf481d0a78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AutoKeyPoints" minOccurs="0"/>
                <xsd:element ref="ns4:MediaServiceKeyPoints" minOccurs="0"/>
                <xsd:element ref="ns3:SharedWithDetails" minOccurs="0"/>
                <xsd:element ref="ns3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0b5502-767e-430d-95ec-02d53adf60e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4802cd-4a75-4983-9c82-4bf481d0a7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7081165-68D9-4FA7-B0ED-2A7907EBDEF3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5f4802cd-4a75-4983-9c82-4bf481d0a785"/>
    <ds:schemaRef ds:uri="830b5502-767e-430d-95ec-02d53adf60ec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9ABE5E-7B70-4294-B525-2FA72C644C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0b5502-767e-430d-95ec-02d53adf60ec"/>
    <ds:schemaRef ds:uri="5f4802cd-4a75-4983-9c82-4bf481d0a7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1AF1BD-F69A-4522-829E-2F96FA44190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372</Words>
  <Application>Microsoft Office PowerPoint</Application>
  <PresentationFormat>Widescreen</PresentationFormat>
  <Paragraphs>87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OS Introduction 5 Resource Management</vt:lpstr>
      <vt:lpstr>Learning Objectives</vt:lpstr>
      <vt:lpstr>Resource Management</vt:lpstr>
      <vt:lpstr>Process Management</vt:lpstr>
      <vt:lpstr>Process Management Activities</vt:lpstr>
      <vt:lpstr>Memory Management</vt:lpstr>
      <vt:lpstr>Memory Management Activities</vt:lpstr>
      <vt:lpstr>File-System management</vt:lpstr>
      <vt:lpstr>File-System management Four Activities</vt:lpstr>
      <vt:lpstr> Mass-Storage management </vt:lpstr>
      <vt:lpstr>Mass Storage Management Six Activities</vt:lpstr>
      <vt:lpstr> Cache Management </vt:lpstr>
      <vt:lpstr>Cache Coherency</vt:lpstr>
      <vt:lpstr>I/O System Management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 Introduction 3</dc:title>
  <dc:creator>David Liu</dc:creator>
  <cp:lastModifiedBy>David Liu</cp:lastModifiedBy>
  <cp:revision>30</cp:revision>
  <dcterms:created xsi:type="dcterms:W3CDTF">2021-08-25T15:07:26Z</dcterms:created>
  <dcterms:modified xsi:type="dcterms:W3CDTF">2024-09-04T17:20:21Z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0x010100088B82B6DC9B934B8A6F4E93EC1EB3F2</vt:lpwstr>
  </property>
</Properties>
</file>