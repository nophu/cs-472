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86FB6-7BD6-4803-8239-9A743E240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963730-E258-4934-A385-2C46F844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DCB51-BE0F-498D-B4C4-45034FA8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6FFE6-00B0-45AC-B032-9FCFBFD5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2B18-1E4E-4ECC-AE6C-E5C2B0C1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7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A041-2C51-4D86-A9B8-D62B06FA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5A5C6-27C5-4146-80D6-6C84A8147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56217-65E1-4F9B-9D3A-A31354CB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9AFB5-772F-4B18-8BF1-398E11AB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A7D54-2A8C-4A7A-85DF-19D0728F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0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CFF7-5B98-45A3-A307-6220E9330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8104D-AB93-4C8B-9763-1B78D660B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182F-3080-4B6B-A4E1-F97F2160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C5B07-E5BD-4C10-9BE6-4C89D787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11824-6844-41C2-807C-3E8999A4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91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E3105-FA89-4963-A415-67BED2CF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B344C-E5E2-482A-BF4C-FF5EA3D48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053C7-433C-4493-B964-D811DC96A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01413-5C1B-470E-BA83-1C1A0835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2705-4E18-4E9C-98EC-C1F5FB98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0DF9A-2E22-4E4F-9318-E1985D71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35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35EC-1E28-4E27-BFF8-C152E14F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97995-B477-4060-AD84-EFB4F5635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DC483-E2FA-4531-8778-496EC6682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CF37C-67FD-424F-8CD2-71F6A0B06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43A76F-0C16-434D-BE6F-572918820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4655D-87A4-4BA0-85F8-34EB17A4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F7E0F-7315-4466-A186-224B51EC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D1EDB-36AE-4043-B099-6487376B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50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56AC-01C4-4F8B-A534-2906623F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D13E5-6C85-4D6F-ADD6-3E1234AB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6C1EB-6273-4292-BD8B-A4AC5D3C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4B89C-DB18-4AA4-A63F-0FD0D62FF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97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32466-B4E9-440F-9E22-71EA90C9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300B4-1CEF-4948-92C9-93793970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B1CED-097F-496C-B3DC-D93596BB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4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65E9B-EBB5-4E34-9C30-07C2E1911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55615-D909-4881-8DE8-CD7346325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8DEF1-161C-4B4C-B17C-9F628C46F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65F16-6EF0-4956-B09D-83CABD596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B6819-6326-4A97-8BB1-D711087D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1B447-E463-468C-8891-22910DC2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83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B175-F8B2-443E-9C72-4CB1DD117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CEFF0-419D-4224-A8D5-24D9E68B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4C080-731A-4009-B0B4-5EA70316A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0DF13-755C-4F7C-BCA3-C1E86630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676EE0-08A0-40F5-8795-A87659766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94CFC-AC0F-4FAE-BDA6-14503BC6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42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8360-4C76-450B-AB52-FB54206C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7D484-1B5F-4422-A7ED-E27A5D72F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CD662-CDAF-4F94-A07F-EDBAFC600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05C7A-ED60-47D3-B93F-3356821B2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5726A-5B48-452D-8CC2-15333845D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7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D96501-60EB-4A31-875B-2A176487F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DC241-5EB9-4DE0-A3DE-E66711619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0A430-C2ED-4C29-A64F-49F7A2AC8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F02CA-743A-4A16-BAC1-1B2EFC35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D4CAE-C00A-4BEC-85E0-F7BF9F3F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0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4FDFA7-BFB6-4E70-99E3-58254862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AB17A-5895-45D0-8111-8489CC82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AEB92-DF2D-427F-96CC-756E544B2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FD063-BA5A-4C9F-8A76-617E00C260D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591B-E97F-4388-901A-371E39197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3981-CB9F-42F6-B162-A4F3A04FE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869B9-A0B4-4179-B5BC-B4ECE26FA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2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54EAE-7A92-4DC6-9B00-A30E68BB0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Introduction 2</a:t>
            </a:r>
            <a:br>
              <a:rPr lang="en-US" dirty="0"/>
            </a:br>
            <a:r>
              <a:rPr lang="en-US" dirty="0"/>
              <a:t>Computer 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F0852-52C5-4D61-8B47-81DBCF7E65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SP 2022, Fall 2024</a:t>
            </a:r>
          </a:p>
        </p:txBody>
      </p:sp>
    </p:spTree>
    <p:extLst>
      <p:ext uri="{BB962C8B-B14F-4D97-AF65-F5344CB8AC3E}">
        <p14:creationId xmlns:p14="http://schemas.microsoft.com/office/powerpoint/2010/main" val="406889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7D93-5905-42A8-825A-6746767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5A515-34F1-4456-BA38-2F9A35AF6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role and importance of operating systems</a:t>
            </a:r>
          </a:p>
          <a:p>
            <a:r>
              <a:rPr lang="en-US" dirty="0">
                <a:solidFill>
                  <a:srgbClr val="FF0000"/>
                </a:solidFill>
              </a:rPr>
              <a:t>Describe the general organization of a computer system and the role of interrupts</a:t>
            </a:r>
          </a:p>
          <a:p>
            <a:r>
              <a:rPr lang="en-US" dirty="0"/>
              <a:t>Describe the components in a modern, multiprocessor computer system</a:t>
            </a:r>
          </a:p>
          <a:p>
            <a:r>
              <a:rPr lang="en-US" dirty="0"/>
              <a:t>Illustrate the transition from user mode to kernel mode</a:t>
            </a:r>
          </a:p>
          <a:p>
            <a:r>
              <a:rPr lang="en-US" dirty="0"/>
              <a:t>Discuss how operating systems are used in various computing environments</a:t>
            </a:r>
          </a:p>
          <a:p>
            <a:r>
              <a:rPr lang="en-US" dirty="0"/>
              <a:t>Provide examples of free and open-source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360599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ABB86-B764-4136-BBAC-DC4893039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System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DEFD-3BDE-40D0-8B2A-73DDEBA5A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sz="18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Common bus</a:t>
            </a:r>
          </a:p>
          <a:p>
            <a:r>
              <a:rPr kumimoji="1" lang="en-US" sz="1800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CPU and devices compete concurrently for memory access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9CF0AA9-A736-468C-BE96-80D7DE78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756" y="2863908"/>
            <a:ext cx="6216650" cy="303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161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6537-1344-4DDE-BC25-A4199F07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System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B0628-2C5E-40AB-8E43-C0C831649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I/O devices and the CPU can execute concurrently</a:t>
            </a:r>
            <a:endParaRPr lang="en-US" altLang="en-US" sz="1050" dirty="0"/>
          </a:p>
          <a:p>
            <a:r>
              <a:rPr lang="en-US" altLang="en-US" dirty="0"/>
              <a:t>Each device controller is</a:t>
            </a:r>
          </a:p>
          <a:p>
            <a:pPr lvl="1"/>
            <a:r>
              <a:rPr lang="en-US" altLang="en-US" dirty="0"/>
              <a:t>in charge of a particular device type</a:t>
            </a:r>
          </a:p>
          <a:p>
            <a:pPr lvl="1"/>
            <a:r>
              <a:rPr lang="en-US" altLang="en-US" dirty="0"/>
              <a:t>has a local buffer</a:t>
            </a:r>
          </a:p>
          <a:p>
            <a:pPr lvl="1"/>
            <a:r>
              <a:rPr lang="en-US" altLang="en-US" dirty="0"/>
              <a:t>has an operating system </a:t>
            </a:r>
            <a:r>
              <a:rPr lang="en-US" altLang="en-US" b="1" dirty="0">
                <a:solidFill>
                  <a:srgbClr val="3366FF"/>
                </a:solidFill>
              </a:rPr>
              <a:t>device driver</a:t>
            </a:r>
            <a:r>
              <a:rPr lang="en-US" altLang="en-US" dirty="0"/>
              <a:t> to manage each type</a:t>
            </a:r>
            <a:endParaRPr lang="en-US" altLang="en-US" sz="1050" dirty="0"/>
          </a:p>
          <a:p>
            <a:r>
              <a:rPr lang="en-US" altLang="en-US" dirty="0"/>
              <a:t>CPU moves data from/to main memory to/from local buffers</a:t>
            </a:r>
            <a:endParaRPr lang="en-US" altLang="en-US" sz="1050" dirty="0"/>
          </a:p>
          <a:p>
            <a:r>
              <a:rPr lang="en-US" altLang="en-US" dirty="0"/>
              <a:t>I/O is from the device to local buffer of controller</a:t>
            </a:r>
            <a:endParaRPr lang="en-US" altLang="en-US" sz="1050" dirty="0"/>
          </a:p>
          <a:p>
            <a:r>
              <a:rPr lang="en-US" altLang="en-US" dirty="0"/>
              <a:t>Device controller informs CPU that it has finished its operation by causing an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9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6CE1-22D6-4B71-826D-08C6457C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A7DB8-6E89-4338-8E63-1478671D3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Interrupt transfers control to the interrupt service routine (ISR) generally, through the </a:t>
            </a:r>
            <a:r>
              <a:rPr lang="en-US" altLang="en-US" b="1" dirty="0">
                <a:solidFill>
                  <a:srgbClr val="3366FF"/>
                </a:solidFill>
              </a:rPr>
              <a:t>interrupt</a:t>
            </a:r>
            <a:r>
              <a:rPr lang="en-US" altLang="en-US" i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vector: </a:t>
            </a:r>
          </a:p>
          <a:p>
            <a:pPr lvl="1"/>
            <a:r>
              <a:rPr lang="en-US" altLang="en-US" dirty="0"/>
              <a:t>the addresses of all the service routines</a:t>
            </a:r>
          </a:p>
          <a:p>
            <a:r>
              <a:rPr lang="en-US" altLang="en-US" dirty="0"/>
              <a:t>Interrupt architecture must </a:t>
            </a:r>
          </a:p>
          <a:p>
            <a:pPr lvl="1"/>
            <a:r>
              <a:rPr lang="en-US" altLang="en-US" dirty="0"/>
              <a:t>save the address of the </a:t>
            </a:r>
            <a:r>
              <a:rPr lang="en-US" altLang="en-US" sz="2800" b="1" dirty="0">
                <a:solidFill>
                  <a:srgbClr val="3366FF"/>
                </a:solidFill>
              </a:rPr>
              <a:t>interrupted instruction</a:t>
            </a:r>
          </a:p>
          <a:p>
            <a:pPr lvl="1"/>
            <a:r>
              <a:rPr lang="en-US" altLang="en-US" dirty="0"/>
              <a:t>save the process state information</a:t>
            </a:r>
            <a:endParaRPr lang="en-US" altLang="en-US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endParaRPr lang="en-US" altLang="en-US" sz="650" i="1" dirty="0">
              <a:solidFill>
                <a:schemeClr val="accent1"/>
              </a:solidFill>
            </a:endParaRPr>
          </a:p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3366FF"/>
                </a:solidFill>
              </a:rPr>
              <a:t>trap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exception</a:t>
            </a:r>
            <a:r>
              <a:rPr lang="en-US" altLang="en-US" dirty="0"/>
              <a:t> is a software-generated interrupt caused either by an error or a user request</a:t>
            </a:r>
            <a:endParaRPr lang="en-US" altLang="en-US" sz="1050" dirty="0"/>
          </a:p>
          <a:p>
            <a:r>
              <a:rPr lang="en-US" altLang="en-US" dirty="0"/>
              <a:t>An operating system is </a:t>
            </a:r>
            <a:r>
              <a:rPr lang="en-US" altLang="en-US" b="1" dirty="0">
                <a:solidFill>
                  <a:srgbClr val="3366FF"/>
                </a:solidFill>
              </a:rPr>
              <a:t>interrupt driven</a:t>
            </a:r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96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3373-B1E2-4270-8035-D10E779E9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B1AD-2F13-4BBA-A6BE-026DED86C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5346A0C-0679-4990-BF23-4C9FE5871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09" y="1530670"/>
            <a:ext cx="8355012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662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2DDA-1F6D-45CD-B831-F7393CB8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Interrupt-drive I/O 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B11EE6-A6AE-4B72-ACF4-1796DEC6F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183" y="1327645"/>
            <a:ext cx="5084762" cy="501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575BAE-9D78-462C-8FE3-9BD480406CDA}"/>
              </a:ext>
            </a:extLst>
          </p:cNvPr>
          <p:cNvCxnSpPr>
            <a:cxnSpLocks/>
          </p:cNvCxnSpPr>
          <p:nvPr/>
        </p:nvCxnSpPr>
        <p:spPr>
          <a:xfrm flipV="1">
            <a:off x="1400961" y="3145872"/>
            <a:ext cx="1188720" cy="595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9E96527-77DF-490B-8C94-B46ACB1B283F}"/>
              </a:ext>
            </a:extLst>
          </p:cNvPr>
          <p:cNvSpPr txBox="1"/>
          <p:nvPr/>
        </p:nvSpPr>
        <p:spPr>
          <a:xfrm>
            <a:off x="7806226" y="1578926"/>
            <a:ext cx="254294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request line</a:t>
            </a:r>
          </a:p>
          <a:p>
            <a:r>
              <a:rPr lang="en-US" dirty="0"/>
              <a:t>Interrupt number</a:t>
            </a:r>
          </a:p>
          <a:p>
            <a:r>
              <a:rPr lang="en-US" dirty="0"/>
              <a:t>Interrupt vector</a:t>
            </a:r>
          </a:p>
          <a:p>
            <a:r>
              <a:rPr lang="en-US" dirty="0"/>
              <a:t>Interrupt handler routing</a:t>
            </a:r>
          </a:p>
          <a:p>
            <a:r>
              <a:rPr lang="en-US" dirty="0"/>
              <a:t>Save and restore states</a:t>
            </a:r>
          </a:p>
          <a:p>
            <a:r>
              <a:rPr lang="en-US" dirty="0"/>
              <a:t>Resume interrupted task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9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6DB9-CB78-4DCA-BBE2-ACB8C2D3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Vector Table</a:t>
            </a:r>
          </a:p>
        </p:txBody>
      </p:sp>
      <p:pic>
        <p:nvPicPr>
          <p:cNvPr id="1026" name="Picture 2" descr="10th ed. chapter 01">
            <a:extLst>
              <a:ext uri="{FF2B5EF4-FFF2-40B4-BE49-F238E27FC236}">
                <a16:creationId xmlns:a16="http://schemas.microsoft.com/office/drawing/2014/main" id="{A1426168-B904-405F-8978-533E9EEC5B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985" y="1690688"/>
            <a:ext cx="5252547" cy="4480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0D4334-AE37-4341-AAC1-9F6B4DE4A11B}"/>
              </a:ext>
            </a:extLst>
          </p:cNvPr>
          <p:cNvSpPr txBox="1"/>
          <p:nvPr/>
        </p:nvSpPr>
        <p:spPr>
          <a:xfrm>
            <a:off x="503853" y="1810139"/>
            <a:ext cx="23557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No-maskable line</a:t>
            </a:r>
          </a:p>
          <a:p>
            <a:r>
              <a:rPr lang="en-US" dirty="0"/>
              <a:t>Maskable line</a:t>
            </a:r>
          </a:p>
          <a:p>
            <a:r>
              <a:rPr lang="en-US" dirty="0"/>
              <a:t>Interrupt priority levels</a:t>
            </a:r>
          </a:p>
        </p:txBody>
      </p:sp>
    </p:spTree>
    <p:extLst>
      <p:ext uri="{BB962C8B-B14F-4D97-AF65-F5344CB8AC3E}">
        <p14:creationId xmlns:p14="http://schemas.microsoft.com/office/powerpoint/2010/main" val="615194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950D-48A5-40F0-9714-1D9AD65A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Device Hierarchy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5EB38BA-925F-4069-BF38-C5DB28732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45" y="1690688"/>
            <a:ext cx="7483475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972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510C-7478-47FF-A7D8-06005DA31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0D66-B0E3-43F2-8438-C16A05FD1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Storage systems organized in hierarchy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Speed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Cost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Volatility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Caching</a:t>
            </a:r>
            <a:r>
              <a:rPr lang="en-US" dirty="0"/>
              <a:t> – copying information into faster storage system; main memory can be viewed as a cache for secondary storage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13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FC9A4-1179-4CC3-9539-CEE528B4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Von Neumann Architecture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D0FA2C6-57A4-40E3-8639-87E4DF8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657" y="1820383"/>
            <a:ext cx="5890069" cy="4698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98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31C6-6C3B-457D-B703-D9D7D8498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68A95-B6DD-4138-82AB-EC421E1E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Only one interrupt per </a:t>
            </a:r>
            <a:r>
              <a:rPr lang="en-US" b="1" dirty="0"/>
              <a:t>block</a:t>
            </a:r>
            <a:r>
              <a:rPr lang="en-US" dirty="0"/>
              <a:t>, not per </a:t>
            </a:r>
            <a:r>
              <a:rPr lang="en-US" b="1" dirty="0"/>
              <a:t>byte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Block </a:t>
            </a:r>
            <a:r>
              <a:rPr lang="en-US" dirty="0"/>
              <a:t>directly between device and main memory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026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317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MS PGothic</vt:lpstr>
      <vt:lpstr>Arial</vt:lpstr>
      <vt:lpstr>Calibri</vt:lpstr>
      <vt:lpstr>Calibri Light</vt:lpstr>
      <vt:lpstr>Helvetica</vt:lpstr>
      <vt:lpstr>Wingdings</vt:lpstr>
      <vt:lpstr>Office Theme</vt:lpstr>
      <vt:lpstr>OS Introduction 2 Computer Organization</vt:lpstr>
      <vt:lpstr>Learning Objectives</vt:lpstr>
      <vt:lpstr>Computer System Organization</vt:lpstr>
      <vt:lpstr>Computer System Operation</vt:lpstr>
      <vt:lpstr>Interrupt Functions</vt:lpstr>
      <vt:lpstr>Interrupt Timeline</vt:lpstr>
      <vt:lpstr>Interrupt-drive I/O Cycle</vt:lpstr>
      <vt:lpstr>Interrupt Vector Table</vt:lpstr>
      <vt:lpstr>Storage Device Hierarchy</vt:lpstr>
      <vt:lpstr>Storage Hierarchy</vt:lpstr>
      <vt:lpstr>Von Neumann Architecture</vt:lpstr>
      <vt:lpstr>Direct Memory Access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Introduction I</dc:title>
  <dc:creator>David Liu</dc:creator>
  <cp:lastModifiedBy>David Liu</cp:lastModifiedBy>
  <cp:revision>35</cp:revision>
  <dcterms:created xsi:type="dcterms:W3CDTF">2021-08-23T14:46:03Z</dcterms:created>
  <dcterms:modified xsi:type="dcterms:W3CDTF">2025-01-23T13:34:22Z</dcterms:modified>
</cp:coreProperties>
</file>