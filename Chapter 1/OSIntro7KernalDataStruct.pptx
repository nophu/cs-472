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DFC41-F314-4777-99B1-A382C4882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1EE52-52EC-4789-A2A3-E31181DA6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12782-62D3-4938-A8A2-6DA98258E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2254-D419-4C5D-AB31-0095C059BCC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B8730-79CD-4039-900C-195C0DBE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8743F-021D-444F-92E5-60BCD42BB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6841E-C3B1-4680-825E-808743D6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6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9D03-1E3C-4BA2-BF51-E7D22972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38CB0-E510-4A97-8271-5AD431B23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5FB65-59E9-41D3-BD30-B288C9B2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2254-D419-4C5D-AB31-0095C059BCC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BDFAD-389F-46C7-97D1-DAAE0A038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16064-12EE-46E5-8E1C-3D15F3289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6841E-C3B1-4680-825E-808743D6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ECD1E-691C-410A-849D-CA238FAB5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44CED-467D-4602-8412-48E9FA16D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BF6C3-285F-44AE-A8CA-29C1B14D4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2254-D419-4C5D-AB31-0095C059BCC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A6F53-1E8A-4C1D-92BC-D26FAFC4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86E93-0666-4022-B271-0504BAF1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6841E-C3B1-4680-825E-808743D6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54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D360-6F34-4A9F-8A2A-C027F0B9E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421EE-03B4-4E71-8519-E83BA87F4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3BC70-5A0F-4B3A-8228-6E1D78118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4F7A0-8C45-44E8-A90B-CBB29964A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2254-D419-4C5D-AB31-0095C059BCC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361FF-7C78-4AA1-8240-7C7360BD2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88564-02AB-4FD1-B184-E6BE4778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6841E-C3B1-4680-825E-808743D6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43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3290-8CBB-4ADB-866D-94D553B1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146DC-D620-4DFF-B35E-C17945393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ABE3C-DED2-41FE-BD47-BE13E14D1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19362-556E-4AEA-92BB-A59296D56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69009E-0ECF-4AD3-8265-E1D106FBB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4D73D-B4A9-4DE1-91B1-544BE7C11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2254-D419-4C5D-AB31-0095C059BCC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9353C7-BDE2-4F71-A372-7B86F558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12429-1DFF-4912-8527-04C370EF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6841E-C3B1-4680-825E-808743D6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94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D992-0D7C-4428-B8C0-B4FE33BBC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E31ED-22FD-4818-80C3-A97F9897C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2254-D419-4C5D-AB31-0095C059BCC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34BAF-BC94-45B8-885B-1330AD90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31A5D-EB14-4587-91BA-56695558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6841E-C3B1-4680-825E-808743D6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9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FCE009-9C04-49DD-AE6D-76C19ABB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2254-D419-4C5D-AB31-0095C059BCC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CD129-4065-4168-9AA6-2270FB93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0B954-96D1-42CD-A64D-EA9199529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6841E-C3B1-4680-825E-808743D6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0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10318-312F-42A0-9FFE-489604C3C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31AF1-E5FD-49F0-BEA8-D500CE562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92E45-A6A4-482F-BAE2-09E30350C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D01EE-91F0-4775-A383-F325607B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2254-D419-4C5D-AB31-0095C059BCC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D9901-44EB-4379-9D01-8975011AF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A742C-1AB4-40AB-9C38-BAA2BA5EF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6841E-C3B1-4680-825E-808743D6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37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14CF5-8CF0-48AD-9835-772003D8E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284397-CEA6-4B3B-94B8-E133432BC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1CC08-3C9D-41A2-B36C-FA216E245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8E1A2-637F-42C4-A61F-07A148BDD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2254-D419-4C5D-AB31-0095C059BCC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84BF8-89CE-4677-9ECE-A04A3D516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BFC1E-8E7B-4BC0-B800-2556167F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6841E-C3B1-4680-825E-808743D6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2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C8977-3A85-4386-BE8E-DD32E21D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5B266-8FB3-4414-8D61-F2D12EA1C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18E31-7DA4-4497-95B9-38B7513E6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2254-D419-4C5D-AB31-0095C059BCC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FABCE-8737-4244-9D5F-3CA95276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44E7E-115C-4016-9AA2-A9C65D3B5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6841E-C3B1-4680-825E-808743D6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83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962155-C164-4038-9B78-DD085A5A4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58413-1C55-4C28-9479-C24A3E324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183EE-97EA-46C0-8322-14877091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2254-D419-4C5D-AB31-0095C059BCC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AE098-4888-4032-A594-B044E31D9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4055D-6E31-4416-87C0-B500A367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6841E-C3B1-4680-825E-808743D6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98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0ABB4-DF64-467C-BD83-20226FC1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7FE5D-B979-4771-B8BD-4C5707A28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79A0F-3561-4739-A010-5E7B65395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52254-D419-4C5D-AB31-0095C059BCC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D8CE4-BAFE-4271-B9DB-8CFE91D36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020C8-52F1-43C5-B99A-6E31F8048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6841E-C3B1-4680-825E-808743D6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44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A439-C28A-4768-A883-286CBD8B3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 Introduction 6</a:t>
            </a:r>
            <a:br>
              <a:rPr lang="en-US" dirty="0"/>
            </a:br>
            <a:r>
              <a:rPr lang="en-US" dirty="0"/>
              <a:t>Kernel 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4D2C6-C2F3-452B-B0C7-11E915C88D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17422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7D93-5905-42A8-825A-67467675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A515-34F1-4456-BA38-2F9A35AF6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420" y="154039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Discuss the role and importance of operating systems</a:t>
            </a:r>
          </a:p>
          <a:p>
            <a:r>
              <a:rPr lang="en-US" dirty="0"/>
              <a:t>Describe the general organization of a computer system and the role of interrupts</a:t>
            </a:r>
          </a:p>
          <a:p>
            <a:r>
              <a:rPr lang="en-US" dirty="0"/>
              <a:t>Describe the components in a modern, multiprocessor computer system</a:t>
            </a:r>
          </a:p>
          <a:p>
            <a:r>
              <a:rPr lang="en-US" dirty="0"/>
              <a:t>Illustrate the transition from user mode to kernel mode</a:t>
            </a:r>
          </a:p>
          <a:p>
            <a:pPr>
              <a:lnSpc>
                <a:spcPct val="100000"/>
              </a:lnSpc>
            </a:pPr>
            <a:r>
              <a:rPr lang="en-US" dirty="0"/>
              <a:t>Discuss how OS manages computing resources</a:t>
            </a:r>
          </a:p>
          <a:p>
            <a:pPr>
              <a:lnSpc>
                <a:spcPct val="100000"/>
              </a:lnSpc>
            </a:pPr>
            <a:r>
              <a:rPr lang="en-US" dirty="0"/>
              <a:t>Distinguish between protection and security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</a:rPr>
              <a:t>Describe common data structures for OS</a:t>
            </a:r>
          </a:p>
          <a:p>
            <a:r>
              <a:rPr lang="en-US" dirty="0"/>
              <a:t>Discuss how operating systems are used in various computing environments</a:t>
            </a:r>
          </a:p>
          <a:p>
            <a:r>
              <a:rPr lang="en-US" dirty="0"/>
              <a:t>Provide examples of free and open-source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6059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359A6-8733-47DB-A6B1-54507D1F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56567-DCE4-402B-8FD5-40E66E285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data structures for OS Kernel</a:t>
            </a:r>
          </a:p>
          <a:p>
            <a:r>
              <a:rPr lang="en-US" dirty="0"/>
              <a:t>Lists, Stacks, Queues</a:t>
            </a:r>
          </a:p>
          <a:p>
            <a:r>
              <a:rPr lang="en-US" dirty="0"/>
              <a:t>Trees</a:t>
            </a:r>
          </a:p>
          <a:p>
            <a:r>
              <a:rPr lang="en-US" dirty="0"/>
              <a:t>Hash Functions and Maps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0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3584-1A1A-41D9-9987-7D74127F4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32596-302B-4C42-9601-6314E1C62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</a:t>
            </a:r>
          </a:p>
          <a:p>
            <a:r>
              <a:rPr lang="en-US" dirty="0"/>
              <a:t>Linked List</a:t>
            </a:r>
          </a:p>
          <a:p>
            <a:r>
              <a:rPr lang="en-US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30916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7F-AF30-4937-BC64-CF5340505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27ED9-ED7C-431A-9995-11C333066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921" y="1481676"/>
            <a:ext cx="10515600" cy="4351338"/>
          </a:xfrm>
        </p:spPr>
        <p:txBody>
          <a:bodyPr/>
          <a:lstStyle/>
          <a:p>
            <a:r>
              <a:rPr lang="en-US" dirty="0"/>
              <a:t>Singly linked list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Doubly linked list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Circular linked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0644E2-E449-468B-A65E-9A592FE7C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112" y="2026883"/>
            <a:ext cx="6931753" cy="780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C4C844-3D6F-464C-9EB6-45F391CE7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837" y="3534079"/>
            <a:ext cx="7029297" cy="951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11CDA2-4A25-44FA-89CD-34C34791F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117" y="4972031"/>
            <a:ext cx="5931259" cy="126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35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7F62-8901-46EB-8C4D-0300BFAF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745CF-BA69-482B-B7CE-364CB95C2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LIFO for adding and removing items: push and pop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Function calls in OS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BE1E54-8D1D-4DA3-BC59-3D443AD41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611" y="2582135"/>
            <a:ext cx="3695214" cy="25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44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B23D-E548-46FE-B144-05EAA701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A1B89-23F8-4823-911E-780D96EA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FIFO for adding and removing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Job queues in OS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AE4DC-C3E3-4B4F-81AC-ED4BAE1C4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28" y="2511104"/>
            <a:ext cx="705802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61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1018-0BE5-436C-8353-98989C34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FE276C-C68F-4D23-AEF6-0193844EC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6132" y="1825625"/>
            <a:ext cx="6042191" cy="341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18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FAEB-66F9-4D0E-8CFF-B5236BCC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BB65F-677A-48D2-976B-ECADF6583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Balanced binary search tree: 0(lg n) search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CPU-scheduling in 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081B5-5F62-4E79-AD44-8998B85F4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593" y="2518482"/>
            <a:ext cx="4882392" cy="251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86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C4E53-22F3-4505-A1C0-91EA9C12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functions  and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8BE85-98EA-4718-AD32-1984F9D7F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Indexing for quick access: O(1)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DEB9F-67D0-4D93-9B25-22E9B8060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485" y="2470606"/>
            <a:ext cx="4234955" cy="330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598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55F6-066D-4629-A170-41A6E7BC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A6FEF-DE2B-416E-839A-E6FFF8350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Resources: available (not used): 0, unavailable: 1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9EA782-D8AC-45D4-9ED1-DC9CD83CE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442293"/>
              </p:ext>
            </p:extLst>
          </p:nvPr>
        </p:nvGraphicFramePr>
        <p:xfrm>
          <a:off x="1629328" y="2936147"/>
          <a:ext cx="8128000" cy="4188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4056301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12055097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17523808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327329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1355162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935676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249054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9809757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8073027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7335462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849537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3980136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93732537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7430945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2270369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329226547"/>
                    </a:ext>
                  </a:extLst>
                </a:gridCol>
              </a:tblGrid>
              <a:tr h="41888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449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73924A5-F255-4B18-B418-08CC75014BCB}"/>
              </a:ext>
            </a:extLst>
          </p:cNvPr>
          <p:cNvSpPr txBox="1"/>
          <p:nvPr/>
        </p:nvSpPr>
        <p:spPr>
          <a:xfrm>
            <a:off x="5066950" y="3858936"/>
            <a:ext cx="2379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 bits for 16 resources</a:t>
            </a:r>
          </a:p>
        </p:txBody>
      </p:sp>
    </p:spTree>
    <p:extLst>
      <p:ext uri="{BB962C8B-B14F-4D97-AF65-F5344CB8AC3E}">
        <p14:creationId xmlns:p14="http://schemas.microsoft.com/office/powerpoint/2010/main" val="4044568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216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OS Introduction 6 Kernel Data Structures</vt:lpstr>
      <vt:lpstr>Learning Objectives</vt:lpstr>
      <vt:lpstr>Content</vt:lpstr>
      <vt:lpstr>Linear Storage</vt:lpstr>
      <vt:lpstr>Linked Lists</vt:lpstr>
      <vt:lpstr>Stacks</vt:lpstr>
      <vt:lpstr>Queues</vt:lpstr>
      <vt:lpstr>Trees</vt:lpstr>
      <vt:lpstr>Binary Search Tree</vt:lpstr>
      <vt:lpstr>Hash functions  and Maps</vt:lpstr>
      <vt:lpstr>Bitmaps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Liu</dc:creator>
  <cp:lastModifiedBy>David Liu</cp:lastModifiedBy>
  <cp:revision>10</cp:revision>
  <dcterms:created xsi:type="dcterms:W3CDTF">2021-09-01T15:00:00Z</dcterms:created>
  <dcterms:modified xsi:type="dcterms:W3CDTF">2022-01-18T17:28:39Z</dcterms:modified>
</cp:coreProperties>
</file>