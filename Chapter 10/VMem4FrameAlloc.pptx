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73" r:id="rId3"/>
    <p:sldId id="416" r:id="rId4"/>
    <p:sldId id="376" r:id="rId5"/>
    <p:sldId id="418" r:id="rId6"/>
    <p:sldId id="419" r:id="rId7"/>
    <p:sldId id="420" r:id="rId8"/>
    <p:sldId id="42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A5F53-7D90-48AF-94DF-305456C54E6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55CFA-89B1-4D14-90A2-7320E5811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4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B7CA5DAB-07D6-47E9-B544-53520EF079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CC4305-B38D-4803-8CCB-ACF97C5BD67C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6B691C36-22FC-4FE2-AF4B-6756B0F939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475BBB41-1B52-4FEF-9D17-692C77E846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CB9AF14A-7434-498F-97F6-6FA29ED28D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534F0F3-9E5E-46C8-BD7B-BF96261932E4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3ACC6D1F-1E45-422F-8B71-B9348DAF1E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5762908D-3DF3-44A1-9E75-14CEFD818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FA338292-8975-4CF9-A524-9FBB64BA9E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3D7461-7DCB-4D23-8F36-AD7B21BB6CA3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04208006-1EDE-4EAA-80AA-934F8F6A4D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5E69DD5B-5014-442D-A03B-82DC9150F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0E976D72-F3B5-437E-B5E0-F99AB1EC48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0C12BA-E356-4067-942A-1D56D0B77678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A0444728-D723-4749-AE72-F65F7897B1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0F38F4BA-D52B-4D51-B144-47E633F84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78C17158-28CB-4BF9-81CB-1456E307F8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C7F4AE-1441-4E05-BC89-C42D204E0A68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ADC1FDC1-FDD8-4A87-B9D1-D1A973C189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EB069D5B-30FD-46E9-9564-2951B2FD18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0706-9C86-4223-8AAE-70DAB05DD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15EE1-E68D-4B83-9C3A-74602DAD4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CCEB2-A259-4D10-921C-6A6EF793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3B957-5409-48D2-9AE3-8D44F1DC2FD2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B775B-457B-4C9F-B38A-E5D6D613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C8D3E-1EDA-46E0-8082-5B198AA7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98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2282-4062-414C-905D-C2A229CA1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43C55-3C7E-4D6A-8BCF-3F514F6FD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D3FBB-2D76-4DFD-9EFE-E7E98EF36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783C-1318-4CC8-8BED-04132B1A0708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79148-A122-410D-BD4D-FC38A9DE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6B410-0985-4436-89DC-7318266A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75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8F5F-207F-4250-8C60-EE263B926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8F3C0-E707-4286-BF2C-82C8F1E49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B5DE6-8963-4BA6-9E10-56113DCB6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D53A-2799-4DF4-853E-7B7E92616EA5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55624-5823-487A-BD84-EB3964138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93944-23D7-496B-9BB8-706A3C2E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55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2F2D-A3D6-4F2B-B98F-4C571C3A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B0D12-2C90-4812-BABB-888C9DE85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D7022-64A5-47CD-944B-E5F235F96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22A60-517F-41F8-8DF8-E0F5C50D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7EAD-3186-444B-AD77-3C19BF2227B3}" type="datetime1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F4F52-D756-4C61-A771-FA43EA59F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618A9-C5F8-4503-B4E2-F0779415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41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8AE9-F1C2-4D95-AC7F-8A1492E23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CF1E8-7E90-4C01-BF26-00060ADFB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081BE-2D42-42FA-83AF-EF9D18744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05EFC-9FC3-47E9-8C3E-3B2126CEC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68C7A-7620-4127-A8BE-5F5181A8C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273CB-FB0A-478E-832F-CB480DA8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251E-B38D-4D76-8987-7B8D1E34586D}" type="datetime1">
              <a:rPr lang="en-US" smtClean="0"/>
              <a:t>3/31/2022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39EB2C-B385-4688-A1BD-47AD12B13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31B87-A8F3-4929-8D72-7586C605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38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6893-CAAC-4F1B-B111-35487D772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B2404-F353-4D45-B4B1-AE541DF60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CABE-8205-4B97-9999-748246D1DB33}" type="datetime1">
              <a:rPr lang="en-US" smtClean="0"/>
              <a:t>3/31/2022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3237F-CFBA-4CB9-8952-C1CDACB53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76BC9-6017-4D05-9D2F-1732515E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3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25A95-E6AB-4799-B21F-7BDC488F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A4041-0990-49F1-A57E-E76C7F011769}" type="datetime1">
              <a:rPr lang="en-US" smtClean="0"/>
              <a:t>3/31/2022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465687-0FBE-4EDA-81C5-5B9249AC5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F4783-5DEC-4ECD-9216-6EE334CCE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6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2BF3-A0BE-4699-ADDA-052BA0F2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57B6D-A94A-42C3-8F91-1D8D40665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712AF-0BD0-48B4-B32C-20CDF2CCA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D9439-E3EE-416B-9E9A-5F4D0EC0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3504-D961-4A9F-A1B5-85DB42A66297}" type="datetime1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219CA-E716-4FB4-91D9-F98565052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511D0-A183-4D0F-B83F-E49E3D4D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09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CDD2-8DA9-4882-8119-0A394B7BF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3D837-B160-460B-9CF7-3ECCC26EB0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4DE9B-88E0-48DB-8CD7-FD58B34F4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81903-3131-47BD-B0F8-EEE059CD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FA9-7E15-4AD4-A0DB-292CA6A830BE}" type="datetime1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08435-9954-4C6F-B353-6CA03449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DE5F3-B079-4ED6-90C3-96BF9E36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50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EABD-DC7A-49EB-A2E5-637DA919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56E8B-8E6B-4F2F-BFF4-25B11EC64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71693-EC5B-44FF-82B2-DA57BFB0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4FFA-9102-4AC2-AD32-842A1395B0E7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11B98-AB58-4C35-ACD6-A2F6E5AE7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58189-1C7A-4386-8FA7-AA36C16F2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30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30BFEE-0B8F-447B-98F8-016345774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2EF7A-BC8B-4238-B849-A01AC197A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20CD4-46FD-47B3-8223-76E1AE20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38BE-52AA-4EBB-8B67-EFAEA0B1A8D5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761E2-5355-44DB-904F-D38701DE4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C3D0C-4E4F-46F2-8A01-19C9C177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7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176C-587C-4CAB-9D4C-82DC6A9B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EEB2E-2D4C-413B-BCE8-3470B8299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A77A1-E0C5-456F-8258-520D7F4961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78CB9-B24E-4E04-B088-6D1968655B0D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10EA8-E0EB-40CB-A582-ADC876C61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7D2B5-EBC3-46BD-8FEB-FEAE6EC17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65678-DD1D-4F9C-89C5-26BAA9DE4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CD11-0DB9-4F85-A823-E2FFC9C1B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Virtual Memory</a:t>
            </a:r>
            <a:br>
              <a:rPr lang="en-US" dirty="0"/>
            </a:br>
            <a:r>
              <a:rPr lang="en-US" dirty="0"/>
              <a:t>Lesson 4</a:t>
            </a:r>
            <a:br>
              <a:rPr lang="en-US" dirty="0"/>
            </a:br>
            <a:r>
              <a:rPr lang="en-US" dirty="0"/>
              <a:t>Frame Allocation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15B79-981D-4458-81BA-FE7F770CF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21, Spring 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95C21-F405-4149-869C-8D49BED1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5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F785F2B1-AB7E-49D9-B84B-77A0ABB39D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32038" y="163513"/>
            <a:ext cx="78787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Allocation of Frames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1D4F0070-4AC7-4CCA-9B82-B12AE8FF37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30957" y="889231"/>
            <a:ext cx="9207305" cy="5098973"/>
          </a:xfrm>
        </p:spPr>
        <p:txBody>
          <a:bodyPr>
            <a:normAutofit/>
          </a:bodyPr>
          <a:lstStyle/>
          <a:p>
            <a:r>
              <a:rPr lang="en-US" altLang="en-US" dirty="0"/>
              <a:t>Each process needs </a:t>
            </a:r>
            <a:r>
              <a:rPr lang="en-US" altLang="en-US" b="1" i="1" dirty="0"/>
              <a:t>minimum</a:t>
            </a:r>
            <a:r>
              <a:rPr lang="en-US" altLang="en-US" dirty="0"/>
              <a:t> number of frames</a:t>
            </a:r>
          </a:p>
          <a:p>
            <a:r>
              <a:rPr lang="en-US" altLang="en-US" dirty="0"/>
              <a:t>Example:  IBM 370 – 6 pages to handle SS MOVE instruction:</a:t>
            </a:r>
          </a:p>
          <a:p>
            <a:pPr lvl="1"/>
            <a:r>
              <a:rPr lang="en-US" altLang="en-US" dirty="0"/>
              <a:t>instruction is 6 bytes, might span 2 pages</a:t>
            </a:r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from</a:t>
            </a:r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to</a:t>
            </a:r>
          </a:p>
          <a:p>
            <a:r>
              <a:rPr lang="en-US" altLang="en-US" b="1" i="1" dirty="0"/>
              <a:t>Maximum</a:t>
            </a:r>
            <a:r>
              <a:rPr lang="en-US" altLang="en-US" i="1" dirty="0"/>
              <a:t> </a:t>
            </a:r>
            <a:r>
              <a:rPr lang="en-US" altLang="en-US" dirty="0"/>
              <a:t>of course is total frames in the system</a:t>
            </a:r>
          </a:p>
          <a:p>
            <a:r>
              <a:rPr lang="en-US" altLang="en-US" dirty="0"/>
              <a:t>Two major allocation schemes</a:t>
            </a:r>
          </a:p>
          <a:p>
            <a:pPr lvl="1"/>
            <a:r>
              <a:rPr lang="en-US" altLang="en-US" dirty="0"/>
              <a:t>fixed allocation</a:t>
            </a:r>
          </a:p>
          <a:p>
            <a:pPr lvl="1"/>
            <a:r>
              <a:rPr lang="en-US" altLang="en-US" dirty="0"/>
              <a:t>priority allocation</a:t>
            </a:r>
          </a:p>
          <a:p>
            <a:r>
              <a:rPr lang="en-US" altLang="en-US" dirty="0"/>
              <a:t>Many variations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C269A-80DF-49C4-BB83-75D523EA9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E6F461B4-70C8-4EC7-92BB-497E3D34A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62188" y="188913"/>
            <a:ext cx="79486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Fixed Allocation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C65C491-C4FB-49F3-92D7-E426983A28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6627" y="982315"/>
            <a:ext cx="9060056" cy="5295822"/>
          </a:xfrm>
        </p:spPr>
        <p:txBody>
          <a:bodyPr/>
          <a:lstStyle/>
          <a:p>
            <a:r>
              <a:rPr lang="en-US" altLang="en-US" dirty="0"/>
              <a:t>Equal allocation – For example, if there are 100 frames (after allocating frames for the OS) and 5 processes, give each process 20 frames</a:t>
            </a:r>
          </a:p>
          <a:p>
            <a:pPr lvl="1"/>
            <a:r>
              <a:rPr lang="en-US" altLang="en-US" dirty="0"/>
              <a:t>Keep some as free frame buffer pool</a:t>
            </a:r>
            <a:endParaRPr lang="en-US" altLang="en-US" sz="800" dirty="0"/>
          </a:p>
          <a:p>
            <a:r>
              <a:rPr lang="en-US" altLang="en-US" dirty="0"/>
              <a:t>Proportional allocation – Allocate according to the size of process</a:t>
            </a:r>
          </a:p>
          <a:p>
            <a:pPr lvl="1"/>
            <a:r>
              <a:rPr lang="en-US" altLang="en-US" dirty="0"/>
              <a:t>Dynamic as degree of multiprogramming, process sizes change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graphicFrame>
        <p:nvGraphicFramePr>
          <p:cNvPr id="96260" name="Object 2">
            <a:extLst>
              <a:ext uri="{FF2B5EF4-FFF2-40B4-BE49-F238E27FC236}">
                <a16:creationId xmlns:a16="http://schemas.microsoft.com/office/drawing/2014/main" id="{36C5B4F6-1A38-41B9-B8D5-38C69DDB79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048945"/>
              </p:ext>
            </p:extLst>
          </p:nvPr>
        </p:nvGraphicFramePr>
        <p:xfrm>
          <a:off x="3382963" y="4464568"/>
          <a:ext cx="28575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Equation" r:id="rId4" imgW="2857500" imgH="1612900" progId="Equation.3">
                  <p:embed/>
                </p:oleObj>
              </mc:Choice>
              <mc:Fallback>
                <p:oleObj name="Equation" r:id="rId4" imgW="2857500" imgH="1612900" progId="Equation.3">
                  <p:embed/>
                  <p:pic>
                    <p:nvPicPr>
                      <p:cNvPr id="96260" name="Object 2">
                        <a:extLst>
                          <a:ext uri="{FF2B5EF4-FFF2-40B4-BE49-F238E27FC236}">
                            <a16:creationId xmlns:a16="http://schemas.microsoft.com/office/drawing/2014/main" id="{36C5B4F6-1A38-41B9-B8D5-38C69DDB79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963" y="4464568"/>
                        <a:ext cx="285750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2" name="Line 6">
            <a:extLst>
              <a:ext uri="{FF2B5EF4-FFF2-40B4-BE49-F238E27FC236}">
                <a16:creationId xmlns:a16="http://schemas.microsoft.com/office/drawing/2014/main" id="{EA4BCCF0-1462-4640-9899-57F0B92C1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6763" y="41290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graphicFrame>
        <p:nvGraphicFramePr>
          <p:cNvPr id="96265" name="Object 3">
            <a:extLst>
              <a:ext uri="{FF2B5EF4-FFF2-40B4-BE49-F238E27FC236}">
                <a16:creationId xmlns:a16="http://schemas.microsoft.com/office/drawing/2014/main" id="{B97CC16A-E911-4522-9F58-F73522DEC5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046918"/>
              </p:ext>
            </p:extLst>
          </p:nvPr>
        </p:nvGraphicFramePr>
        <p:xfrm>
          <a:off x="7192963" y="4218942"/>
          <a:ext cx="1506537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6" imgW="1143000" imgH="1460500" progId="Equation.3">
                  <p:embed/>
                </p:oleObj>
              </mc:Choice>
              <mc:Fallback>
                <p:oleObj name="Equation" r:id="rId6" imgW="1143000" imgH="1460500" progId="Equation.3">
                  <p:embed/>
                  <p:pic>
                    <p:nvPicPr>
                      <p:cNvPr id="96265" name="Object 3">
                        <a:extLst>
                          <a:ext uri="{FF2B5EF4-FFF2-40B4-BE49-F238E27FC236}">
                            <a16:creationId xmlns:a16="http://schemas.microsoft.com/office/drawing/2014/main" id="{B97CC16A-E911-4522-9F58-F73522DEC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2963" y="4218942"/>
                        <a:ext cx="1506537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000332-3152-442F-989D-0BE1CD8C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D1F302B1-8142-4FCC-AA50-6F9AFEF36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4288" y="188913"/>
            <a:ext cx="76565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Global vs. Local Allocation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C453F1A4-542D-465B-942A-28AF171D4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24251" y="1099234"/>
            <a:ext cx="7379807" cy="4655613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Global 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process selects a replacement frame from the set of all frames; one process can take a frame from another</a:t>
            </a:r>
          </a:p>
          <a:p>
            <a:pPr lvl="1"/>
            <a:r>
              <a:rPr lang="en-US" altLang="en-US" dirty="0"/>
              <a:t>But then process execution time can vary greatly</a:t>
            </a:r>
          </a:p>
          <a:p>
            <a:pPr lvl="1"/>
            <a:r>
              <a:rPr lang="en-US" altLang="en-US" dirty="0"/>
              <a:t>But greater throughput so more common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Local 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each process selects from only its own set of allocated frames</a:t>
            </a:r>
          </a:p>
          <a:p>
            <a:pPr lvl="1"/>
            <a:r>
              <a:rPr lang="en-US" altLang="en-US" dirty="0"/>
              <a:t>More consistent per-process performance</a:t>
            </a:r>
          </a:p>
          <a:p>
            <a:pPr lvl="1"/>
            <a:r>
              <a:rPr lang="en-US" altLang="en-US" dirty="0"/>
              <a:t>But possibly underutilized memory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A790BE-6ECE-44B3-A248-AA8A3303C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3">
            <a:extLst>
              <a:ext uri="{FF2B5EF4-FFF2-40B4-BE49-F238E27FC236}">
                <a16:creationId xmlns:a16="http://schemas.microsoft.com/office/drawing/2014/main" id="{51D05A0E-FDBE-4962-87E8-A1B49A81F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64860" y="990178"/>
            <a:ext cx="7807645" cy="4831782"/>
          </a:xfrm>
        </p:spPr>
        <p:txBody>
          <a:bodyPr>
            <a:normAutofit/>
          </a:bodyPr>
          <a:lstStyle/>
          <a:p>
            <a:r>
              <a:rPr lang="en-US" altLang="en-US" dirty="0"/>
              <a:t>A strategy to implement global page-replacement policy </a:t>
            </a:r>
          </a:p>
          <a:p>
            <a:r>
              <a:rPr lang="en-US" altLang="en-US" dirty="0"/>
              <a:t>All memory requests  are satisfied from the free-frame list,  rather than waiting for the list to drop to zero before we begin selecting pages for replacement, </a:t>
            </a:r>
          </a:p>
          <a:p>
            <a:r>
              <a:rPr lang="en-US" altLang="en-US" dirty="0"/>
              <a:t>Page replacement  is triggered when the list falls below a certain threshold. </a:t>
            </a:r>
          </a:p>
          <a:p>
            <a:r>
              <a:rPr lang="en-US" altLang="en-US" dirty="0"/>
              <a:t>This strategy attempts to ensure there is always sufficient free memory to satisfy new requests</a:t>
            </a:r>
            <a:r>
              <a:rPr lang="en-US" altLang="en-US" b="1" dirty="0">
                <a:solidFill>
                  <a:srgbClr val="3366FF"/>
                </a:solidFill>
              </a:rPr>
              <a:t>.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100355" name="Title 4">
            <a:extLst>
              <a:ext uri="{FF2B5EF4-FFF2-40B4-BE49-F238E27FC236}">
                <a16:creationId xmlns:a16="http://schemas.microsoft.com/office/drawing/2014/main" id="{2CAFA89C-72B2-45ED-A2E9-2E89AD3901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67050" y="149226"/>
            <a:ext cx="7315200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Reclaiming Pages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33DC20-ED8F-4A3F-B822-7D8B66B9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7EFB905F-4B84-4566-80DE-AC3E366DAB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4288" y="188913"/>
            <a:ext cx="76565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Reclaiming Pages Example </a:t>
            </a:r>
          </a:p>
        </p:txBody>
      </p:sp>
      <p:pic>
        <p:nvPicPr>
          <p:cNvPr id="102403" name="Picture 2" descr="B:\os-book\os10-dir\Slides-WORK-area\Figures-dir\ch10\JPG-dir\10_18.jpg">
            <a:extLst>
              <a:ext uri="{FF2B5EF4-FFF2-40B4-BE49-F238E27FC236}">
                <a16:creationId xmlns:a16="http://schemas.microsoft.com/office/drawing/2014/main" id="{8F53E14C-8A6B-4A07-BA0F-133A60211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1" y="1444625"/>
            <a:ext cx="4067175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8D6414-8771-445D-963C-89F8C03BE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BCB33539-4F28-4E37-AAF5-9490A392F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9300" y="2016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Non-Uniform Memory Access</a:t>
            </a:r>
          </a:p>
        </p:txBody>
      </p:sp>
      <p:sp>
        <p:nvSpPr>
          <p:cNvPr id="104451" name="Content Placeholder 2">
            <a:extLst>
              <a:ext uri="{FF2B5EF4-FFF2-40B4-BE49-F238E27FC236}">
                <a16:creationId xmlns:a16="http://schemas.microsoft.com/office/drawing/2014/main" id="{EBAA39D9-153F-4774-A6F2-390D60C82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16965" y="954472"/>
            <a:ext cx="7177088" cy="19050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So far all memory accessed equally</a:t>
            </a:r>
          </a:p>
          <a:p>
            <a:r>
              <a:rPr lang="en-US" altLang="en-US" dirty="0"/>
              <a:t>Many systems are </a:t>
            </a:r>
            <a:r>
              <a:rPr lang="en-US" altLang="en-US" b="1" dirty="0">
                <a:solidFill>
                  <a:srgbClr val="3366FF"/>
                </a:solidFill>
              </a:rPr>
              <a:t>NUMA</a:t>
            </a:r>
            <a:r>
              <a:rPr lang="en-US" altLang="en-US" dirty="0"/>
              <a:t> – speed of access to memory varies</a:t>
            </a:r>
          </a:p>
          <a:p>
            <a:pPr lvl="1"/>
            <a:r>
              <a:rPr lang="en-US" altLang="en-US" dirty="0"/>
              <a:t>Consider system boards containing CPUs and memory, interconnected over a system bus</a:t>
            </a:r>
          </a:p>
          <a:p>
            <a:r>
              <a:rPr lang="en-US" altLang="en-US" dirty="0"/>
              <a:t>NUMA multiprocessing architecture</a:t>
            </a:r>
          </a:p>
        </p:txBody>
      </p:sp>
      <p:pic>
        <p:nvPicPr>
          <p:cNvPr id="104452" name="Picture 2" descr="B:\os-book\os10-dir\Slides-WORK-area\Figures-dir\ch10\JPG-dir\10_19.jpg">
            <a:extLst>
              <a:ext uri="{FF2B5EF4-FFF2-40B4-BE49-F238E27FC236}">
                <a16:creationId xmlns:a16="http://schemas.microsoft.com/office/drawing/2014/main" id="{D5EB146E-D8BF-439A-A76B-933D7ECD5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351" y="3163503"/>
            <a:ext cx="289560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9408AE-664F-456D-A27C-53277EC06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>
            <a:extLst>
              <a:ext uri="{FF2B5EF4-FFF2-40B4-BE49-F238E27FC236}">
                <a16:creationId xmlns:a16="http://schemas.microsoft.com/office/drawing/2014/main" id="{40D6A822-B834-490C-9BB0-1C5BEE5022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1488" y="178464"/>
            <a:ext cx="8720679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Non-Uniform Memory Access (Cont.)</a:t>
            </a:r>
          </a:p>
        </p:txBody>
      </p:sp>
      <p:sp>
        <p:nvSpPr>
          <p:cNvPr id="105475" name="Content Placeholder 2">
            <a:extLst>
              <a:ext uri="{FF2B5EF4-FFF2-40B4-BE49-F238E27FC236}">
                <a16:creationId xmlns:a16="http://schemas.microsoft.com/office/drawing/2014/main" id="{7816BFA2-CD52-4282-BEB3-B07C6C5DD4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26171" y="1046365"/>
            <a:ext cx="8923479" cy="4914597"/>
          </a:xfrm>
        </p:spPr>
        <p:txBody>
          <a:bodyPr/>
          <a:lstStyle/>
          <a:p>
            <a:r>
              <a:rPr lang="en-US" altLang="en-US" dirty="0"/>
              <a:t>Optimal performance comes from allocating memory </a:t>
            </a:r>
            <a:r>
              <a:rPr lang="ja-JP" altLang="en-US" dirty="0"/>
              <a:t>“</a:t>
            </a:r>
            <a:r>
              <a:rPr lang="en-US" altLang="ja-JP" dirty="0"/>
              <a:t>close to</a:t>
            </a:r>
            <a:r>
              <a:rPr lang="ja-JP" altLang="en-US" dirty="0"/>
              <a:t>”</a:t>
            </a:r>
            <a:r>
              <a:rPr lang="en-US" altLang="ja-JP" dirty="0"/>
              <a:t> the CPU on which the thread is scheduled</a:t>
            </a:r>
          </a:p>
          <a:p>
            <a:pPr lvl="1"/>
            <a:r>
              <a:rPr lang="en-US" altLang="en-US" dirty="0"/>
              <a:t>And modifying the scheduler to schedule the thread on the same system board when possible</a:t>
            </a:r>
          </a:p>
          <a:p>
            <a:pPr lvl="1"/>
            <a:r>
              <a:rPr lang="en-US" altLang="en-US" dirty="0"/>
              <a:t>Solved by Solaris by creating </a:t>
            </a:r>
            <a:r>
              <a:rPr lang="en-US" altLang="en-US" b="1" dirty="0" err="1">
                <a:solidFill>
                  <a:srgbClr val="3366FF"/>
                </a:solidFill>
              </a:rPr>
              <a:t>lgroups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</a:p>
          <a:p>
            <a:pPr lvl="2"/>
            <a:r>
              <a:rPr lang="en-US" altLang="en-US" dirty="0"/>
              <a:t>Structure to track CPU / Memory low latency groups</a:t>
            </a:r>
          </a:p>
          <a:p>
            <a:pPr lvl="2"/>
            <a:r>
              <a:rPr lang="en-US" altLang="en-US" dirty="0"/>
              <a:t>Used my schedule and pager</a:t>
            </a:r>
          </a:p>
          <a:p>
            <a:pPr lvl="2"/>
            <a:r>
              <a:rPr lang="en-US" altLang="en-US" dirty="0"/>
              <a:t>When possible schedule all threads of a process and allocate all memory for that process within the </a:t>
            </a:r>
            <a:r>
              <a:rPr lang="en-US" altLang="en-US" dirty="0" err="1"/>
              <a:t>lgroup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5D8DB2-CFEB-443B-8132-FBB53355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5678-DD1D-4F9C-89C5-26BAA9DE4C8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391</Words>
  <Application>Microsoft Office PowerPoint</Application>
  <PresentationFormat>Widescreen</PresentationFormat>
  <Paragraphs>60</Paragraphs>
  <Slides>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MS PGothic</vt:lpstr>
      <vt:lpstr>游ゴシック</vt:lpstr>
      <vt:lpstr>Arial</vt:lpstr>
      <vt:lpstr>Calibri</vt:lpstr>
      <vt:lpstr>Calibri Light</vt:lpstr>
      <vt:lpstr>Monotype Sorts</vt:lpstr>
      <vt:lpstr>Times New Roman</vt:lpstr>
      <vt:lpstr>Office Theme</vt:lpstr>
      <vt:lpstr>Equation</vt:lpstr>
      <vt:lpstr>Virtual Memory Lesson 4 Frame Allocation</vt:lpstr>
      <vt:lpstr>Allocation of Frames</vt:lpstr>
      <vt:lpstr>Fixed Allocation</vt:lpstr>
      <vt:lpstr>Global vs. Local Allocation</vt:lpstr>
      <vt:lpstr>Reclaiming Pages</vt:lpstr>
      <vt:lpstr>Reclaiming Pages Example </vt:lpstr>
      <vt:lpstr>Non-Uniform Memory Access</vt:lpstr>
      <vt:lpstr>Non-Uniform Memory Access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 Lesson 4 Frame Allocation</dc:title>
  <dc:creator>David Liu</dc:creator>
  <cp:lastModifiedBy>David Liu</cp:lastModifiedBy>
  <cp:revision>7</cp:revision>
  <dcterms:created xsi:type="dcterms:W3CDTF">2021-11-17T21:02:48Z</dcterms:created>
  <dcterms:modified xsi:type="dcterms:W3CDTF">2022-03-31T15:46:06Z</dcterms:modified>
</cp:coreProperties>
</file>