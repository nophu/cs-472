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24" r:id="rId3"/>
    <p:sldId id="392" r:id="rId4"/>
    <p:sldId id="425" r:id="rId5"/>
    <p:sldId id="393" r:id="rId6"/>
    <p:sldId id="394" r:id="rId7"/>
    <p:sldId id="395" r:id="rId8"/>
    <p:sldId id="396" r:id="rId9"/>
    <p:sldId id="4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15A90-DEB6-4AAD-85EC-D053BF34E8AC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63BB3-1F28-45EE-99BF-D7A3B20FB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0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40EDB377-6003-496F-A5F9-A0EE2B40EB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020E22-F727-4E4C-A25C-77E7B55A0F0B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9E967AA4-5A6D-4461-8D1E-836F9F2B1A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FBB3ED66-B2BF-41F6-8C86-16D48FB62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1E1FB407-CDDC-4E3C-91FC-9569CC875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300933-C314-43B3-8820-B3D5A0E71044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137C7594-4F40-48AD-91F2-422A78AE47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52EFC030-AC58-4668-8B7B-1013552EA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1E1FB407-CDDC-4E3C-91FC-9569CC875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300933-C314-43B3-8820-B3D5A0E71044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137C7594-4F40-48AD-91F2-422A78AE47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52EFC030-AC58-4668-8B7B-1013552EA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81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FBF831F7-7390-4491-B20C-39560E593A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447BF-E7A6-4DAD-A8B0-A6421D0BCA9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964575B0-76E9-4E32-909B-1C69CAD737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C473E95E-6495-40DE-820E-7A2297D8F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EEAF25D1-326C-4BA2-A036-4885DFEDD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B5CCEE-CB40-475E-BEC5-2ABB4083F7C2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00B9A5EB-ACB7-4605-8568-9182690B0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1C30776-4386-4412-BD31-70913556C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A1AA2346-CCB8-41D9-9D46-2F938CAE33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14684A-3AE7-4356-B5A7-EFC080BA4382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8DBBEEC7-8B4B-48B3-A35E-05915639B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EE3E4C0F-43DA-435F-A9F8-567FCF420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A2A55C5F-7079-43F0-A8B6-361562BF3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3980FE-0804-47F4-AE7E-2D84E335D265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59EB5DC1-08A2-4D3D-96FA-082DE295EC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47CD28FE-2DD9-4744-9A90-0C4BF218C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2675B6FC-E3AC-4749-BFE7-A340B24820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58F86C-FD9C-4837-9871-168EB1E34EE3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C1CD08D7-D333-4BD3-A078-F452105E45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1AA9D825-0828-4C4A-B28B-5917C89DA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CB73-E330-49F2-A854-96717F5EB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45490-B88D-4939-AB31-C68961FF2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F084-B64C-4539-ADF2-7DAF1A46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2B2A4-9AFC-490B-AA74-D829656B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0B9EF-6616-464D-B011-C6135C83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5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3111-2F53-4CDE-B4C1-6DAB6305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B83A-76A6-429D-B3C3-55A5015DF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70EF0-2C53-4BCE-AF1A-D3E8B1218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2E777-E30D-4D92-8B77-CD4C843A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7801B-43B4-491B-90F2-7C81EB52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1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BA51-19D4-4986-8EB1-8F8496841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C72FC-AA01-4D4A-B28C-51E6389BA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2D8FD-71E1-4C99-9E99-23B26153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16F03-B658-475B-A116-2F7BCB71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A0214-3EE8-4FCE-9018-318AFB2A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8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AD18-9446-4C95-858D-B3F4EB47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D1608-05BD-4F09-8DD3-91C03501B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B81CE-5A4A-4C75-BB5B-542829C99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87920-AF68-4EEA-B067-4CAEAACF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F1B13-B1C0-4DA9-8DD2-5D841F60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8C494-BFF0-46C8-9D6F-7787939E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7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1C92-B06E-42C9-9E28-DAF4349C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6D12E-C28A-48CA-9353-7F1F18603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38CF-8E20-45BB-B78F-C854AF675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01F48-BE76-4567-93EC-DC586412C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84C67-F4C8-4DBA-A992-834B2961C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39441-A61F-45FC-AD80-49BA9D19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0A034E-C83A-4139-921C-642875E9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54051-321F-446A-8BB4-B0213B17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5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E287-FD03-4E88-808D-03CF7BFB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F1077-9984-4BC9-9B77-2DC59C05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19AB9-DE50-4225-84A0-C366A35A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CFF65-9F81-48F7-9F6F-F9184F1E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6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EBD3F-9C96-4965-A099-9D9E1DC6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E592B-3BB9-4315-AF27-0BBEA3490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48F62-8D99-4999-BDCD-0D7FF406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2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D3D7-8F3E-461F-A7A6-A9E89DE1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26CC-4EE4-432F-9F69-E1DC91D62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1EB03-CBAA-4B18-821C-2F99EEC70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82F93-0FB5-4C3B-ACE1-36564E6D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3C8CF-A6E3-491D-B68B-06F87223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4B80E-E5AE-4724-AF32-301287ED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DEE3-C5F5-4AC7-80F1-6C44D991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65789-057E-4FAC-A25C-79B0152A5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A2B24-F0C7-43FA-990F-34600C9F7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F037E-4D2C-4440-A3CD-637763D9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06323-8F12-4D06-9F3F-89523702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AEA85-2848-4875-A900-E024462F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7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E669-5B23-42AB-8DB0-4F675AF6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ED9BE-D1C7-48AE-95C4-F5CCA5976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6ECC6-CACF-4F43-9315-CE959A5F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811EB-6389-4A84-857C-A40DEAA5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D8E0B-5CFB-4170-BA74-E9EEE05C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4F0B5-1426-4C94-AE5B-938D024DB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8DF74-9635-431B-9A58-37D08809F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1C9AF-0188-47AD-AFD9-5EA16D04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931A9-1945-4F32-86BF-09F1E2BA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0442-A84D-4B6F-9D02-7202AB94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7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0D291-52E5-42BA-8A27-8DA46A4B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B3155-460C-4662-878B-4EFAB6C55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6946-1CF8-4EA5-868D-EFFC2CAC1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7484F-1426-4FDB-BA48-E1DD8E0B6DEF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0ECBF-782F-4CE0-A486-AE9DCE6BE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C33F6-B0CC-4371-8C85-EC29961F7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02507-F2FE-4D20-A07B-DB3DD949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33D6-91D1-4C13-9CF4-868CA01D7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6</a:t>
            </a:r>
            <a:br>
              <a:rPr lang="en-US" dirty="0"/>
            </a:br>
            <a:r>
              <a:rPr lang="en-US" dirty="0"/>
              <a:t>Kernel Mem </a:t>
            </a:r>
            <a:r>
              <a:rPr lang="en-US" dirty="0" err="1"/>
              <a:t>Alloc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70F17-65C0-44F9-9346-C80853533E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34367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E7D4A04-5C97-4DAB-9D6D-C75C0DBED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Allocating Kernel Memory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4F30096-C643-4B2D-A996-A4A795A96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8441" y="1154636"/>
            <a:ext cx="9635118" cy="4548727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</a:p>
          <a:p>
            <a:r>
              <a:rPr lang="en-US" altLang="en-US" dirty="0"/>
              <a:t>Often allocated from a free-memory pool</a:t>
            </a:r>
          </a:p>
          <a:p>
            <a:pPr lvl="1"/>
            <a:r>
              <a:rPr lang="en-US" altLang="en-US" dirty="0"/>
              <a:t>Kernel requests memory for structures of varying sizes</a:t>
            </a:r>
          </a:p>
          <a:p>
            <a:pPr lvl="1"/>
            <a:r>
              <a:rPr lang="en-US" altLang="en-US" dirty="0"/>
              <a:t>Some kernel memory needs to be contiguous</a:t>
            </a:r>
          </a:p>
          <a:p>
            <a:pPr lvl="2"/>
            <a:r>
              <a:rPr lang="en-US" altLang="en-US" dirty="0"/>
              <a:t>i.e. for device I/O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C70C794-8E0C-419B-82D5-8F887D52F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81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Buddy System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60CC9C71-117A-4CA2-B8CA-E3FB151BA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0862" y="1031837"/>
            <a:ext cx="8635303" cy="5302056"/>
          </a:xfrm>
        </p:spPr>
        <p:txBody>
          <a:bodyPr>
            <a:normAutofit/>
          </a:bodyPr>
          <a:lstStyle/>
          <a:p>
            <a:r>
              <a:rPr lang="en-US" altLang="en-US" dirty="0"/>
              <a:t>Allocates memory from fixed-size segment consisting of physically-contiguous pages</a:t>
            </a:r>
          </a:p>
          <a:p>
            <a:r>
              <a:rPr lang="en-US" altLang="en-US" dirty="0"/>
              <a:t>Memory allocated using </a:t>
            </a:r>
            <a:r>
              <a:rPr lang="en-US" altLang="en-US" b="1" dirty="0">
                <a:solidFill>
                  <a:srgbClr val="3366FF"/>
                </a:solidFill>
              </a:rPr>
              <a:t>power-of-2 allocator</a:t>
            </a:r>
          </a:p>
          <a:p>
            <a:pPr lvl="1"/>
            <a:r>
              <a:rPr lang="en-US" altLang="en-US" dirty="0"/>
              <a:t>Satisfies requests in units sized as power of 2</a:t>
            </a:r>
          </a:p>
          <a:p>
            <a:pPr lvl="1"/>
            <a:r>
              <a:rPr lang="en-US" altLang="en-US" dirty="0"/>
              <a:t>Request rounded up to next highest power of 2</a:t>
            </a:r>
          </a:p>
          <a:p>
            <a:pPr lvl="1"/>
            <a:r>
              <a:rPr lang="en-US" altLang="en-US" dirty="0"/>
              <a:t>When smaller allocation needed than is available, current chunk </a:t>
            </a:r>
            <a:r>
              <a:rPr lang="en-US" altLang="en-US" sz="2800" b="1" dirty="0">
                <a:solidFill>
                  <a:srgbClr val="3366FF"/>
                </a:solidFill>
              </a:rPr>
              <a:t>split</a:t>
            </a:r>
            <a:r>
              <a:rPr lang="en-US" altLang="en-US" dirty="0"/>
              <a:t> into two buddies of next-lower power of 2</a:t>
            </a:r>
          </a:p>
          <a:p>
            <a:pPr lvl="2"/>
            <a:r>
              <a:rPr lang="en-US" altLang="en-US" dirty="0"/>
              <a:t>Continue until appropriately sized chunk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C70C794-8E0C-419B-82D5-8F887D52F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81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Buddy System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60CC9C71-117A-4CA2-B8CA-E3FB151BA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0862" y="1076441"/>
            <a:ext cx="8635303" cy="5302056"/>
          </a:xfrm>
        </p:spPr>
        <p:txBody>
          <a:bodyPr>
            <a:normAutofit/>
          </a:bodyPr>
          <a:lstStyle/>
          <a:p>
            <a:r>
              <a:rPr lang="en-US" altLang="en-US" dirty="0"/>
              <a:t>For example, assume 256KB chunk available, kernel requests 21KB</a:t>
            </a:r>
          </a:p>
          <a:p>
            <a:pPr lvl="1"/>
            <a:r>
              <a:rPr lang="en-US" altLang="en-US" dirty="0"/>
              <a:t>Split into A</a:t>
            </a:r>
            <a:r>
              <a:rPr lang="en-US" altLang="en-US" baseline="-25000" dirty="0"/>
              <a:t>L</a:t>
            </a:r>
            <a:r>
              <a:rPr lang="en-US" altLang="en-US" dirty="0"/>
              <a:t> </a:t>
            </a:r>
            <a:r>
              <a:rPr lang="en-US" altLang="en-US" baseline="-25000" dirty="0"/>
              <a:t>and</a:t>
            </a:r>
            <a:r>
              <a:rPr lang="en-US" altLang="en-US" dirty="0"/>
              <a:t> A</a:t>
            </a:r>
            <a:r>
              <a:rPr lang="en-US" altLang="en-US" baseline="-25000" dirty="0"/>
              <a:t>R</a:t>
            </a:r>
            <a:r>
              <a:rPr lang="en-US" altLang="en-US" dirty="0"/>
              <a:t> of 128KB each</a:t>
            </a:r>
          </a:p>
          <a:p>
            <a:pPr lvl="2"/>
            <a:r>
              <a:rPr lang="en-US" altLang="en-US" dirty="0"/>
              <a:t>One further divided into B</a:t>
            </a:r>
            <a:r>
              <a:rPr lang="en-US" altLang="en-US" baseline="-25000" dirty="0"/>
              <a:t>L</a:t>
            </a:r>
            <a:r>
              <a:rPr lang="en-US" altLang="en-US" dirty="0"/>
              <a:t> and B</a:t>
            </a:r>
            <a:r>
              <a:rPr lang="en-US" altLang="en-US" baseline="-25000" dirty="0"/>
              <a:t>R</a:t>
            </a:r>
            <a:r>
              <a:rPr lang="en-US" altLang="en-US" dirty="0"/>
              <a:t> of 64KB</a:t>
            </a:r>
          </a:p>
          <a:p>
            <a:pPr lvl="3"/>
            <a:r>
              <a:rPr lang="en-US" altLang="en-US" dirty="0"/>
              <a:t>One further into C</a:t>
            </a:r>
            <a:r>
              <a:rPr lang="en-US" altLang="en-US" baseline="-25000" dirty="0"/>
              <a:t>L</a:t>
            </a:r>
            <a:r>
              <a:rPr lang="en-US" altLang="en-US" dirty="0"/>
              <a:t> and C</a:t>
            </a:r>
            <a:r>
              <a:rPr lang="en-US" altLang="en-US" baseline="-25000" dirty="0"/>
              <a:t>R</a:t>
            </a:r>
            <a:r>
              <a:rPr lang="en-US" altLang="en-US" dirty="0"/>
              <a:t> of 32KB each – one used to satisfy request</a:t>
            </a:r>
          </a:p>
          <a:p>
            <a:endParaRPr lang="en-US" altLang="en-US" dirty="0"/>
          </a:p>
          <a:p>
            <a:r>
              <a:rPr lang="en-US" altLang="en-US" dirty="0"/>
              <a:t>Advantage – quickly </a:t>
            </a:r>
            <a:r>
              <a:rPr lang="en-US" altLang="en-US" b="1" dirty="0">
                <a:solidFill>
                  <a:srgbClr val="3366FF"/>
                </a:solidFill>
              </a:rPr>
              <a:t>coalesce</a:t>
            </a:r>
            <a:r>
              <a:rPr lang="en-US" altLang="en-US" dirty="0"/>
              <a:t> unused chunks into larger chunk</a:t>
            </a:r>
          </a:p>
          <a:p>
            <a:r>
              <a:rPr lang="en-US" altLang="en-US" dirty="0"/>
              <a:t>Disadvantage - fragmentation</a:t>
            </a:r>
          </a:p>
        </p:txBody>
      </p:sp>
    </p:spTree>
    <p:extLst>
      <p:ext uri="{BB962C8B-B14F-4D97-AF65-F5344CB8AC3E}">
        <p14:creationId xmlns:p14="http://schemas.microsoft.com/office/powerpoint/2010/main" val="346548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AEE76F9-8E58-4335-A70D-09A677AA8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Buddy System Allocator</a:t>
            </a:r>
          </a:p>
        </p:txBody>
      </p:sp>
      <p:pic>
        <p:nvPicPr>
          <p:cNvPr id="129027" name="Picture 1" descr="9_26.pdf">
            <a:extLst>
              <a:ext uri="{FF2B5EF4-FFF2-40B4-BE49-F238E27FC236}">
                <a16:creationId xmlns:a16="http://schemas.microsoft.com/office/drawing/2014/main" id="{6A9288EE-A6EB-44B6-B132-F26790D9B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091" y="1246110"/>
            <a:ext cx="40830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F482C-F2FC-44B7-AE7B-51ECC9961635}"/>
              </a:ext>
            </a:extLst>
          </p:cNvPr>
          <p:cNvSpPr txBox="1"/>
          <p:nvPr/>
        </p:nvSpPr>
        <p:spPr>
          <a:xfrm>
            <a:off x="1664319" y="5530179"/>
            <a:ext cx="2205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kernel requests 21KB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1F9D70-1D8B-4D8B-BF75-AAFA58391CED}"/>
              </a:ext>
            </a:extLst>
          </p:cNvPr>
          <p:cNvCxnSpPr/>
          <p:nvPr/>
        </p:nvCxnSpPr>
        <p:spPr>
          <a:xfrm flipV="1">
            <a:off x="2943922" y="5246610"/>
            <a:ext cx="735980" cy="283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99E06776-B03C-442B-8D0D-70EE5AD082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088" y="188913"/>
            <a:ext cx="76057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Slab Allocator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B7F9BC7B-F6DD-4AE3-856D-493184EB8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9938" y="1014470"/>
            <a:ext cx="9212999" cy="516330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Alternate strategy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Slab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one or more physically contiguous pages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consists of one or more slabs</a:t>
            </a:r>
            <a:endParaRPr lang="en-US" altLang="en-US" sz="800" dirty="0"/>
          </a:p>
          <a:p>
            <a:r>
              <a:rPr lang="en-US" altLang="en-US" dirty="0"/>
              <a:t>Single cache for each unique </a:t>
            </a:r>
            <a:r>
              <a:rPr lang="en-US" altLang="en-US" b="1" dirty="0">
                <a:solidFill>
                  <a:srgbClr val="3366FF"/>
                </a:solidFill>
              </a:rPr>
              <a:t>kernel data structure</a:t>
            </a:r>
          </a:p>
          <a:p>
            <a:pPr lvl="1"/>
            <a:r>
              <a:rPr lang="en-US" altLang="en-US" dirty="0"/>
              <a:t>Each cache filled with </a:t>
            </a:r>
            <a:r>
              <a:rPr lang="en-US" altLang="en-US" b="1" dirty="0">
                <a:solidFill>
                  <a:srgbClr val="3366FF"/>
                </a:solidFill>
              </a:rPr>
              <a:t>objects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instantiations of the data structure</a:t>
            </a:r>
            <a:endParaRPr lang="en-US" altLang="en-US" sz="800" dirty="0"/>
          </a:p>
          <a:p>
            <a:r>
              <a:rPr lang="en-US" altLang="en-US" dirty="0"/>
              <a:t>When cache created, filled with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 dirty="0"/>
          </a:p>
          <a:p>
            <a:r>
              <a:rPr lang="en-US" altLang="en-US" dirty="0"/>
              <a:t>When structures stored,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 dirty="0"/>
          </a:p>
          <a:p>
            <a:r>
              <a:rPr lang="en-US" altLang="en-US" dirty="0"/>
              <a:t>If slab is full of used objects, next object allocated from empty slab</a:t>
            </a:r>
          </a:p>
          <a:p>
            <a:pPr lvl="1"/>
            <a:r>
              <a:rPr lang="en-US" altLang="en-US" dirty="0"/>
              <a:t>If no empty slabs, new slab allocated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Benefits</a:t>
            </a:r>
          </a:p>
          <a:p>
            <a:pPr lvl="1"/>
            <a:r>
              <a:rPr lang="en-US" altLang="en-US" dirty="0"/>
              <a:t>no fragmentation, </a:t>
            </a:r>
          </a:p>
          <a:p>
            <a:pPr lvl="1"/>
            <a:r>
              <a:rPr lang="en-US" altLang="en-US" dirty="0"/>
              <a:t>fast memory request satisfaction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0620C9D0-85DE-418B-9D04-1E7627420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4926" y="163513"/>
            <a:ext cx="7635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Slab Allocation</a:t>
            </a:r>
          </a:p>
        </p:txBody>
      </p:sp>
      <p:pic>
        <p:nvPicPr>
          <p:cNvPr id="133123" name="Picture 1" descr="9_27.pdf">
            <a:extLst>
              <a:ext uri="{FF2B5EF4-FFF2-40B4-BE49-F238E27FC236}">
                <a16:creationId xmlns:a16="http://schemas.microsoft.com/office/drawing/2014/main" id="{47F25832-1D50-4FE5-A834-8A4663F77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082" y="1149234"/>
            <a:ext cx="5685088" cy="4504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2A80B8F-5C73-4188-82A5-317146D8C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088" y="188913"/>
            <a:ext cx="76057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Slab Allocator in Linux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6852B98F-F800-4AB3-94BB-D8B0FCAAC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31059" y="998307"/>
            <a:ext cx="7704137" cy="5214937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For example process descriptor is of type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 err="1"/>
              <a:t>Approx</a:t>
            </a:r>
            <a:r>
              <a:rPr lang="en-US" altLang="en-US" dirty="0"/>
              <a:t> 1.7KB of memory</a:t>
            </a:r>
          </a:p>
          <a:p>
            <a:r>
              <a:rPr lang="en-US" altLang="en-US" dirty="0"/>
              <a:t>New task -&gt; allocate new struct from cache</a:t>
            </a:r>
          </a:p>
          <a:p>
            <a:pPr lvl="1"/>
            <a:r>
              <a:rPr lang="en-US" altLang="en-US" dirty="0"/>
              <a:t>Will use existing free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Partial – mix of free and used</a:t>
            </a:r>
          </a:p>
          <a:p>
            <a:r>
              <a:rPr lang="en-US" altLang="en-US" dirty="0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 empty slab, create new empty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3CC02629-BB18-469A-A1E3-896B5EAA5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088" y="188913"/>
            <a:ext cx="76057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Slab Allocator in Linux (Cont.)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DFAFA04B-4387-494A-81DF-62E348E37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7792" y="1192524"/>
            <a:ext cx="7786648" cy="356904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</a:p>
          <a:p>
            <a:r>
              <a:rPr lang="en-US" altLang="en-US" dirty="0"/>
              <a:t>Linux  2.2 had SLAB, now has both SLOB and SLUB allocators</a:t>
            </a:r>
          </a:p>
          <a:p>
            <a:pPr lvl="1"/>
            <a:r>
              <a:rPr lang="en-US" altLang="en-US" dirty="0"/>
              <a:t>SLOB for systems with limited memory</a:t>
            </a:r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423</Words>
  <Application>Microsoft Office PowerPoint</Application>
  <PresentationFormat>Widescreen</PresentationFormat>
  <Paragraphs>67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Monotype Sorts</vt:lpstr>
      <vt:lpstr>Times New Roman</vt:lpstr>
      <vt:lpstr>Office Theme</vt:lpstr>
      <vt:lpstr>Virtual Memory Lesson 6 Kernel Mem Alloc</vt:lpstr>
      <vt:lpstr>Allocating Kernel Memory</vt:lpstr>
      <vt:lpstr>Buddy System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6 KernelMemAlloc</dc:title>
  <dc:creator>David Liu</dc:creator>
  <cp:lastModifiedBy>David Liu</cp:lastModifiedBy>
  <cp:revision>13</cp:revision>
  <dcterms:created xsi:type="dcterms:W3CDTF">2021-11-17T21:10:55Z</dcterms:created>
  <dcterms:modified xsi:type="dcterms:W3CDTF">2021-11-28T18:35:15Z</dcterms:modified>
</cp:coreProperties>
</file>