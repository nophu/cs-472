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378" r:id="rId3"/>
    <p:sldId id="380" r:id="rId4"/>
    <p:sldId id="381" r:id="rId5"/>
    <p:sldId id="382" r:id="rId6"/>
    <p:sldId id="423" r:id="rId7"/>
    <p:sldId id="383" r:id="rId8"/>
    <p:sldId id="384" r:id="rId9"/>
    <p:sldId id="38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85030A-EF96-4363-B0AA-0FCD1CCB87E9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0DD860-F43E-4871-8057-720F2A019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752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3789704B-731D-481D-BB92-6A7E246FC6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A6C276C-240B-4C9B-871C-1DB1926C6FCA}" type="slidenum">
              <a:rPr lang="en-US" altLang="en-US" smtClean="0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284CC44D-44CC-45D6-A40C-CECD32EF95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0899C715-20A4-462F-ABC7-F63F1B8C06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3D1138A9-4A66-477D-8A7A-6C4D478697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BBC8E66-3DB8-4AE2-81D5-D19677BF181D}" type="slidenum">
              <a:rPr lang="en-US" altLang="en-US" smtClean="0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8B339ECD-21C6-4666-A09C-4921889294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72D1FA4C-EE4F-4BA0-9F33-EE6C65F38D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5F6BB64C-8471-4E38-A70F-89169E4B34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DA1CADA-6658-48B6-AAFD-E6F4B95BAB54}" type="slidenum">
              <a:rPr lang="en-US" altLang="en-US" smtClean="0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D873A1ED-C9B2-46DB-B9A4-F710B3F327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CCE05702-EE43-4777-A861-F18DB54E67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23E8C518-477D-4076-87C9-26998D0C32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5BD7A43-C232-4855-B9BD-50C5B24E633E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4D07C378-A1ED-4A3F-AD73-6591F32C1D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1842D59E-F9CE-47F1-AF2D-217A284585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58228148-37B2-4827-9DFF-E3F34B7323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DAEF01B-0EB2-42A9-9D05-D5A25B172984}" type="slidenum">
              <a:rPr lang="en-US" altLang="en-US" smtClean="0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4FC10A46-700F-421B-92C5-0F840376E6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E1B1E36F-E0DB-41AE-8A42-DE4A54B1EA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0267399D-4672-46EF-973F-8B77AA3003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752B1CD-35FE-4DBC-B81D-8D24C3712AC0}" type="slidenum">
              <a:rPr lang="en-US" altLang="en-US" smtClean="0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1D53926E-9F97-4FE1-808C-DF0C9DA800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BA6FD354-9701-46FC-BDF6-BEEC275A27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D5E357BD-99E0-4ADB-940B-FE8F1E5F10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4C7BD0-1487-4076-9AB4-E5305F17B332}" type="slidenum">
              <a:rPr lang="en-US" altLang="en-US" smtClean="0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73F915E8-F269-4FD5-A8CF-88A6640176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41027F1E-1B61-46B5-BE75-34919F2B1D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298CF950-7224-4A61-8BC0-38CB654062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0DBA0939-0F76-4680-B645-7AD7A9836A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B3268-AE86-46DA-B2F8-C8F44C99DD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071876-C10D-4A6E-B45C-F79B2F7D56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1282C-084D-4CE9-8543-9CD3CA70C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B0BD-257A-4877-8748-BDB43942AD2B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835E4-135D-48AB-839F-F0063807B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F4439-CC0F-4E4B-A684-BE5A34A76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D1F87-D8DE-420C-8397-8C0311D1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51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632B3-B14E-40D6-A166-5F6A76F2D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C24D4-4768-4931-9032-2EC4AEEDD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7B416-0B34-497A-9574-4D86BAA4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B0BD-257A-4877-8748-BDB43942AD2B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CEF56-07E1-43BC-921C-DCC5C4855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D2764-C261-41F4-B7C7-F54372FA7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D1F87-D8DE-420C-8397-8C0311D1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947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632D6-DE1B-49A4-B2AC-B4D59DBF8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BBD4E0-E0BC-44EB-84A4-7EC47805A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DF47A-1C97-400B-8EAB-64C5F8259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B0BD-257A-4877-8748-BDB43942AD2B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8B1D9-6070-4132-A4D1-3891F6A68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36D61-4A62-456E-8707-7FEA34687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D1F87-D8DE-420C-8397-8C0311D1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205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31E14-3231-403B-8542-BA17674AD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C6FD4-3496-49BB-8659-CA553D45FB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539EB1-2FB2-40D6-951F-27854D12BF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04859-6A76-4F6A-88EF-CBBF4E484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B0BD-257A-4877-8748-BDB43942AD2B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B3FE6D-DBBA-4906-8EAF-459B11737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52A45-82D9-400B-A276-398AAA65E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D1F87-D8DE-420C-8397-8C0311D1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644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9A8A3-DF42-4DE2-8FF6-5C3D0415D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AEAA9-EA85-4D5B-A9BD-DA1F38333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C4D32-3724-41E3-9461-DE7AE6BBC2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DC92BF-42D3-4424-919E-8A78BFA274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922456-7C3E-49D7-836D-8749A3DDD5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582CB2-C497-46F8-B12A-F3459AA2B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B0BD-257A-4877-8748-BDB43942AD2B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79783E-5568-4997-9067-C44134D3A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C68A0F-E842-4362-A672-C012A7752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D1F87-D8DE-420C-8397-8C0311D1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004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976C2-5F2A-4A0B-BF2E-47AD44023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087BAD-C13A-4CC5-B56C-327670C85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B0BD-257A-4877-8748-BDB43942AD2B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2ABB8E-78FB-4B2E-8CEC-3273939E7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2BE27D-A090-4CF8-9110-ED70F5474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D1F87-D8DE-420C-8397-8C0311D1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389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3CE900-13F9-49D9-A456-024055D28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B0BD-257A-4877-8748-BDB43942AD2B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A39620-90EC-46E3-A843-2875A6E1E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B3C74-CBD5-4228-B5E5-FCF594063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D1F87-D8DE-420C-8397-8C0311D1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90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55B72-803C-4D74-933E-A70F9C4D2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14A77-EC2E-4E0D-83BF-717CF859F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968E69-B0DD-44FE-8FF2-BCFFECCCD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7B07E-6FBC-4286-BE2A-742AD8A07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B0BD-257A-4877-8748-BDB43942AD2B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B087EE-6F0C-4108-BECC-C72CA457D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12E073-FB61-4CE4-8F25-8D4F90FF8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D1F87-D8DE-420C-8397-8C0311D1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290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1B440-C290-44B1-8152-287F29452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250B60-2E9A-47D7-BD1D-C2536193E7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805105-3D0A-4EBE-9AEE-90B49764A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D3396F-AF61-4193-9B05-AA080B060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B0BD-257A-4877-8748-BDB43942AD2B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3C497-BE36-4466-84A6-0D9DE28E5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EAA83E-51F9-4E3F-8520-CEF0BF8B3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D1F87-D8DE-420C-8397-8C0311D1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72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5EBEA-F498-4F7F-984D-97BBE0FAA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1F3083-2A20-48CD-997A-0A33CDB97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D23AC-DF6D-434A-886C-C4DABBE86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B0BD-257A-4877-8748-BDB43942AD2B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D829A-D74E-497F-A693-6F7001318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44D05-3F8A-4AC6-80E7-498B268BD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D1F87-D8DE-420C-8397-8C0311D1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73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28E159-4BBC-439A-A737-D321E00477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41F60D-FEEE-4462-BAE8-C50E8D3829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65E5D-9C11-4CBA-8941-14AFA73A3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B0BD-257A-4877-8748-BDB43942AD2B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09C6E-344B-4F5B-8BF0-2B77ED9CB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3EC58-804E-4235-9257-1B4C3CC43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D1F87-D8DE-420C-8397-8C0311D1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186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D1E65-8625-4060-809E-585642576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7F36E-8A8F-45E5-9352-30FA3455F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309DF-DB0D-443B-B27C-76EFD8CCF6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72B0BD-257A-4877-8748-BDB43942AD2B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EC177-1DA3-4D61-AEE1-6317603C2D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646C0-60ED-48BD-958B-27CE031ACC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1D1F87-D8DE-420C-8397-8C0311D1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289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E96E3-9DAF-4545-B7C1-9885093FB7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Virtual Memory</a:t>
            </a:r>
            <a:br>
              <a:rPr lang="en-US" dirty="0"/>
            </a:br>
            <a:r>
              <a:rPr lang="en-US" dirty="0"/>
              <a:t>Lesson 5</a:t>
            </a:r>
            <a:br>
              <a:rPr lang="en-US" dirty="0"/>
            </a:br>
            <a:r>
              <a:rPr lang="en-US"/>
              <a:t>Thrashing and Working </a:t>
            </a:r>
            <a:r>
              <a:rPr lang="en-US" dirty="0"/>
              <a:t>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9FB007-00EF-4DDD-A923-7176851A40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2021</a:t>
            </a:r>
          </a:p>
        </p:txBody>
      </p:sp>
    </p:spTree>
    <p:extLst>
      <p:ext uri="{BB962C8B-B14F-4D97-AF65-F5344CB8AC3E}">
        <p14:creationId xmlns:p14="http://schemas.microsoft.com/office/powerpoint/2010/main" val="2999228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6E5FEC6E-81D2-4878-998A-BABADD08F2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889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Thrashing</a:t>
            </a:r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2971CD5A-7355-4004-B6FE-FBFFAB9838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1840" y="810299"/>
            <a:ext cx="5621743" cy="4767107"/>
          </a:xfrm>
        </p:spPr>
        <p:txBody>
          <a:bodyPr>
            <a:normAutofit fontScale="92500"/>
          </a:bodyPr>
          <a:lstStyle/>
          <a:p>
            <a:r>
              <a:rPr lang="en-US" altLang="en-US" dirty="0"/>
              <a:t>If a process does not have </a:t>
            </a:r>
            <a:r>
              <a:rPr lang="ja-JP" altLang="en-US" dirty="0"/>
              <a:t>“</a:t>
            </a:r>
            <a:r>
              <a:rPr lang="en-US" altLang="ja-JP" dirty="0"/>
              <a:t>enough</a:t>
            </a:r>
            <a:r>
              <a:rPr lang="ja-JP" altLang="en-US" dirty="0"/>
              <a:t>”</a:t>
            </a:r>
            <a:r>
              <a:rPr lang="en-US" altLang="ja-JP" dirty="0"/>
              <a:t> pages, the page-fault rate is very high</a:t>
            </a:r>
          </a:p>
          <a:p>
            <a:pPr lvl="1"/>
            <a:r>
              <a:rPr lang="en-US" altLang="en-US" dirty="0"/>
              <a:t>Page fault to get page</a:t>
            </a:r>
          </a:p>
          <a:p>
            <a:pPr lvl="1"/>
            <a:r>
              <a:rPr lang="en-US" altLang="en-US" dirty="0"/>
              <a:t>Replace </a:t>
            </a:r>
            <a:r>
              <a:rPr lang="en-US" altLang="en-US" b="1" dirty="0"/>
              <a:t>existing frame</a:t>
            </a:r>
          </a:p>
          <a:p>
            <a:pPr lvl="1"/>
            <a:r>
              <a:rPr lang="en-US" altLang="en-US" dirty="0"/>
              <a:t>But quickly need </a:t>
            </a:r>
            <a:r>
              <a:rPr lang="en-US" altLang="en-US" b="1" dirty="0"/>
              <a:t>replaced frame </a:t>
            </a:r>
            <a:r>
              <a:rPr lang="en-US" altLang="en-US" dirty="0"/>
              <a:t>back</a:t>
            </a:r>
          </a:p>
          <a:p>
            <a:pPr lvl="1"/>
            <a:r>
              <a:rPr lang="en-US" altLang="en-US" dirty="0"/>
              <a:t>This leads to:</a:t>
            </a:r>
          </a:p>
          <a:p>
            <a:pPr lvl="2"/>
            <a:r>
              <a:rPr lang="en-US" altLang="en-US" dirty="0"/>
              <a:t>Low CPU utilization</a:t>
            </a:r>
          </a:p>
          <a:p>
            <a:pPr lvl="2"/>
            <a:endParaRPr lang="en-US" altLang="en-US" dirty="0"/>
          </a:p>
          <a:p>
            <a:pPr marL="914400" lvl="2" indent="0">
              <a:buNone/>
            </a:pPr>
            <a:endParaRPr lang="en-US" altLang="en-US" dirty="0"/>
          </a:p>
          <a:p>
            <a:pPr lvl="2"/>
            <a:r>
              <a:rPr lang="en-US" altLang="en-US" dirty="0"/>
              <a:t>Operating system thinking that it needs to increase the degree of multiprogramming</a:t>
            </a:r>
          </a:p>
          <a:p>
            <a:pPr lvl="2"/>
            <a:r>
              <a:rPr lang="en-US" altLang="en-US" dirty="0"/>
              <a:t>Another process added to the system</a:t>
            </a:r>
            <a:br>
              <a:rPr lang="en-US" altLang="en-US" dirty="0"/>
            </a:br>
            <a:endParaRPr lang="en-US" alt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5C5797B-F626-494B-A61F-BC06EEFAB127}"/>
              </a:ext>
            </a:extLst>
          </p:cNvPr>
          <p:cNvCxnSpPr>
            <a:cxnSpLocks/>
          </p:cNvCxnSpPr>
          <p:nvPr/>
        </p:nvCxnSpPr>
        <p:spPr>
          <a:xfrm>
            <a:off x="3144643" y="3429000"/>
            <a:ext cx="0" cy="6746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6B5A144F-5268-4C53-8F7A-C8A4A7966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473" y="2385388"/>
            <a:ext cx="4532392" cy="2666113"/>
          </a:xfrm>
          <a:prstGeom prst="rect">
            <a:avLst/>
          </a:prstGeom>
        </p:spPr>
      </p:pic>
      <p:sp>
        <p:nvSpPr>
          <p:cNvPr id="42" name="Left Bracket 41">
            <a:extLst>
              <a:ext uri="{FF2B5EF4-FFF2-40B4-BE49-F238E27FC236}">
                <a16:creationId xmlns:a16="http://schemas.microsoft.com/office/drawing/2014/main" id="{00AA42A9-B135-4FA4-8903-7FF80E95A343}"/>
              </a:ext>
            </a:extLst>
          </p:cNvPr>
          <p:cNvSpPr/>
          <p:nvPr/>
        </p:nvSpPr>
        <p:spPr>
          <a:xfrm>
            <a:off x="183993" y="1035121"/>
            <a:ext cx="641198" cy="3891776"/>
          </a:xfrm>
          <a:prstGeom prst="leftBracket">
            <a:avLst/>
          </a:pr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E177172D-0483-4356-9B5E-EE68A9BB771B}"/>
              </a:ext>
            </a:extLst>
          </p:cNvPr>
          <p:cNvSpPr txBox="1">
            <a:spLocks noChangeArrowheads="1"/>
          </p:cNvSpPr>
          <p:nvPr/>
        </p:nvSpPr>
        <p:spPr>
          <a:xfrm>
            <a:off x="6593583" y="987808"/>
            <a:ext cx="5307825" cy="939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000" b="1" dirty="0">
                <a:solidFill>
                  <a:srgbClr val="3366FF"/>
                </a:solidFill>
              </a:rPr>
              <a:t>Thrashing</a:t>
            </a:r>
            <a:r>
              <a:rPr lang="en-US" altLang="en-US" sz="2000" dirty="0">
                <a:solidFill>
                  <a:srgbClr val="3366FF"/>
                </a:solidFill>
              </a:rPr>
              <a:t>. </a:t>
            </a:r>
            <a:r>
              <a:rPr lang="en-US" altLang="en-US" sz="2000" dirty="0">
                <a:sym typeface="Symbol" panose="05050102010706020507" pitchFamily="18" charset="2"/>
              </a:rPr>
              <a:t> </a:t>
            </a:r>
          </a:p>
          <a:p>
            <a:pPr marL="0" indent="0">
              <a:buNone/>
            </a:pPr>
            <a:r>
              <a:rPr lang="en-US" altLang="en-US" sz="2000" dirty="0">
                <a:sym typeface="Symbol" panose="05050102010706020507" pitchFamily="18" charset="2"/>
              </a:rPr>
              <a:t>       A process is busy swapping pages in and out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806121EF-0238-4083-A2D6-D52A802935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86064" y="188913"/>
            <a:ext cx="715962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Demand Paging and Thrashing </a:t>
            </a:r>
            <a:endParaRPr lang="en-US" altLang="en-US" sz="2400"/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48D3783C-DED8-4CFC-B009-98DF06CFF2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18565" y="1084262"/>
            <a:ext cx="8585161" cy="4859337"/>
          </a:xfrm>
        </p:spPr>
        <p:txBody>
          <a:bodyPr>
            <a:normAutofit/>
          </a:bodyPr>
          <a:lstStyle/>
          <a:p>
            <a:r>
              <a:rPr lang="en-US" altLang="en-US" dirty="0"/>
              <a:t>Why does demand paging work?</a:t>
            </a:r>
            <a:br>
              <a:rPr lang="en-US" altLang="en-US" dirty="0"/>
            </a:br>
            <a:r>
              <a:rPr lang="en-US" altLang="en-US" dirty="0"/>
              <a:t>       </a:t>
            </a:r>
            <a:r>
              <a:rPr lang="en-US" altLang="en-US" b="1" dirty="0">
                <a:solidFill>
                  <a:srgbClr val="3366FF"/>
                </a:solidFill>
              </a:rPr>
              <a:t>Locality model</a:t>
            </a:r>
          </a:p>
          <a:p>
            <a:pPr lvl="1"/>
            <a:r>
              <a:rPr lang="en-US" altLang="en-US" dirty="0"/>
              <a:t>Process migrates from one locality to another</a:t>
            </a:r>
          </a:p>
          <a:p>
            <a:pPr lvl="1"/>
            <a:r>
              <a:rPr lang="en-US" altLang="en-US" dirty="0"/>
              <a:t>Localities may overlap</a:t>
            </a:r>
          </a:p>
          <a:p>
            <a:pPr marL="457200" lvl="1" indent="0">
              <a:buNone/>
            </a:pPr>
            <a:endParaRPr lang="en-US" altLang="en-US" dirty="0"/>
          </a:p>
          <a:p>
            <a:r>
              <a:rPr lang="en-US" altLang="en-US" dirty="0"/>
              <a:t>Why does thrashing occur?</a:t>
            </a:r>
            <a:br>
              <a:rPr lang="en-US" altLang="en-US" dirty="0"/>
            </a:br>
            <a:r>
              <a:rPr lang="en-US" altLang="en-US" dirty="0"/>
              <a:t>       </a:t>
            </a:r>
            <a:r>
              <a:rPr lang="en-US" altLang="en-US" dirty="0">
                <a:sym typeface="Symbol" panose="05050102010706020507" pitchFamily="18" charset="2"/>
              </a:rPr>
              <a:t> size of locality &gt; total memory size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Limit effects by using local or priority page replacement</a:t>
            </a:r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670DA443-8614-4C42-8F89-C32508D347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6705" y="0"/>
            <a:ext cx="3653919" cy="1516566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Locality In A Memory-</a:t>
            </a:r>
            <a:br>
              <a:rPr lang="en-US" altLang="en-US" sz="2800" dirty="0"/>
            </a:br>
            <a:r>
              <a:rPr lang="en-US" altLang="en-US" sz="2800" dirty="0"/>
              <a:t>Reference Pattern</a:t>
            </a:r>
          </a:p>
        </p:txBody>
      </p:sp>
      <p:pic>
        <p:nvPicPr>
          <p:cNvPr id="112643" name="Picture 1" descr="9_19.pdf">
            <a:extLst>
              <a:ext uri="{FF2B5EF4-FFF2-40B4-BE49-F238E27FC236}">
                <a16:creationId xmlns:a16="http://schemas.microsoft.com/office/drawing/2014/main" id="{DBA27FDE-F0C8-4FCC-9DE3-A9ABAA3051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1064" y="154316"/>
            <a:ext cx="4560634" cy="654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230DA356-C904-4029-8F58-DF360FCD6D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08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Working-Set Model</a:t>
            </a: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9EEB3EAD-DEED-427A-A79D-06E3CCD751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3019" y="1040519"/>
            <a:ext cx="9665243" cy="4776961"/>
          </a:xfrm>
        </p:spPr>
        <p:txBody>
          <a:bodyPr>
            <a:normAutofit/>
          </a:bodyPr>
          <a:lstStyle/>
          <a:p>
            <a:r>
              <a:rPr lang="en-US" altLang="en-US" dirty="0">
                <a:sym typeface="Symbol" panose="05050102010706020507" pitchFamily="18" charset="2"/>
              </a:rPr>
              <a:t>  working-set window  a fixed number of page references 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Example:  10,000 instructions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i="1" dirty="0" err="1">
                <a:sym typeface="Symbol" panose="05050102010706020507" pitchFamily="18" charset="2"/>
              </a:rPr>
              <a:t>WSS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(working set of Process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i="1" baseline="-25000" dirty="0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) =  total number of pages referenced in the most recent  (varies in time)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 too small will not encompass entire locality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 too large will encompass several localities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 =   will encompass entire program</a:t>
            </a:r>
          </a:p>
          <a:p>
            <a:pPr marL="457200" lvl="1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i="1" dirty="0">
                <a:sym typeface="Symbol" panose="05050102010706020507" pitchFamily="18" charset="2"/>
              </a:rPr>
              <a:t>D</a:t>
            </a:r>
            <a:r>
              <a:rPr lang="en-US" altLang="en-US" dirty="0">
                <a:sym typeface="Symbol" panose="05050102010706020507" pitchFamily="18" charset="2"/>
              </a:rPr>
              <a:t> =  </a:t>
            </a:r>
            <a:r>
              <a:rPr lang="en-US" altLang="en-US" i="1" dirty="0" err="1">
                <a:sym typeface="Symbol" panose="05050102010706020507" pitchFamily="18" charset="2"/>
              </a:rPr>
              <a:t>WSS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 total demand frames 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Approximation of locality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E2FE5982-C6E8-4DCE-969B-7760E62EC0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08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Working-Set Model (Cont.)</a:t>
            </a:r>
          </a:p>
        </p:txBody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3A1AB3A6-434C-49AB-96EB-94BDD41E0F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12126" y="1299390"/>
            <a:ext cx="8229600" cy="1655683"/>
          </a:xfrm>
        </p:spPr>
        <p:txBody>
          <a:bodyPr/>
          <a:lstStyle/>
          <a:p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i="1" dirty="0">
                <a:sym typeface="Symbol" panose="05050102010706020507" pitchFamily="18" charset="2"/>
              </a:rPr>
              <a:t>D</a:t>
            </a:r>
            <a:r>
              <a:rPr lang="en-US" altLang="en-US" dirty="0">
                <a:sym typeface="Symbol" panose="05050102010706020507" pitchFamily="18" charset="2"/>
              </a:rPr>
              <a:t> &gt; </a:t>
            </a:r>
            <a:r>
              <a:rPr lang="en-US" altLang="en-US" i="1" dirty="0">
                <a:sym typeface="Symbol" panose="05050102010706020507" pitchFamily="18" charset="2"/>
              </a:rPr>
              <a:t>m</a:t>
            </a:r>
            <a:r>
              <a:rPr lang="en-US" altLang="en-US" dirty="0">
                <a:sym typeface="Symbol" panose="05050102010706020507" pitchFamily="18" charset="2"/>
              </a:rPr>
              <a:t>  Thrashing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Policy if </a:t>
            </a:r>
            <a:r>
              <a:rPr lang="en-US" altLang="en-US" i="1" dirty="0">
                <a:sym typeface="Symbol" panose="05050102010706020507" pitchFamily="18" charset="2"/>
              </a:rPr>
              <a:t>D</a:t>
            </a:r>
            <a:r>
              <a:rPr lang="en-US" altLang="en-US" dirty="0">
                <a:sym typeface="Symbol" panose="05050102010706020507" pitchFamily="18" charset="2"/>
              </a:rPr>
              <a:t> &gt; m, then suspend or swap out one of the processes </a:t>
            </a:r>
          </a:p>
        </p:txBody>
      </p:sp>
      <p:pic>
        <p:nvPicPr>
          <p:cNvPr id="116740" name="Picture 5">
            <a:extLst>
              <a:ext uri="{FF2B5EF4-FFF2-40B4-BE49-F238E27FC236}">
                <a16:creationId xmlns:a16="http://schemas.microsoft.com/office/drawing/2014/main" id="{FD680653-47EE-410D-8361-B81E69DBB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121" y="3248608"/>
            <a:ext cx="8665758" cy="2310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99FB1192-25A1-4012-8CDC-0F1203085C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46472" y="353084"/>
            <a:ext cx="77422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Keeping Track of the Working Set</a:t>
            </a:r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E5286798-7F86-4DC5-B641-BF2B79E3A4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94149" y="1252847"/>
            <a:ext cx="9042051" cy="4423124"/>
          </a:xfrm>
        </p:spPr>
        <p:txBody>
          <a:bodyPr>
            <a:normAutofit/>
          </a:bodyPr>
          <a:lstStyle/>
          <a:p>
            <a:r>
              <a:rPr lang="en-US" altLang="en-US" dirty="0"/>
              <a:t>Approximate with interval timer + a reference bit</a:t>
            </a:r>
          </a:p>
          <a:p>
            <a:r>
              <a:rPr lang="en-US" altLang="en-US" dirty="0"/>
              <a:t>Example: </a:t>
            </a:r>
            <a:r>
              <a:rPr lang="en-US" altLang="en-US" dirty="0">
                <a:sym typeface="Symbol" panose="05050102010706020507" pitchFamily="18" charset="2"/>
              </a:rPr>
              <a:t> = 10,000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Timer interrupts after every 5000 time units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Keep in memory 2 bits for each page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Whenever a timer interrupts copy and sets the values of all reference bits to 0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one of the bits in memory = 1  page in working set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Why is this not completely accurate?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Improvement = 10 bits and interrupt every 1000 time units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ECDC8A19-10D4-493E-AE13-6BB173FE55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20926" y="163513"/>
            <a:ext cx="78898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Page-Fault Frequency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20E03C33-4D42-4FC9-AA7E-29F6459968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01813" y="1012825"/>
            <a:ext cx="6818079" cy="1774979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/>
              <a:t>More direct approach than WSS</a:t>
            </a:r>
          </a:p>
          <a:p>
            <a:r>
              <a:rPr lang="en-US" altLang="en-US" dirty="0"/>
              <a:t>Establish </a:t>
            </a:r>
            <a:r>
              <a:rPr lang="ja-JP" altLang="en-US" dirty="0"/>
              <a:t>“</a:t>
            </a:r>
            <a:r>
              <a:rPr lang="en-US" altLang="ja-JP" dirty="0"/>
              <a:t>acceptable</a:t>
            </a:r>
            <a:r>
              <a:rPr lang="ja-JP" altLang="en-US" dirty="0"/>
              <a:t>”</a:t>
            </a:r>
            <a:r>
              <a:rPr lang="en-US" altLang="ja-JP" dirty="0"/>
              <a:t> </a:t>
            </a:r>
            <a:r>
              <a:rPr lang="en-US" altLang="ja-JP" b="1" dirty="0">
                <a:solidFill>
                  <a:srgbClr val="3366FF"/>
                </a:solidFill>
              </a:rPr>
              <a:t>page-fault frequency </a:t>
            </a:r>
            <a:r>
              <a:rPr lang="en-US" altLang="ja-JP" dirty="0"/>
              <a:t>(</a:t>
            </a:r>
            <a:r>
              <a:rPr lang="en-US" altLang="ja-JP" b="1" dirty="0">
                <a:solidFill>
                  <a:srgbClr val="3366FF"/>
                </a:solidFill>
              </a:rPr>
              <a:t>PFF</a:t>
            </a:r>
            <a:r>
              <a:rPr lang="en-US" altLang="ja-JP" dirty="0"/>
              <a:t>)</a:t>
            </a:r>
            <a:r>
              <a:rPr lang="en-US" altLang="ja-JP" b="1" dirty="0">
                <a:solidFill>
                  <a:srgbClr val="3366FF"/>
                </a:solidFill>
              </a:rPr>
              <a:t> </a:t>
            </a:r>
            <a:r>
              <a:rPr lang="en-US" altLang="ja-JP" dirty="0"/>
              <a:t>rate and use local replacement policy</a:t>
            </a:r>
          </a:p>
          <a:p>
            <a:pPr lvl="1"/>
            <a:r>
              <a:rPr lang="en-US" altLang="en-US" dirty="0"/>
              <a:t>If actual rate too low, process loses frame</a:t>
            </a:r>
          </a:p>
          <a:p>
            <a:pPr lvl="1"/>
            <a:r>
              <a:rPr lang="en-US" altLang="en-US" dirty="0"/>
              <a:t>If actual rate too high, process gains frame</a:t>
            </a:r>
          </a:p>
        </p:txBody>
      </p:sp>
      <p:pic>
        <p:nvPicPr>
          <p:cNvPr id="120836" name="Picture 1" descr="9_21.pdf">
            <a:extLst>
              <a:ext uri="{FF2B5EF4-FFF2-40B4-BE49-F238E27FC236}">
                <a16:creationId xmlns:a16="http://schemas.microsoft.com/office/drawing/2014/main" id="{EB41CCDA-544C-4516-A488-DB691511D2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9903" y="2868494"/>
            <a:ext cx="6209989" cy="3594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Title 1">
            <a:extLst>
              <a:ext uri="{FF2B5EF4-FFF2-40B4-BE49-F238E27FC236}">
                <a16:creationId xmlns:a16="http://schemas.microsoft.com/office/drawing/2014/main" id="{173AE67A-1710-45ED-8961-CC9C190EF1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87625" y="1762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Working Sets and Page Fault Rates</a:t>
            </a:r>
          </a:p>
        </p:txBody>
      </p:sp>
      <p:pic>
        <p:nvPicPr>
          <p:cNvPr id="122883" name="Picture 4" descr="9">
            <a:extLst>
              <a:ext uri="{FF2B5EF4-FFF2-40B4-BE49-F238E27FC236}">
                <a16:creationId xmlns:a16="http://schemas.microsoft.com/office/drawing/2014/main" id="{CDF08A15-BD75-4BC6-89B0-1E470004A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820" y="2965566"/>
            <a:ext cx="7002424" cy="3191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4339D2F-E3D1-465C-98B7-AE2C0EC54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357" y="853418"/>
            <a:ext cx="8652261" cy="1767117"/>
          </a:xfrm>
          <a:prstGeom prst="rect">
            <a:avLst/>
          </a:prstGeom>
          <a:noFill/>
          <a:ln>
            <a:noFill/>
          </a:ln>
          <a:extLst>
            <a:ext uri="{FAA26D3D-D897-4be2-8F04-BA451C77F1D7}"/>
          </a:extLst>
        </p:spPr>
        <p:txBody>
          <a:bodyPr lIns="91435" tIns="45718" rIns="91435" bIns="45718"/>
          <a:lstStyle>
            <a:lvl1pPr marL="488950" indent="-4889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charset="0"/>
              <a:buChar char="n"/>
              <a:defRPr kumimoji="1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1060450" indent="-40798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charset="0"/>
              <a:buChar char="l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1550988" indent="-32543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charset="0"/>
              <a:buChar char="4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2039938" indent="-32543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2530475" indent="-32543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3183912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3837022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4490133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5143243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ea typeface="ＭＳ Ｐゴシック" charset="0"/>
                <a:cs typeface="ＭＳ Ｐゴシック" charset="0"/>
              </a:rPr>
              <a:t>Direct relationship between working set of a process and its page-fault rate</a:t>
            </a:r>
          </a:p>
          <a:p>
            <a:pPr>
              <a:buClrTx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ea typeface="ＭＳ Ｐゴシック" charset="0"/>
                <a:cs typeface="ＭＳ Ｐゴシック" charset="0"/>
              </a:rPr>
              <a:t>Working set changes over time</a:t>
            </a:r>
          </a:p>
          <a:p>
            <a:pPr>
              <a:buClrTx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ea typeface="ＭＳ Ｐゴシック" charset="0"/>
                <a:cs typeface="ＭＳ Ｐゴシック" charset="0"/>
              </a:rPr>
              <a:t>Peaks and valleys over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398</Words>
  <Application>Microsoft Office PowerPoint</Application>
  <PresentationFormat>Widescreen</PresentationFormat>
  <Paragraphs>63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ＭＳ Ｐゴシック</vt:lpstr>
      <vt:lpstr>ＭＳ Ｐゴシック</vt:lpstr>
      <vt:lpstr>游ゴシック</vt:lpstr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Virtual Memory Lesson 5 Thrashing and Working Set</vt:lpstr>
      <vt:lpstr>Thrashing</vt:lpstr>
      <vt:lpstr>Demand Paging and Thrashing </vt:lpstr>
      <vt:lpstr>Locality In A Memory- Reference Pattern</vt:lpstr>
      <vt:lpstr>Working-Set Model</vt:lpstr>
      <vt:lpstr>Working-Set Model (Cont.)</vt:lpstr>
      <vt:lpstr>Keeping Track of the Working Set</vt:lpstr>
      <vt:lpstr>Page-Fault Frequency</vt:lpstr>
      <vt:lpstr>Working Sets and Page Fault Rates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Memory Lesson 5 TrashingWorkingSet</dc:title>
  <dc:creator>David Liu</dc:creator>
  <cp:lastModifiedBy>David Liu</cp:lastModifiedBy>
  <cp:revision>21</cp:revision>
  <dcterms:created xsi:type="dcterms:W3CDTF">2021-11-17T21:06:26Z</dcterms:created>
  <dcterms:modified xsi:type="dcterms:W3CDTF">2023-04-06T16:08:43Z</dcterms:modified>
</cp:coreProperties>
</file>