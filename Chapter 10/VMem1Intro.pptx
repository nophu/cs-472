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335" r:id="rId6"/>
    <p:sldId id="407" r:id="rId7"/>
    <p:sldId id="336" r:id="rId8"/>
    <p:sldId id="337" r:id="rId9"/>
    <p:sldId id="408" r:id="rId10"/>
    <p:sldId id="338" r:id="rId11"/>
    <p:sldId id="40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1DDCE-944D-476A-A546-514BB5166271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56DBA-442F-47A3-B283-8F5861FC8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5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2B97C64F-8BA5-4B1A-B7A8-90F6728C2B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B62CBA1-990C-45C0-BB5A-2EE4D2CEDECB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B1C152D-CE8A-4F1C-BF9B-2A49E090FC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FF7E3E3-A417-4007-B9AF-C34D2B771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F8EB643-F982-4ED3-AB61-989CA9479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FAC39F6-2A90-461E-9E23-C6F15434A781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83A7C72-DF12-4858-85F4-5AB4FCF60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3167E2D-18AF-4AA5-B133-A3C2DB1150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C103CF0-F134-48B2-A801-EBFB27CC3E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27C4B5-818E-44B3-97B5-67E414CAECAA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25DBA4C-5489-436A-8EAC-19014BCD22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B50B4A5B-89F1-4D80-B375-97B7D75147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CE4C43C-FD6D-457B-9F2A-CB2FE750EE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C0FFEE-CC90-40C1-9D8B-523233F9211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B604F8E-0ADD-4435-A044-4DC4AA7F44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A8CB1EB-36A2-44DE-BAEA-530C68AB6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CE4C43C-FD6D-457B-9F2A-CB2FE750EE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C0FFEE-CC90-40C1-9D8B-523233F9211E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BB604F8E-0ADD-4435-A044-4DC4AA7F44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A8CB1EB-36A2-44DE-BAEA-530C68AB6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413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FE3FF708-CEDB-4453-A1A3-0986AAC74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60F5A4-45AC-47D4-8824-3120FC2DE989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304CD918-34C3-4209-83D4-D09B4B06F3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B1D79F07-E9B5-4190-A763-DB0D586AE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A28A-1CB3-445F-A874-D0E42B9AA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13D96-F399-4FF8-96E0-419DD3324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AAB1F-81A2-4087-B038-B63F0070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64321-B216-4BFC-AD81-DCBACCABD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2B35E-CC4C-4752-B0E7-4D35DFC1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7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9EF6-942E-4047-AE5E-7333E4D2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44A7B-45BA-40CD-A77D-463BA6925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71142-B827-43F1-B908-5B4DA984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731FC-50C5-40B1-AB9C-A72ECE29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74E6C-7F59-432A-A772-9DB06F09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84FD0-8174-4592-B144-C5A6F780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D4932-5410-4F30-92C3-275C24BF3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3B6AC-D89A-44C6-985F-B3D66C4A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1BAAE-CDF8-4AF7-8DE8-A2CEE902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605C4-5FB2-46BC-BB49-67C546CB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6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36422-F25B-4D48-AD6D-18E65DC7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CCAB-622A-4A4A-BDDE-B0DF71DE0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9A581-93D0-41E3-B753-2AD742CEF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08BD2-092D-4364-9AEB-1DD8C9AFD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F31E5-F1F5-405A-B97C-BF88B345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254D4-6FEE-479C-994E-EA12F9E5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1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F88D-EAE2-4F37-BEA3-CE5BD3AA0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B1C93-FA05-4134-94C9-D54B1E86C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86A12-7C09-429D-8CBE-B2B8C6236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4CECE6-B75B-40F5-8234-6822CDFD1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6D0CB-0D7B-4077-8288-CC5D261232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32023-DFB0-42FD-83B5-524B1530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FF3B0A-ECFB-4C1E-9FDE-81122911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A0CFD-216C-45ED-A42A-46DC7FF5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1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FEFE-CEEE-4B5A-B92F-AF192298D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8E111-982A-4B67-8925-3694425C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C4409-D8AA-46E6-BB1A-637D69C37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75ADD-233A-4F31-A8FE-E6AAEE72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1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02D67-A38A-4C74-8360-C05019A2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91A7B-95C7-4227-BBE3-DFB8BFE2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ECB05-A7EE-4CC5-B2E4-7F30FC08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9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C2A1-4ECC-446A-B960-BA493DE13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1286E-77B2-4385-B03A-ED9C4CB24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BD87A-C551-4604-9699-C3DC2C087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79516-E3EA-4644-BD5C-22AD5EAD8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1A645-314E-4AAC-96CB-860A3F223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4560B-90A7-4CC2-91D8-0D29A4CBB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2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91DAB-6AD8-4A90-841B-43576329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258B8-283A-4231-AF63-D00EFE15C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721F3-A756-45C1-9106-E7DFC7F60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481EB4-96DE-46C4-8A9C-83E6977B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750AA-1496-4864-965E-DF29B494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E7621-0EBF-4061-BA17-7BD6629E6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80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802E-27EF-4C8F-9698-90E3332F9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F17AA-4577-427B-B082-08D7A9906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CE5F2-5BDE-4FA7-83C9-7CA1E654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01E6B-4F6D-4313-9B79-F115AEEB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B6593-7DE3-4B58-9290-CCEADF09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5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A138C3-623B-42D0-B0E0-6FE625106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D0CD9-E0F5-467B-A436-18AFEAE42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115AE-7616-4783-B14B-180179DC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78C8C-DD90-4A37-9BD0-8E18A818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75BE4-926A-48BF-9674-186E8F24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7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08375-E03F-41D5-B537-B7AFCCD2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68A23-030D-4E62-8442-0418E527A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E1403-1448-441F-97C6-7C71C31A2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08E57-7B59-4904-9A65-8557864E2150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75CBD-8B12-47D3-B162-7E6BD2AAD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476FF-C1EA-4009-A680-549AC2821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D6647-7672-4479-A80B-7CF0C18C4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8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5493-7A54-402D-A3EC-001726F95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 dirty="0"/>
              <a:t>Lesson 1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1BF71-11A1-43E1-99D9-7B2B027451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1637982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3773-64CD-4AE0-B813-084B0248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272B8-47B4-45C6-AC8F-0FE710F2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Define virtual memory and describe its benefits.</a:t>
            </a:r>
          </a:p>
          <a:p>
            <a:r>
              <a:rPr lang="en-US" altLang="en-US" dirty="0"/>
              <a:t>Illustrate how pages are loaded into memory using demand paging.</a:t>
            </a:r>
          </a:p>
          <a:p>
            <a:r>
              <a:rPr lang="en-US" altLang="en-US" dirty="0"/>
              <a:t>Apply the FIFO, optimal, and  LRU page-replacement algorithms.</a:t>
            </a:r>
          </a:p>
          <a:p>
            <a:r>
              <a:rPr lang="en-US" altLang="en-US" dirty="0"/>
              <a:t>Describe the working set of a process, and explain how it is related to program locality.</a:t>
            </a:r>
          </a:p>
          <a:p>
            <a:r>
              <a:rPr lang="en-US" altLang="en-US" dirty="0"/>
              <a:t>Describe how Linux, Windows 10, and Solaris manage virtual memory.</a:t>
            </a:r>
          </a:p>
          <a:p>
            <a:r>
              <a:rPr lang="en-US" altLang="en-US" dirty="0"/>
              <a:t>Design a virtual memory manager simulation in the C programming language.</a:t>
            </a:r>
          </a:p>
        </p:txBody>
      </p:sp>
    </p:spTree>
    <p:extLst>
      <p:ext uri="{BB962C8B-B14F-4D97-AF65-F5344CB8AC3E}">
        <p14:creationId xmlns:p14="http://schemas.microsoft.com/office/powerpoint/2010/main" val="173291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33C42-23A5-4D8E-9154-7C451A465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Virtual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0F117-02B2-45D9-A0BF-D79016CAD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needs to be in memory to execute, but entire program rarely used</a:t>
            </a:r>
          </a:p>
          <a:p>
            <a:pPr lvl="1"/>
            <a:r>
              <a:rPr lang="en-US" dirty="0"/>
              <a:t>Error code, unusual routines, large data structures</a:t>
            </a:r>
          </a:p>
          <a:p>
            <a:r>
              <a:rPr lang="en-US" dirty="0"/>
              <a:t>Entire program code not needed at same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621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8336-6796-43B1-B69C-443790F16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Partially-Loaded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1F3C4-457B-4192-A42A-6E82752F2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no longer constrained by limits of physical memory</a:t>
            </a:r>
          </a:p>
          <a:p>
            <a:r>
              <a:rPr lang="en-US" dirty="0"/>
              <a:t>Each program takes less memory while running -&gt; more programs run at the same time</a:t>
            </a:r>
          </a:p>
          <a:p>
            <a:pPr lvl="1"/>
            <a:r>
              <a:rPr lang="en-US" dirty="0"/>
              <a:t>Increased CPU utilization and throughput with no increase in response time or turnaround time</a:t>
            </a:r>
          </a:p>
          <a:p>
            <a:r>
              <a:rPr lang="en-US" dirty="0"/>
              <a:t>Less I/O needed to load or swap programs into memory -&gt; each user program runs faster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54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BA9A843-E233-484E-AD82-EF9FBEEE2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2708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Virtual memory 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5D5F260-B8CA-4C93-A57F-338645047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2143" y="1164431"/>
            <a:ext cx="9887944" cy="4971964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Virtual memory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separation of user logical memory from physical memory</a:t>
            </a:r>
          </a:p>
          <a:p>
            <a:pPr lvl="1"/>
            <a:r>
              <a:rPr lang="en-US" altLang="en-US" dirty="0"/>
              <a:t>Only part of the program needs to be in memory for execution</a:t>
            </a:r>
          </a:p>
          <a:p>
            <a:pPr lvl="1"/>
            <a:r>
              <a:rPr lang="en-US" altLang="en-US" dirty="0"/>
              <a:t>Logical address space can therefore be much larger than physical address space</a:t>
            </a:r>
          </a:p>
          <a:p>
            <a:pPr lvl="1"/>
            <a:r>
              <a:rPr lang="en-US" altLang="en-US" dirty="0"/>
              <a:t>Allows address spaces to be shared by several processes</a:t>
            </a:r>
          </a:p>
          <a:p>
            <a:pPr lvl="1"/>
            <a:r>
              <a:rPr lang="en-US" altLang="en-US" dirty="0"/>
              <a:t>Allows for more efficient process creation</a:t>
            </a:r>
          </a:p>
          <a:p>
            <a:pPr lvl="1"/>
            <a:r>
              <a:rPr lang="en-US" altLang="en-US" dirty="0"/>
              <a:t>More programs running concurrently</a:t>
            </a:r>
          </a:p>
          <a:p>
            <a:pPr lvl="1"/>
            <a:r>
              <a:rPr lang="en-US" altLang="en-US" dirty="0"/>
              <a:t>Less I/O needed to load or swap processes</a:t>
            </a:r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A2BBAEF-46CB-4B23-8606-47FF302E7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08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4D2C82B-405C-4D42-AD61-637B64B77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10995" y="996223"/>
            <a:ext cx="8977063" cy="4600346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/>
            <a:r>
              <a:rPr lang="en-US" altLang="en-US" dirty="0"/>
              <a:t>Usually start at address 0, contiguous addresses until end of space</a:t>
            </a:r>
          </a:p>
          <a:p>
            <a:pPr lvl="1"/>
            <a:r>
              <a:rPr lang="en-US" altLang="en-US" dirty="0"/>
              <a:t>Meanwhile, physical memory organized in page frames</a:t>
            </a:r>
          </a:p>
          <a:p>
            <a:pPr lvl="1"/>
            <a:r>
              <a:rPr lang="en-US" altLang="en-US" dirty="0"/>
              <a:t>MMU must map logical to physical</a:t>
            </a:r>
          </a:p>
          <a:p>
            <a:r>
              <a:rPr lang="en-US" altLang="en-US" dirty="0"/>
              <a:t>Virtual memory can be implemented via:</a:t>
            </a:r>
          </a:p>
          <a:p>
            <a:pPr lvl="1"/>
            <a:r>
              <a:rPr lang="en-US" altLang="en-US" dirty="0"/>
              <a:t>Demand paging </a:t>
            </a:r>
          </a:p>
          <a:p>
            <a:pPr lvl="1"/>
            <a:r>
              <a:rPr lang="en-US" altLang="en-US" dirty="0"/>
              <a:t>Demand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E506799-ED82-4AD9-9EF3-3EF226258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076" y="176271"/>
            <a:ext cx="10256704" cy="981669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Virtual Memory Larger Than Physical Memory</a:t>
            </a:r>
          </a:p>
        </p:txBody>
      </p:sp>
      <p:pic>
        <p:nvPicPr>
          <p:cNvPr id="17411" name="Picture 4" descr="B:\os-book\os10-dir\Slides-WORK-area\Figures-dir\ch10\JPG-dir\10_01.jpg">
            <a:extLst>
              <a:ext uri="{FF2B5EF4-FFF2-40B4-BE49-F238E27FC236}">
                <a16:creationId xmlns:a16="http://schemas.microsoft.com/office/drawing/2014/main" id="{BF88951F-F1E3-4C2B-BFBE-0630435A4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364" y="1534444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016ABDE-01DC-47B2-B3F4-66A411672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6976" y="176213"/>
            <a:ext cx="7743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Virtual-address Space</a:t>
            </a:r>
          </a:p>
        </p:txBody>
      </p:sp>
      <p:pic>
        <p:nvPicPr>
          <p:cNvPr id="19459" name="Picture 5">
            <a:extLst>
              <a:ext uri="{FF2B5EF4-FFF2-40B4-BE49-F238E27FC236}">
                <a16:creationId xmlns:a16="http://schemas.microsoft.com/office/drawing/2014/main" id="{C1BC56BD-265E-4308-9138-DA69495A6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843" y="1144587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3">
            <a:extLst>
              <a:ext uri="{FF2B5EF4-FFF2-40B4-BE49-F238E27FC236}">
                <a16:creationId xmlns:a16="http://schemas.microsoft.com/office/drawing/2014/main" id="{61B6C7AA-8BEF-4920-B940-3B8F61248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42" y="1144587"/>
            <a:ext cx="8138413" cy="456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SzPct val="8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SzPct val="8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Unused address space between the two is hole</a:t>
            </a:r>
          </a:p>
          <a:p>
            <a:pPr lvl="2">
              <a:spcBef>
                <a:spcPct val="35000"/>
              </a:spcBef>
              <a:buSzPct val="75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No physical memory needed until heap or stack grows to a given new page</a:t>
            </a:r>
          </a:p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Enables </a:t>
            </a:r>
            <a:r>
              <a:rPr kumimoji="1" lang="en-US" altLang="en-US" sz="2000" b="1" dirty="0">
                <a:solidFill>
                  <a:srgbClr val="3366FF"/>
                </a:solidFill>
                <a:latin typeface="Helvetica" panose="020B0604020202020204" pitchFamily="34" charset="0"/>
              </a:rPr>
              <a:t>sparse </a:t>
            </a:r>
            <a:r>
              <a:rPr kumimoji="1" lang="en-US" altLang="en-US" sz="2000" dirty="0">
                <a:latin typeface="Helvetica" panose="020B0604020202020204" pitchFamily="34" charset="0"/>
              </a:rPr>
              <a:t>address spaces with holes left for growth, dynamically linked libraries, </a:t>
            </a:r>
            <a:r>
              <a:rPr kumimoji="1" lang="en-US" altLang="en-US" sz="2000" dirty="0" err="1">
                <a:latin typeface="Helvetica" panose="020B0604020202020204" pitchFamily="34" charset="0"/>
              </a:rPr>
              <a:t>etc</a:t>
            </a:r>
            <a:endParaRPr kumimoji="1" lang="en-US" altLang="en-US" sz="20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2000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</a:p>
          <a:p>
            <a:pPr marL="652462" lvl="1" indent="0">
              <a:spcBef>
                <a:spcPct val="35000"/>
              </a:spcBef>
              <a:buSzPct val="80000"/>
            </a:pP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016ABDE-01DC-47B2-B3F4-66A411672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6976" y="176213"/>
            <a:ext cx="7743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VM Benefits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61B6C7AA-8BEF-4920-B940-3B8F61248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542" y="1144587"/>
            <a:ext cx="8138413" cy="456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Separate logical memory from physical memory</a:t>
            </a:r>
          </a:p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Files sharing by two or more processes</a:t>
            </a:r>
          </a:p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Memory Sharing by two or more processes</a:t>
            </a:r>
          </a:p>
          <a:p>
            <a:pPr lvl="1"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  <a:cs typeface="Courier New" panose="02070309020205020404" pitchFamily="49" charset="0"/>
              </a:rPr>
              <a:t>Speed process creation</a:t>
            </a:r>
          </a:p>
          <a:p>
            <a:pPr lvl="1">
              <a:spcBef>
                <a:spcPct val="35000"/>
              </a:spcBef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2000" dirty="0">
                <a:latin typeface="Helvetica" panose="020B0604020202020204" pitchFamily="34" charset="0"/>
                <a:cs typeface="Courier New" panose="02070309020205020404" pitchFamily="49" charset="0"/>
              </a:rPr>
              <a:t>,</a:t>
            </a:r>
          </a:p>
          <a:p>
            <a:pPr marL="652462" lvl="1" indent="0">
              <a:spcBef>
                <a:spcPct val="35000"/>
              </a:spcBef>
              <a:buSzPct val="80000"/>
            </a:pPr>
            <a:endParaRPr kumimoji="1" lang="en-US" altLang="en-US" sz="16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04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965705C-2859-4344-985B-68322A817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67091" y="387217"/>
            <a:ext cx="909214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Shared Library Using Virtual Memory</a:t>
            </a:r>
          </a:p>
        </p:txBody>
      </p:sp>
      <p:pic>
        <p:nvPicPr>
          <p:cNvPr id="21507" name="Picture 6">
            <a:extLst>
              <a:ext uri="{FF2B5EF4-FFF2-40B4-BE49-F238E27FC236}">
                <a16:creationId xmlns:a16="http://schemas.microsoft.com/office/drawing/2014/main" id="{F09AD6BC-0C9B-4F58-8B5F-8A70B2BEB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893" y="1636294"/>
            <a:ext cx="6070600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56AC-6726-49DC-9B10-2EEA125A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Paging vs Demand Segmentation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1CD6D4-4094-4094-809D-E8EFDB9CB3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994980"/>
              </p:ext>
            </p:extLst>
          </p:nvPr>
        </p:nvGraphicFramePr>
        <p:xfrm>
          <a:off x="961477" y="1690688"/>
          <a:ext cx="7818810" cy="4351343"/>
        </p:xfrm>
        <a:graphic>
          <a:graphicData uri="http://schemas.openxmlformats.org/drawingml/2006/table">
            <a:tbl>
              <a:tblPr/>
              <a:tblGrid>
                <a:gridCol w="2606270">
                  <a:extLst>
                    <a:ext uri="{9D8B030D-6E8A-4147-A177-3AD203B41FA5}">
                      <a16:colId xmlns:a16="http://schemas.microsoft.com/office/drawing/2014/main" val="1855378931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905161077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1641997480"/>
                    </a:ext>
                  </a:extLst>
                </a:gridCol>
              </a:tblGrid>
              <a:tr h="475928">
                <a:tc>
                  <a:txBody>
                    <a:bodyPr/>
                    <a:lstStyle/>
                    <a:p>
                      <a:r>
                        <a:rPr lang="en-US" sz="1300"/>
                        <a:t>Consideration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                       Demand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              Paging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                       Demand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                      Segmentation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97967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Programmer aware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No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40876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How many addr spaces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Many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52005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VA size &gt; PA size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255781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r>
                        <a:rPr lang="en-US" sz="1300" dirty="0"/>
                        <a:t>Protect individual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procedures separately 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No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806304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r>
                        <a:rPr lang="en-US" sz="1300"/>
                        <a:t>Accommodate elements</a:t>
                      </a:r>
                      <a:br>
                        <a:rPr lang="en-US" sz="1300"/>
                      </a:br>
                      <a:r>
                        <a:rPr lang="en-US" sz="1300"/>
                        <a:t>with changing sizes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No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526215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Ease user sharing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No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663788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r>
                        <a:rPr lang="en-US" sz="1300"/>
                        <a:t>Why invented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let the VA size</a:t>
                      </a:r>
                      <a:br>
                        <a:rPr lang="en-US" sz="1300"/>
                      </a:br>
                      <a:r>
                        <a:rPr lang="en-US" sz="1300"/>
                        <a:t>exceed the PA size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Sharing, Protection,</a:t>
                      </a:r>
                      <a:br>
                        <a:rPr lang="en-US" sz="1300"/>
                      </a:br>
                      <a:r>
                        <a:rPr lang="en-US" sz="1300"/>
                        <a:t>independent addr spaces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25196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71628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Internal fragmentation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No, in principle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670435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External fragmentation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No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388297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Placement question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No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08321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300"/>
                        <a:t>Replacement question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Yes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6973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A758E7-C140-4A4B-A2F9-D7097AAC732B}"/>
              </a:ext>
            </a:extLst>
          </p:cNvPr>
          <p:cNvSpPr txBox="1"/>
          <p:nvPr/>
        </p:nvSpPr>
        <p:spPr>
          <a:xfrm>
            <a:off x="9650090" y="5743853"/>
            <a:ext cx="1695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Three Segments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5155A-F9D7-4C81-A591-01EFFC45C9F3}"/>
              </a:ext>
            </a:extLst>
          </p:cNvPr>
          <p:cNvSpPr txBox="1"/>
          <p:nvPr/>
        </p:nvSpPr>
        <p:spPr>
          <a:xfrm>
            <a:off x="10111666" y="5051394"/>
            <a:ext cx="6182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Text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75177-CF81-4223-A1CB-D4330F18AD23}"/>
              </a:ext>
            </a:extLst>
          </p:cNvPr>
          <p:cNvSpPr txBox="1"/>
          <p:nvPr/>
        </p:nvSpPr>
        <p:spPr>
          <a:xfrm>
            <a:off x="10111666" y="4335833"/>
            <a:ext cx="673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Data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E92487-03F4-4796-A9D7-9F93BE425D85}"/>
              </a:ext>
            </a:extLst>
          </p:cNvPr>
          <p:cNvSpPr txBox="1"/>
          <p:nvPr/>
        </p:nvSpPr>
        <p:spPr>
          <a:xfrm>
            <a:off x="10111666" y="3001709"/>
            <a:ext cx="7300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Stack </a:t>
            </a:r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9D6E35F4-0C43-471F-9931-268FAC72B03A}"/>
              </a:ext>
            </a:extLst>
          </p:cNvPr>
          <p:cNvSpPr/>
          <p:nvPr/>
        </p:nvSpPr>
        <p:spPr>
          <a:xfrm>
            <a:off x="10343707" y="2544710"/>
            <a:ext cx="154164" cy="3693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D01D568F-6E41-4CA7-BE0D-7C793E166846}"/>
              </a:ext>
            </a:extLst>
          </p:cNvPr>
          <p:cNvSpPr/>
          <p:nvPr/>
        </p:nvSpPr>
        <p:spPr>
          <a:xfrm>
            <a:off x="10399620" y="3878834"/>
            <a:ext cx="154164" cy="36933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544822-0472-4EC8-84AD-7A4BF2B93665}"/>
              </a:ext>
            </a:extLst>
          </p:cNvPr>
          <p:cNvSpPr txBox="1"/>
          <p:nvPr/>
        </p:nvSpPr>
        <p:spPr>
          <a:xfrm>
            <a:off x="9765437" y="3133817"/>
            <a:ext cx="44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19A531-889E-4A18-84F4-E6B1EEA36F06}"/>
              </a:ext>
            </a:extLst>
          </p:cNvPr>
          <p:cNvSpPr txBox="1"/>
          <p:nvPr/>
        </p:nvSpPr>
        <p:spPr>
          <a:xfrm>
            <a:off x="9765436" y="5172310"/>
            <a:ext cx="44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8EE9D7-1BCF-40EB-8702-E36F6CFBE3D9}"/>
              </a:ext>
            </a:extLst>
          </p:cNvPr>
          <p:cNvSpPr txBox="1"/>
          <p:nvPr/>
        </p:nvSpPr>
        <p:spPr>
          <a:xfrm>
            <a:off x="9838001" y="4600767"/>
            <a:ext cx="44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6047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566</Words>
  <Application>Microsoft Office PowerPoint</Application>
  <PresentationFormat>Widescreen</PresentationFormat>
  <Paragraphs>104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MS PGothic</vt:lpstr>
      <vt:lpstr>Arial</vt:lpstr>
      <vt:lpstr>Calibri</vt:lpstr>
      <vt:lpstr>Calibri Light</vt:lpstr>
      <vt:lpstr>Courier New</vt:lpstr>
      <vt:lpstr>Helvetica</vt:lpstr>
      <vt:lpstr>Monotype Sorts</vt:lpstr>
      <vt:lpstr>Times New Roman</vt:lpstr>
      <vt:lpstr>Wingdings</vt:lpstr>
      <vt:lpstr>Office Theme</vt:lpstr>
      <vt:lpstr>Virtual Memory Lesson 1 Introduction</vt:lpstr>
      <vt:lpstr>Learning Outcomes</vt:lpstr>
      <vt:lpstr>Why Virtual Memory</vt:lpstr>
      <vt:lpstr>Execute Partially-Loaded Program</vt:lpstr>
      <vt:lpstr>Virtual memory </vt:lpstr>
      <vt:lpstr>Virtual memory  (Cont.)</vt:lpstr>
      <vt:lpstr>Virtual Memory Larger Than Physical Memory</vt:lpstr>
      <vt:lpstr>Virtual-address Space</vt:lpstr>
      <vt:lpstr>VM Benefits</vt:lpstr>
      <vt:lpstr>Shared Library Using Virtual Memory</vt:lpstr>
      <vt:lpstr>Demand Paging vs Demand Segmentation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1 Introduction</dc:title>
  <dc:creator>David Liu</dc:creator>
  <cp:lastModifiedBy>David Liu</cp:lastModifiedBy>
  <cp:revision>11</cp:revision>
  <dcterms:created xsi:type="dcterms:W3CDTF">2021-11-17T17:06:25Z</dcterms:created>
  <dcterms:modified xsi:type="dcterms:W3CDTF">2022-03-31T15:44:11Z</dcterms:modified>
</cp:coreProperties>
</file>