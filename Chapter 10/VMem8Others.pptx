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97" r:id="rId3"/>
    <p:sldId id="427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DD694-7791-4204-A032-6F5BF1530333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216D6-2FF9-47A1-B42F-925FF235F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1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0B48CB47-EFF6-4390-9DE6-A829EC0ACF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0ABF12-5B24-49B6-A3E8-A1B680238911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9C5731B4-1AE4-41AA-AB95-C96CFA641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EBA389DC-CA90-4F55-A66E-52F9A7225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3FBB17E9-AC5E-4277-AA5D-1C451E4576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355D57-6D0E-451A-B631-175AFB4561B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56C50FCC-D5BE-4ED3-9FC5-8BABEB380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8326CAC-481A-44B2-9CDA-666320091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FD53AEF4-DA1C-490F-9763-576A903DF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596205-E263-4E01-B0B3-CE271624D10A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74064D72-688D-4FDC-A7F9-9384EE8A8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626EFFA-702D-49CA-95BA-3BB587644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3C665F42-2DEC-41F7-B245-1B01DEFF8B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2DF127-EC7D-4145-97CA-B7D0132676F3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7EFF6B87-EEA2-4674-A9D0-F2B6D1B82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E5C1F3EA-39E8-4375-8D2C-E6AA61B27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771CDE5B-9094-41DF-AD2D-3B52E91A02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834F2D-4104-4CD9-B091-9985E3EEDCC1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BAC46FE4-9E53-4EBB-93EF-A397E0F01A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23106B6-6743-403E-BF2A-BAB48607A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02621F85-7852-4EC6-A80F-386D0A8FE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12E9D5-EDCF-4650-ADD6-63E77265660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BB0C9F07-1011-4B52-BB27-9B0F25DA9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29C1CFB7-A3A7-45D2-BE1B-7B9A45079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53C73D6B-0C1E-4947-9F04-CDDFC494E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CC2618-79E6-46C9-B69B-B43A4A9C7C80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3893A91E-8153-4C3C-B1A0-D82F5FA6F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30B9E326-0F0E-431A-A062-BB7BBD233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C4D7AF98-63A7-4074-95D2-1EE9D41BA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62D99F-1F42-4CB1-A59E-901D702C8B6B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C85623D9-661E-4A37-B0C6-4C81553604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09C85170-0976-449D-906E-E38D94F47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FB938E4-B74B-40C5-A694-9336B89ED5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C5435B-4E32-44BD-990C-7D86818959FC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7E127833-9B14-4386-83F6-8A19DE2DD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89FB01E4-866F-4CC6-A89E-BC600E81B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8AAA707B-0C5E-46B9-A44C-6FBF55096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0817285-792D-41CC-8265-9DC5F57B25DF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42A3A9E0-740F-4906-A30B-B293B5DC1A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B9180E72-83AB-4C0B-9D7E-0F64D4A1B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D73E-68BB-4D31-B2A3-531810841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FEC82-641D-4762-898C-C200D6806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2FB6-7C59-449D-B4BA-8223C770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F3778-1E4B-4D54-9C35-08172E5A6981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1763-213C-4D0A-A43D-DD8F7CCC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C0B5F-8E65-47F5-9AE4-874ABBF4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1338-038D-4A05-AD5E-01E3B727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061A-1D82-4EE2-9A41-9D45A27A3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0ED23-1B9D-404F-9D62-702D5FBE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3B0E-7678-44E4-B853-755C418FB183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8C185-8442-4EC3-A707-6FB70AE9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6892-7D12-4E66-ACEB-497A1828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3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18B0-6275-47E7-AFE4-A5FDC20E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7A11A-1F0A-460A-A5BF-466EF611E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443C2-8734-4A9F-842C-85779EA0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7B44B-6BB4-41C0-8F8B-042DF59DDF89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58D0-734C-4C08-9D06-3BA22B52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BC7D-5ACE-4CC1-BF5E-DD66ACAF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0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E4EF-59F0-4FF6-A14A-45F8DC06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45E8-B68E-4669-8148-E6A1E6E2A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45EDB-96FD-4A55-8E10-497FB6B65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9F6ED-0723-45AE-AE1B-F0CD69BD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B1B4-C361-442D-AB9D-327E628D2F23}" type="datetime1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7B25F-B965-493B-9706-AFC8025C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929A6-BC60-4F9A-932F-66592C16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2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F4B3-94FF-451C-B88D-8F749EC9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B4CA8-040C-4B7F-8361-475CFB45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03C9D-507D-4598-8F5E-B5CE9805F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A840F-B637-470F-9726-B87C61A48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5F8EA-3141-4FEB-B070-7E55C435A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75BD8-CB39-45A0-8AA3-752CF655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95E5-B513-4B91-8294-52E8E72DBA84}" type="datetime1">
              <a:rPr lang="en-US" smtClean="0"/>
              <a:t>4/12/2022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0CFD9-FDB2-46C5-9D1C-89D398D5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CEFEB-4B56-4790-8CB9-4ADD53DA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0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B28D-8AC3-42EB-AB79-42A34724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3DF0B-8DB5-40C8-88AA-1B4515BD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4084-0999-4DBB-A0F5-04B0314A4EB1}" type="datetime1">
              <a:rPr lang="en-US" smtClean="0"/>
              <a:t>4/12/2022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0EFDB-C0F2-4EEC-9158-B4E87AE1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FE1A7-E2FA-4791-9D48-65D177AA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486C6-AE40-42B6-800A-CE408C42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4DA68-0718-4E50-B926-50AF9181504C}" type="datetime1">
              <a:rPr lang="en-US" smtClean="0"/>
              <a:t>4/12/2022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29246-313A-48AE-BBDF-00B8E8A4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CE8A6-E135-4EAB-A80D-E3A9E39E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4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0F19-AB9B-4150-B4C5-D42F0AA3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D1FB-0F60-4AB5-B974-8FB4C10BF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77EAD-759E-4854-88FE-AE942136D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4560B-01B6-4D0C-8F67-CDCAB09B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135C-DD5E-4D03-BC81-D49286D1D14C}" type="datetime1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C9DBF-7748-41BD-9C22-DEF7C9439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FA444-02D8-477E-9994-C384D5CEF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5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147F-A49B-432E-8440-565ECB3A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F696C-0DB2-4632-80E8-BD6AA4F02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0BC67-C788-4C5D-9867-34AA4A120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400C6-E515-49FB-B2F6-BF44F15D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7CA7E-661B-4DC7-BA80-FD5D9915BD7F}" type="datetime1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0DE87-9D10-48A1-8CD0-FA826B46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1ADC7-8AED-428C-96CB-7835470E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8AF1-0D48-4BA6-8D5D-742392B1E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F6EED-15E0-46D9-8746-63138F7B2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8E21B-526C-4D4F-B68F-4C7F3CF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5B17-22A1-459A-8CF2-0C8F9312248F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F391E-651A-4B8A-B612-A9FC788A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CA46E-5D5A-45EE-8021-7E47923C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8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11292F-D1FA-4366-9643-6A7147800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336F0-AAA8-4456-8A90-EFB36DC5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4598D-C177-4313-B626-F7ACF23F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E076-2DAF-429B-A71E-38A1BBBB43B9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2D00-C474-4753-9A7D-EF84C2C2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BA45-723B-4F0B-A23A-0C73A1FA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1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A8681-FB3C-4A96-9E3C-00330450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4E296-19F3-4DFA-800A-40E38C0EF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F84D5-A850-4F9B-BB68-13B9A50A9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A96CB-F5E3-4205-A44D-F665F93BF6F0}" type="datetime1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C3EA9-DA71-4A60-9911-B703E5228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86F1B-3EF3-4BB7-A7CF-7401CDDD0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0E2AD-4094-4D95-8828-6F4E0A4B9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5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33A4-CA71-4E27-AC40-2C4DBAC33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8</a:t>
            </a:r>
            <a:br>
              <a:rPr lang="en-US" dirty="0"/>
            </a:br>
            <a:r>
              <a:rPr lang="en-US" dirty="0"/>
              <a:t>Others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04BD2-AFA9-41A4-B747-E7BC913C3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E2D6-8FD4-4164-B840-CF5B6E41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7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98A440F1-51C7-45BF-9BF9-B45D2E227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0150" y="188913"/>
            <a:ext cx="7791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DE3DE33C-46F3-45A0-A3F6-E76F7F0F8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3347" y="1093325"/>
            <a:ext cx="8985362" cy="4821338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</a:p>
          <a:p>
            <a:pPr>
              <a:defRPr/>
            </a:pPr>
            <a:r>
              <a:rPr lang="en-US" altLang="en-US" dirty="0"/>
              <a:t>Page size</a:t>
            </a:r>
          </a:p>
          <a:p>
            <a:pPr>
              <a:defRPr/>
            </a:pPr>
            <a:r>
              <a:rPr lang="en-US" altLang="en-US" dirty="0"/>
              <a:t>TLB reach</a:t>
            </a:r>
          </a:p>
          <a:p>
            <a:pPr>
              <a:defRPr/>
            </a:pPr>
            <a:r>
              <a:rPr lang="en-US" altLang="en-US" dirty="0"/>
              <a:t>Inverted page table</a:t>
            </a:r>
          </a:p>
          <a:p>
            <a:pPr>
              <a:defRPr/>
            </a:pPr>
            <a:r>
              <a:rPr lang="en-US" altLang="en-US" dirty="0"/>
              <a:t>Program structure</a:t>
            </a:r>
          </a:p>
          <a:p>
            <a:pPr>
              <a:defRPr/>
            </a:pPr>
            <a:r>
              <a:rPr lang="en-US" altLang="en-US" dirty="0"/>
              <a:t>I/O interlock and page locking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9AEF5-C7CA-4423-AAF2-34E5D4FF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5E23EBB4-9431-4F25-8B04-8D262D299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0150" y="188913"/>
            <a:ext cx="7791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Prepaging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04D11AAE-EDDB-4A95-BDF1-F99836F2B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1024" y="1070176"/>
            <a:ext cx="8520575" cy="4902361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To reduce the large number of page faults that occurs at process startup</a:t>
            </a:r>
          </a:p>
          <a:p>
            <a:r>
              <a:rPr lang="en-US" altLang="en-US" dirty="0"/>
              <a:t>Pre-page all or some of the pages a process will need, before they are referenced</a:t>
            </a:r>
          </a:p>
          <a:p>
            <a:r>
              <a:rPr lang="en-US" altLang="en-US" dirty="0"/>
              <a:t>But if pre-paged pages are unused, I/O and memory was wasted</a:t>
            </a:r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pre-paged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pre-paging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pre-paging loses</a:t>
            </a:r>
            <a:r>
              <a:rPr lang="en-US" alt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DCAC73-7BCA-4DA1-9CE4-98843FB1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F964934B-BA60-4A39-A1B8-C48CE7E0C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9714" y="163513"/>
            <a:ext cx="74310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 Size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A3FEB8B7-8F9B-4253-86F7-D53458BAC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5267" y="984762"/>
            <a:ext cx="9176232" cy="4888476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Sometimes OS designers have a choice</a:t>
            </a:r>
          </a:p>
          <a:p>
            <a:pPr lvl="1"/>
            <a:r>
              <a:rPr lang="en-US" altLang="en-US" dirty="0"/>
              <a:t>Especially if running on custom-built CPU</a:t>
            </a:r>
          </a:p>
          <a:p>
            <a:r>
              <a:rPr lang="en-US" altLang="en-US" dirty="0"/>
              <a:t>Page size selection must take into consideration:</a:t>
            </a:r>
          </a:p>
          <a:p>
            <a:pPr lvl="1"/>
            <a:r>
              <a:rPr lang="en-US" altLang="en-US" dirty="0"/>
              <a:t>Fragmentation</a:t>
            </a:r>
          </a:p>
          <a:p>
            <a:pPr lvl="1"/>
            <a:r>
              <a:rPr lang="en-US" altLang="en-US" dirty="0"/>
              <a:t>Page table size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Resolution</a:t>
            </a:r>
          </a:p>
          <a:p>
            <a:pPr lvl="1"/>
            <a:r>
              <a:rPr lang="en-US" altLang="en-US" dirty="0"/>
              <a:t>I/O overhead</a:t>
            </a:r>
          </a:p>
          <a:p>
            <a:pPr lvl="1"/>
            <a:r>
              <a:rPr lang="en-US" altLang="en-US" dirty="0"/>
              <a:t>Number of page faults</a:t>
            </a:r>
          </a:p>
          <a:p>
            <a:pPr lvl="1"/>
            <a:r>
              <a:rPr lang="en-US" altLang="en-US" dirty="0"/>
              <a:t>Locality</a:t>
            </a:r>
          </a:p>
          <a:p>
            <a:pPr lvl="1"/>
            <a:r>
              <a:rPr lang="en-US" altLang="en-US" dirty="0"/>
              <a:t>TLB size and effectiveness</a:t>
            </a:r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</a:p>
          <a:p>
            <a:r>
              <a:rPr lang="en-US" altLang="en-US" dirty="0"/>
              <a:t>On average, growing over time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207D6-5AAB-467B-B2C2-E2221A9E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DBEAC78E-F35E-449E-801E-44FCB42DC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6188" y="176213"/>
            <a:ext cx="7694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TLB Reach 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25867525-73D2-4919-BB39-CE0BE7AB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4714" y="1084203"/>
            <a:ext cx="8506086" cy="4587392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F0803-5A91-46A9-8F94-2E3DBF8A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CAAB4A00-653D-4A75-93C2-A473033AE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3188" y="163513"/>
            <a:ext cx="76057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Program Structure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ED9A42B2-6C64-423B-BF81-C91C64FC7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5832" y="1081751"/>
            <a:ext cx="9207520" cy="5214877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3317875" algn="l"/>
                <a:tab pos="3649663" algn="l"/>
              </a:tabLst>
            </a:pPr>
            <a:r>
              <a:rPr lang="en-US" altLang="en-US" dirty="0"/>
              <a:t>Program structure</a:t>
            </a:r>
          </a:p>
          <a:p>
            <a:pPr lvl="1"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int[128,128] data;</a:t>
            </a:r>
          </a:p>
          <a:p>
            <a:pPr lvl="1">
              <a:tabLst>
                <a:tab pos="3317875" algn="l"/>
                <a:tab pos="3649663" algn="l"/>
              </a:tabLst>
            </a:pPr>
            <a:r>
              <a:rPr lang="en-US" altLang="en-US" dirty="0"/>
              <a:t>Each row is stored in one page </a:t>
            </a:r>
          </a:p>
          <a:p>
            <a:pPr lvl="1">
              <a:tabLst>
                <a:tab pos="3317875" algn="l"/>
                <a:tab pos="3649663" algn="l"/>
              </a:tabLst>
            </a:pPr>
            <a:r>
              <a:rPr lang="en-US" altLang="en-US" dirty="0"/>
              <a:t>Program 1 	</a:t>
            </a:r>
          </a:p>
          <a:p>
            <a:pPr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</a:t>
            </a:r>
            <a:r>
              <a:rPr lang="en-US" altLang="en-US" sz="2400" dirty="0">
                <a:latin typeface="Courier New" panose="02070309020205020404" pitchFamily="49" charset="0"/>
              </a:rPr>
              <a:t>for (j = 0; j &lt;128; </a:t>
            </a:r>
            <a:r>
              <a:rPr lang="en-US" altLang="en-US" sz="2400" dirty="0" err="1">
                <a:latin typeface="Courier New" panose="02070309020205020404" pitchFamily="49" charset="0"/>
              </a:rPr>
              <a:t>j++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          for (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 = 0; 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 &lt; 128; </a:t>
            </a:r>
            <a:r>
              <a:rPr lang="en-US" altLang="en-US" sz="2400" dirty="0" err="1">
                <a:latin typeface="Courier New" panose="02070309020205020404" pitchFamily="49" charset="0"/>
              </a:rPr>
              <a:t>i</a:t>
            </a:r>
            <a:r>
              <a:rPr lang="en-US" altLang="en-US" sz="2400" dirty="0">
                <a:latin typeface="Courier New" panose="02070309020205020404" pitchFamily="49" charset="0"/>
              </a:rPr>
              <a:t>++)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               data[</a:t>
            </a:r>
            <a:r>
              <a:rPr lang="en-US" altLang="en-US" sz="2400" dirty="0" err="1">
                <a:latin typeface="Courier New" panose="02070309020205020404" pitchFamily="49" charset="0"/>
              </a:rPr>
              <a:t>i,j</a:t>
            </a:r>
            <a:r>
              <a:rPr lang="en-US" altLang="en-US" sz="2400" dirty="0">
                <a:latin typeface="Courier New" panose="02070309020205020404" pitchFamily="49" charset="0"/>
              </a:rPr>
              <a:t>] = 0;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endParaRPr lang="en-US" altLang="en-US" sz="2400" dirty="0">
              <a:latin typeface="Courier New" panose="02070309020205020404" pitchFamily="49" charset="0"/>
            </a:endParaRPr>
          </a:p>
          <a:p>
            <a:pPr lvl="1"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>     128 x 128 = 16,384 page faults </a:t>
            </a:r>
            <a:br>
              <a:rPr lang="en-US" altLang="en-US" dirty="0"/>
            </a:br>
            <a:endParaRPr lang="en-US" altLang="en-US" dirty="0"/>
          </a:p>
          <a:p>
            <a:pPr lvl="1">
              <a:tabLst>
                <a:tab pos="3317875" algn="l"/>
                <a:tab pos="3649663" algn="l"/>
              </a:tabLst>
            </a:pPr>
            <a:r>
              <a:rPr lang="en-US" altLang="en-US" dirty="0"/>
              <a:t>Program 2 	</a:t>
            </a:r>
          </a:p>
          <a:p>
            <a:pPr lvl="1"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128;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for (j = 0; j &lt; 128; </a:t>
            </a:r>
            <a:r>
              <a:rPr lang="en-US" altLang="en-US" dirty="0" err="1">
                <a:latin typeface="Courier New" panose="02070309020205020404" pitchFamily="49" charset="0"/>
              </a:rPr>
              <a:t>j++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  data[</a:t>
            </a:r>
            <a:r>
              <a:rPr lang="en-US" altLang="en-US" dirty="0" err="1">
                <a:latin typeface="Courier New" panose="02070309020205020404" pitchFamily="49" charset="0"/>
              </a:rPr>
              <a:t>i,j</a:t>
            </a:r>
            <a:r>
              <a:rPr lang="en-US" altLang="en-US" dirty="0">
                <a:latin typeface="Courier New" panose="02070309020205020404" pitchFamily="49" charset="0"/>
              </a:rPr>
              <a:t>] = 0;</a:t>
            </a:r>
          </a:p>
          <a:p>
            <a:pPr lvl="1">
              <a:buNone/>
              <a:tabLst>
                <a:tab pos="3317875" algn="l"/>
                <a:tab pos="3649663" algn="l"/>
              </a:tabLst>
            </a:pPr>
            <a:br>
              <a:rPr lang="en-US" altLang="en-US" dirty="0"/>
            </a:br>
            <a:r>
              <a:rPr lang="en-US" altLang="en-US" dirty="0"/>
              <a:t>128 page faults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069D25-DA51-4380-91A4-8D32B80B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CD184506-9EE7-43B3-9D08-389406312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9826" y="150813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I/O interlock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09CB927B-2A2F-4197-89D8-EA180585F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357" y="1430337"/>
            <a:ext cx="6622246" cy="4091113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rgbClr val="3366FF"/>
                </a:solidFill>
              </a:rPr>
              <a:t>I/O Interlock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Pages must sometimes be locked into memory</a:t>
            </a:r>
          </a:p>
          <a:p>
            <a:r>
              <a:rPr lang="en-US" altLang="en-US" sz="2400" dirty="0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sz="2400" b="1" dirty="0">
                <a:solidFill>
                  <a:srgbClr val="3366FF"/>
                </a:solidFill>
              </a:rPr>
              <a:t>Pinning</a:t>
            </a:r>
            <a:r>
              <a:rPr lang="en-US" altLang="en-US" sz="2400" dirty="0"/>
              <a:t> of pages to lock into memory</a:t>
            </a:r>
          </a:p>
        </p:txBody>
      </p:sp>
      <p:pic>
        <p:nvPicPr>
          <p:cNvPr id="149508" name="Picture 5">
            <a:extLst>
              <a:ext uri="{FF2B5EF4-FFF2-40B4-BE49-F238E27FC236}">
                <a16:creationId xmlns:a16="http://schemas.microsoft.com/office/drawing/2014/main" id="{201458E9-3CC9-428E-8ADF-272467F55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881" y="1152545"/>
            <a:ext cx="3771056" cy="4368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35C42E-DC14-4976-9BD3-33B30F6F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068252C5-B404-4139-A558-9451789E9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0300" y="17621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System Examples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888BBEEA-C3A1-410E-B68A-3E8814386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1088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</a:p>
          <a:p>
            <a:endParaRPr lang="en-US" altLang="en-US" dirty="0"/>
          </a:p>
          <a:p>
            <a:r>
              <a:rPr lang="en-US" altLang="en-US" dirty="0"/>
              <a:t>Solaris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2D9C0-5E59-4D46-84F2-200F567F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0ABF0819-BE32-4DC2-B71D-94C7C4983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Windows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78A6A088-8E67-45AE-83F8-6D429220F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8549" y="901842"/>
            <a:ext cx="9515274" cy="531376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3366FF"/>
                </a:solidFill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3366FF"/>
                </a:solidFill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3366FF"/>
                </a:solidFill>
              </a:rPr>
              <a:t>working set maximum</a:t>
            </a:r>
            <a:endParaRPr lang="en-US" altLang="en-US" sz="800" dirty="0">
              <a:solidFill>
                <a:srgbClr val="3366FF"/>
              </a:solidFill>
            </a:endParaRP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threshold, </a:t>
            </a:r>
            <a:r>
              <a:rPr lang="en-US" altLang="en-US" b="1" dirty="0">
                <a:solidFill>
                  <a:srgbClr val="3366FF"/>
                </a:solidFill>
              </a:rPr>
              <a:t>automatic working set trimming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C2047-B9B3-4BA7-9E9F-389AFBF8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52D7670C-1422-4052-9EB0-A93F31E38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127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Solaris 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2F4623C4-5384-47D5-AD5F-3453292A9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3170" y="1007140"/>
            <a:ext cx="9157583" cy="534736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Priority paging </a:t>
            </a:r>
            <a:r>
              <a:rPr lang="en-US" altLang="en-US" dirty="0"/>
              <a:t>gives priority to process code pages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4A460A-EA80-465A-A191-A7D84F57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BB5D279E-4ACE-4053-8E32-57397934C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Solaris 2 Page Scanner</a:t>
            </a:r>
          </a:p>
        </p:txBody>
      </p:sp>
      <p:pic>
        <p:nvPicPr>
          <p:cNvPr id="157699" name="Picture 1" descr="9_29.pdf">
            <a:extLst>
              <a:ext uri="{FF2B5EF4-FFF2-40B4-BE49-F238E27FC236}">
                <a16:creationId xmlns:a16="http://schemas.microsoft.com/office/drawing/2014/main" id="{93301099-6EAE-40A7-BEA9-E0AF9A2B1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972" y="1281636"/>
            <a:ext cx="6413982" cy="4857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81299A-A9C1-41A5-82F3-3CFAB5B4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0E2AD-4094-4D95-8828-6F4E0A4B961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661</Words>
  <Application>Microsoft Office PowerPoint</Application>
  <PresentationFormat>Widescreen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MS PGothic</vt:lpstr>
      <vt:lpstr>Arial</vt:lpstr>
      <vt:lpstr>Calibri</vt:lpstr>
      <vt:lpstr>Calibri Light</vt:lpstr>
      <vt:lpstr>Courier New</vt:lpstr>
      <vt:lpstr>Monotype Sorts</vt:lpstr>
      <vt:lpstr>Symbol</vt:lpstr>
      <vt:lpstr>Times New Roman</vt:lpstr>
      <vt:lpstr>Office Theme</vt:lpstr>
      <vt:lpstr>Virtual Memory Lesson 8 Others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7 Others</dc:title>
  <dc:creator>David Liu</dc:creator>
  <cp:lastModifiedBy>David Liu</cp:lastModifiedBy>
  <cp:revision>9</cp:revision>
  <dcterms:created xsi:type="dcterms:W3CDTF">2021-11-17T21:12:41Z</dcterms:created>
  <dcterms:modified xsi:type="dcterms:W3CDTF">2022-04-12T14:41:53Z</dcterms:modified>
</cp:coreProperties>
</file>