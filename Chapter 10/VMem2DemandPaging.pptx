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339" r:id="rId3"/>
    <p:sldId id="409" r:id="rId4"/>
    <p:sldId id="340" r:id="rId5"/>
    <p:sldId id="341" r:id="rId6"/>
    <p:sldId id="343" r:id="rId7"/>
    <p:sldId id="344" r:id="rId8"/>
    <p:sldId id="345" r:id="rId9"/>
    <p:sldId id="346" r:id="rId10"/>
    <p:sldId id="411" r:id="rId11"/>
    <p:sldId id="347" r:id="rId12"/>
    <p:sldId id="412" r:id="rId13"/>
    <p:sldId id="348" r:id="rId14"/>
    <p:sldId id="349" r:id="rId15"/>
    <p:sldId id="350" r:id="rId16"/>
    <p:sldId id="351" r:id="rId17"/>
    <p:sldId id="352" r:id="rId18"/>
    <p:sldId id="35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5" autoAdjust="0"/>
    <p:restoredTop sz="94660"/>
  </p:normalViewPr>
  <p:slideViewPr>
    <p:cSldViewPr snapToGrid="0">
      <p:cViewPr varScale="1">
        <p:scale>
          <a:sx n="83" d="100"/>
          <a:sy n="83" d="100"/>
        </p:scale>
        <p:origin x="102" y="6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746608-3312-4A19-96D0-E642F8377517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440F0B-2F01-4688-A65E-94BE399766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448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5A1FC8DA-9E5D-4B51-BE28-85CE5467C6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B3ED2B1-1100-43D0-875C-DC24AD2F6EFC}" type="slidenum">
              <a:rPr lang="en-US" altLang="en-US" smtClean="0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6B96501B-F44F-4BB5-ADE8-3BD97A16AB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7C8D5216-95B0-44AE-B823-B8D8064702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70501F9E-8045-40A6-B448-6678B063F4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07DD04E-D4B1-4B14-ADF9-8E7B02AD55F0}" type="slidenum">
              <a:rPr lang="en-US" altLang="en-US" smtClean="0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200C4E6C-88C2-4FD3-BC20-A151733914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070A342B-CD0B-423A-B003-D332C927DE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B3BA4E1F-4677-4F3F-A68A-3CC235C448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144D546-8C07-4F91-8F86-3D35E8F5488D}" type="slidenum">
              <a:rPr lang="en-US" altLang="en-US" smtClean="0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E0583AD5-DF79-4C09-9CD4-80C63C5727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92E7B67B-7FB9-4DF9-B136-15471CBC88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E0016557-000A-4365-84A3-905C3278DA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4423668-B33D-4631-B73F-1E9C9F9505E7}" type="slidenum">
              <a:rPr lang="en-US" altLang="en-US" smtClean="0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0D172620-7910-4C9F-B089-416EFB631D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7EFC9DDF-852E-4FC2-A7AB-F33DD40F18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958E5B96-5B1F-47A3-A1A3-2482F95349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15A4B5-686E-4EB5-B041-86C959F9174E}" type="slidenum">
              <a:rPr lang="en-US" altLang="en-US" smtClean="0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40519E89-81F1-401B-8D0C-D35245E962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945D4215-83E5-43D1-A924-F1FC57ADE1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50675257-1EB2-4346-9178-8F494F90CE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31E341E-31A1-4614-8271-5F3C52787B68}" type="slidenum">
              <a:rPr lang="en-US" altLang="en-US" smtClean="0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5150728E-5960-4AD5-A77E-95C88D5ADC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D266A405-1CB4-416C-BA6C-F683547152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E3C073EC-F7A0-4DF7-AC4A-6F970D4C60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6288F41-A778-4BDC-8965-CF090359A6E9}" type="slidenum">
              <a:rPr lang="en-US" altLang="en-US" smtClean="0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DB5D0A5A-5673-4DE1-A048-45016EB646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C50B4FE4-C425-42AF-9CB1-3BCF340B37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A5A34136-4D17-474A-8CAA-F2FE2FCF94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E1B04C6-B27F-4B0C-9828-48AA2D48A6BF}" type="slidenum">
              <a:rPr lang="en-US" altLang="en-US" smtClean="0">
                <a:latin typeface="Times New Roman" panose="02020603050405020304" pitchFamily="18" charset="0"/>
              </a:rPr>
              <a:pPr/>
              <a:t>11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2FDA81C6-3075-4151-A8E9-D1BB7D393B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DB1D8ADD-ACCD-40D2-AB70-4ACFB3B89D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587D44B5-64A7-4322-BA56-60D4A916A0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890777F-7411-464E-8686-5E1880862A2F}" type="slidenum">
              <a:rPr lang="en-US" altLang="en-US" smtClean="0">
                <a:latin typeface="Times New Roman" panose="02020603050405020304" pitchFamily="18" charset="0"/>
              </a:rPr>
              <a:pPr/>
              <a:t>12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E4981EC5-692C-4D0D-806C-8C2CF1A458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B1B51C6D-B850-438C-AF6E-2D59A801EF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6A025063-78CE-4D04-AE64-6DA2BBC6C1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15E6AD5-9E1A-4AE1-94EF-E7054168161C}" type="slidenum">
              <a:rPr lang="en-US" altLang="en-US" smtClean="0">
                <a:latin typeface="Times New Roman" panose="02020603050405020304" pitchFamily="18" charset="0"/>
              </a:rPr>
              <a:pPr/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0E1419AC-64EC-416F-B6F7-89DFF662F8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6A1AB6DF-C905-449D-8497-68B76CCFF0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5F99997B-C755-4696-8728-47456C5935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199E08A-1F85-4394-A54D-7985F62AB02D}" type="slidenum">
              <a:rPr lang="en-US" altLang="en-US" smtClean="0">
                <a:latin typeface="Times New Roman" panose="02020603050405020304" pitchFamily="18" charset="0"/>
              </a:rPr>
              <a:pPr/>
              <a:t>14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4EC2B40E-BE5B-4D52-9D19-643306A8F3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92592BC4-0C6E-4C81-8DA6-111CE4F625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30F9F281-325C-4DB1-90E4-AD8DD3406F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1CE6372-372B-4462-A4EC-62003DFB27D0}" type="slidenum">
              <a:rPr lang="en-US" altLang="en-US" smtClean="0">
                <a:latin typeface="Times New Roman" panose="02020603050405020304" pitchFamily="18" charset="0"/>
              </a:rPr>
              <a:pPr/>
              <a:t>16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8C76F9B5-8B82-47D5-A63B-F6F0AF04EB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270CDABE-36BD-4049-9C76-1C77B08C7F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9E8604BA-7327-43B4-BB94-3510B62A96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F29F95A-AB6E-4BD7-BBD9-12046F68A7B3}" type="slidenum">
              <a:rPr lang="en-US" altLang="en-US" smtClean="0">
                <a:latin typeface="Times New Roman" panose="02020603050405020304" pitchFamily="18" charset="0"/>
              </a:rPr>
              <a:pPr/>
              <a:t>17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09297217-1779-4F4A-AF55-7FA95B4D26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2CB4D5E7-23B3-4F61-9CFE-1053BF1178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8828D2EA-5BCE-41C2-8947-56C115E1F4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1FFC674-CBFF-497E-BCB7-5656CC864627}" type="slidenum">
              <a:rPr lang="en-US" altLang="en-US" smtClean="0">
                <a:latin typeface="Times New Roman" panose="02020603050405020304" pitchFamily="18" charset="0"/>
              </a:rPr>
              <a:pPr/>
              <a:t>18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1138A2FD-58B7-4910-9952-30C7F1688F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BEDA8741-4653-410B-ADFC-889966E61D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D74CB-BCE2-416B-8C3B-121E4F7AF1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C367AD-B8DA-4200-A28D-165B51439F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E0128-D07B-47F2-AD92-C8E931016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2B7F2-F712-4F44-8CEB-E54221200E48}" type="datetime1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A388A-F1F8-4106-B34B-0D51976E3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5C867-D2F1-4102-BEA7-7CBAC766A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BA6C3-CB79-4F21-AC98-01463CC0B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282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CAE8D-088E-410F-A0BB-FB6814E0D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69E8E-0E65-43E4-8C89-82EFF0005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677AD4-E3EB-4CFD-8735-A0648413B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23336-E42F-4C4F-BB91-BE3F9DC585B9}" type="datetime1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8D371-965A-4AEA-B56F-3F00D3188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A86F9-A214-4426-98EF-CBE849DCF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BA6C3-CB79-4F21-AC98-01463CC0B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766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5492A-99EE-4931-948E-0D6652664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75469C-626B-4CD1-9263-6654D2D06B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446F4-E829-4511-A778-9C2931671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3CC00-967C-4915-BAD0-A799A7413039}" type="datetime1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71B7B-2543-4D2C-B9CE-1E117EEF2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EC978-3FE8-47CC-881D-27FFC72BE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BA6C3-CB79-4F21-AC98-01463CC0B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664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9CCBE-67B0-4005-8F6D-F3966BA48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CF0DA-A55F-4B0A-A3E9-E7974FFDF8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8C1A74-3835-486D-9FD0-5130F2B47D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442723-FCA6-4E81-B05E-58B2236C3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1F087-53CD-4F92-8962-A0DCBA3E1C68}" type="datetime1">
              <a:rPr lang="en-US" smtClean="0"/>
              <a:t>3/31/2022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4E0B1F-5BB4-4D31-914E-1635021AD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87F797-AC86-4267-AF45-CC75E5A4F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BA6C3-CB79-4F21-AC98-01463CC0B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441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57BC9-C7BB-443B-B2B0-843864137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4DA6CF-F65C-4D0A-89F9-B888B9A5E3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FAFED-52FB-404D-BB4F-122C81BB2B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8D9116-3F96-45CD-9C7F-6489213144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2EBF78-AC46-4429-BE88-0A3E2C9D9A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E203FC-0967-4C51-862F-CDABB4E67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618B4-266F-4614-9FD8-D8F7A1683B75}" type="datetime1">
              <a:rPr lang="en-US" smtClean="0"/>
              <a:t>3/31/2022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8355C3-4485-44FC-BBDB-865B9C0F2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FE01EC-C615-485F-A60D-F2CA85D6E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BA6C3-CB79-4F21-AC98-01463CC0B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814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62687-56E7-47E9-A01C-165DC09C7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B7891A-E463-41F0-8127-2E2FA3555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BF942-73E4-48E2-9D9A-C249C6C5E42D}" type="datetime1">
              <a:rPr lang="en-US" smtClean="0"/>
              <a:t>3/31/2022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BC2FDB-0DD0-4012-AFAA-A0A08B44E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D92FDA-4D88-4858-B95A-CB25B8F0E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BA6C3-CB79-4F21-AC98-01463CC0B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966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AA91CF-78A5-4461-82AF-685AE8E71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F87EF-7CE8-42CA-8E16-86439548CBA9}" type="datetime1">
              <a:rPr lang="en-US" smtClean="0"/>
              <a:t>3/31/2022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DD97BC-3B47-4746-856F-179DA1A9B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683096-1316-4CD7-9B13-F33E9A99E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BA6C3-CB79-4F21-AC98-01463CC0B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217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396C3-8546-4741-9419-14C6423B8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D2E9B-DE34-4578-B5CC-CFF63C742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BE899-931E-44B7-A680-C815B70778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FF0365-4E23-4D1F-A1D4-61EB3105F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3BBA8-36B3-4B83-87FC-9D386D93B22D}" type="datetime1">
              <a:rPr lang="en-US" smtClean="0"/>
              <a:t>3/31/2022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7CB5B3-5EAE-4466-A019-1A72169F2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915C1A-59F4-4EE4-BD5A-F173716BE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BA6C3-CB79-4F21-AC98-01463CC0B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621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C67EF-3AFF-49FC-B15D-851D06140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B5B971-C7DD-4686-9C9E-1574C81855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1146E3-771C-43A0-84EA-D24048D6EF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5EADD7-DE63-41A1-A1A5-98F20DF6A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ED0D7-1000-4771-9BA9-588E1FCF9831}" type="datetime1">
              <a:rPr lang="en-US" smtClean="0"/>
              <a:t>3/31/2022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A9E64-EF7F-467A-BEC5-8A11286A4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4E0350-427F-4A94-984D-37FF82706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BA6C3-CB79-4F21-AC98-01463CC0B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923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18F43-924F-432C-8E44-A6B6AE536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8C00CE-799B-407B-B3F8-A84EE2C3C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E57418-8FCA-441D-AA9E-B23B02C32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84BDE-4672-4088-A895-59FE9E0AC067}" type="datetime1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6B9E5-FA73-4AA4-B23B-0CF220B29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9166F-77B3-40CC-8DF2-91491184E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BA6C3-CB79-4F21-AC98-01463CC0B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304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865141-C6E2-4EF0-B483-D374468042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EC018C-1539-4804-9965-76F3AD9748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820DF-91A1-46D3-BAEA-AD953B620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10854-6321-44BD-8FEB-778C7FBEE0E5}" type="datetime1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37DD16-2C06-42D7-8317-BA5056259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B8916-916E-4614-AFC5-EA0DF3BAF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BA6C3-CB79-4F21-AC98-01463CC0B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401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0F32D-7263-4851-A005-BDC41D5FC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630000-13E8-43CA-A581-F7073FC2C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C9FB2-4349-40C1-A5A5-01E36ABE78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CF7215-D1B6-4F15-9F4E-209A3EF49F7E}" type="datetime1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07CC6-30B3-4EB8-9F98-21A6942588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CE079-D8F2-4266-93D5-AD77FE6F86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5BA6C3-CB79-4F21-AC98-01463CC0B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872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DF3BB-6733-4287-8B27-F995751808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Virtual Memory</a:t>
            </a:r>
            <a:br>
              <a:rPr lang="en-US" dirty="0"/>
            </a:br>
            <a:r>
              <a:rPr lang="en-US" dirty="0"/>
              <a:t>Lesson 2</a:t>
            </a:r>
            <a:br>
              <a:rPr lang="en-US" dirty="0"/>
            </a:br>
            <a:r>
              <a:rPr lang="en-US" dirty="0"/>
              <a:t>Demand Paging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7AD686-277C-401B-8380-77AB0BF393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Liu</a:t>
            </a:r>
          </a:p>
          <a:p>
            <a:r>
              <a:rPr lang="en-US" dirty="0"/>
              <a:t>Fall 2021, Spring 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45FD8-E989-4889-9CB1-4361D1E62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BA6C3-CB79-4F21-AC98-01463CC0BF5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85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152FD5F3-662A-425C-A2F2-7ACF27D88A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254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Demand Paging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C09CDC9D-9590-426A-A3AE-F917F9E374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03032" y="914992"/>
            <a:ext cx="10159134" cy="5196441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Could bring entire process into memory at load time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Or bring a page into memory only when it is needed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Less I/O needed, no unnecessary I/O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Less memory needed 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Faster response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More users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Similar to paging system with swapping (diagram on right)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Page is needed </a:t>
            </a:r>
            <a:r>
              <a:rPr lang="en-US" altLang="en-US" sz="2000" dirty="0">
                <a:sym typeface="Symbol" panose="05050102010706020507" pitchFamily="18" charset="2"/>
              </a:rPr>
              <a:t> reference to it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invalid reference </a:t>
            </a:r>
            <a:r>
              <a:rPr lang="en-US" altLang="en-US" sz="2000" dirty="0">
                <a:sym typeface="Symbol" panose="05050102010706020507" pitchFamily="18" charset="2"/>
              </a:rPr>
              <a:t> abort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sym typeface="Symbol" panose="05050102010706020507" pitchFamily="18" charset="2"/>
              </a:rPr>
              <a:t>not-in-memory  bring to memory</a:t>
            </a:r>
          </a:p>
          <a:p>
            <a:pPr>
              <a:lnSpc>
                <a:spcPct val="90000"/>
              </a:lnSpc>
            </a:pPr>
            <a:r>
              <a:rPr lang="en-US" altLang="en-US" sz="2000" b="1" dirty="0">
                <a:solidFill>
                  <a:srgbClr val="3366FF"/>
                </a:solidFill>
                <a:sym typeface="Symbol" panose="05050102010706020507" pitchFamily="18" charset="2"/>
              </a:rPr>
              <a:t>Lazy swapper</a:t>
            </a:r>
            <a:r>
              <a:rPr lang="en-US" altLang="en-US" sz="2000" dirty="0">
                <a:solidFill>
                  <a:srgbClr val="3366FF"/>
                </a:solidFill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– never swaps a page into memory unless page will be needed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sym typeface="Symbol" panose="05050102010706020507" pitchFamily="18" charset="2"/>
              </a:rPr>
              <a:t>Swapper that deals with pages is a </a:t>
            </a:r>
            <a:r>
              <a:rPr lang="en-US" altLang="en-US" sz="2000" b="1" dirty="0">
                <a:solidFill>
                  <a:srgbClr val="3366FF"/>
                </a:solidFill>
                <a:sym typeface="Symbol" panose="05050102010706020507" pitchFamily="18" charset="2"/>
              </a:rPr>
              <a:t>pager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>
              <a:sym typeface="Symbol" panose="05050102010706020507" pitchFamily="18" charset="2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686CBF-53D5-46DF-BE58-D2A9DD48E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BA6C3-CB79-4F21-AC98-01463CC0BF54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4EA94B2A-B273-456E-98B1-6B04504823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254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Demand Paging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D7ECF372-661C-4B1D-B979-FDF48F9AF9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0990" y="1048695"/>
            <a:ext cx="5028477" cy="431038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Could bring entire process into memory at load time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Or bring a page into memory only when it is needed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Less I/O needed, no unnecessary I/O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Less memory needed 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Faster response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More users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Similar to paging system with swapping (diagram on right)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>
              <a:sym typeface="Symbol" panose="05050102010706020507" pitchFamily="18" charset="2"/>
            </a:endParaRPr>
          </a:p>
        </p:txBody>
      </p:sp>
      <p:pic>
        <p:nvPicPr>
          <p:cNvPr id="25604" name="Picture 4" descr="9">
            <a:extLst>
              <a:ext uri="{FF2B5EF4-FFF2-40B4-BE49-F238E27FC236}">
                <a16:creationId xmlns:a16="http://schemas.microsoft.com/office/drawing/2014/main" id="{5F881872-2BA1-44B2-83A4-2E0C49B00B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930" y="1240078"/>
            <a:ext cx="4382504" cy="4012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EF3FF6-30F4-4051-8018-10D5F616F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BA6C3-CB79-4F21-AC98-01463CC0BF54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E6E4B6C3-56BB-4553-9D6A-22518EBA25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01613"/>
            <a:ext cx="8229600" cy="576262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Basic Concepts</a:t>
            </a:r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69F27B67-678F-45C7-870A-0BB46AF57B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835814" y="1051991"/>
            <a:ext cx="9009664" cy="4804799"/>
          </a:xfrm>
        </p:spPr>
        <p:txBody>
          <a:bodyPr>
            <a:normAutofit/>
          </a:bodyPr>
          <a:lstStyle/>
          <a:p>
            <a:r>
              <a:rPr lang="en-US" altLang="en-US" dirty="0"/>
              <a:t>With swapping, pager guesses which pages will be used before swapping out again</a:t>
            </a:r>
          </a:p>
          <a:p>
            <a:r>
              <a:rPr lang="en-US" altLang="en-US" dirty="0"/>
              <a:t>Instead, pager brings in only those pages into memory</a:t>
            </a:r>
          </a:p>
          <a:p>
            <a:r>
              <a:rPr lang="en-US" altLang="en-US" dirty="0"/>
              <a:t>How to determine that set of pages?</a:t>
            </a:r>
          </a:p>
          <a:p>
            <a:pPr lvl="1"/>
            <a:r>
              <a:rPr lang="en-US" altLang="en-US" dirty="0"/>
              <a:t>Need new MMU functionality to implement demand paging</a:t>
            </a:r>
          </a:p>
          <a:p>
            <a:r>
              <a:rPr lang="en-US" altLang="en-US" dirty="0"/>
              <a:t>If pages needed are already </a:t>
            </a:r>
            <a:r>
              <a:rPr lang="en-US" altLang="en-US" b="1" dirty="0">
                <a:solidFill>
                  <a:srgbClr val="3366FF"/>
                </a:solidFill>
              </a:rPr>
              <a:t>memory resident</a:t>
            </a:r>
          </a:p>
          <a:p>
            <a:pPr lvl="1"/>
            <a:r>
              <a:rPr lang="en-US" altLang="en-US" dirty="0"/>
              <a:t>No difference from non demand-paging</a:t>
            </a:r>
          </a:p>
          <a:p>
            <a:r>
              <a:rPr lang="en-US" altLang="en-US" dirty="0"/>
              <a:t>If page needed and not memory resident</a:t>
            </a:r>
          </a:p>
          <a:p>
            <a:pPr lvl="1"/>
            <a:r>
              <a:rPr lang="en-US" altLang="en-US" dirty="0"/>
              <a:t>Need to detect and load the page into memory from storage</a:t>
            </a:r>
          </a:p>
          <a:p>
            <a:pPr lvl="2"/>
            <a:r>
              <a:rPr lang="en-US" altLang="en-US" dirty="0"/>
              <a:t>Without changing program behavior</a:t>
            </a:r>
          </a:p>
          <a:p>
            <a:pPr lvl="2"/>
            <a:r>
              <a:rPr lang="en-US" altLang="en-US" dirty="0"/>
              <a:t>Without programmer needing to change code</a:t>
            </a:r>
          </a:p>
          <a:p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1DF34E-92D8-4EBE-B287-10E0A7913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BA6C3-CB79-4F21-AC98-01463CC0BF54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A7FF11D6-8C93-40B1-99CB-E53502097A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762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Valid-Invalid Bit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F5E74FC2-A4CF-4617-89E8-E9AF6CE63F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9910" y="1076849"/>
            <a:ext cx="6637338" cy="547211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With each page table entry a valid–invalid bit is associated</a:t>
            </a:r>
            <a:br>
              <a:rPr lang="en-US" altLang="en-US" dirty="0"/>
            </a:br>
            <a:r>
              <a:rPr lang="en-US" altLang="en-US" dirty="0"/>
              <a:t>(</a:t>
            </a:r>
            <a:r>
              <a:rPr lang="en-US" altLang="en-US" b="1" dirty="0">
                <a:solidFill>
                  <a:srgbClr val="FF0000"/>
                </a:solidFill>
              </a:rPr>
              <a:t>v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 in-memory – </a:t>
            </a:r>
            <a:r>
              <a:rPr lang="en-US" altLang="en-US" b="1" dirty="0">
                <a:solidFill>
                  <a:srgbClr val="3366FF"/>
                </a:solidFill>
                <a:sym typeface="Symbol" panose="05050102010706020507" pitchFamily="18" charset="2"/>
              </a:rPr>
              <a:t>memory resident</a:t>
            </a:r>
            <a:r>
              <a:rPr lang="en-US" altLang="en-US" dirty="0">
                <a:sym typeface="Symbol" panose="05050102010706020507" pitchFamily="18" charset="2"/>
              </a:rPr>
              <a:t>,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en-US" b="1" dirty="0" err="1">
                <a:solidFill>
                  <a:srgbClr val="FF0000"/>
                </a:solidFill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 not-in-memory)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Initially valid–invalid bit is set to</a:t>
            </a:r>
            <a:r>
              <a:rPr lang="en-US" altLang="en-US" b="1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en-US" b="1" dirty="0" err="1">
                <a:solidFill>
                  <a:srgbClr val="FF0000"/>
                </a:solidFill>
                <a:sym typeface="Symbol" panose="05050102010706020507" pitchFamily="18" charset="2"/>
              </a:rPr>
              <a:t>i</a:t>
            </a:r>
            <a:r>
              <a:rPr lang="en-US" altLang="en-US" b="1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on all entries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Example of a page table snapshot:</a:t>
            </a:r>
            <a:br>
              <a:rPr lang="en-US" altLang="en-US" dirty="0">
                <a:sym typeface="Symbol" panose="05050102010706020507" pitchFamily="18" charset="2"/>
              </a:rPr>
            </a:br>
            <a:endParaRPr lang="en-US" altLang="en-US" sz="8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During MMU address translation, if valid–invalid bit in page table entry is</a:t>
            </a:r>
            <a:r>
              <a:rPr lang="en-US" altLang="en-US" b="1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en-US" b="1" dirty="0" err="1">
                <a:solidFill>
                  <a:srgbClr val="FF0000"/>
                </a:solidFill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 page fault</a:t>
            </a:r>
          </a:p>
        </p:txBody>
      </p:sp>
      <p:pic>
        <p:nvPicPr>
          <p:cNvPr id="28676" name="Picture 1">
            <a:extLst>
              <a:ext uri="{FF2B5EF4-FFF2-40B4-BE49-F238E27FC236}">
                <a16:creationId xmlns:a16="http://schemas.microsoft.com/office/drawing/2014/main" id="{0C40A33B-33E4-44C4-8A55-A648300349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8385" y="1076849"/>
            <a:ext cx="3710022" cy="4281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EC5E9A-EF6B-427F-81FD-8D5CB7FD9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BA6C3-CB79-4F21-AC98-01463CC0BF54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74976D31-F3A7-4059-9236-914E5448F1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016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Steps in Handling Page Fault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B85A2857-D3B1-42AB-8AAA-F0B14B891D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61927" y="1225349"/>
            <a:ext cx="8446002" cy="460829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Font typeface="+mj-lt"/>
              <a:buAutoNum type="arabicPeriod"/>
              <a:defRPr/>
            </a:pPr>
            <a:r>
              <a:rPr lang="en-US" altLang="en-US" dirty="0"/>
              <a:t>If there is a reference to a page, first reference to that page will trap to operating system 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en-US" dirty="0">
                <a:sym typeface="Symbol" pitchFamily="18" charset="2"/>
              </a:rPr>
              <a:t>Page fault</a:t>
            </a: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  <a:defRPr/>
            </a:pPr>
            <a:r>
              <a:rPr lang="en-US" altLang="en-US" dirty="0">
                <a:sym typeface="Symbol" pitchFamily="18" charset="2"/>
              </a:rPr>
              <a:t>Operating system looks at another table to decide:</a:t>
            </a:r>
          </a:p>
          <a:p>
            <a:pPr marL="798513" lvl="1" indent="-341313">
              <a:defRPr/>
            </a:pPr>
            <a:r>
              <a:rPr lang="en-US" altLang="en-US" dirty="0"/>
              <a:t>Invalid reference </a:t>
            </a:r>
            <a:r>
              <a:rPr lang="en-US" altLang="en-US" dirty="0">
                <a:sym typeface="Symbol" pitchFamily="18" charset="2"/>
              </a:rPr>
              <a:t> abort</a:t>
            </a:r>
          </a:p>
          <a:p>
            <a:pPr marL="798513" lvl="1" indent="-341313">
              <a:defRPr/>
            </a:pPr>
            <a:r>
              <a:rPr lang="en-US" altLang="en-US" dirty="0">
                <a:sym typeface="Symbol" pitchFamily="18" charset="2"/>
              </a:rPr>
              <a:t>Just not in memory</a:t>
            </a: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  <a:defRPr/>
            </a:pPr>
            <a:r>
              <a:rPr lang="en-US" altLang="en-US" dirty="0">
                <a:sym typeface="Symbol" pitchFamily="18" charset="2"/>
              </a:rPr>
              <a:t>Find free frame</a:t>
            </a: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  <a:defRPr/>
            </a:pPr>
            <a:r>
              <a:rPr lang="en-US" altLang="en-US" dirty="0">
                <a:sym typeface="Symbol" pitchFamily="18" charset="2"/>
              </a:rPr>
              <a:t>Swap page into frame via scheduled disk operation</a:t>
            </a: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  <a:defRPr/>
            </a:pPr>
            <a:r>
              <a:rPr lang="en-US" altLang="en-US" dirty="0">
                <a:sym typeface="Symbol" pitchFamily="18" charset="2"/>
              </a:rPr>
              <a:t>Reset tables to indicate page now in memory</a:t>
            </a:r>
            <a:br>
              <a:rPr lang="en-US" altLang="en-US" dirty="0">
                <a:sym typeface="Symbol" pitchFamily="18" charset="2"/>
              </a:rPr>
            </a:br>
            <a:r>
              <a:rPr lang="en-US" altLang="en-US" dirty="0">
                <a:sym typeface="Symbol" pitchFamily="18" charset="2"/>
              </a:rPr>
              <a:t>Set validation bit = </a:t>
            </a:r>
            <a:r>
              <a:rPr lang="en-US" altLang="en-US" b="1" dirty="0">
                <a:solidFill>
                  <a:srgbClr val="FF0000"/>
                </a:solidFill>
                <a:sym typeface="Symbol" pitchFamily="18" charset="2"/>
              </a:rPr>
              <a:t>v</a:t>
            </a:r>
            <a:endParaRPr lang="en-US" altLang="en-US" dirty="0">
              <a:sym typeface="Symbol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  <a:defRPr/>
            </a:pPr>
            <a:r>
              <a:rPr lang="en-US" altLang="en-US" dirty="0">
                <a:sym typeface="Symbol" pitchFamily="18" charset="2"/>
              </a:rPr>
              <a:t>Restart the instruction that caused the page fault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defRPr/>
            </a:pPr>
            <a:endParaRPr lang="en-US" altLang="en-US" dirty="0">
              <a:sym typeface="Symbol" pitchFamily="18" charset="2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62FF29-86ED-4782-933C-FFE2EC3F6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BA6C3-CB79-4F21-AC98-01463CC0BF54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3E925FDE-4A36-4FF5-BE91-4B62C6E684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14625" y="188913"/>
            <a:ext cx="7996238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Steps in Handling a Page Fault (Cont.)</a:t>
            </a:r>
          </a:p>
        </p:txBody>
      </p:sp>
      <p:pic>
        <p:nvPicPr>
          <p:cNvPr id="34819" name="Picture 4" descr="9">
            <a:extLst>
              <a:ext uri="{FF2B5EF4-FFF2-40B4-BE49-F238E27FC236}">
                <a16:creationId xmlns:a16="http://schemas.microsoft.com/office/drawing/2014/main" id="{8142FAD3-613D-4316-9651-C1C3083773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6740" y="1113441"/>
            <a:ext cx="5800725" cy="484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006A3E-6CC7-4FD1-AC23-79509800D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BA6C3-CB79-4F21-AC98-01463CC0BF54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A97E9812-0C89-4637-8AA0-37E6EEF5C3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01613"/>
            <a:ext cx="8229600" cy="576262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Aspects of Demand Paging</a:t>
            </a:r>
          </a:p>
        </p:txBody>
      </p:sp>
      <p:sp>
        <p:nvSpPr>
          <p:cNvPr id="36867" name="Content Placeholder 2">
            <a:extLst>
              <a:ext uri="{FF2B5EF4-FFF2-40B4-BE49-F238E27FC236}">
                <a16:creationId xmlns:a16="http://schemas.microsoft.com/office/drawing/2014/main" id="{FC1BDA90-C227-46DE-BD21-DE65AC4CAE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199" y="985043"/>
            <a:ext cx="7984603" cy="4964343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Extreme case – start process with </a:t>
            </a:r>
            <a:r>
              <a:rPr lang="en-US" altLang="en-US" i="1" dirty="0"/>
              <a:t>no</a:t>
            </a:r>
            <a:r>
              <a:rPr lang="en-US" altLang="en-US" dirty="0"/>
              <a:t> pages in memory</a:t>
            </a:r>
          </a:p>
          <a:p>
            <a:pPr lvl="1"/>
            <a:r>
              <a:rPr lang="en-US" altLang="en-US" dirty="0"/>
              <a:t>OS sets instruction pointer to first instruction of process, non-memory-resident -&gt; page fault</a:t>
            </a:r>
          </a:p>
          <a:p>
            <a:pPr lvl="1"/>
            <a:r>
              <a:rPr lang="en-US" altLang="en-US" dirty="0"/>
              <a:t>And for every other process pages on first access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Pure demand paging</a:t>
            </a:r>
          </a:p>
          <a:p>
            <a:r>
              <a:rPr lang="en-US" altLang="en-US" dirty="0"/>
              <a:t>Actually, a given instruction could access multiple pages -&gt; multiple page faults</a:t>
            </a:r>
          </a:p>
          <a:p>
            <a:pPr lvl="1"/>
            <a:r>
              <a:rPr lang="en-US" altLang="en-US" dirty="0"/>
              <a:t>Consider fetch and decode of instruction which adds 2 numbers from memory and stores result back to memory</a:t>
            </a:r>
          </a:p>
          <a:p>
            <a:pPr lvl="1"/>
            <a:r>
              <a:rPr lang="en-US" altLang="en-US" dirty="0"/>
              <a:t>Pain decreased because of </a:t>
            </a:r>
            <a:r>
              <a:rPr lang="en-US" altLang="en-US" b="1" dirty="0">
                <a:solidFill>
                  <a:srgbClr val="3366FF"/>
                </a:solidFill>
              </a:rPr>
              <a:t>locality of reference</a:t>
            </a:r>
          </a:p>
          <a:p>
            <a:r>
              <a:rPr lang="en-US" altLang="en-US" dirty="0"/>
              <a:t>Hardware support needed for demand paging</a:t>
            </a:r>
          </a:p>
          <a:p>
            <a:pPr lvl="1"/>
            <a:r>
              <a:rPr lang="en-US" altLang="en-US" dirty="0"/>
              <a:t>Page table with valid / invalid bit</a:t>
            </a:r>
          </a:p>
          <a:p>
            <a:pPr lvl="1"/>
            <a:r>
              <a:rPr lang="en-US" altLang="en-US" dirty="0"/>
              <a:t>Secondary memory (swap device with </a:t>
            </a:r>
            <a:r>
              <a:rPr lang="en-US" altLang="en-US" b="1" dirty="0">
                <a:solidFill>
                  <a:srgbClr val="3366FF"/>
                </a:solidFill>
              </a:rPr>
              <a:t>swap space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Instruction restart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EFD183-CFBB-4AF9-B8F8-428770E96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BA6C3-CB79-4F21-AC98-01463CC0BF54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7A9AE14D-0D25-4A69-9B99-B09475BC86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016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Instruction Restart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A5AF8D6B-17E8-4E55-8377-663E629501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61724" y="981277"/>
            <a:ext cx="8655491" cy="5465822"/>
          </a:xfrm>
        </p:spPr>
        <p:txBody>
          <a:bodyPr>
            <a:normAutofit/>
          </a:bodyPr>
          <a:lstStyle/>
          <a:p>
            <a:r>
              <a:rPr lang="en-US" altLang="en-US" dirty="0"/>
              <a:t>An operant page fault, instruction must be fetched and decoded again (</a:t>
            </a:r>
            <a:r>
              <a:rPr lang="en-US" altLang="en-US" b="1" dirty="0"/>
              <a:t>Restart</a:t>
            </a:r>
            <a:r>
              <a:rPr lang="en-US" altLang="en-US" dirty="0"/>
              <a:t>)</a:t>
            </a:r>
          </a:p>
          <a:p>
            <a:r>
              <a:rPr lang="en-US" altLang="en-US" dirty="0"/>
              <a:t>Consider an instruction that could access several different locations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Block move</a:t>
            </a:r>
            <a:br>
              <a:rPr lang="en-US" altLang="en-US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endParaRPr lang="en-US" altLang="en-US" sz="1600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sz="1600" dirty="0">
                <a:sym typeface="Symbol" panose="05050102010706020507" pitchFamily="18" charset="2"/>
              </a:rPr>
              <a:t>ADD A, B, B    (page fault B)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Auto increment/decrement location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Restart the whole operation?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What if source and destination overlap?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Two solutions</a:t>
            </a:r>
          </a:p>
          <a:p>
            <a:pPr lvl="3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Access both ends of source and destination blocks</a:t>
            </a:r>
          </a:p>
          <a:p>
            <a:pPr lvl="3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Use temporary registers to hold values of overwritten locations</a:t>
            </a:r>
          </a:p>
        </p:txBody>
      </p:sp>
      <p:pic>
        <p:nvPicPr>
          <p:cNvPr id="37892" name="Picture 2">
            <a:extLst>
              <a:ext uri="{FF2B5EF4-FFF2-40B4-BE49-F238E27FC236}">
                <a16:creationId xmlns:a16="http://schemas.microsoft.com/office/drawing/2014/main" id="{726EF414-12B8-4B1F-A3A4-3F8DBB961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4426" y="2665414"/>
            <a:ext cx="727075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1B4D81-5515-48F8-83DF-463DABDE2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BA6C3-CB79-4F21-AC98-01463CC0BF54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31195D83-330F-4431-BF87-8A51985F23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016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Free-Frame List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D0DC488D-B8CB-4508-9FDD-7759B90A15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51092" y="1284608"/>
            <a:ext cx="8110537" cy="4444859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dirty="0"/>
              <a:t>When a page fault occurs, the operating system must bring the desired page from secondary storage into main memory. </a:t>
            </a:r>
          </a:p>
          <a:p>
            <a:r>
              <a:rPr lang="en-US" altLang="en-US" dirty="0"/>
              <a:t>Most operating systems maintain a  </a:t>
            </a:r>
            <a:r>
              <a:rPr lang="en-US" altLang="en-US" b="1" dirty="0">
                <a:solidFill>
                  <a:srgbClr val="0070C0"/>
                </a:solidFill>
              </a:rPr>
              <a:t>free-frame list</a:t>
            </a:r>
            <a:r>
              <a:rPr lang="en-US" altLang="en-US" dirty="0"/>
              <a:t> -- a pool of free frames for satisfying such requests.</a:t>
            </a:r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Operating system typically allocate free frames using a technique known as </a:t>
            </a:r>
            <a:r>
              <a:rPr lang="en-US" altLang="en-US" b="1" dirty="0">
                <a:solidFill>
                  <a:srgbClr val="0070C0"/>
                </a:solidFill>
              </a:rPr>
              <a:t>zero-fill-on-demand</a:t>
            </a:r>
            <a:r>
              <a:rPr lang="en-US" altLang="en-US" dirty="0"/>
              <a:t> --  the content of the frames zeroed-out before being allocated.</a:t>
            </a:r>
          </a:p>
          <a:p>
            <a:r>
              <a:rPr lang="en-US" altLang="en-US" dirty="0"/>
              <a:t>When a system starts up, all available memory is placed on the free-frame list. 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  <p:pic>
        <p:nvPicPr>
          <p:cNvPr id="39940" name="Picture 2" descr="B:\os-book\os10-dir\Slides-WORK-area\Figures-dir\ch10\JPG-dir\10_06.jpg">
            <a:extLst>
              <a:ext uri="{FF2B5EF4-FFF2-40B4-BE49-F238E27FC236}">
                <a16:creationId xmlns:a16="http://schemas.microsoft.com/office/drawing/2014/main" id="{72C4C703-E802-4C63-8E06-1661F339D4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8132" y="3106738"/>
            <a:ext cx="4546600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EEBD35-5FA7-477A-9C77-B9B268D2E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BA6C3-CB79-4F21-AC98-01463CC0BF54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94780EBA-1B2E-4865-BA64-C6BC593F31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55889" y="158751"/>
            <a:ext cx="7869237" cy="576263"/>
          </a:xfrm>
        </p:spPr>
        <p:txBody>
          <a:bodyPr>
            <a:normAutofit fontScale="90000"/>
          </a:bodyPr>
          <a:lstStyle/>
          <a:p>
            <a:pPr eaLnBrk="1" hangingPunct="1"/>
            <a:br>
              <a:rPr lang="en-US" altLang="en-US"/>
            </a:br>
            <a:r>
              <a:rPr lang="en-US" altLang="en-US" sz="2800"/>
              <a:t>Stages in Demand Paging – Worse Case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D0CA8328-BD3B-4F76-AC8D-25FB22740E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749551" y="1109663"/>
            <a:ext cx="6989763" cy="4849812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/>
              <a:t>Trap to the operating system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/>
              <a:t>Save the user registers and process state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/>
              <a:t>Determine that the interrupt was a page fault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/>
              <a:t>Check that the page reference was legal and determine the location of the page on the disk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/>
              <a:t>Issue a read from the disk to a free frame:</a:t>
            </a:r>
          </a:p>
          <a:p>
            <a:pPr marL="798513" lvl="1" indent="-341313"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/>
              <a:t>Wait in a queue for this device until the read request is serviced</a:t>
            </a:r>
          </a:p>
          <a:p>
            <a:pPr marL="798513" lvl="1" indent="-341313"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/>
              <a:t>Wait for the device seek and/or latency time</a:t>
            </a:r>
          </a:p>
          <a:p>
            <a:pPr marL="798513" lvl="1" indent="-341313"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/>
              <a:t>Begin the transfer of the page to a free frame</a:t>
            </a:r>
          </a:p>
          <a:p>
            <a:pPr>
              <a:tabLst>
                <a:tab pos="2163763" algn="l"/>
                <a:tab pos="2855913" algn="l"/>
              </a:tabLst>
            </a:pPr>
            <a:endParaRPr lang="en-US" altLang="en-US">
              <a:sym typeface="Symbol" panose="05050102010706020507" pitchFamily="18" charset="2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793B9B-D4C4-4468-BC2E-6BC5C549D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BA6C3-CB79-4F21-AC98-01463CC0BF54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BDC07795-92AA-4094-8C29-8973C65C70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09888" y="201613"/>
            <a:ext cx="7315200" cy="56991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Stages in Demand Paging  (Cont.)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2F1E7AA7-CF56-4FBB-9169-8BBAA9B674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78113" y="1181101"/>
            <a:ext cx="6761162" cy="4849813"/>
          </a:xfrm>
        </p:spPr>
        <p:txBody>
          <a:bodyPr>
            <a:normAutofit fontScale="92500" lnSpcReduction="20000"/>
          </a:bodyPr>
          <a:lstStyle/>
          <a:p>
            <a:pPr>
              <a:buFont typeface="Monotype Sorts" pitchFamily="-84" charset="2"/>
              <a:buAutoNum type="arabicPeriod" startAt="6"/>
              <a:tabLst>
                <a:tab pos="2163763" algn="l"/>
                <a:tab pos="2855913" algn="l"/>
              </a:tabLst>
            </a:pPr>
            <a:r>
              <a:rPr lang="en-US" altLang="en-US"/>
              <a:t> While waiting, allocate the CPU to some other user</a:t>
            </a:r>
          </a:p>
          <a:p>
            <a:pPr>
              <a:buFont typeface="Monotype Sorts" pitchFamily="-84" charset="2"/>
              <a:buAutoNum type="arabicPeriod" startAt="6"/>
              <a:tabLst>
                <a:tab pos="2163763" algn="l"/>
                <a:tab pos="2855913" algn="l"/>
              </a:tabLst>
            </a:pPr>
            <a:r>
              <a:rPr lang="en-US" altLang="en-US"/>
              <a:t> Receive an interrupt from the disk I/O subsystem (I/O   completed)</a:t>
            </a:r>
          </a:p>
          <a:p>
            <a:pPr>
              <a:buFont typeface="Monotype Sorts" pitchFamily="-84" charset="2"/>
              <a:buAutoNum type="arabicPeriod" startAt="6"/>
              <a:tabLst>
                <a:tab pos="2163763" algn="l"/>
                <a:tab pos="2855913" algn="l"/>
              </a:tabLst>
            </a:pPr>
            <a:r>
              <a:rPr lang="en-US" altLang="en-US"/>
              <a:t>Save the registers and process state for the other user</a:t>
            </a:r>
          </a:p>
          <a:p>
            <a:pPr>
              <a:buFont typeface="Monotype Sorts" pitchFamily="-84" charset="2"/>
              <a:buAutoNum type="arabicPeriod" startAt="6"/>
              <a:tabLst>
                <a:tab pos="2163763" algn="l"/>
                <a:tab pos="2855913" algn="l"/>
              </a:tabLst>
            </a:pPr>
            <a:r>
              <a:rPr lang="en-US" altLang="en-US"/>
              <a:t>Determine that the interrupt was from the disk</a:t>
            </a:r>
          </a:p>
          <a:p>
            <a:pPr>
              <a:buFont typeface="Monotype Sorts" pitchFamily="-84" charset="2"/>
              <a:buAutoNum type="arabicPeriod" startAt="6"/>
              <a:tabLst>
                <a:tab pos="2163763" algn="l"/>
                <a:tab pos="2855913" algn="l"/>
              </a:tabLst>
            </a:pPr>
            <a:r>
              <a:rPr lang="en-US" altLang="en-US"/>
              <a:t>Correct the page table and other tables to show page is now in memory</a:t>
            </a:r>
          </a:p>
          <a:p>
            <a:pPr>
              <a:buFont typeface="Monotype Sorts" pitchFamily="-84" charset="2"/>
              <a:buAutoNum type="arabicPeriod" startAt="6"/>
              <a:tabLst>
                <a:tab pos="2163763" algn="l"/>
                <a:tab pos="2855913" algn="l"/>
              </a:tabLst>
            </a:pPr>
            <a:r>
              <a:rPr lang="en-US" altLang="en-US"/>
              <a:t>Wait for the CPU to be allocated to this process again</a:t>
            </a:r>
          </a:p>
          <a:p>
            <a:pPr>
              <a:buFont typeface="Monotype Sorts" pitchFamily="-84" charset="2"/>
              <a:buAutoNum type="arabicPeriod" startAt="6"/>
              <a:tabLst>
                <a:tab pos="2163763" algn="l"/>
                <a:tab pos="2855913" algn="l"/>
              </a:tabLst>
            </a:pPr>
            <a:r>
              <a:rPr lang="en-US" altLang="en-US"/>
              <a:t>Restore the user registers, process state, and new page table, and then resume the interrupted instruction</a:t>
            </a:r>
          </a:p>
          <a:p>
            <a:pPr>
              <a:tabLst>
                <a:tab pos="2163763" algn="l"/>
                <a:tab pos="2855913" algn="l"/>
              </a:tabLst>
            </a:pPr>
            <a:endParaRPr lang="en-US" altLang="en-US">
              <a:sym typeface="Symbol" panose="05050102010706020507" pitchFamily="18" charset="2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198B62-D02B-4E3D-8E86-579511339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BA6C3-CB79-4F21-AC98-01463CC0BF54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1B3D86FF-AF3C-4572-B097-1D31342442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81325" y="146050"/>
            <a:ext cx="7272338" cy="61118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Performance of Demand Paging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C0E7E37B-ABE7-4F5D-A0F2-C4DD158533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68588" y="1119188"/>
            <a:ext cx="6799262" cy="4646612"/>
          </a:xfrm>
        </p:spPr>
        <p:txBody>
          <a:bodyPr>
            <a:normAutofit fontScale="85000" lnSpcReduction="20000"/>
          </a:bodyPr>
          <a:lstStyle/>
          <a:p>
            <a:pPr>
              <a:tabLst>
                <a:tab pos="2163763" algn="l"/>
                <a:tab pos="2855913" algn="l"/>
              </a:tabLst>
            </a:pPr>
            <a:r>
              <a:rPr lang="en-US" altLang="en-US"/>
              <a:t>Three major activities</a:t>
            </a:r>
          </a:p>
          <a:p>
            <a:pPr lvl="1">
              <a:tabLst>
                <a:tab pos="2163763" algn="l"/>
                <a:tab pos="2855913" algn="l"/>
              </a:tabLst>
            </a:pPr>
            <a:r>
              <a:rPr lang="en-US" altLang="en-US"/>
              <a:t>Service the interrupt – careful coding means just several hundred instructions needed</a:t>
            </a:r>
          </a:p>
          <a:p>
            <a:pPr lvl="1">
              <a:tabLst>
                <a:tab pos="2163763" algn="l"/>
                <a:tab pos="2855913" algn="l"/>
              </a:tabLst>
            </a:pPr>
            <a:r>
              <a:rPr lang="en-US" altLang="en-US"/>
              <a:t>Read the page – lots of time</a:t>
            </a:r>
          </a:p>
          <a:p>
            <a:pPr lvl="1">
              <a:tabLst>
                <a:tab pos="2163763" algn="l"/>
                <a:tab pos="2855913" algn="l"/>
              </a:tabLst>
            </a:pPr>
            <a:r>
              <a:rPr lang="en-US" altLang="en-US"/>
              <a:t>Restart the process – again just a small amount of time</a:t>
            </a:r>
          </a:p>
          <a:p>
            <a:pPr>
              <a:tabLst>
                <a:tab pos="2163763" algn="l"/>
                <a:tab pos="2855913" algn="l"/>
              </a:tabLst>
            </a:pPr>
            <a:r>
              <a:rPr lang="en-US" altLang="en-US"/>
              <a:t>Page Fault Rate 0 </a:t>
            </a:r>
            <a:r>
              <a:rPr lang="en-US" altLang="en-US">
                <a:sym typeface="Symbol" panose="05050102010706020507" pitchFamily="18" charset="2"/>
              </a:rPr>
              <a:t> </a:t>
            </a:r>
            <a:r>
              <a:rPr lang="en-US" altLang="en-US" i="1">
                <a:sym typeface="Symbol" panose="05050102010706020507" pitchFamily="18" charset="2"/>
              </a:rPr>
              <a:t>p</a:t>
            </a:r>
            <a:r>
              <a:rPr lang="en-US" altLang="en-US">
                <a:sym typeface="Symbol" panose="05050102010706020507" pitchFamily="18" charset="2"/>
              </a:rPr>
              <a:t>  1</a:t>
            </a:r>
          </a:p>
          <a:p>
            <a:pPr lvl="1">
              <a:tabLst>
                <a:tab pos="2163763" algn="l"/>
                <a:tab pos="2855913" algn="l"/>
              </a:tabLst>
            </a:pPr>
            <a:r>
              <a:rPr lang="en-US" altLang="en-US">
                <a:sym typeface="Symbol" panose="05050102010706020507" pitchFamily="18" charset="2"/>
              </a:rPr>
              <a:t>if </a:t>
            </a:r>
            <a:r>
              <a:rPr lang="en-US" altLang="en-US" i="1">
                <a:sym typeface="Symbol" panose="05050102010706020507" pitchFamily="18" charset="2"/>
              </a:rPr>
              <a:t>p</a:t>
            </a:r>
            <a:r>
              <a:rPr lang="en-US" altLang="en-US">
                <a:sym typeface="Symbol" panose="05050102010706020507" pitchFamily="18" charset="2"/>
              </a:rPr>
              <a:t> = 0 no page faults </a:t>
            </a:r>
          </a:p>
          <a:p>
            <a:pPr lvl="1">
              <a:tabLst>
                <a:tab pos="2163763" algn="l"/>
                <a:tab pos="2855913" algn="l"/>
              </a:tabLst>
            </a:pPr>
            <a:r>
              <a:rPr lang="en-US" altLang="en-US">
                <a:sym typeface="Symbol" panose="05050102010706020507" pitchFamily="18" charset="2"/>
              </a:rPr>
              <a:t>if </a:t>
            </a:r>
            <a:r>
              <a:rPr lang="en-US" altLang="en-US" i="1">
                <a:sym typeface="Symbol" panose="05050102010706020507" pitchFamily="18" charset="2"/>
              </a:rPr>
              <a:t>p</a:t>
            </a:r>
            <a:r>
              <a:rPr lang="en-US" altLang="en-US">
                <a:sym typeface="Symbol" panose="05050102010706020507" pitchFamily="18" charset="2"/>
              </a:rPr>
              <a:t> = 1, every reference is a fault</a:t>
            </a:r>
          </a:p>
          <a:p>
            <a:pPr>
              <a:tabLst>
                <a:tab pos="2163763" algn="l"/>
                <a:tab pos="2855913" algn="l"/>
              </a:tabLst>
            </a:pPr>
            <a:r>
              <a:rPr lang="en-US" altLang="en-US">
                <a:sym typeface="Symbol" panose="05050102010706020507" pitchFamily="18" charset="2"/>
              </a:rPr>
              <a:t>Effective Access Time (EAT)</a:t>
            </a:r>
          </a:p>
          <a:p>
            <a:pPr>
              <a:buNone/>
              <a:tabLst>
                <a:tab pos="2163763" algn="l"/>
                <a:tab pos="2855913" algn="l"/>
              </a:tabLst>
            </a:pPr>
            <a:r>
              <a:rPr lang="en-US" altLang="en-US">
                <a:sym typeface="Symbol" panose="05050102010706020507" pitchFamily="18" charset="2"/>
              </a:rPr>
              <a:t>	      EAT = (1 – </a:t>
            </a:r>
            <a:r>
              <a:rPr lang="en-US" altLang="en-US" i="1">
                <a:sym typeface="Symbol" panose="05050102010706020507" pitchFamily="18" charset="2"/>
              </a:rPr>
              <a:t>p</a:t>
            </a:r>
            <a:r>
              <a:rPr lang="en-US" altLang="en-US">
                <a:sym typeface="Symbol" panose="05050102010706020507" pitchFamily="18" charset="2"/>
              </a:rPr>
              <a:t>) x memory access</a:t>
            </a:r>
          </a:p>
          <a:p>
            <a:pPr>
              <a:buNone/>
              <a:tabLst>
                <a:tab pos="2163763" algn="l"/>
                <a:tab pos="2855913" algn="l"/>
              </a:tabLst>
            </a:pPr>
            <a:r>
              <a:rPr lang="en-US" altLang="en-US">
                <a:sym typeface="Symbol" panose="05050102010706020507" pitchFamily="18" charset="2"/>
              </a:rPr>
              <a:t>                       + </a:t>
            </a:r>
            <a:r>
              <a:rPr lang="en-US" altLang="en-US" i="1">
                <a:sym typeface="Symbol" panose="05050102010706020507" pitchFamily="18" charset="2"/>
              </a:rPr>
              <a:t>p</a:t>
            </a:r>
            <a:r>
              <a:rPr lang="en-US" altLang="en-US">
                <a:sym typeface="Symbol" panose="05050102010706020507" pitchFamily="18" charset="2"/>
              </a:rPr>
              <a:t> (page fault overhead</a:t>
            </a:r>
          </a:p>
          <a:p>
            <a:pPr>
              <a:buNone/>
              <a:tabLst>
                <a:tab pos="2163763" algn="l"/>
                <a:tab pos="2855913" algn="l"/>
              </a:tabLst>
            </a:pPr>
            <a:r>
              <a:rPr lang="en-US" altLang="en-US">
                <a:sym typeface="Symbol" panose="05050102010706020507" pitchFamily="18" charset="2"/>
              </a:rPr>
              <a:t>	                 + swap page out</a:t>
            </a:r>
          </a:p>
          <a:p>
            <a:pPr>
              <a:buNone/>
              <a:tabLst>
                <a:tab pos="2163763" algn="l"/>
                <a:tab pos="2855913" algn="l"/>
              </a:tabLst>
            </a:pPr>
            <a:r>
              <a:rPr lang="en-US" altLang="en-US">
                <a:sym typeface="Symbol" panose="05050102010706020507" pitchFamily="18" charset="2"/>
              </a:rPr>
              <a:t>	                 + swap page in )</a:t>
            </a:r>
          </a:p>
          <a:p>
            <a:pPr>
              <a:buNone/>
              <a:tabLst>
                <a:tab pos="2163763" algn="l"/>
                <a:tab pos="2855913" algn="l"/>
              </a:tabLst>
            </a:pPr>
            <a:r>
              <a:rPr lang="en-US" altLang="en-US">
                <a:sym typeface="Symbol" panose="05050102010706020507" pitchFamily="18" charset="2"/>
              </a:rPr>
              <a:t>				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338F93-5FB1-447D-8A30-F6D488F89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BA6C3-CB79-4F21-AC98-01463CC0BF54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3B249085-8A40-4475-86D2-C939050937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59038" y="214313"/>
            <a:ext cx="7751762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Demand Paging Example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23A81D78-9957-4045-83EA-0C851BB871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52738" y="1068388"/>
            <a:ext cx="6786562" cy="4849812"/>
          </a:xfrm>
        </p:spPr>
        <p:txBody>
          <a:bodyPr>
            <a:normAutofit fontScale="77500" lnSpcReduction="20000"/>
          </a:bodyPr>
          <a:lstStyle/>
          <a:p>
            <a:pPr>
              <a:tabLst>
                <a:tab pos="1773238" algn="l"/>
                <a:tab pos="2278063" algn="l"/>
              </a:tabLst>
            </a:pPr>
            <a:r>
              <a:rPr lang="en-US" altLang="en-US"/>
              <a:t>Memory access time = 200 nanoseconds</a:t>
            </a:r>
          </a:p>
          <a:p>
            <a:pPr>
              <a:tabLst>
                <a:tab pos="1773238" algn="l"/>
                <a:tab pos="2278063" algn="l"/>
              </a:tabLst>
            </a:pPr>
            <a:r>
              <a:rPr lang="en-US" altLang="en-US"/>
              <a:t>Average page-fault service time = 8 milliseconds</a:t>
            </a:r>
          </a:p>
          <a:p>
            <a:pPr>
              <a:tabLst>
                <a:tab pos="1773238" algn="l"/>
                <a:tab pos="2278063" algn="l"/>
              </a:tabLst>
            </a:pPr>
            <a:r>
              <a:rPr lang="en-US" altLang="en-US"/>
              <a:t>EAT = (1 – p) x 200 + p (8 milliseconds) </a:t>
            </a:r>
          </a:p>
          <a:p>
            <a:pPr>
              <a:buNone/>
              <a:tabLst>
                <a:tab pos="1773238" algn="l"/>
                <a:tab pos="2278063" algn="l"/>
              </a:tabLst>
            </a:pPr>
            <a:r>
              <a:rPr lang="en-US" altLang="en-US"/>
              <a:t>	        = (1 – p  x 200 + p x 8,000,000 </a:t>
            </a:r>
          </a:p>
          <a:p>
            <a:pPr>
              <a:buNone/>
              <a:tabLst>
                <a:tab pos="1773238" algn="l"/>
                <a:tab pos="2278063" algn="l"/>
              </a:tabLst>
            </a:pPr>
            <a:r>
              <a:rPr lang="en-US" altLang="en-US"/>
              <a:t>              = 200 + p x 7,999,800</a:t>
            </a:r>
          </a:p>
          <a:p>
            <a:pPr>
              <a:tabLst>
                <a:tab pos="1773238" algn="l"/>
                <a:tab pos="2278063" algn="l"/>
              </a:tabLst>
            </a:pPr>
            <a:r>
              <a:rPr lang="en-US" altLang="en-US"/>
              <a:t>If one access out of 1,000 causes a page fault, then</a:t>
            </a:r>
          </a:p>
          <a:p>
            <a:pPr>
              <a:buNone/>
              <a:tabLst>
                <a:tab pos="1773238" algn="l"/>
                <a:tab pos="2278063" algn="l"/>
              </a:tabLst>
            </a:pPr>
            <a:r>
              <a:rPr lang="en-US" altLang="en-US"/>
              <a:t>         EAT = 8.2 microseconds. </a:t>
            </a:r>
          </a:p>
          <a:p>
            <a:pPr>
              <a:buNone/>
              <a:tabLst>
                <a:tab pos="1773238" algn="l"/>
                <a:tab pos="2278063" algn="l"/>
              </a:tabLst>
            </a:pPr>
            <a:r>
              <a:rPr lang="en-US" altLang="en-US"/>
              <a:t>      This is a slowdown by a factor of 40!!</a:t>
            </a:r>
          </a:p>
          <a:p>
            <a:pPr>
              <a:tabLst>
                <a:tab pos="1773238" algn="l"/>
                <a:tab pos="2278063" algn="l"/>
              </a:tabLst>
            </a:pPr>
            <a:r>
              <a:rPr lang="en-US" altLang="en-US"/>
              <a:t>If want performance degradation &lt; 10 percent</a:t>
            </a:r>
          </a:p>
          <a:p>
            <a:pPr lvl="1">
              <a:tabLst>
                <a:tab pos="1773238" algn="l"/>
                <a:tab pos="2278063" algn="l"/>
              </a:tabLst>
            </a:pPr>
            <a:r>
              <a:rPr lang="en-US" altLang="en-US"/>
              <a:t>220 &gt; 200 + 7,999,800 x p</a:t>
            </a:r>
            <a:br>
              <a:rPr lang="en-US" altLang="en-US"/>
            </a:br>
            <a:r>
              <a:rPr lang="en-US" altLang="en-US"/>
              <a:t>20 &gt; 7,999,800 x p</a:t>
            </a:r>
          </a:p>
          <a:p>
            <a:pPr lvl="1">
              <a:tabLst>
                <a:tab pos="1773238" algn="l"/>
                <a:tab pos="2278063" algn="l"/>
              </a:tabLst>
            </a:pPr>
            <a:r>
              <a:rPr lang="en-US" altLang="en-US"/>
              <a:t>p &lt; .0000025</a:t>
            </a:r>
          </a:p>
          <a:p>
            <a:pPr lvl="1">
              <a:tabLst>
                <a:tab pos="1773238" algn="l"/>
                <a:tab pos="2278063" algn="l"/>
              </a:tabLst>
            </a:pPr>
            <a:r>
              <a:rPr lang="en-US" altLang="en-US"/>
              <a:t>&lt; one page fault in every 400,000 memory accesses</a:t>
            </a:r>
          </a:p>
          <a:p>
            <a:pPr>
              <a:buNone/>
              <a:tabLst>
                <a:tab pos="1773238" algn="l"/>
                <a:tab pos="2278063" algn="l"/>
              </a:tabLst>
            </a:pPr>
            <a:r>
              <a:rPr lang="en-US" altLang="en-US"/>
              <a:t>	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FA5FD6-29B7-4EF4-9676-6F77158EF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BA6C3-CB79-4F21-AC98-01463CC0BF54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:a16="http://schemas.microsoft.com/office/drawing/2014/main" id="{5BAC443B-32C2-4E58-980B-75F8794AB4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44700" y="163513"/>
            <a:ext cx="8229600" cy="576262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Demand Paging Optimizations</a:t>
            </a:r>
          </a:p>
        </p:txBody>
      </p:sp>
      <p:sp>
        <p:nvSpPr>
          <p:cNvPr id="50179" name="Content Placeholder 2">
            <a:extLst>
              <a:ext uri="{FF2B5EF4-FFF2-40B4-BE49-F238E27FC236}">
                <a16:creationId xmlns:a16="http://schemas.microsoft.com/office/drawing/2014/main" id="{D11C3FF5-2CB8-46FB-8592-54EFF88761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401888" y="1028700"/>
            <a:ext cx="7575550" cy="5232400"/>
          </a:xfrm>
        </p:spPr>
        <p:txBody>
          <a:bodyPr/>
          <a:lstStyle/>
          <a:p>
            <a:r>
              <a:rPr lang="en-US" altLang="en-US" sz="1600"/>
              <a:t>Swap space I/O faster than file system I/O even if on the same device</a:t>
            </a:r>
          </a:p>
          <a:p>
            <a:pPr lvl="1"/>
            <a:r>
              <a:rPr lang="en-US" altLang="en-US" sz="1600"/>
              <a:t>Swap allocated in larger chunks, less management needed than file system</a:t>
            </a:r>
          </a:p>
          <a:p>
            <a:r>
              <a:rPr lang="en-US" altLang="en-US" sz="1600"/>
              <a:t>Copy entire process image to swap space at process load time</a:t>
            </a:r>
          </a:p>
          <a:p>
            <a:pPr lvl="1"/>
            <a:r>
              <a:rPr lang="en-US" altLang="en-US" sz="1600"/>
              <a:t>Then page in and out of swap space</a:t>
            </a:r>
          </a:p>
          <a:p>
            <a:pPr lvl="1"/>
            <a:r>
              <a:rPr lang="en-US" altLang="en-US" sz="1600"/>
              <a:t>Used in older BSD Unix</a:t>
            </a:r>
          </a:p>
          <a:p>
            <a:r>
              <a:rPr lang="en-US" altLang="en-US" sz="1600"/>
              <a:t>Demand page for program binary (</a:t>
            </a:r>
            <a:r>
              <a:rPr lang="en-US" altLang="en-US" sz="1600" b="1"/>
              <a:t>not modifiable</a:t>
            </a:r>
            <a:r>
              <a:rPr lang="en-US" altLang="en-US" sz="1600"/>
              <a:t>) on disk, but discard rather than paging out when freeing frame</a:t>
            </a:r>
          </a:p>
          <a:p>
            <a:pPr lvl="1"/>
            <a:r>
              <a:rPr lang="en-US" altLang="en-US" sz="1600"/>
              <a:t>Used in Solaris and current BSD</a:t>
            </a:r>
          </a:p>
          <a:p>
            <a:r>
              <a:rPr lang="en-US" altLang="en-US" sz="1600"/>
              <a:t>Still need to write to swap space</a:t>
            </a:r>
          </a:p>
          <a:p>
            <a:pPr lvl="1"/>
            <a:r>
              <a:rPr lang="en-US" altLang="en-US" sz="1600"/>
              <a:t>Pages not associated with a file (like stack and heap) – </a:t>
            </a:r>
            <a:r>
              <a:rPr lang="en-US" altLang="en-US" sz="1600" b="1">
                <a:solidFill>
                  <a:srgbClr val="3366FF"/>
                </a:solidFill>
              </a:rPr>
              <a:t>anonymous</a:t>
            </a:r>
            <a:r>
              <a:rPr lang="en-US" altLang="en-US" sz="1600"/>
              <a:t> </a:t>
            </a:r>
            <a:r>
              <a:rPr lang="en-US" altLang="en-US" sz="1600" b="1">
                <a:solidFill>
                  <a:srgbClr val="3366FF"/>
                </a:solidFill>
              </a:rPr>
              <a:t>memory</a:t>
            </a:r>
          </a:p>
          <a:p>
            <a:pPr lvl="1"/>
            <a:r>
              <a:rPr lang="en-US" altLang="en-US" sz="1600"/>
              <a:t>Pages modified in memory but not yet written back to the file system</a:t>
            </a:r>
          </a:p>
          <a:p>
            <a:r>
              <a:rPr lang="en-US" altLang="en-US" sz="1600"/>
              <a:t>Mobile systems</a:t>
            </a:r>
          </a:p>
          <a:p>
            <a:pPr lvl="1"/>
            <a:r>
              <a:rPr lang="en-US" altLang="en-US" sz="1600"/>
              <a:t>Typically don’t support swapping</a:t>
            </a:r>
          </a:p>
          <a:p>
            <a:pPr lvl="1"/>
            <a:r>
              <a:rPr lang="en-US" altLang="en-US" sz="1600"/>
              <a:t>Instead, demand page from file system and reclaim read-only pages (such as code)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088568-9AE6-4F4B-8A56-C919FAB09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BA6C3-CB79-4F21-AC98-01463CC0BF54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63F4EBFB-1007-40FA-B84B-7A2DCC112A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254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Copy-on-Write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D57C3A61-68A5-45D2-B2C9-C24AEBFF64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65400" y="1106489"/>
            <a:ext cx="7334250" cy="4530725"/>
          </a:xfrm>
        </p:spPr>
        <p:txBody>
          <a:bodyPr/>
          <a:lstStyle/>
          <a:p>
            <a:r>
              <a:rPr lang="en-US" altLang="en-US" sz="1600" b="1">
                <a:solidFill>
                  <a:srgbClr val="3366FF"/>
                </a:solidFill>
              </a:rPr>
              <a:t>Copy-on-Write </a:t>
            </a:r>
            <a:r>
              <a:rPr lang="en-US" altLang="en-US" sz="1600"/>
              <a:t>(COW) allows both parent and child processes to initially </a:t>
            </a:r>
            <a:r>
              <a:rPr lang="en-US" altLang="en-US" sz="1600" b="1" i="1"/>
              <a:t>share</a:t>
            </a:r>
            <a:r>
              <a:rPr lang="en-US" altLang="en-US" sz="1600"/>
              <a:t> the same pages in memory</a:t>
            </a:r>
          </a:p>
          <a:p>
            <a:pPr lvl="1"/>
            <a:r>
              <a:rPr lang="en-US" altLang="en-US" sz="1600"/>
              <a:t>If either process modifies a shared page, only then is the page copied</a:t>
            </a:r>
          </a:p>
          <a:p>
            <a:r>
              <a:rPr lang="en-US" altLang="en-US" sz="1600"/>
              <a:t>COW allows more efficient process creation as only modified pages are copied</a:t>
            </a:r>
          </a:p>
          <a:p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vfork()</a:t>
            </a:r>
            <a:r>
              <a:rPr lang="en-US" altLang="en-US" sz="1600"/>
              <a:t> variation on </a:t>
            </a: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fork() </a:t>
            </a:r>
            <a:r>
              <a:rPr lang="en-US" altLang="en-US" sz="1600"/>
              <a:t>system call has parent suspend and child using copy-on-write address space of parent</a:t>
            </a:r>
          </a:p>
          <a:p>
            <a:pPr lvl="1"/>
            <a:r>
              <a:rPr lang="en-US" altLang="en-US" sz="1600"/>
              <a:t>Designed to have child call </a:t>
            </a: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exec()</a:t>
            </a:r>
          </a:p>
          <a:p>
            <a:pPr lvl="1"/>
            <a:r>
              <a:rPr lang="en-US" altLang="en-US" sz="1600"/>
              <a:t>Very efficient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9D9A08-FEB9-47A4-AAB3-CA071DACA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BA6C3-CB79-4F21-AC98-01463CC0BF54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8CF94E55-868C-4F2D-A89E-8FF23890C0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0" y="227013"/>
            <a:ext cx="779145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Before Process 1 Modifies Page C</a:t>
            </a:r>
          </a:p>
        </p:txBody>
      </p:sp>
      <p:pic>
        <p:nvPicPr>
          <p:cNvPr id="53251" name="Picture 4" descr="9">
            <a:extLst>
              <a:ext uri="{FF2B5EF4-FFF2-40B4-BE49-F238E27FC236}">
                <a16:creationId xmlns:a16="http://schemas.microsoft.com/office/drawing/2014/main" id="{BE684772-635D-40EA-9626-A36DA7D91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6701" y="1354138"/>
            <a:ext cx="7339013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0199A1-A11C-485D-845E-2EAF6F713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BA6C3-CB79-4F21-AC98-01463CC0BF54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F2C637A5-B9A3-4C28-804A-A3BC93D965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13000" y="138113"/>
            <a:ext cx="78105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After Process 1 Modifies Page C</a:t>
            </a:r>
          </a:p>
        </p:txBody>
      </p:sp>
      <p:pic>
        <p:nvPicPr>
          <p:cNvPr id="55299" name="Picture 4" descr="9">
            <a:extLst>
              <a:ext uri="{FF2B5EF4-FFF2-40B4-BE49-F238E27FC236}">
                <a16:creationId xmlns:a16="http://schemas.microsoft.com/office/drawing/2014/main" id="{0C5A4256-D323-4ED3-BE05-2F3A8620B3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752" y="1446535"/>
            <a:ext cx="9218867" cy="4259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AE2ECB-E9EB-40FB-8A78-5CA6EB93A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BA6C3-CB79-4F21-AC98-01463CC0BF54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1311</Words>
  <Application>Microsoft Office PowerPoint</Application>
  <PresentationFormat>Widescreen</PresentationFormat>
  <Paragraphs>181</Paragraphs>
  <Slides>18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MS PGothic</vt:lpstr>
      <vt:lpstr>Arial</vt:lpstr>
      <vt:lpstr>Calibri</vt:lpstr>
      <vt:lpstr>Calibri Light</vt:lpstr>
      <vt:lpstr>Courier New</vt:lpstr>
      <vt:lpstr>Monotype Sorts</vt:lpstr>
      <vt:lpstr>Symbol</vt:lpstr>
      <vt:lpstr>Times New Roman</vt:lpstr>
      <vt:lpstr>Office Theme</vt:lpstr>
      <vt:lpstr>Virtual Memory Lesson 2 Demand Paging</vt:lpstr>
      <vt:lpstr>Demand Paging</vt:lpstr>
      <vt:lpstr>Demand Paging</vt:lpstr>
      <vt:lpstr>Basic Concepts</vt:lpstr>
      <vt:lpstr>Valid-Invalid Bit</vt:lpstr>
      <vt:lpstr>Steps in Handling Page Fault</vt:lpstr>
      <vt:lpstr>Steps in Handling a Page Fault (Cont.)</vt:lpstr>
      <vt:lpstr>Aspects of Demand Paging</vt:lpstr>
      <vt:lpstr>Instruction Restart</vt:lpstr>
      <vt:lpstr>Free-Frame List</vt:lpstr>
      <vt:lpstr> Stages in Demand Paging – Worse Case</vt:lpstr>
      <vt:lpstr>Stages in Demand Paging  (Cont.)</vt:lpstr>
      <vt:lpstr>Performance of Demand Paging</vt:lpstr>
      <vt:lpstr>Demand Paging Example</vt:lpstr>
      <vt:lpstr>Demand Paging Optimizations</vt:lpstr>
      <vt:lpstr>Copy-on-Write</vt:lpstr>
      <vt:lpstr>Before Process 1 Modifies Page C</vt:lpstr>
      <vt:lpstr>After Process 1 Modifies Page 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 Memory Lesson 2 Demand Paging</dc:title>
  <dc:creator>David Liu</dc:creator>
  <cp:lastModifiedBy>David Liu</cp:lastModifiedBy>
  <cp:revision>4</cp:revision>
  <dcterms:created xsi:type="dcterms:W3CDTF">2021-11-17T20:48:44Z</dcterms:created>
  <dcterms:modified xsi:type="dcterms:W3CDTF">2022-03-31T15:44:57Z</dcterms:modified>
</cp:coreProperties>
</file>