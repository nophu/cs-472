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426" r:id="rId3"/>
    <p:sldId id="428" r:id="rId4"/>
    <p:sldId id="429" r:id="rId5"/>
    <p:sldId id="43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5" autoAdjust="0"/>
    <p:restoredTop sz="94660"/>
  </p:normalViewPr>
  <p:slideViewPr>
    <p:cSldViewPr snapToGrid="0">
      <p:cViewPr varScale="1">
        <p:scale>
          <a:sx n="62" d="100"/>
          <a:sy n="62" d="100"/>
        </p:scale>
        <p:origin x="102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85030A-EF96-4363-B0AA-0FCD1CCB87E9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0DD860-F43E-4871-8057-720F2A019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752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>
            <a:extLst>
              <a:ext uri="{FF2B5EF4-FFF2-40B4-BE49-F238E27FC236}">
                <a16:creationId xmlns:a16="http://schemas.microsoft.com/office/drawing/2014/main" id="{C44F115A-AF2B-415E-BDF4-F4A0935D23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3330512-64D2-44DD-8EDA-6A9B2FF615B7}" type="slidenum">
              <a:rPr lang="en-US" altLang="en-US" smtClean="0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1011" name="Rectangle 2">
            <a:extLst>
              <a:ext uri="{FF2B5EF4-FFF2-40B4-BE49-F238E27FC236}">
                <a16:creationId xmlns:a16="http://schemas.microsoft.com/office/drawing/2014/main" id="{6C8AE650-8A58-4FA4-8C1E-734499B1CA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>
            <a:extLst>
              <a:ext uri="{FF2B5EF4-FFF2-40B4-BE49-F238E27FC236}">
                <a16:creationId xmlns:a16="http://schemas.microsoft.com/office/drawing/2014/main" id="{62F17A2E-F5B0-49F3-A043-3B34064595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>
            <a:extLst>
              <a:ext uri="{FF2B5EF4-FFF2-40B4-BE49-F238E27FC236}">
                <a16:creationId xmlns:a16="http://schemas.microsoft.com/office/drawing/2014/main" id="{4F476EE6-C6BF-42FE-B049-1320F9C671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503FD01-94BA-4BA1-9A3A-B2812866F800}" type="slidenum">
              <a:rPr lang="en-US" altLang="en-US" smtClean="0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8963" name="Rectangle 2">
            <a:extLst>
              <a:ext uri="{FF2B5EF4-FFF2-40B4-BE49-F238E27FC236}">
                <a16:creationId xmlns:a16="http://schemas.microsoft.com/office/drawing/2014/main" id="{D7015A83-6620-4E7D-AA5D-1A3A6C4008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4" name="Rectangle 3">
            <a:extLst>
              <a:ext uri="{FF2B5EF4-FFF2-40B4-BE49-F238E27FC236}">
                <a16:creationId xmlns:a16="http://schemas.microsoft.com/office/drawing/2014/main" id="{EB3CE215-2B3E-4780-878D-46BA3B72C1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>
            <a:extLst>
              <a:ext uri="{FF2B5EF4-FFF2-40B4-BE49-F238E27FC236}">
                <a16:creationId xmlns:a16="http://schemas.microsoft.com/office/drawing/2014/main" id="{4F476EE6-C6BF-42FE-B049-1320F9C671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503FD01-94BA-4BA1-9A3A-B2812866F800}" type="slidenum">
              <a:rPr lang="en-US" altLang="en-US" smtClean="0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8963" name="Rectangle 2">
            <a:extLst>
              <a:ext uri="{FF2B5EF4-FFF2-40B4-BE49-F238E27FC236}">
                <a16:creationId xmlns:a16="http://schemas.microsoft.com/office/drawing/2014/main" id="{D7015A83-6620-4E7D-AA5D-1A3A6C4008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4" name="Rectangle 3">
            <a:extLst>
              <a:ext uri="{FF2B5EF4-FFF2-40B4-BE49-F238E27FC236}">
                <a16:creationId xmlns:a16="http://schemas.microsoft.com/office/drawing/2014/main" id="{EB3CE215-2B3E-4780-878D-46BA3B72C1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363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>
            <a:extLst>
              <a:ext uri="{FF2B5EF4-FFF2-40B4-BE49-F238E27FC236}">
                <a16:creationId xmlns:a16="http://schemas.microsoft.com/office/drawing/2014/main" id="{C44F115A-AF2B-415E-BDF4-F4A0935D23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3330512-64D2-44DD-8EDA-6A9B2FF615B7}" type="slidenum">
              <a:rPr lang="en-US" altLang="en-US" smtClean="0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1011" name="Rectangle 2">
            <a:extLst>
              <a:ext uri="{FF2B5EF4-FFF2-40B4-BE49-F238E27FC236}">
                <a16:creationId xmlns:a16="http://schemas.microsoft.com/office/drawing/2014/main" id="{6C8AE650-8A58-4FA4-8C1E-734499B1CA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>
            <a:extLst>
              <a:ext uri="{FF2B5EF4-FFF2-40B4-BE49-F238E27FC236}">
                <a16:creationId xmlns:a16="http://schemas.microsoft.com/office/drawing/2014/main" id="{62F17A2E-F5B0-49F3-A043-3B34064595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B3268-AE86-46DA-B2F8-C8F44C99DD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071876-C10D-4A6E-B45C-F79B2F7D56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1282C-084D-4CE9-8543-9CD3CA70C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B0BD-257A-4877-8748-BDB43942AD2B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835E4-135D-48AB-839F-F0063807B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F4439-CC0F-4E4B-A684-BE5A34A76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D1F87-D8DE-420C-8397-8C0311D17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51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632B3-B14E-40D6-A166-5F6A76F2D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C24D4-4768-4931-9032-2EC4AEEDD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7B416-0B34-497A-9574-4D86BAA4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B0BD-257A-4877-8748-BDB43942AD2B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CEF56-07E1-43BC-921C-DCC5C4855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D2764-C261-41F4-B7C7-F54372FA7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D1F87-D8DE-420C-8397-8C0311D17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947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632D6-DE1B-49A4-B2AC-B4D59DBF8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BBD4E0-E0BC-44EB-84A4-7EC47805A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DF47A-1C97-400B-8EAB-64C5F8259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B0BD-257A-4877-8748-BDB43942AD2B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8B1D9-6070-4132-A4D1-3891F6A68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36D61-4A62-456E-8707-7FEA34687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D1F87-D8DE-420C-8397-8C0311D17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205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31E14-3231-403B-8542-BA17674AD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C6FD4-3496-49BB-8659-CA553D45FB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539EB1-2FB2-40D6-951F-27854D12BF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04859-6A76-4F6A-88EF-CBBF4E484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B0BD-257A-4877-8748-BDB43942AD2B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B3FE6D-DBBA-4906-8EAF-459B11737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52A45-82D9-400B-A276-398AAA65E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D1F87-D8DE-420C-8397-8C0311D17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644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9A8A3-DF42-4DE2-8FF6-5C3D0415D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AEAA9-EA85-4D5B-A9BD-DA1F38333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C4D32-3724-41E3-9461-DE7AE6BBC2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DC92BF-42D3-4424-919E-8A78BFA274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922456-7C3E-49D7-836D-8749A3DDD5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582CB2-C497-46F8-B12A-F3459AA2B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B0BD-257A-4877-8748-BDB43942AD2B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79783E-5568-4997-9067-C44134D3A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C68A0F-E842-4362-A672-C012A7752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D1F87-D8DE-420C-8397-8C0311D17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004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976C2-5F2A-4A0B-BF2E-47AD44023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087BAD-C13A-4CC5-B56C-327670C85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B0BD-257A-4877-8748-BDB43942AD2B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2ABB8E-78FB-4B2E-8CEC-3273939E7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2BE27D-A090-4CF8-9110-ED70F5474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D1F87-D8DE-420C-8397-8C0311D17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389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3CE900-13F9-49D9-A456-024055D28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B0BD-257A-4877-8748-BDB43942AD2B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A39620-90EC-46E3-A843-2875A6E1E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B3C74-CBD5-4228-B5E5-FCF594063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D1F87-D8DE-420C-8397-8C0311D17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90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55B72-803C-4D74-933E-A70F9C4D2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14A77-EC2E-4E0D-83BF-717CF859F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968E69-B0DD-44FE-8FF2-BCFFECCCD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7B07E-6FBC-4286-BE2A-742AD8A07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B0BD-257A-4877-8748-BDB43942AD2B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B087EE-6F0C-4108-BECC-C72CA457D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12E073-FB61-4CE4-8F25-8D4F90FF8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D1F87-D8DE-420C-8397-8C0311D17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290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1B440-C290-44B1-8152-287F29452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250B60-2E9A-47D7-BD1D-C2536193E7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805105-3D0A-4EBE-9AEE-90B49764A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D3396F-AF61-4193-9B05-AA080B060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B0BD-257A-4877-8748-BDB43942AD2B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33C497-BE36-4466-84A6-0D9DE28E5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EAA83E-51F9-4E3F-8520-CEF0BF8B3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D1F87-D8DE-420C-8397-8C0311D17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72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5EBEA-F498-4F7F-984D-97BBE0FAA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1F3083-2A20-48CD-997A-0A33CDB97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D23AC-DF6D-434A-886C-C4DABBE86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B0BD-257A-4877-8748-BDB43942AD2B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D829A-D74E-497F-A693-6F7001318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44D05-3F8A-4AC6-80E7-498B268BD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D1F87-D8DE-420C-8397-8C0311D17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73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28E159-4BBC-439A-A737-D321E00477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41F60D-FEEE-4462-BAE8-C50E8D3829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65E5D-9C11-4CBA-8941-14AFA73A3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B0BD-257A-4877-8748-BDB43942AD2B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09C6E-344B-4F5B-8BF0-2B77ED9CB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3EC58-804E-4235-9257-1B4C3CC43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D1F87-D8DE-420C-8397-8C0311D17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186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D1E65-8625-4060-809E-585642576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7F36E-8A8F-45E5-9352-30FA3455F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309DF-DB0D-443B-B27C-76EFD8CCF6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72B0BD-257A-4877-8748-BDB43942AD2B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EC177-1DA3-4D61-AEE1-6317603C2D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646C0-60ED-48BD-958B-27CE031ACC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1D1F87-D8DE-420C-8397-8C0311D17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289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E96E3-9DAF-4545-B7C1-9885093FB7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Virtual Memory</a:t>
            </a:r>
            <a:br>
              <a:rPr lang="en-US" dirty="0"/>
            </a:br>
            <a:r>
              <a:rPr lang="en-US"/>
              <a:t>Lesson 6</a:t>
            </a:r>
            <a:br>
              <a:rPr lang="en-US" dirty="0"/>
            </a:br>
            <a:r>
              <a:rPr lang="en-US" dirty="0"/>
              <a:t>Memory Compression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9FB007-00EF-4DDD-A923-7176851A40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2021</a:t>
            </a:r>
          </a:p>
        </p:txBody>
      </p:sp>
    </p:spTree>
    <p:extLst>
      <p:ext uri="{BB962C8B-B14F-4D97-AF65-F5344CB8AC3E}">
        <p14:creationId xmlns:p14="http://schemas.microsoft.com/office/powerpoint/2010/main" val="2999228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>
            <a:extLst>
              <a:ext uri="{FF2B5EF4-FFF2-40B4-BE49-F238E27FC236}">
                <a16:creationId xmlns:a16="http://schemas.microsoft.com/office/drawing/2014/main" id="{E2A59437-81E0-4E1E-9E44-C8C523B814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87614" y="163513"/>
            <a:ext cx="7723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Memory Compression (Cont.)</a:t>
            </a:r>
          </a:p>
        </p:txBody>
      </p:sp>
      <p:sp>
        <p:nvSpPr>
          <p:cNvPr id="169987" name="Rectangle 3">
            <a:extLst>
              <a:ext uri="{FF2B5EF4-FFF2-40B4-BE49-F238E27FC236}">
                <a16:creationId xmlns:a16="http://schemas.microsoft.com/office/drawing/2014/main" id="{69E32F8F-EE07-465D-82DE-A3AD8ACBAC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16011" y="1093790"/>
            <a:ext cx="7677150" cy="2236640"/>
          </a:xfrm>
        </p:spPr>
        <p:txBody>
          <a:bodyPr/>
          <a:lstStyle/>
          <a:p>
            <a:r>
              <a:rPr lang="en-US" altLang="en-US" dirty="0"/>
              <a:t>An alternative to paging is </a:t>
            </a:r>
            <a:r>
              <a:rPr lang="en-US" altLang="en-US" b="1" dirty="0">
                <a:solidFill>
                  <a:srgbClr val="0070C0"/>
                </a:solidFill>
              </a:rPr>
              <a:t>memory compression</a:t>
            </a:r>
            <a:r>
              <a:rPr lang="en-US" altLang="en-US" dirty="0"/>
              <a:t>. </a:t>
            </a:r>
          </a:p>
          <a:p>
            <a:r>
              <a:rPr lang="en-US" altLang="en-US" dirty="0"/>
              <a:t>Rather than paging out modified frames to swap space, we compress several frames into a single frame, enabling the system to reduce memory usage without resorting to swapping pages.</a:t>
            </a:r>
          </a:p>
        </p:txBody>
      </p:sp>
      <p:pic>
        <p:nvPicPr>
          <p:cNvPr id="169988" name="Picture 2" descr="B:\os-book\os10-dir\Slides-WORK-area\Figures-dir\ch10\JPG-dir\10_25.jpg">
            <a:extLst>
              <a:ext uri="{FF2B5EF4-FFF2-40B4-BE49-F238E27FC236}">
                <a16:creationId xmlns:a16="http://schemas.microsoft.com/office/drawing/2014/main" id="{5D9870E4-FD23-4E9D-96F0-D40EE3D89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5920" y="3857623"/>
            <a:ext cx="5159375" cy="1906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>
            <a:extLst>
              <a:ext uri="{FF2B5EF4-FFF2-40B4-BE49-F238E27FC236}">
                <a16:creationId xmlns:a16="http://schemas.microsoft.com/office/drawing/2014/main" id="{30A9DCA1-0BB5-4393-8F44-A78A7B29B7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87614" y="163513"/>
            <a:ext cx="7723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Memory Compression</a:t>
            </a:r>
          </a:p>
        </p:txBody>
      </p:sp>
      <p:sp>
        <p:nvSpPr>
          <p:cNvPr id="167939" name="Rectangle 3">
            <a:extLst>
              <a:ext uri="{FF2B5EF4-FFF2-40B4-BE49-F238E27FC236}">
                <a16:creationId xmlns:a16="http://schemas.microsoft.com/office/drawing/2014/main" id="{B6BA387C-85EE-4D90-879C-B24161C8D3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68972" y="926009"/>
            <a:ext cx="7983538" cy="6929437"/>
          </a:xfrm>
        </p:spPr>
        <p:txBody>
          <a:bodyPr>
            <a:normAutofit/>
          </a:bodyPr>
          <a:lstStyle/>
          <a:p>
            <a:r>
              <a:rPr lang="en-US" altLang="en-US" sz="2400" b="1" dirty="0">
                <a:solidFill>
                  <a:srgbClr val="0070C0"/>
                </a:solidFill>
              </a:rPr>
              <a:t>Memory compression  </a:t>
            </a:r>
            <a:r>
              <a:rPr lang="en-US" altLang="en-US" sz="2400" dirty="0"/>
              <a:t>--  rather than paging out modified frames to swap space, we compress several frames into a single frame, enabling the system to reduce memory usage without resorting to swapping pages.</a:t>
            </a:r>
          </a:p>
          <a:p>
            <a:r>
              <a:rPr lang="en-US" altLang="en-US" sz="2400" dirty="0"/>
              <a:t>Consider the following free-frame-list consisting of 6 frames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endParaRPr lang="en-US" altLang="en-US" dirty="0"/>
          </a:p>
        </p:txBody>
      </p:sp>
      <p:pic>
        <p:nvPicPr>
          <p:cNvPr id="167940" name="Picture 4" descr="B:\os-book\os10-dir\Slides-WORK-area\Figures-dir\ch10\JPG-dir\10_24.jpg">
            <a:extLst>
              <a:ext uri="{FF2B5EF4-FFF2-40B4-BE49-F238E27FC236}">
                <a16:creationId xmlns:a16="http://schemas.microsoft.com/office/drawing/2014/main" id="{93B19923-8DE5-4731-B4CB-BF767473F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490" y="3429000"/>
            <a:ext cx="6520829" cy="2023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>
            <a:extLst>
              <a:ext uri="{FF2B5EF4-FFF2-40B4-BE49-F238E27FC236}">
                <a16:creationId xmlns:a16="http://schemas.microsoft.com/office/drawing/2014/main" id="{30A9DCA1-0BB5-4393-8F44-A78A7B29B7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87614" y="163513"/>
            <a:ext cx="7723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Memory Compression</a:t>
            </a:r>
          </a:p>
        </p:txBody>
      </p:sp>
      <p:sp>
        <p:nvSpPr>
          <p:cNvPr id="167939" name="Rectangle 3">
            <a:extLst>
              <a:ext uri="{FF2B5EF4-FFF2-40B4-BE49-F238E27FC236}">
                <a16:creationId xmlns:a16="http://schemas.microsoft.com/office/drawing/2014/main" id="{B6BA387C-85EE-4D90-879C-B24161C8D3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24007" y="1033308"/>
            <a:ext cx="7943017" cy="4408487"/>
          </a:xfrm>
        </p:spPr>
        <p:txBody>
          <a:bodyPr>
            <a:normAutofit lnSpcReduction="10000"/>
          </a:bodyPr>
          <a:lstStyle/>
          <a:p>
            <a:r>
              <a:rPr lang="en-US" altLang="en-US" sz="2400" dirty="0"/>
              <a:t>Assume that this number of free frames falls below a certain threshold that triggers page replacement.  </a:t>
            </a:r>
          </a:p>
          <a:p>
            <a:r>
              <a:rPr lang="en-US" altLang="en-US" sz="2400" dirty="0"/>
              <a:t>The replacement algorithm (say, an LRU approximation algorithm) selects four frames -- 15, 3, 35, and 26 to place on the free-frame list. </a:t>
            </a:r>
          </a:p>
          <a:p>
            <a:r>
              <a:rPr lang="en-US" altLang="en-US" sz="2400" dirty="0"/>
              <a:t>It first places these frames on a modified-frame list.  Typically, the modified-frame list would next be written to swap space, making the frames available to the free-frame list.  </a:t>
            </a:r>
          </a:p>
          <a:p>
            <a:r>
              <a:rPr lang="en-US" altLang="en-US" sz="2400" dirty="0"/>
              <a:t>An alternative strategy is to compress a number of frames{\</a:t>
            </a:r>
            <a:r>
              <a:rPr lang="en-US" altLang="en-US" sz="2400" dirty="0" err="1"/>
              <a:t>mdash</a:t>
            </a:r>
            <a:r>
              <a:rPr lang="en-US" altLang="en-US" sz="2400" dirty="0"/>
              <a:t>}say, three{\</a:t>
            </a:r>
            <a:r>
              <a:rPr lang="en-US" altLang="en-US" sz="2400" dirty="0" err="1"/>
              <a:t>mdash</a:t>
            </a:r>
            <a:r>
              <a:rPr lang="en-US" altLang="en-US" sz="2400" dirty="0"/>
              <a:t>}and store their compressed versions n a single page frame.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90682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>
            <a:extLst>
              <a:ext uri="{FF2B5EF4-FFF2-40B4-BE49-F238E27FC236}">
                <a16:creationId xmlns:a16="http://schemas.microsoft.com/office/drawing/2014/main" id="{E2A59437-81E0-4E1E-9E44-C8C523B814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87614" y="163513"/>
            <a:ext cx="7723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Memory Compression (Cont.)</a:t>
            </a:r>
          </a:p>
        </p:txBody>
      </p:sp>
      <p:sp>
        <p:nvSpPr>
          <p:cNvPr id="169987" name="Rectangle 3">
            <a:extLst>
              <a:ext uri="{FF2B5EF4-FFF2-40B4-BE49-F238E27FC236}">
                <a16:creationId xmlns:a16="http://schemas.microsoft.com/office/drawing/2014/main" id="{69E32F8F-EE07-465D-82DE-A3AD8ACBAC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49103" y="963002"/>
            <a:ext cx="7677150" cy="2236640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An alternative to paging is </a:t>
            </a:r>
            <a:r>
              <a:rPr lang="en-US" altLang="en-US" sz="2400" b="1" dirty="0">
                <a:solidFill>
                  <a:srgbClr val="0070C0"/>
                </a:solidFill>
              </a:rPr>
              <a:t>memory compression</a:t>
            </a:r>
            <a:r>
              <a:rPr lang="en-US" altLang="en-US" sz="2400" dirty="0"/>
              <a:t>. </a:t>
            </a:r>
          </a:p>
          <a:p>
            <a:r>
              <a:rPr lang="en-US" altLang="en-US" sz="2400" dirty="0"/>
              <a:t>Rather than paging out modified frames to swap space, we compress several frames into a single frame, enabling the system to reduce memory usage without resorting to swapping pages.</a:t>
            </a:r>
          </a:p>
          <a:p>
            <a:endParaRPr lang="en-US" altLang="en-US" sz="2400" dirty="0"/>
          </a:p>
        </p:txBody>
      </p:sp>
      <p:pic>
        <p:nvPicPr>
          <p:cNvPr id="169988" name="Picture 2" descr="B:\os-book\os10-dir\Slides-WORK-area\Figures-dir\ch10\JPG-dir\10_25.jpg">
            <a:extLst>
              <a:ext uri="{FF2B5EF4-FFF2-40B4-BE49-F238E27FC236}">
                <a16:creationId xmlns:a16="http://schemas.microsoft.com/office/drawing/2014/main" id="{5D9870E4-FD23-4E9D-96F0-D40EE3D89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384" y="3658358"/>
            <a:ext cx="6052524" cy="2236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8C622D-414B-4B5B-839D-4AA0B0E60D66}"/>
              </a:ext>
            </a:extLst>
          </p:cNvPr>
          <p:cNvSpPr/>
          <p:nvPr/>
        </p:nvSpPr>
        <p:spPr>
          <a:xfrm>
            <a:off x="6389649" y="5443374"/>
            <a:ext cx="379141" cy="3679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3EE239-7ADA-4ECC-A3AF-61D7A0B17E33}"/>
              </a:ext>
            </a:extLst>
          </p:cNvPr>
          <p:cNvSpPr/>
          <p:nvPr/>
        </p:nvSpPr>
        <p:spPr>
          <a:xfrm>
            <a:off x="6768790" y="5443374"/>
            <a:ext cx="379141" cy="3679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26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CF8EEE5-BF4E-4D9B-89E6-77A8793B58F7}"/>
              </a:ext>
            </a:extLst>
          </p:cNvPr>
          <p:cNvCxnSpPr>
            <a:cxnSpLocks/>
          </p:cNvCxnSpPr>
          <p:nvPr/>
        </p:nvCxnSpPr>
        <p:spPr>
          <a:xfrm>
            <a:off x="7147931" y="5627369"/>
            <a:ext cx="16392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88B9946-62C8-41A7-8024-AE01B28E94D7}"/>
              </a:ext>
            </a:extLst>
          </p:cNvPr>
          <p:cNvSpPr txBox="1"/>
          <p:nvPr/>
        </p:nvSpPr>
        <p:spPr>
          <a:xfrm>
            <a:off x="7249637" y="5240640"/>
            <a:ext cx="1317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compressed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9C3738-5F9C-4B01-8002-0A8A78CC12B7}"/>
              </a:ext>
            </a:extLst>
          </p:cNvPr>
          <p:cNvSpPr/>
          <p:nvPr/>
        </p:nvSpPr>
        <p:spPr>
          <a:xfrm>
            <a:off x="8923908" y="5443374"/>
            <a:ext cx="379141" cy="3679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265</Words>
  <Application>Microsoft Office PowerPoint</Application>
  <PresentationFormat>Widescreen</PresentationFormat>
  <Paragraphs>28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Virtual Memory Lesson 6 Memory Compression</vt:lpstr>
      <vt:lpstr>Memory Compression (Cont.)</vt:lpstr>
      <vt:lpstr>Memory Compression</vt:lpstr>
      <vt:lpstr>Memory Compression</vt:lpstr>
      <vt:lpstr>Memory Compression 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Memory Lesson 5 TrashingWorkingSet</dc:title>
  <dc:creator>David Liu</dc:creator>
  <cp:lastModifiedBy>David Liu</cp:lastModifiedBy>
  <cp:revision>7</cp:revision>
  <dcterms:created xsi:type="dcterms:W3CDTF">2021-11-17T21:06:26Z</dcterms:created>
  <dcterms:modified xsi:type="dcterms:W3CDTF">2021-11-28T18:24:27Z</dcterms:modified>
</cp:coreProperties>
</file>