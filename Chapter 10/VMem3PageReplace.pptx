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415" r:id="rId18"/>
    <p:sldId id="370" r:id="rId19"/>
    <p:sldId id="371" r:id="rId20"/>
    <p:sldId id="3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C0733-7C60-4E23-85F6-4722DD357F4D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EDF74-CD8F-46F3-907C-77AC8FA08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094AEFB4-1FE5-438D-BC28-869B150B81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D191D1-DD93-42AA-9D70-E568B4263F6F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1977522-D217-427D-B0E9-99A0EE946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0D28C65-FFA8-473E-B61E-81BA4B204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881F445F-6530-4FB6-BBB2-0EC9E4E2AE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E1374F-F9A9-48B3-92F9-19FDCCF839AF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25EC00CA-B34F-42E1-9A32-5C1DDCE1CE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5842031-8018-491A-BDE4-007270DA5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79E30B26-FB74-423D-B1B5-C3D345C66D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E6952F-C5AB-4A4D-8D3B-CF9320FD7C41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A3B53FC-7D59-4934-9DA7-821FB23FA2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FFB1AE9-DF93-4EBE-AD18-80FF7F4FF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113ED46-8E02-40B8-BA70-9FA0B1322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0C9E72-E590-494D-9EFB-76634BC9872B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4C7E667-11A3-4E14-9A21-D22FA96A69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E2E59F2A-1FD6-4B62-AF02-BB7807D52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CF037A5-1FFF-4A9C-BE2F-7730A8A212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57A6A64-AE4B-4451-BAF3-CE17346C97F5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3CCD444-55BE-4034-962C-7B9FF2EC8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D9B8307-8503-4C5D-8A32-65909DE919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192D1765-784A-4511-86E9-1916F2036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FAAE14B-3C65-4FFE-9ADF-DC53B4B4D7D6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904A268-6542-457C-A79B-7883CFA2E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4807060-2FCB-42DA-A4B3-34ED9429BB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886FAF2-AD2F-419F-9D45-E0262FD7C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07731F-2908-4C8E-A39F-50886646872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28DC134-79F6-4986-B4BA-62F820F5E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3939867E-E33A-41E1-BC9D-5FF428DEB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1CEAB0A-0259-403A-92DA-5CC395E9D5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BA50A3-2D6D-45C8-9335-1C693BB4441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FBAAE78-31E6-4DF0-8BFC-96CAA235CD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B10F4BD-0E8C-4A4F-AFBA-0EABC8F562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B57F2925-016E-4E4C-AC91-C702A907A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5BDF039-2A96-4BC6-A049-E1D29D30DB68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C79B83AA-A857-4E4B-97C0-714CCE95D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28AB35F-D07C-4985-AEAA-CDEAAF26F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46E99CA9-A76A-4178-B81D-015EE524DF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5D87FB-34A0-4824-9030-BCFBCFD50B52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21A0388-5893-4D15-9CCA-9DA26639A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B5246BD-2452-4405-A43F-B1DDC38DB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6047F22-6449-4617-AEB3-7A2669B0BB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0D4CB3D-B237-489A-A8FB-7FC9403FB7A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E0A0936C-52A2-4453-8F82-024CE80E16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F68A2E70-44C3-4FAA-890F-2D25AA4D7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3CFE58B8-1AD0-4EFF-9F35-D6C35E305B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E08B0A-793F-4195-B04E-1C17CDA4642C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ED636C9B-81FD-4EC0-BEF5-D19E6C292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3A5901F3-9D92-4525-9032-6583133B5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2B01D8B8-695F-4FBF-809E-66FF0B9A1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F0839D-9B91-47DB-9042-F166AFD807A8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4EA3EEE-9ED8-4EDC-8A90-3023600FC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51D9505E-B838-4A4C-8AAD-609B0A44B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929E5FE1-8D99-4340-8D58-1304A2E3D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2C7320-AFC4-474C-B064-F1829D00AB80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E8CF69D-C460-40DC-B581-257C43B2D4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88D0DA11-AD83-4DDF-B6F4-B048BD0FF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0CB13D6B-78AD-4834-9FEA-B898C85C77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46E8F8E-A68A-4B97-8013-9613C7F34D78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876BBC7-6806-4B4D-9A69-624FADD4D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FCB0E317-3AAB-428D-A0AB-3437C0337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DC0A02AA-1652-4668-AFCF-680D41EC9A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2607F9-945F-444B-850F-C65B4CC23B86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487053B-4C96-4658-8E15-D8C4D4C688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3CA8F8B2-7BE8-4ED4-BB71-B75339A0F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100C9A71-78EE-495D-BE27-7033E56649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89AD90-FB62-4098-B84F-9B28C6F57F02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CB368C8-F6B0-4F8F-9A14-2FD1CC0D79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79D8EEB7-4AC8-46C8-8B24-91A4D8339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16469-1E47-4F46-AC43-51D8488B6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3739A3-C237-4A67-9BF0-F678C2F19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8EB12-C1BA-4C5A-A04D-E156AE4BC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47D1-405E-4457-A763-2C7609559FB6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9CF22-6A31-48CD-BF74-735D614CC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BBA47-6DC2-4F37-91EB-871EB710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1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119E-207D-4565-A060-DB390C83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461FC-DD4C-4131-8C49-F74020EF8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ACFE0-458B-4BEF-8A0F-EEA6DE08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B0461-9394-4A24-8399-0A5BDFDE4D87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B0E1-D6FE-4934-BFD2-5EE941DC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F35DC-E941-43AA-9197-611FCF54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0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6F86-8BA0-4097-8FF5-16BF4D6CE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51A72-F41C-41DF-976F-739985C63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F5BF-E209-442D-AF18-D0460B0A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FFF8-107C-4094-858D-2998CEFC1C2B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4922-C453-4CA5-AD3C-D94B4E23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A9174-D7C9-4186-9881-F470A27A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4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CF7F-0E7E-41D0-B620-BC0A5C490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FAB9C-D15F-459D-A5C2-AC210ADF6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DA703-84FA-4CF1-85B2-18225CA25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D4DAE-71FE-4463-93F9-1623EEE1F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DC800-489E-4D24-B101-04A0E811E5F1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FE185-9E7F-4C3B-BDE2-681F4990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372BC-3E7F-439E-97B5-CA9ED181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7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3CA-05D4-4A7D-A7C0-710E11C95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84F94-0A97-4A9E-B5EB-7C462A6D5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C5311-A217-49BB-9995-78DD7AF37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803D6-A91A-482B-83C0-88A8927BF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8956A-5BE4-4C00-BECC-E00C028B03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3B97E-6B59-457A-950E-6E50CAF5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F5E9-34C6-49A1-81C7-CB8998E92ABF}" type="datetime1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9E0B1-32D9-4CCD-AC8C-B942AC67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DE7AA0-A4E0-4FA1-AB4C-42CE6E6E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77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1A49-D6C2-4C7F-B1FE-841EE51E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3662F-4739-4E11-914D-5F52BEDD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939DF-AC3D-4324-BBC8-6B836BAA331A}" type="datetime1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7E9E6-8B3E-4A81-9CBD-CE5B51D5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24A0B-35F9-40C6-AA04-516C12BE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4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814431-05F6-4340-8034-285CA42A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6F7B6-AE3B-412B-8F2D-4E97CDCF441D}" type="datetime1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648939-B9A0-4452-8D32-36EFAF3F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DFE0C-B8D3-404B-A7F7-C2D60D0B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B1DED-122B-4D18-821E-06E2EFF4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550B4-9BB1-43B7-8A97-09617B8A5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A47E0-EAB7-4692-BD1A-8A07C371D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02657-C6BC-455E-8B53-F8ACC1B7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3D9E6-9E96-4A8C-9CC4-A184642AA87E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7996C-EC1C-4A61-8B55-76995582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9234E-624B-4297-BAAB-385CC3B7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88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8E14-89E3-4147-80A6-D6D8BA68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42F7A8-4876-4B8A-B777-9E087ACEE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7B93D-CF0D-4168-8166-946EC30B3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92322-490D-46E7-B361-F6E526F3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FF765-7039-47E1-B4B9-5E9EB1092A71}" type="datetime1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4E022-2C75-4195-8C74-1F9FD8CE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BA285-A224-42CE-B968-B844A8CE5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8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6AA4-0763-47D3-9B61-DF04B66DA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1B2CB-C214-4076-80C4-D26BCE437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489F2-68EF-4318-A19B-3CE1CCDB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5755-A662-473F-8FA1-B6D01400BD62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22EC8-1717-4853-9C50-B16E0AFC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3FC2E-3EB3-411A-B8FE-B9FCFFE8B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8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DB462-7E11-487A-BE37-450A25ED6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44A99-FCD3-4DE4-ABC2-7FA5427D1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CF503-3088-43E7-9E85-40AF0DDF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33AEA-4D91-4569-A09C-6591C1F6F7DD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814DF-D4A8-4A41-901C-7FE8C2A6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73E68-02F0-461F-B00C-9B999482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42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A533D3-BF46-49B2-93EA-304DA8558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8D0E6-8A53-4EAA-92DD-EFCDCF38C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F81C6-648D-49CA-A2B6-F26140AF7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A3897-5B8A-4264-838C-6F8A57F9DDFA}" type="datetime1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3B4D8-EB97-4351-9843-B2B2BD303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29957-9472-4945-B35A-F35B24E5D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275D3-5E45-4F39-BB0A-9ADCAC0209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2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79F8-CFA6-44E0-AEDB-B3FD96969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Virtual Memory</a:t>
            </a:r>
            <a:br>
              <a:rPr lang="en-US" dirty="0"/>
            </a:br>
            <a:r>
              <a:rPr lang="en-US" dirty="0"/>
              <a:t>Lesson 3</a:t>
            </a:r>
            <a:br>
              <a:rPr lang="en-US" dirty="0"/>
            </a:br>
            <a:r>
              <a:rPr lang="en-US" dirty="0"/>
              <a:t>Page Replacement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D86D4-5D8C-4BE9-AB84-7A578D5C4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21, Spring 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22E11-BAB6-4552-A7E6-8F544EDF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18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0E9628F-447D-46A7-9F22-0E3705118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5889" y="14446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What Happens if There is no Free Frame?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956B225-944D-45A5-9518-A33CEC346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3714" y="1133476"/>
            <a:ext cx="6734175" cy="451167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Used up by process pages</a:t>
            </a:r>
          </a:p>
          <a:p>
            <a:r>
              <a:rPr lang="en-US" altLang="en-US"/>
              <a:t>Also in demand from the kernel, I/O buffers, etc</a:t>
            </a:r>
          </a:p>
          <a:p>
            <a:r>
              <a:rPr lang="en-US" altLang="en-US"/>
              <a:t>How much to allocate to each?</a:t>
            </a:r>
          </a:p>
          <a:p>
            <a:r>
              <a:rPr lang="en-US" altLang="en-US"/>
              <a:t>Page replacement – find some page in memory, but not really in use, page it out</a:t>
            </a:r>
          </a:p>
          <a:p>
            <a:pPr lvl="1"/>
            <a:r>
              <a:rPr lang="en-US" altLang="en-US"/>
              <a:t>Algorithm – terminate? swap out? replace the page?</a:t>
            </a:r>
          </a:p>
          <a:p>
            <a:pPr lvl="1"/>
            <a:r>
              <a:rPr lang="en-US" altLang="en-US"/>
              <a:t>Performance – want an algorithm which will result in minimum number of page faults</a:t>
            </a:r>
          </a:p>
          <a:p>
            <a:r>
              <a:rPr lang="en-US" altLang="en-US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14887-E548-405A-8910-D76F9A1F3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9802E295-7095-4373-912A-AE11CAC76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6026" y="188913"/>
            <a:ext cx="77247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A3E26926-45BC-4E40-9E8C-231B78249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6283" y="1050416"/>
            <a:ext cx="7602216" cy="4757168"/>
          </a:xfrm>
        </p:spPr>
        <p:txBody>
          <a:bodyPr>
            <a:normAutofit/>
          </a:bodyPr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3366FF"/>
                </a:solidFill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3366FF"/>
                </a:solidFill>
              </a:rPr>
              <a:t>modify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bit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5C4A2F-4D4B-4DA1-BC3D-D36F6BD6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6D114F08-39F3-403C-9D56-47114FA96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7776" y="188913"/>
            <a:ext cx="76930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Need For Page Replacement</a:t>
            </a:r>
          </a:p>
        </p:txBody>
      </p:sp>
      <p:pic>
        <p:nvPicPr>
          <p:cNvPr id="61443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E98CA133-7DCD-4271-AF04-8D8437FB1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951" y="1357314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47200C-B0C0-4D94-A732-8F2510A58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FCEBF9D3-9733-4850-8FB7-D1A5F777D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03500" y="163513"/>
            <a:ext cx="76073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Basic Page Replacement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40AF051-5099-4867-B130-8DB77D1A7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4454" y="924005"/>
            <a:ext cx="7703553" cy="5009989"/>
          </a:xfrm>
        </p:spPr>
        <p:txBody>
          <a:bodyPr>
            <a:normAutofit fontScale="92500" lnSpcReduction="10000"/>
          </a:bodyPr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3366FF"/>
                </a:solidFill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	-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None/>
            </a:pPr>
            <a:r>
              <a:rPr lang="en-US" altLang="en-US" dirty="0"/>
              <a:t> </a:t>
            </a:r>
          </a:p>
          <a:p>
            <a:pPr marL="379413" indent="-379413">
              <a:buNone/>
            </a:pPr>
            <a:r>
              <a:rPr lang="en-US" altLang="en-US" dirty="0"/>
              <a:t>Note now potentially 2 page transfers for page fault –              increasing EAT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E27D28-22BA-4DB5-ADDB-B4BD3F2F1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BEB873B-FD57-432D-B03E-F83C89CE1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76213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Page Replacement</a:t>
            </a:r>
          </a:p>
        </p:txBody>
      </p:sp>
      <p:pic>
        <p:nvPicPr>
          <p:cNvPr id="65539" name="Picture 4" descr="9">
            <a:extLst>
              <a:ext uri="{FF2B5EF4-FFF2-40B4-BE49-F238E27FC236}">
                <a16:creationId xmlns:a16="http://schemas.microsoft.com/office/drawing/2014/main" id="{437D81BA-F0EB-4630-8C53-3DD30108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0" y="1223964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4121F1-D320-4E0B-A0F1-380806C0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A998A61A-E4CD-4189-B8FD-0640A7C33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63838" y="163513"/>
            <a:ext cx="767556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Page and Frame Replacement Algorithms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DC9EE9E9-ADB3-4809-8304-89F263BD4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3950" y="1133476"/>
            <a:ext cx="7486650" cy="4899025"/>
          </a:xfrm>
        </p:spPr>
        <p:txBody>
          <a:bodyPr>
            <a:normAutofit fontScale="85000" lnSpcReduction="10000"/>
          </a:bodyPr>
          <a:lstStyle/>
          <a:p>
            <a:pPr>
              <a:tabLst>
                <a:tab pos="3144838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Frame-allocation algorithm </a:t>
            </a:r>
            <a:r>
              <a:rPr lang="en-US" altLang="en-US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>
                <a:solidFill>
                  <a:srgbClr val="3366FF"/>
                </a:solidFill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/>
              <a:t>In all our examples, the </a:t>
            </a:r>
            <a:r>
              <a:rPr lang="en-US" altLang="en-US" b="1">
                <a:solidFill>
                  <a:srgbClr val="3366FF"/>
                </a:solidFill>
              </a:rPr>
              <a:t>reference string </a:t>
            </a:r>
            <a:r>
              <a:rPr lang="en-US" altLang="en-US"/>
              <a:t>of referenced page numbers is </a:t>
            </a:r>
          </a:p>
          <a:p>
            <a:pPr>
              <a:buNone/>
              <a:tabLst>
                <a:tab pos="3144838" algn="ctr"/>
              </a:tabLst>
            </a:pPr>
            <a:r>
              <a:rPr lang="en-US" altLang="en-US"/>
              <a:t>	               </a:t>
            </a:r>
            <a:r>
              <a:rPr lang="en-US" altLang="en-US" b="1">
                <a:solidFill>
                  <a:srgbClr val="FF0000"/>
                </a:solidFill>
              </a:rPr>
              <a:t>7,0,1,2,0,3,0,4,2,3,0,3,0,3,2,1,2,0,1,7,0,1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45E87E-32C3-4F08-81A4-5DD1DE928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E60D6B87-E186-4BA0-BEC8-6D074B7F0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8900" y="98426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Graph of Page Faults Versus The Number of Frames</a:t>
            </a:r>
          </a:p>
        </p:txBody>
      </p:sp>
      <p:pic>
        <p:nvPicPr>
          <p:cNvPr id="69635" name="Picture 5">
            <a:extLst>
              <a:ext uri="{FF2B5EF4-FFF2-40B4-BE49-F238E27FC236}">
                <a16:creationId xmlns:a16="http://schemas.microsoft.com/office/drawing/2014/main" id="{6A92D0C6-8D7C-41D1-8BAA-53FDA9555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464A2B-9A09-4AB8-94C1-546A909F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88A66B4B-4FB1-439E-887D-9315EEF4F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5388" y="176213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F018176-DFB9-4644-B7DC-090C2F7C7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5501" y="1009883"/>
            <a:ext cx="9622405" cy="5978146"/>
          </a:xfrm>
        </p:spPr>
        <p:txBody>
          <a:bodyPr>
            <a:normAutofit/>
          </a:bodyPr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 err="1">
                <a:solidFill>
                  <a:srgbClr val="3366FF"/>
                </a:solidFill>
              </a:rPr>
              <a:t>Belady</a:t>
            </a:r>
            <a:r>
              <a:rPr lang="ja-JP" altLang="en-US" b="1" dirty="0">
                <a:solidFill>
                  <a:srgbClr val="3366FF"/>
                </a:solidFill>
              </a:rPr>
              <a:t>’</a:t>
            </a:r>
            <a:r>
              <a:rPr lang="en-US" altLang="ja-JP" b="1" dirty="0">
                <a:solidFill>
                  <a:srgbClr val="3366FF"/>
                </a:solidFill>
              </a:rPr>
              <a:t>s Anomaly</a:t>
            </a:r>
            <a:endParaRPr lang="en-US" altLang="en-US" sz="800" dirty="0"/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71684" name="Text Box 16">
            <a:extLst>
              <a:ext uri="{FF2B5EF4-FFF2-40B4-BE49-F238E27FC236}">
                <a16:creationId xmlns:a16="http://schemas.microsoft.com/office/drawing/2014/main" id="{BFC9153D-12A3-4A93-9263-D7E17FEC4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6869" y="2874168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15 page faults\</a:t>
            </a:r>
          </a:p>
        </p:txBody>
      </p:sp>
      <p:pic>
        <p:nvPicPr>
          <p:cNvPr id="71685" name="Picture 1">
            <a:extLst>
              <a:ext uri="{FF2B5EF4-FFF2-40B4-BE49-F238E27FC236}">
                <a16:creationId xmlns:a16="http://schemas.microsoft.com/office/drawing/2014/main" id="{3154B406-9279-4A3C-98F5-A27F827F8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352" y="2109925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82911B-603B-47CC-B2C1-2C5858BED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EA01D42-D55C-448E-9E73-90195FFF7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2400" y="214313"/>
            <a:ext cx="77343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FIFO Illustrating Belady</a:t>
            </a:r>
            <a:r>
              <a:rPr lang="ja-JP" altLang="en-US"/>
              <a:t>’</a:t>
            </a:r>
            <a:r>
              <a:rPr lang="en-US" altLang="ja-JP"/>
              <a:t>s Anomaly</a:t>
            </a:r>
            <a:endParaRPr lang="en-US" altLang="en-US"/>
          </a:p>
        </p:txBody>
      </p:sp>
      <p:pic>
        <p:nvPicPr>
          <p:cNvPr id="73731" name="Picture 1" descr="9_13.pdf">
            <a:extLst>
              <a:ext uri="{FF2B5EF4-FFF2-40B4-BE49-F238E27FC236}">
                <a16:creationId xmlns:a16="http://schemas.microsoft.com/office/drawing/2014/main" id="{A4B87E53-EC67-4CA2-8C90-8BB9D0ED6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3DA7EE-4CCA-4ED6-9861-6BBAE444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AAABCCB0-74C4-4C16-9746-DB965D320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138113"/>
            <a:ext cx="79375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Optimal Algorithm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510F962-9763-43B1-8E03-9463DE238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81645" y="1106489"/>
            <a:ext cx="7191375" cy="2052637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75780" name="Picture 3">
            <a:extLst>
              <a:ext uri="{FF2B5EF4-FFF2-40B4-BE49-F238E27FC236}">
                <a16:creationId xmlns:a16="http://schemas.microsoft.com/office/drawing/2014/main" id="{437D1A46-5978-46A5-8D3D-0BA8262F7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732" y="3343683"/>
            <a:ext cx="6970288" cy="234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CD7F23-8001-49C0-8BA1-2D9B0E61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C2EBBED0-187E-4F20-B52E-2D16C12FB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2426" y="163513"/>
            <a:ext cx="7673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A23AB2A-C15A-4EFB-BB33-DE359DB90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70175" y="1055689"/>
            <a:ext cx="7454900" cy="483552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pic>
        <p:nvPicPr>
          <p:cNvPr id="77828" name="Picture 4" descr="9">
            <a:extLst>
              <a:ext uri="{FF2B5EF4-FFF2-40B4-BE49-F238E27FC236}">
                <a16:creationId xmlns:a16="http://schemas.microsoft.com/office/drawing/2014/main" id="{6617BED4-DE94-4E74-ABF1-99A868DC6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3" y="2420939"/>
            <a:ext cx="6170612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7DBE1D-CE17-4EF2-8B06-D7DDB9AB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D6895FA-0ECB-4FE7-B432-1EAAF915F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LRU Algorithm (Cont.)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E853D63-6E98-4CDD-ADE1-3EF742DF0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8224" y="934136"/>
            <a:ext cx="8731846" cy="5349218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3366FF"/>
                </a:solidFill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</a:t>
            </a:r>
            <a:r>
              <a:rPr lang="en-US" altLang="ja-JP" dirty="0" err="1"/>
              <a:t>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EF7E6E-41D3-4746-8D63-5A2DCB61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BF23E56-20E2-4FC4-9FE6-0A66462EC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7650" y="103188"/>
            <a:ext cx="7626350" cy="576262"/>
          </a:xfrm>
        </p:spPr>
        <p:txBody>
          <a:bodyPr/>
          <a:lstStyle/>
          <a:p>
            <a:pPr eaLnBrk="1" hangingPunct="1"/>
            <a:r>
              <a:rPr lang="en-US" altLang="en-US" sz="2000"/>
              <a:t>Use Of A Stack to Record Most Recent Page References</a:t>
            </a:r>
          </a:p>
        </p:txBody>
      </p:sp>
      <p:pic>
        <p:nvPicPr>
          <p:cNvPr id="81923" name="Picture 1" descr="9_16.pdf">
            <a:extLst>
              <a:ext uri="{FF2B5EF4-FFF2-40B4-BE49-F238E27FC236}">
                <a16:creationId xmlns:a16="http://schemas.microsoft.com/office/drawing/2014/main" id="{0C67E6F6-509E-4D78-B3C2-FB9D5C102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620" y="841527"/>
            <a:ext cx="6225097" cy="486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4E68C3-BB1C-45F9-A5FB-3EBA5FEB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3649CF48-2B6B-4460-AB59-7AF22533E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5081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LRU Approximation Algorithms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7A563430-B16B-400D-B0D1-41ED8C675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9638" y="949108"/>
            <a:ext cx="7370763" cy="514667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Clock</a:t>
            </a:r>
            <a:r>
              <a:rPr lang="en-US" altLang="en-US" dirty="0"/>
              <a:t> 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4F1FD-17A4-4AC5-B0C0-E27AE085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E23C33B-8702-40A2-BB9E-6C985870A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1101" y="177800"/>
            <a:ext cx="8010525" cy="463550"/>
          </a:xfrm>
        </p:spPr>
        <p:txBody>
          <a:bodyPr/>
          <a:lstStyle/>
          <a:p>
            <a:pPr eaLnBrk="1" hangingPunct="1"/>
            <a:r>
              <a:rPr lang="en-US" altLang="en-US" sz="2000"/>
              <a:t>Second-Chance (clock) Page-Replacement Algorithm</a:t>
            </a:r>
          </a:p>
        </p:txBody>
      </p:sp>
      <p:pic>
        <p:nvPicPr>
          <p:cNvPr id="86019" name="Picture 1" descr="9_17.pdf">
            <a:extLst>
              <a:ext uri="{FF2B5EF4-FFF2-40B4-BE49-F238E27FC236}">
                <a16:creationId xmlns:a16="http://schemas.microsoft.com/office/drawing/2014/main" id="{7B2D020F-5C75-4BF0-A934-F13F2B6B45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02509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A6D07E-F456-4A88-9DBC-87032D3D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644C94E-521E-41BC-BC7B-CDD61A9C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0" y="138113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Enhanced Second-Chance Algorithm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10E2558-9994-4772-820E-2329DABCF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81639" y="920562"/>
            <a:ext cx="7158038" cy="514667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75AB06-6530-419C-9443-CD14B7E3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03BC1D3-9569-4F61-AC29-07BD33589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35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Counting Algorithms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E5AB512-31DB-449E-ADFD-609AC9F10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32442" y="1046644"/>
            <a:ext cx="6799263" cy="4551363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Algorithm</a:t>
            </a:r>
            <a:r>
              <a:rPr lang="en-US" altLang="en-US" dirty="0"/>
              <a:t>:  replaces page with smallest count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Algorithm</a:t>
            </a:r>
            <a:r>
              <a:rPr lang="en-US" altLang="en-US" dirty="0"/>
              <a:t>: based on the argument that the page with the smallest count was probably just brought in and has yet to be used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3D6B5-10CC-4078-A82B-30E7A6E0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B401EA6D-76AE-49E2-B97F-F05F20547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Page-Buffering Algorithms</a:t>
            </a: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7DD1F704-441D-455A-B3EB-C8AD342AE5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58498" y="959564"/>
            <a:ext cx="7145337" cy="5078412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Keep a pool of free frames, always</a:t>
            </a:r>
          </a:p>
          <a:p>
            <a:pPr lvl="1"/>
            <a:r>
              <a:rPr lang="en-US" altLang="en-US" dirty="0"/>
              <a:t>Then frame available when needed, not found at fault time</a:t>
            </a:r>
          </a:p>
          <a:p>
            <a:pPr lvl="1"/>
            <a:r>
              <a:rPr lang="en-US" altLang="en-US" dirty="0"/>
              <a:t>Read page into free frame and select victim to evict and add to free pool</a:t>
            </a:r>
          </a:p>
          <a:p>
            <a:pPr lvl="1"/>
            <a:r>
              <a:rPr lang="en-US" altLang="en-US" dirty="0"/>
              <a:t>When convenient, evict victim</a:t>
            </a:r>
          </a:p>
          <a:p>
            <a:r>
              <a:rPr lang="en-US" altLang="en-US" dirty="0"/>
              <a:t>Possibly, keep list of modified pages</a:t>
            </a:r>
          </a:p>
          <a:p>
            <a:pPr lvl="1"/>
            <a:r>
              <a:rPr lang="en-US" altLang="en-US" dirty="0"/>
              <a:t>When backing store otherwise idle, write pages there and set to non-dirty</a:t>
            </a:r>
          </a:p>
          <a:p>
            <a:r>
              <a:rPr lang="en-US" altLang="en-US" dirty="0"/>
              <a:t>Possibly, keep free frame contents intact and note what is in them</a:t>
            </a:r>
          </a:p>
          <a:p>
            <a:pPr lvl="1"/>
            <a:r>
              <a:rPr lang="en-US" altLang="en-US" dirty="0"/>
              <a:t>If referenced again before reused, no need to load contents again from disk</a:t>
            </a:r>
          </a:p>
          <a:p>
            <a:pPr lvl="1"/>
            <a:r>
              <a:rPr lang="en-US" altLang="en-US" dirty="0"/>
              <a:t>Generally useful to reduce penalty if wrong victim frame selected 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A5CD8-3AB2-4F76-B2EC-ED6C9E8BA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>
            <a:extLst>
              <a:ext uri="{FF2B5EF4-FFF2-40B4-BE49-F238E27FC236}">
                <a16:creationId xmlns:a16="http://schemas.microsoft.com/office/drawing/2014/main" id="{E8312C2B-9104-4DC8-9CC8-4228F54BE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55850" y="138113"/>
            <a:ext cx="7867650" cy="576262"/>
          </a:xfrm>
        </p:spPr>
        <p:txBody>
          <a:bodyPr/>
          <a:lstStyle/>
          <a:p>
            <a:r>
              <a:rPr lang="en-US" altLang="en-US" sz="2800"/>
              <a:t>Applications and Page Replacement</a:t>
            </a:r>
          </a:p>
        </p:txBody>
      </p:sp>
      <p:sp>
        <p:nvSpPr>
          <p:cNvPr id="93187" name="Content Placeholder 2">
            <a:extLst>
              <a:ext uri="{FF2B5EF4-FFF2-40B4-BE49-F238E27FC236}">
                <a16:creationId xmlns:a16="http://schemas.microsoft.com/office/drawing/2014/main" id="{4D420DF0-9AB2-49DB-854D-3C06A5049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2251" y="1131889"/>
            <a:ext cx="6805613" cy="45307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/>
              <a:t>All of these algorithms have OS guessing about future page access</a:t>
            </a:r>
          </a:p>
          <a:p>
            <a:r>
              <a:rPr lang="en-US" altLang="en-US"/>
              <a:t>Some applications have better knowledge – i.e. databases</a:t>
            </a:r>
          </a:p>
          <a:p>
            <a:r>
              <a:rPr lang="en-US" altLang="en-US"/>
              <a:t>Memory intensive applications can cause double buffering</a:t>
            </a:r>
          </a:p>
          <a:p>
            <a:pPr lvl="1"/>
            <a:r>
              <a:rPr lang="en-US" altLang="en-US"/>
              <a:t>OS keeps copy of page in memory as I/O buffer</a:t>
            </a:r>
          </a:p>
          <a:p>
            <a:pPr lvl="1"/>
            <a:r>
              <a:rPr lang="en-US" altLang="en-US"/>
              <a:t>Application keeps page in memory for its own work</a:t>
            </a:r>
          </a:p>
          <a:p>
            <a:r>
              <a:rPr lang="en-US" altLang="en-US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Raw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disk</a:t>
            </a:r>
            <a:r>
              <a:rPr lang="en-US" altLang="en-US" b="1"/>
              <a:t> </a:t>
            </a:r>
            <a:r>
              <a:rPr lang="en-US" altLang="en-US"/>
              <a:t>mode</a:t>
            </a:r>
          </a:p>
          <a:p>
            <a:r>
              <a:rPr lang="en-US" altLang="en-US"/>
              <a:t>Bypasses buffering, locking, etc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65796-8553-49D1-A465-318A6C8C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275D3-5E45-4F39-BB0A-9ADCAC02093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1162</Words>
  <Application>Microsoft Office PowerPoint</Application>
  <PresentationFormat>Widescreen</PresentationFormat>
  <Paragraphs>169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MS PGothic</vt:lpstr>
      <vt:lpstr>游ゴシック</vt:lpstr>
      <vt:lpstr>游ゴシック Light</vt:lpstr>
      <vt:lpstr>Arial</vt:lpstr>
      <vt:lpstr>Calibri</vt:lpstr>
      <vt:lpstr>Calibri Light</vt:lpstr>
      <vt:lpstr>Helvetica</vt:lpstr>
      <vt:lpstr>Monotype Sorts</vt:lpstr>
      <vt:lpstr>Times New Roman</vt:lpstr>
      <vt:lpstr>Office Theme</vt:lpstr>
      <vt:lpstr>Virtual Memory Lesson 3 Page Replacement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Use Of A Stack to Record Most Recent Page References</vt:lpstr>
      <vt:lpstr>LRU Approximation Algorithms</vt:lpstr>
      <vt:lpstr>Second-Chance (clock) Page-Replacement Algorithm</vt:lpstr>
      <vt:lpstr>Enhanced Second-Chance Algorithm</vt:lpstr>
      <vt:lpstr>Counting Algorithms</vt:lpstr>
      <vt:lpstr>Page-Buffering Algorithms</vt:lpstr>
      <vt:lpstr>Applications and Page Replacement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Memory Lesson 3 Page Replacement</dc:title>
  <dc:creator>David Liu</dc:creator>
  <cp:lastModifiedBy>David Liu</cp:lastModifiedBy>
  <cp:revision>6</cp:revision>
  <dcterms:created xsi:type="dcterms:W3CDTF">2021-11-17T20:59:26Z</dcterms:created>
  <dcterms:modified xsi:type="dcterms:W3CDTF">2022-03-31T15:45:32Z</dcterms:modified>
</cp:coreProperties>
</file>