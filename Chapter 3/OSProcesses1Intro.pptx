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9" r:id="rId7"/>
    <p:sldId id="262" r:id="rId8"/>
    <p:sldId id="263" r:id="rId9"/>
    <p:sldId id="264" r:id="rId10"/>
    <p:sldId id="266" r:id="rId11"/>
    <p:sldId id="267" r:id="rId12"/>
    <p:sldId id="269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9AEBA-4AEA-41C9-9E4E-5F9F48693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59744-237A-4472-9481-AC11E767D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793B4-796D-41AD-80DA-0530D9442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7944-AE72-4844-9742-E516768E870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469C1-FCF1-4490-866D-0A611631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052CE-4B9C-4572-B78D-E5A78E84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B380D-4D7D-462C-8F98-80D8C819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3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9657-E3E7-4CA3-913F-9DAE5E3B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BDFA2-5576-475E-9E3D-136DD75C8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E59E4-0A27-4C0D-9849-390315C92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7944-AE72-4844-9742-E516768E870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49ABE-9C1B-4896-BCF3-AC009A8F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61608-1CB1-4698-BED8-165BF5FE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B380D-4D7D-462C-8F98-80D8C819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3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B6E02-7F70-4E6E-B75E-4BAA7F49D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8E490-CA63-46C6-99F2-301FA4B4E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B073A-A896-4805-BBF8-749A6C5E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7944-AE72-4844-9742-E516768E870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8542-EC4F-48F3-B83A-466C4006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6F439-89FF-4F2C-9124-352BDA2F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B380D-4D7D-462C-8F98-80D8C819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1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2729-588B-4549-8428-D01D5516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00197-F2F7-4F8E-9730-9538FEF55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C8E77-6771-4EF7-A915-B51B43DC1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61141-D637-4C38-A9BB-AC04F78A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7944-AE72-4844-9742-E516768E870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3049E-FFA3-4E90-8DAB-F4DB151C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29832-7B32-44ED-9893-D6328A47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B380D-4D7D-462C-8F98-80D8C819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60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A356D-1F6B-42C2-ABD4-EEC0F9D4F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DFF29-CAFC-46EC-A40B-840B6DC2B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E2DF6-FEEA-4530-B6AA-AF38671FE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9C207-6350-462F-B768-D55FDDC9B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0F5369-7691-48D5-983A-4EB978A78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A2F98-77C4-4378-955E-59B672E6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7944-AE72-4844-9742-E516768E870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AFFFB-8C98-4070-ABFE-940FD2B2B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33BE3B-2734-4439-8B4C-D8F7F16F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B380D-4D7D-462C-8F98-80D8C819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2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4143-81F6-4109-AF38-DAD33959B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E097A-D0BE-4482-AEB2-929862F92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7944-AE72-4844-9742-E516768E870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B2D393-FE69-4471-9550-CE1CECD08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1064E-0776-4725-B52B-7F80FBF70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B380D-4D7D-462C-8F98-80D8C819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3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12ADD4-0648-4160-ABFF-AA069F589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7944-AE72-4844-9742-E516768E870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C81653-ED30-4AB7-84F0-D06D3349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4BC31-D1A5-4C70-89E6-1AC14DA8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B380D-4D7D-462C-8F98-80D8C819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12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10698-8426-4E05-AD76-F67ACBC8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73C64-8F53-44DE-86AF-6F3122C75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3DA2D-0D1B-4CEC-B633-18917529D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438B4-A3EA-40AD-A2E2-2B785140A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7944-AE72-4844-9742-E516768E870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7EC88-7165-4DFA-88A7-C03C6158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28773-395D-42D5-AC28-546D89A8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B380D-4D7D-462C-8F98-80D8C819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62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2AA1D-9963-4501-8CA3-631E3269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BB34E3-91B0-43C1-B880-6B4106B41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1DD9F-A27D-40B2-8A3F-ED4B95CA5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F46EB-F057-4BA4-A99D-70C762D9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7944-AE72-4844-9742-E516768E870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80171-D2FD-42D8-9E60-F06850BF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47240-9E68-4670-9376-C1A3FD19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B380D-4D7D-462C-8F98-80D8C819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30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6DA8-4D4F-486E-AD3D-4AF741EE9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C82D6-D3D5-45DB-842A-1AA66C032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4ACB5-5C2C-4B80-99BD-DF783C8B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7944-AE72-4844-9742-E516768E870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E931C-2650-4130-AA87-25D9DB316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7EFBC-1853-4483-B8CE-D50EEE8E5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B380D-4D7D-462C-8F98-80D8C819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38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6B7300-7E5C-4AC0-AD67-9DF5EDFB7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AC93A-56C3-42E3-8C34-E0AA82FE1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45007-96CA-47A9-8709-97264FF38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7944-AE72-4844-9742-E516768E870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1DE5F-7826-4591-8103-A917B25F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85AEE-F41D-4FEB-9992-C39A623D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B380D-4D7D-462C-8F98-80D8C819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26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B9CD1-F288-4562-BAFF-F3513AD41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C4296-9B76-44D5-B63C-EB7AE9CAA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3C505-B64E-4E87-80F6-845B27CB0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37944-AE72-4844-9742-E516768E870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DF2C0-FC2B-4E6F-83AA-580D7AC7E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268FA-C1D0-4175-8042-12D6A5187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B380D-4D7D-462C-8F98-80D8C819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51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82DE-5A0C-4371-ABE0-96D149F693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Processes</a:t>
            </a:r>
            <a:br>
              <a:rPr lang="en-US" dirty="0"/>
            </a:br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1D13A-D11A-4B53-809B-5BD79419EE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304335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5BFD-651B-4866-B6B5-30F15719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29B37-A3BD-437E-AEDF-21AEDCFE7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>
                <a:solidFill>
                  <a:schemeClr val="accent1"/>
                </a:solidFill>
              </a:rPr>
              <a:t>Identify the separate components of a process and illustrate how they are represented and scheduled in an operating system.</a:t>
            </a:r>
          </a:p>
          <a:p>
            <a:r>
              <a:rPr lang="en-US" altLang="en-US" dirty="0">
                <a:solidFill>
                  <a:schemeClr val="accent1"/>
                </a:solidFill>
              </a:rPr>
              <a:t>Describe how processes are created and terminated in an operating system, including developing programs using the appropriate system calls that perform these operations.</a:t>
            </a:r>
          </a:p>
          <a:p>
            <a:r>
              <a:rPr lang="en-US" altLang="en-US" dirty="0"/>
              <a:t>Describe and contrast interprocess communication using shared memory and message passing.</a:t>
            </a:r>
          </a:p>
          <a:p>
            <a:r>
              <a:rPr lang="en-US" altLang="en-US" dirty="0"/>
              <a:t>Design programs that uses pipes and POSIX shared memory to perform interprocess communication.</a:t>
            </a:r>
          </a:p>
          <a:p>
            <a:r>
              <a:rPr lang="en-US" altLang="en-US" dirty="0"/>
              <a:t>Describe client-server communication using sockets and remote procedure calls.</a:t>
            </a:r>
          </a:p>
          <a:p>
            <a:r>
              <a:rPr lang="en-US" altLang="en-US" dirty="0"/>
              <a:t>Design kernel modules that interact with the Linux operating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60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86686-E1CA-42ED-B127-FA98F5100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Process?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2D28D-826E-4362-B448-A96F5BBC2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71624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Process</a:t>
            </a:r>
            <a:r>
              <a:rPr lang="en-US" dirty="0"/>
              <a:t> – a program in execution; process execution must progress in sequential fashion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text section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data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stack</a:t>
            </a:r>
          </a:p>
          <a:p>
            <a:pPr lvl="2"/>
            <a:r>
              <a:rPr kumimoji="1" lang="en-US" b="1" kern="0" dirty="0">
                <a:solidFill>
                  <a:schemeClr val="accent2"/>
                </a:solidFill>
                <a:latin typeface="Helvetica"/>
                <a:ea typeface="MS PGothic" pitchFamily="34" charset="-128"/>
              </a:rPr>
              <a:t>Function parameters, return addresses, local variables</a:t>
            </a:r>
            <a:endParaRPr lang="en-US" b="1" dirty="0">
              <a:solidFill>
                <a:srgbClr val="3366FF"/>
              </a:solidFill>
            </a:endParaRP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Heap</a:t>
            </a:r>
          </a:p>
          <a:p>
            <a:pPr lvl="2"/>
            <a:r>
              <a:rPr kumimoji="1" lang="en-US" b="1" kern="0" dirty="0">
                <a:solidFill>
                  <a:schemeClr val="accent2"/>
                </a:solidFill>
                <a:latin typeface="Helvetica"/>
                <a:ea typeface="MS PGothic" pitchFamily="34" charset="-128"/>
              </a:rPr>
              <a:t>Dynamically allocated memory</a:t>
            </a:r>
          </a:p>
          <a:p>
            <a:pPr lvl="2"/>
            <a:endParaRPr kumimoji="1" lang="en-US" b="1" kern="0" dirty="0">
              <a:solidFill>
                <a:schemeClr val="accent2"/>
              </a:solidFill>
              <a:latin typeface="Helvetica"/>
              <a:ea typeface="MS PGothic" pitchFamily="34" charset="-128"/>
            </a:endParaRP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program counter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Processor registers</a:t>
            </a:r>
            <a:endParaRPr kumimoji="1" lang="en-US" b="1" kern="0" dirty="0">
              <a:solidFill>
                <a:schemeClr val="accent2"/>
              </a:solidFill>
              <a:latin typeface="Helvetica"/>
              <a:ea typeface="MS PGothic" pitchFamily="34" charset="-128"/>
            </a:endParaRPr>
          </a:p>
          <a:p>
            <a:endParaRPr lang="en-US" dirty="0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21A9DCA-CEB3-40B2-83D1-5F66DB41B981}"/>
              </a:ext>
            </a:extLst>
          </p:cNvPr>
          <p:cNvSpPr/>
          <p:nvPr/>
        </p:nvSpPr>
        <p:spPr>
          <a:xfrm>
            <a:off x="4321097" y="5402766"/>
            <a:ext cx="490654" cy="4125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0FA271-861B-4758-BB19-4F4689C2C41D}"/>
              </a:ext>
            </a:extLst>
          </p:cNvPr>
          <p:cNvSpPr txBox="1"/>
          <p:nvPr/>
        </p:nvSpPr>
        <p:spPr>
          <a:xfrm>
            <a:off x="5181600" y="5402766"/>
            <a:ext cx="1419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CPU Activities</a:t>
            </a: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211F729E-3B58-4534-AE02-9FAA04ACB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337" y="1927226"/>
            <a:ext cx="26558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181274-6DD9-440F-A5D2-427B585EE9FD}"/>
              </a:ext>
            </a:extLst>
          </p:cNvPr>
          <p:cNvSpPr txBox="1"/>
          <p:nvPr/>
        </p:nvSpPr>
        <p:spPr>
          <a:xfrm>
            <a:off x="10080702" y="1460810"/>
            <a:ext cx="151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 memory</a:t>
            </a:r>
          </a:p>
        </p:txBody>
      </p:sp>
    </p:spTree>
    <p:extLst>
      <p:ext uri="{BB962C8B-B14F-4D97-AF65-F5344CB8AC3E}">
        <p14:creationId xmlns:p14="http://schemas.microsoft.com/office/powerpoint/2010/main" val="2784889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E8701-CA8D-42E5-B442-7B5A89DE3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D433F-2AA3-41FF-99B3-FE4DFB62F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</a:t>
            </a:r>
            <a:r>
              <a:rPr lang="en-US" dirty="0">
                <a:solidFill>
                  <a:srgbClr val="FF0000"/>
                </a:solidFill>
              </a:rPr>
              <a:t>processes</a:t>
            </a:r>
            <a:r>
              <a:rPr lang="en-US" dirty="0"/>
              <a:t> may execute the same program at the same time</a:t>
            </a:r>
          </a:p>
          <a:p>
            <a:r>
              <a:rPr lang="en-US" dirty="0"/>
              <a:t>How can it be done?</a:t>
            </a:r>
          </a:p>
        </p:txBody>
      </p:sp>
    </p:spTree>
    <p:extLst>
      <p:ext uri="{BB962C8B-B14F-4D97-AF65-F5344CB8AC3E}">
        <p14:creationId xmlns:p14="http://schemas.microsoft.com/office/powerpoint/2010/main" val="9269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50B3B-04A7-4700-8471-A64108D3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Program in Memory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7BECA538-3420-44D7-95A3-F72B8C98A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922" y="1690688"/>
            <a:ext cx="8642114" cy="4105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44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B07AF-113A-451C-BECF-CFF1B2BE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State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F483DA-1610-48FC-ABCA-0E5862AAE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9615" y="2350795"/>
            <a:ext cx="7664480" cy="298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607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764F-325B-41E2-86EC-10BA03DB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Control Block (PCB)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5B849-73EB-423F-B7C9-B9FE50F89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73068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Process state </a:t>
            </a:r>
          </a:p>
          <a:p>
            <a:r>
              <a:rPr lang="en-US" dirty="0"/>
              <a:t>Program counter – location of instruction to </a:t>
            </a:r>
            <a:r>
              <a:rPr lang="en-US" dirty="0">
                <a:solidFill>
                  <a:schemeClr val="accent2"/>
                </a:solidFill>
              </a:rPr>
              <a:t>next</a:t>
            </a:r>
            <a:r>
              <a:rPr lang="en-US" dirty="0"/>
              <a:t> execute</a:t>
            </a:r>
          </a:p>
          <a:p>
            <a:r>
              <a:rPr lang="en-US" dirty="0"/>
              <a:t>CPU registers – contents of all process-centric registers</a:t>
            </a:r>
          </a:p>
          <a:p>
            <a:r>
              <a:rPr lang="en-US" dirty="0"/>
              <a:t>CPU scheduling information- priorities, scheduling queue pointers</a:t>
            </a:r>
          </a:p>
          <a:p>
            <a:r>
              <a:rPr lang="en-US" dirty="0"/>
              <a:t>Memory-management information – memory allocated to the process</a:t>
            </a:r>
          </a:p>
          <a:p>
            <a:r>
              <a:rPr lang="en-US" dirty="0"/>
              <a:t>Accounting information – CPU used, clock time elapsed since start, time limits</a:t>
            </a:r>
          </a:p>
          <a:p>
            <a:r>
              <a:rPr lang="en-US" dirty="0"/>
              <a:t>I/O status information – I/O devices allocated to process, </a:t>
            </a:r>
            <a:r>
              <a:rPr lang="en-US" dirty="0">
                <a:solidFill>
                  <a:schemeClr val="accent2"/>
                </a:solidFill>
              </a:rPr>
              <a:t>list of open files</a:t>
            </a:r>
          </a:p>
          <a:p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445FF143-1ED9-4D3A-9429-D6C06CEFA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1902" y="1825625"/>
            <a:ext cx="2405924" cy="3909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5363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A4B-9B9D-41AE-A081-CDEE7618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OS: A Resource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E67AD-4FC6-4532-95E5-E2A143CB1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resources</a:t>
            </a:r>
          </a:p>
          <a:p>
            <a:pPr lvl="1"/>
            <a:r>
              <a:rPr lang="en-US" dirty="0"/>
              <a:t>CPU</a:t>
            </a:r>
          </a:p>
          <a:p>
            <a:pPr lvl="1"/>
            <a:r>
              <a:rPr lang="en-US" dirty="0"/>
              <a:t>Memory</a:t>
            </a:r>
          </a:p>
          <a:p>
            <a:pPr lvl="1"/>
            <a:r>
              <a:rPr lang="en-US" dirty="0"/>
              <a:t>I/O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007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D4A6-ABDC-4EF6-B73E-0E3C1F810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OS: A Control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C55A1-0AB0-47BD-92D0-770859A2F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 process is tracked?</a:t>
            </a:r>
          </a:p>
          <a:p>
            <a:r>
              <a:rPr lang="en-US" dirty="0"/>
              <a:t>How a process is scheduled and managed?</a:t>
            </a:r>
          </a:p>
        </p:txBody>
      </p:sp>
    </p:spTree>
    <p:extLst>
      <p:ext uri="{BB962C8B-B14F-4D97-AF65-F5344CB8AC3E}">
        <p14:creationId xmlns:p14="http://schemas.microsoft.com/office/powerpoint/2010/main" val="102741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AB62-84DB-4220-B98C-089F07BEB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in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F9B9C-20C2-4E32-B477-765A19C58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Task_struct</a:t>
            </a:r>
            <a:r>
              <a:rPr lang="en-US" dirty="0"/>
              <a:t> for both process and thread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291BD6-21D8-4119-9E7B-7BFEF7B58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545" y="3197061"/>
            <a:ext cx="8060909" cy="27799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176627-1CA0-4A7F-BEFE-B5673F063559}"/>
              </a:ext>
            </a:extLst>
          </p:cNvPr>
          <p:cNvSpPr txBox="1"/>
          <p:nvPr/>
        </p:nvSpPr>
        <p:spPr>
          <a:xfrm>
            <a:off x="4148254" y="2587083"/>
            <a:ext cx="3236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Active Process Double linked List</a:t>
            </a:r>
          </a:p>
        </p:txBody>
      </p:sp>
    </p:spTree>
    <p:extLst>
      <p:ext uri="{BB962C8B-B14F-4D97-AF65-F5344CB8AC3E}">
        <p14:creationId xmlns:p14="http://schemas.microsoft.com/office/powerpoint/2010/main" val="3081244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25C8-0EB1-492D-920C-CB329F6B2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Scheduling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9A905-7372-4921-9AF1-316B9F56C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Multiprogramming: Maximize CPU usage</a:t>
            </a:r>
          </a:p>
          <a:p>
            <a:r>
              <a:rPr lang="en-US" dirty="0"/>
              <a:t>Time sharing: user interaction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513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A46F-3176-4CC0-8721-552F4F8ED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Multiprogramming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0720A-8AEE-4C23-915B-277141F5F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of processes currently in memory</a:t>
            </a:r>
          </a:p>
          <a:p>
            <a:r>
              <a:rPr lang="en-US" dirty="0"/>
              <a:t>Section 3.2.</a:t>
            </a:r>
          </a:p>
        </p:txBody>
      </p:sp>
    </p:spTree>
    <p:extLst>
      <p:ext uri="{BB962C8B-B14F-4D97-AF65-F5344CB8AC3E}">
        <p14:creationId xmlns:p14="http://schemas.microsoft.com/office/powerpoint/2010/main" val="3023472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57D7F-5C01-4779-BB5A-628F1FBE0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Ready and Waiting Queues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44089F93-FCE4-4F2B-97B1-D65283F4D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50" y="1512269"/>
            <a:ext cx="7148512" cy="4252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F5C5B2-FDDE-42FC-B2FF-260D7CFCD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812" y="5167312"/>
            <a:ext cx="340047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35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EC1B-87EA-458C-94B7-2DB35BC0C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Switch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B544A-D9D9-45EA-B932-3979DF973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87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Verdana" panose="020B0604030504040204" pitchFamily="34" charset="0"/>
              </a:rPr>
              <a:t>CPU </a:t>
            </a:r>
            <a:r>
              <a:rPr kumimoji="0" lang="en-US" altLang="en-US" sz="2400" dirty="0">
                <a:latin typeface="Verdana" panose="020B0604030504040204" pitchFamily="34" charset="0"/>
              </a:rPr>
              <a:t>switches from one process to another</a:t>
            </a:r>
            <a:endParaRPr lang="en-US" sz="2400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E20002B-CB5E-46E7-AA5C-475EBB223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91" y="2160849"/>
            <a:ext cx="5126038" cy="418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467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648E0-7250-41CC-AD5F-09FA7816E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Switch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150A9-BB8D-42AC-A7A0-A0AE8D802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</a:t>
            </a:r>
            <a:r>
              <a:rPr lang="en-US" b="1" dirty="0">
                <a:solidFill>
                  <a:srgbClr val="FF0000"/>
                </a:solidFill>
              </a:rPr>
              <a:t>state</a:t>
            </a:r>
            <a:r>
              <a:rPr lang="en-US" dirty="0"/>
              <a:t> of replaced process in </a:t>
            </a:r>
            <a:r>
              <a:rPr lang="en-US" b="1" dirty="0">
                <a:solidFill>
                  <a:srgbClr val="FF0000"/>
                </a:solidFill>
              </a:rPr>
              <a:t>PCB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Load </a:t>
            </a:r>
            <a:r>
              <a:rPr lang="en-US" dirty="0">
                <a:solidFill>
                  <a:srgbClr val="FF0000"/>
                </a:solidFill>
              </a:rPr>
              <a:t>saved state </a:t>
            </a:r>
            <a:r>
              <a:rPr lang="en-US" dirty="0"/>
              <a:t>of the new process</a:t>
            </a:r>
          </a:p>
          <a:p>
            <a:r>
              <a:rPr lang="en-US" dirty="0"/>
              <a:t>Shorting switch time is essential</a:t>
            </a:r>
          </a:p>
          <a:p>
            <a:r>
              <a:rPr lang="en-US" dirty="0"/>
              <a:t>Hardware support</a:t>
            </a:r>
          </a:p>
          <a:p>
            <a:pPr lvl="1"/>
            <a:r>
              <a:rPr lang="en-US" dirty="0"/>
              <a:t>Multiple sets of registers to </a:t>
            </a:r>
            <a:r>
              <a:rPr lang="en-US" dirty="0">
                <a:solidFill>
                  <a:srgbClr val="FF0000"/>
                </a:solidFill>
              </a:rPr>
              <a:t>rescue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572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8395-270E-474A-8A77-D37D3F33B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BAAD-B975-408F-96EC-92E33367D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0A18DCB9-42A2-43ED-B17D-40D4385C3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121" y="2286000"/>
            <a:ext cx="7985125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7545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9CCE0-4298-4DBA-BB8B-08D3B513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 and Child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99E5C-302C-4BB6-BA05-F3DD7056C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Resource Sharing Option</a:t>
            </a:r>
          </a:p>
          <a:p>
            <a:pPr lvl="1"/>
            <a:r>
              <a:rPr lang="en-US" dirty="0"/>
              <a:t>All resources</a:t>
            </a:r>
          </a:p>
          <a:p>
            <a:pPr lvl="1"/>
            <a:r>
              <a:rPr lang="en-US" dirty="0"/>
              <a:t>Subset of parent resource</a:t>
            </a:r>
          </a:p>
          <a:p>
            <a:pPr lvl="1"/>
            <a:r>
              <a:rPr lang="en-US" dirty="0"/>
              <a:t>No sharing</a:t>
            </a:r>
          </a:p>
          <a:p>
            <a:r>
              <a:rPr lang="en-US" dirty="0"/>
              <a:t>Execution Options</a:t>
            </a:r>
          </a:p>
          <a:p>
            <a:pPr lvl="1"/>
            <a:r>
              <a:rPr lang="en-US" dirty="0"/>
              <a:t>Execute concurrently</a:t>
            </a:r>
          </a:p>
          <a:p>
            <a:pPr lvl="1"/>
            <a:r>
              <a:rPr lang="en-US" dirty="0"/>
              <a:t>Parent wait until children terminate</a:t>
            </a:r>
          </a:p>
        </p:txBody>
      </p:sp>
    </p:spTree>
    <p:extLst>
      <p:ext uri="{BB962C8B-B14F-4D97-AF65-F5344CB8AC3E}">
        <p14:creationId xmlns:p14="http://schemas.microsoft.com/office/powerpoint/2010/main" val="1353345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C7F11-8001-416F-A4DC-BA29ACBBE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 and Child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4E645-48E5-4FF1-BEEF-AB8A4C366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 space (main memory)</a:t>
            </a:r>
          </a:p>
          <a:p>
            <a:pPr lvl="1"/>
            <a:r>
              <a:rPr lang="en-US" dirty="0"/>
              <a:t>Duplicate parent’s in a new location in memory</a:t>
            </a:r>
          </a:p>
          <a:p>
            <a:pPr lvl="1"/>
            <a:r>
              <a:rPr lang="en-US" dirty="0"/>
              <a:t>Load a new program</a:t>
            </a:r>
          </a:p>
        </p:txBody>
      </p:sp>
    </p:spTree>
    <p:extLst>
      <p:ext uri="{BB962C8B-B14F-4D97-AF65-F5344CB8AC3E}">
        <p14:creationId xmlns:p14="http://schemas.microsoft.com/office/powerpoint/2010/main" val="3014834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E9D1B-27E6-460D-9731-82CBF30A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Process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3F6AA-A367-474D-8E60-4E35FDE80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fork ()</a:t>
            </a:r>
          </a:p>
          <a:p>
            <a:r>
              <a:rPr lang="en-US" dirty="0"/>
              <a:t>exec ()</a:t>
            </a:r>
          </a:p>
          <a:p>
            <a:r>
              <a:rPr lang="en-US" dirty="0"/>
              <a:t>wait()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6882095C-C437-40C3-818A-43214AE24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839" y="4011566"/>
            <a:ext cx="7424213" cy="1222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6905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8D07-8960-4A42-BA77-952AD93B4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C7D4C-161E-454B-B9A0-78BF3F842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61" y="1825625"/>
            <a:ext cx="4899170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fork creates a child process</a:t>
            </a:r>
          </a:p>
          <a:p>
            <a:r>
              <a:rPr lang="en-US" sz="2400" dirty="0"/>
              <a:t>Parent memory address space</a:t>
            </a:r>
          </a:p>
          <a:p>
            <a:pPr lvl="1"/>
            <a:r>
              <a:rPr lang="en-US" sz="2000" dirty="0" err="1"/>
              <a:t>pid</a:t>
            </a:r>
            <a:r>
              <a:rPr lang="en-US" sz="2000" dirty="0"/>
              <a:t> = new created child process id</a:t>
            </a:r>
          </a:p>
          <a:p>
            <a:r>
              <a:rPr lang="en-US" sz="2400" dirty="0"/>
              <a:t>Child memory address space</a:t>
            </a:r>
          </a:p>
          <a:p>
            <a:pPr lvl="1"/>
            <a:r>
              <a:rPr lang="en-US" sz="2000" dirty="0" err="1"/>
              <a:t>pid</a:t>
            </a:r>
            <a:r>
              <a:rPr lang="en-US" sz="2000" dirty="0"/>
              <a:t> = 0</a:t>
            </a:r>
          </a:p>
          <a:p>
            <a:pPr lvl="1"/>
            <a:r>
              <a:rPr lang="en-US" sz="2000" dirty="0"/>
              <a:t>How child finds its own id?</a:t>
            </a:r>
          </a:p>
          <a:p>
            <a:pPr lvl="1"/>
            <a:r>
              <a:rPr lang="en-US" sz="2000" dirty="0"/>
              <a:t>New program may be loaded</a:t>
            </a:r>
          </a:p>
          <a:p>
            <a:r>
              <a:rPr lang="en-US" sz="2400" dirty="0"/>
              <a:t>Question</a:t>
            </a:r>
          </a:p>
          <a:p>
            <a:pPr lvl="1"/>
            <a:r>
              <a:rPr lang="en-US" sz="2000" dirty="0"/>
              <a:t>What is the </a:t>
            </a:r>
            <a:r>
              <a:rPr lang="en-US" sz="2000" dirty="0" err="1"/>
              <a:t>pid</a:t>
            </a:r>
            <a:r>
              <a:rPr lang="en-US" sz="2000" dirty="0"/>
              <a:t> value in parent memory space and child memory space?</a:t>
            </a:r>
          </a:p>
          <a:p>
            <a:pPr lvl="1"/>
            <a:r>
              <a:rPr lang="en-US" sz="2000" dirty="0"/>
              <a:t>What are C functions to get Process ID and Parent Process ID?</a:t>
            </a:r>
          </a:p>
        </p:txBody>
      </p:sp>
      <p:pic>
        <p:nvPicPr>
          <p:cNvPr id="4" name="Picture 5" descr="Screen Shot 2012-12-04 at 11.21.10 AM.png">
            <a:extLst>
              <a:ext uri="{FF2B5EF4-FFF2-40B4-BE49-F238E27FC236}">
                <a16:creationId xmlns:a16="http://schemas.microsoft.com/office/drawing/2014/main" id="{59CC535F-A808-4969-90B1-5A0A19051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733" y="889000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6598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0CB71-101A-488A-83DA-48DC7D8AE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AA261-D455-4007-9457-F7FCA388C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Self terminate: exit()</a:t>
            </a:r>
          </a:p>
          <a:p>
            <a:r>
              <a:rPr lang="en-US" dirty="0"/>
              <a:t>Terminated by parent: abort</a:t>
            </a:r>
          </a:p>
          <a:p>
            <a:pPr lvl="1"/>
            <a:r>
              <a:rPr lang="en-US" dirty="0"/>
              <a:t>Allocated resources exceeded</a:t>
            </a:r>
          </a:p>
          <a:p>
            <a:pPr lvl="1"/>
            <a:r>
              <a:rPr lang="en-US" dirty="0"/>
              <a:t>child’s task not required</a:t>
            </a:r>
          </a:p>
          <a:p>
            <a:r>
              <a:rPr lang="en-US" dirty="0"/>
              <a:t>Terminated by OS</a:t>
            </a:r>
          </a:p>
          <a:p>
            <a:pPr lvl="1"/>
            <a:r>
              <a:rPr lang="en-US" dirty="0"/>
              <a:t>Parent termites</a:t>
            </a:r>
          </a:p>
        </p:txBody>
      </p:sp>
    </p:spTree>
    <p:extLst>
      <p:ext uri="{BB962C8B-B14F-4D97-AF65-F5344CB8AC3E}">
        <p14:creationId xmlns:p14="http://schemas.microsoft.com/office/powerpoint/2010/main" val="720271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AEEC-D71F-4E68-B6D2-74A16F5F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Zombie and Orphan Child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E1939-D8F5-4E01-879D-96BDE6B3F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Zombie</a:t>
            </a:r>
          </a:p>
          <a:p>
            <a:pPr lvl="1"/>
            <a:r>
              <a:rPr lang="en-US" dirty="0"/>
              <a:t>Child process terminates, parent has not called wait (may be later)</a:t>
            </a:r>
          </a:p>
          <a:p>
            <a:r>
              <a:rPr lang="en-US" dirty="0"/>
              <a:t>Orphan</a:t>
            </a:r>
          </a:p>
          <a:p>
            <a:pPr lvl="1"/>
            <a:r>
              <a:rPr lang="en-US" dirty="0"/>
              <a:t>Parent terminated, not waiting for child</a:t>
            </a:r>
          </a:p>
        </p:txBody>
      </p:sp>
    </p:spTree>
    <p:extLst>
      <p:ext uri="{BB962C8B-B14F-4D97-AF65-F5344CB8AC3E}">
        <p14:creationId xmlns:p14="http://schemas.microsoft.com/office/powerpoint/2010/main" val="3785509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B07AF-113A-451C-BECF-CFF1B2BE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State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F483DA-1610-48FC-ABCA-0E5862AAE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9615" y="2350795"/>
            <a:ext cx="7664480" cy="298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25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538</Words>
  <Application>Microsoft Office PowerPoint</Application>
  <PresentationFormat>Widescreen</PresentationFormat>
  <Paragraphs>103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MS PGothic</vt:lpstr>
      <vt:lpstr>Arial</vt:lpstr>
      <vt:lpstr>Calibri</vt:lpstr>
      <vt:lpstr>Calibri Light</vt:lpstr>
      <vt:lpstr>Helvetica</vt:lpstr>
      <vt:lpstr>Verdana</vt:lpstr>
      <vt:lpstr>Office Theme</vt:lpstr>
      <vt:lpstr>Processes Lesson 1</vt:lpstr>
      <vt:lpstr>Learning Outcomes</vt:lpstr>
      <vt:lpstr>What is a Process?</vt:lpstr>
      <vt:lpstr>Shared Program</vt:lpstr>
      <vt:lpstr>C Program in Memory</vt:lpstr>
      <vt:lpstr>Process State Diagram</vt:lpstr>
      <vt:lpstr>Process Control Block (PCB)</vt:lpstr>
      <vt:lpstr>OS: A Resource Manager</vt:lpstr>
      <vt:lpstr>OS: A Control Program</vt:lpstr>
      <vt:lpstr>Process in Linux</vt:lpstr>
      <vt:lpstr>Process Scheduling Purpose</vt:lpstr>
      <vt:lpstr>Degree of Multiprogramming</vt:lpstr>
      <vt:lpstr>Ready and Waiting Queues</vt:lpstr>
      <vt:lpstr>Context Switch</vt:lpstr>
      <vt:lpstr>Context Switch</vt:lpstr>
      <vt:lpstr>Process Creation</vt:lpstr>
      <vt:lpstr>Parent and Child Processes</vt:lpstr>
      <vt:lpstr>Parent and Child Processes</vt:lpstr>
      <vt:lpstr>UNIX Process Creation</vt:lpstr>
      <vt:lpstr>C Programming</vt:lpstr>
      <vt:lpstr>Process Termination</vt:lpstr>
      <vt:lpstr>Zombie and Orphan Child Process</vt:lpstr>
      <vt:lpstr>Process State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Processes Lesson 1</dc:title>
  <dc:creator>David Liu</dc:creator>
  <cp:lastModifiedBy>David Liu</cp:lastModifiedBy>
  <cp:revision>37</cp:revision>
  <dcterms:created xsi:type="dcterms:W3CDTF">2021-09-15T13:45:41Z</dcterms:created>
  <dcterms:modified xsi:type="dcterms:W3CDTF">2022-04-14T16:48:57Z</dcterms:modified>
</cp:coreProperties>
</file>