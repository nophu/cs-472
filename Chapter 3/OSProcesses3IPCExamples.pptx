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1" r:id="rId11"/>
    <p:sldId id="276" r:id="rId12"/>
    <p:sldId id="275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1405-74B8-4F6F-9FA4-6ABECA386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80572-9C53-48BD-8884-2508A3816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7CBEA-4EB4-4BFE-95D9-F5B4B7FD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4901-AACD-4808-B3D0-C7C26301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30177-E8A5-46AC-A66B-C2F9ED9B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6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4EAE-5CC0-4F0F-A5A5-45333F87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6E7B-5CB4-4069-BCDA-77FD3C242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47AA-9306-4FEC-84ED-04142DB1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9B78B-C34A-4EE4-8DC9-1ADD46A1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78EEB-258E-4BA7-9AC7-3633DCEB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661F-2BEB-44AC-B967-4B3506D63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34924-421C-4507-9BC2-7428380AC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E40D2-767B-4782-BB0A-0E521EB0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E2080-5C1D-4B1C-BC05-E30F1588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8B35-17C7-45B7-BB12-8BC1E0AB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9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62CD-35A2-40C7-BB94-CA798F0F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7ADD-87F4-44FB-BEB5-5BEE5D310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8B56A-4B72-490F-9831-F480146F9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DD85B-022C-493A-B285-7D350991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9BCB9-B69B-4377-AEF7-DD8B6AAA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CD9DD-B187-4F1A-A148-9AFAB503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3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E0AB-1584-432B-9CFB-3ADCF248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F8E44-E723-440C-A4EF-9703445B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ADC40-9D95-482D-83B7-6A9F4D335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7E13-94C3-45AE-8C63-C03E61F36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D41B3-1954-4D8F-8751-10562337C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970B5-6DD2-4722-9B2F-A7AE7C58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CE629-67E5-40A9-9730-FB000B19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48C5-34EF-4945-83E6-93E8A5B4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0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B9D7-8B27-4DEF-AB14-E677B40D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28069-35E4-4969-BDF5-F7840924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34D3D-F40D-4C24-8C42-A4BFC7FA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EF696-35C9-4C72-B7B5-496749E5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6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D81EC-EF5C-4C9D-A578-E831AB3E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57B58-CA1B-4562-B4F1-1B60C137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1723-11B9-4EAA-B310-8DC4537D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0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915F-7946-4301-B4CA-723C23F6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E81CC-B6DD-4E27-8037-DD862C39C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319E4-D6F0-488C-AD62-B397F5C91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676B1-00AD-44EE-8401-121F5F1A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2724B-32A9-44BB-8B63-185316D9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DF5E1-5554-4440-BBBC-5DAD87D2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7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ADE2B-4B0C-419A-BB1F-DA1C8236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0B4AF-4158-41A9-886F-089F2099D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0822D-3DA8-4097-80FE-08BDE6AD8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25CC8-B4BF-4469-AF0F-BAFAF1A5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F26D1-F4C8-4F51-8509-BEE6E3A9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1805D-D165-4BE4-B427-3E066717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2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BF06-2A86-419D-8B96-F01E6199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AACE7-8518-4D41-9D05-BD4EA3B85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0458A-68E7-48AB-A69B-E762B8E0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33970-B404-42FA-AEEC-E767AC13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3B73A-509C-4096-BED7-4AA0C746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6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3F9023-8362-4BA0-A428-5C1A51E81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4AC2D-9632-482B-8BEA-C7995033B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56A5-C154-4DDD-ABAC-EABAECA7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379E-F205-4BC2-925B-5B2A3AC2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39E8E-B2BD-4D6C-A057-11B3CA27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8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573C0-7EA2-4533-9ED6-1C778CD9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DB41D-E6AE-4B12-9C37-EE7AD6DF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ED7E4-F704-4340-A156-1123CA633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92C0E-FB06-47D9-925A-AB93CA97ACE2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64429-8477-4661-BC59-497C26BA2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84C30-76D6-421F-BA09-A1B89C97D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1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4784-2238-441D-83AA-7FF3AEDEB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Processes</a:t>
            </a:r>
            <a:br>
              <a:rPr lang="en-US" dirty="0"/>
            </a:br>
            <a:r>
              <a:rPr lang="en-US" dirty="0"/>
              <a:t>Lesson 3</a:t>
            </a:r>
            <a:br>
              <a:rPr lang="en-US" dirty="0"/>
            </a:br>
            <a:r>
              <a:rPr lang="en-US" dirty="0"/>
              <a:t>Interprocess Communications</a:t>
            </a:r>
            <a:br>
              <a:rPr lang="en-US" dirty="0"/>
            </a:br>
            <a:r>
              <a:rPr lang="en-US" dirty="0"/>
              <a:t>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7FDA3-AA62-4BD2-8922-76602A6500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  <a:r>
              <a:rPr lang="en-US"/>
              <a:t>, Spring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1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091C-19D4-4B1D-9D93-47E3AFD6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Interprocess Communication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C08D-2955-4A37-9C72-3B8536A85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POSIX Shared Memory</a:t>
            </a:r>
          </a:p>
          <a:p>
            <a:r>
              <a:rPr lang="en-US" dirty="0"/>
              <a:t>Mach Message Passing</a:t>
            </a:r>
          </a:p>
          <a:p>
            <a:r>
              <a:rPr lang="en-US" dirty="0"/>
              <a:t>Windows Message Passing</a:t>
            </a:r>
          </a:p>
          <a:p>
            <a:r>
              <a:rPr lang="en-US" dirty="0"/>
              <a:t>Pipes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The Portable Operating System Interface </a:t>
            </a:r>
            <a:r>
              <a:rPr lang="en-US" sz="2400"/>
              <a:t>(POSIX, IEEE 1003) </a:t>
            </a:r>
            <a:r>
              <a:rPr lang="en-US" sz="2400" dirty="0"/>
              <a:t>is a family of standards specified by the IEEE Computer Society for maintaining compatibility between operating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3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EC11-A5DF-4356-8B76-24B20F71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Shared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646DC-8BB4-4CC6-A05F-3965E921A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O_CREAT | O_RDWR, 0666);</a:t>
            </a:r>
          </a:p>
          <a:p>
            <a:r>
              <a:rPr lang="en-US" altLang="en-US" dirty="0"/>
              <a:t>Configure the Size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</a:t>
            </a:r>
          </a:p>
          <a:p>
            <a:r>
              <a:rPr lang="en-US" dirty="0"/>
              <a:t>Memory-map a file pointer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SIZE, PROT_READ, MAP_SHARED,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0)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12BCE0-581B-462D-861A-89E2BED392E0}"/>
              </a:ext>
            </a:extLst>
          </p:cNvPr>
          <p:cNvCxnSpPr>
            <a:cxnSpLocks/>
          </p:cNvCxnSpPr>
          <p:nvPr/>
        </p:nvCxnSpPr>
        <p:spPr>
          <a:xfrm flipH="1" flipV="1">
            <a:off x="1937857" y="3011648"/>
            <a:ext cx="1115737" cy="176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64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A841-F7BD-4050-B162-A88313B7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POSIX </a:t>
            </a:r>
            <a:r>
              <a:rPr lang="en-US" dirty="0"/>
              <a:t>Producer</a:t>
            </a:r>
          </a:p>
        </p:txBody>
      </p:sp>
      <p:pic>
        <p:nvPicPr>
          <p:cNvPr id="4" name="Picture 1" descr="Screen Shot 2013-03-14 at 6.46.57 PM.png">
            <a:extLst>
              <a:ext uri="{FF2B5EF4-FFF2-40B4-BE49-F238E27FC236}">
                <a16:creationId xmlns:a16="http://schemas.microsoft.com/office/drawing/2014/main" id="{4DC1223F-49C0-4BD0-8EEF-22AEFF898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952" y="1373138"/>
            <a:ext cx="3917819" cy="534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965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483D-CAFB-475C-B4C8-2EA6F331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Consumer</a:t>
            </a:r>
          </a:p>
        </p:txBody>
      </p:sp>
      <p:pic>
        <p:nvPicPr>
          <p:cNvPr id="4" name="Picture 1" descr="Screen Shot 2013-03-12 at 1.38.41 PM.png">
            <a:extLst>
              <a:ext uri="{FF2B5EF4-FFF2-40B4-BE49-F238E27FC236}">
                <a16:creationId xmlns:a16="http://schemas.microsoft.com/office/drawing/2014/main" id="{5AFD2148-C488-4BBE-A7D5-3FB1FE088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557" y="1486259"/>
            <a:ext cx="4342336" cy="483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382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672E-459E-4B1A-BE23-3DA9C11A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 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C133D-CD9B-477D-B3B5-7901885B5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21" y="1565566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sz="1900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sz="1900" b="1" dirty="0">
                <a:latin typeface="Courier New" panose="02070309020205020404" pitchFamily="49" charset="0"/>
              </a:rPr>
              <a:t>(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1900" b="1" dirty="0">
                <a:latin typeface="Courier New" panose="02070309020205020404" pitchFamily="49" charset="0"/>
              </a:rPr>
              <a:t>      </a:t>
            </a:r>
            <a:r>
              <a:rPr lang="en-US" altLang="en-US" sz="1900" dirty="0" err="1">
                <a:latin typeface="Courier New" panose="02070309020205020404" pitchFamily="49" charset="0"/>
              </a:rPr>
              <a:t>mach_task_self</a:t>
            </a:r>
            <a:r>
              <a:rPr lang="en-US" altLang="en-US" sz="1900" dirty="0">
                <a:latin typeface="Courier New" panose="02070309020205020404" pitchFamily="49" charset="0"/>
              </a:rPr>
              <a:t>(,)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1900" dirty="0">
                <a:latin typeface="Courier New" panose="02070309020205020404" pitchFamily="49" charset="0"/>
              </a:rPr>
              <a:t>      </a:t>
            </a:r>
            <a:r>
              <a:rPr lang="en-US" altLang="en-US" sz="1900" b="1" dirty="0">
                <a:latin typeface="Courier New" panose="02070309020205020404" pitchFamily="49" charset="0"/>
              </a:rPr>
              <a:t>MACH_PORT_RIGHT_RECEIVE</a:t>
            </a:r>
            <a:r>
              <a:rPr lang="en-US" altLang="en-US" sz="1900" dirty="0">
                <a:latin typeface="Courier New" panose="02070309020205020404" pitchFamily="49" charset="0"/>
              </a:rPr>
              <a:t>,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1900" dirty="0">
                <a:latin typeface="Courier New" panose="02070309020205020404" pitchFamily="49" charset="0"/>
              </a:rPr>
              <a:t>      &amp;port</a:t>
            </a:r>
            <a:r>
              <a:rPr lang="en-US" altLang="en-US" sz="1900" b="1" dirty="0"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dirty="0"/>
              <a:t>Send and receive are flexible,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r>
              <a:rPr lang="en-US" altLang="en-US" dirty="0"/>
              <a:t>Port rights for each task: </a:t>
            </a:r>
            <a:r>
              <a:rPr lang="en-US" altLang="en-US" sz="1500" dirty="0"/>
              <a:t>MACH_PORT_RIGHT_RECEIVE  &amp; MACH_PORT_RIGHT_SEND </a:t>
            </a:r>
          </a:p>
          <a:p>
            <a:r>
              <a:rPr lang="en-US" altLang="en-US" dirty="0"/>
              <a:t>Each task starts with two special ports: Task Self and Notify 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14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ADB6-B257-4BEA-A9B5-0BC8C4B3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 Message Passing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BCCC5-4A95-4D0D-9E23-9ADD2D30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16" y="1351021"/>
            <a:ext cx="3689811" cy="2252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E098C-12DE-440A-9908-336A27A6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174" y="1397042"/>
            <a:ext cx="4744825" cy="4554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EEE775-0A4D-494B-9982-73458CB98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39" y="3429000"/>
            <a:ext cx="6023727" cy="32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0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5359-FFAD-4C9C-8984-0ABEE87C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0DD8A-5FFE-4810-A2D1-643C6F9E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5907" cy="4351338"/>
          </a:xfrm>
        </p:spPr>
        <p:txBody>
          <a:bodyPr/>
          <a:lstStyle/>
          <a:p>
            <a:r>
              <a:rPr lang="en-US" dirty="0"/>
              <a:t>On the same system, </a:t>
            </a:r>
            <a:r>
              <a:rPr lang="en-US" dirty="0">
                <a:solidFill>
                  <a:schemeClr val="accent1"/>
                </a:solidFill>
              </a:rPr>
              <a:t>advanced local procedure call </a:t>
            </a:r>
          </a:p>
          <a:p>
            <a:r>
              <a:rPr lang="en-US" dirty="0"/>
              <a:t>Client request to </a:t>
            </a:r>
            <a:r>
              <a:rPr lang="en-US" dirty="0">
                <a:solidFill>
                  <a:schemeClr val="accent1"/>
                </a:solidFill>
              </a:rPr>
              <a:t>Connection port</a:t>
            </a:r>
          </a:p>
          <a:p>
            <a:r>
              <a:rPr lang="en-US" dirty="0"/>
              <a:t>Server creates</a:t>
            </a:r>
            <a:r>
              <a:rPr lang="en-US" dirty="0">
                <a:solidFill>
                  <a:schemeClr val="accent1"/>
                </a:solidFill>
              </a:rPr>
              <a:t>: two private communication ports</a:t>
            </a:r>
          </a:p>
          <a:p>
            <a:r>
              <a:rPr lang="en-US" dirty="0"/>
              <a:t>Message Passing</a:t>
            </a:r>
          </a:p>
          <a:p>
            <a:pPr lvl="1"/>
            <a:r>
              <a:rPr lang="en-US" dirty="0"/>
              <a:t>Port queue</a:t>
            </a:r>
          </a:p>
          <a:p>
            <a:pPr lvl="1"/>
            <a:r>
              <a:rPr lang="en-US" dirty="0"/>
              <a:t>Channel’s section object</a:t>
            </a:r>
          </a:p>
          <a:p>
            <a:pPr lvl="1"/>
            <a:r>
              <a:rPr lang="en-US" dirty="0"/>
              <a:t>Client’s address space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0BA8F-B97E-4D36-85CD-122E4585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678" y="1825625"/>
            <a:ext cx="5245894" cy="269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2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90337-7F42-478A-891E-249D587E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E9636-DBBD-4982-933D-7D16A879C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Ordinary pipes</a:t>
            </a:r>
          </a:p>
          <a:p>
            <a:pPr lvl="1"/>
            <a:r>
              <a:rPr lang="en-US" dirty="0"/>
              <a:t>Between a parent process and a child process</a:t>
            </a:r>
          </a:p>
          <a:p>
            <a:pPr lvl="1"/>
            <a:r>
              <a:rPr lang="en-US" dirty="0"/>
              <a:t>Child share </a:t>
            </a:r>
            <a:r>
              <a:rPr lang="en-US"/>
              <a:t>the special files of pipes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Named Pipes</a:t>
            </a:r>
          </a:p>
          <a:p>
            <a:pPr lvl="1"/>
            <a:r>
              <a:rPr lang="en-US" dirty="0"/>
              <a:t>Any process through pipe name</a:t>
            </a:r>
          </a:p>
          <a:p>
            <a:pPr lvl="1"/>
            <a:r>
              <a:rPr lang="en-US" dirty="0"/>
              <a:t>Several processes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611C3-1EB9-4CEA-B21C-F4FC87AF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07" y="3429000"/>
            <a:ext cx="3889585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93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105F-9B1F-4FF4-BCD7-02CB1C5A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Communication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A99CF-10EB-4148-8FE5-5FB0DF70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Sockets</a:t>
            </a:r>
          </a:p>
          <a:p>
            <a:r>
              <a:rPr lang="en-US" dirty="0"/>
              <a:t>Remote Procedure Calls</a:t>
            </a:r>
          </a:p>
        </p:txBody>
      </p:sp>
    </p:spTree>
    <p:extLst>
      <p:ext uri="{BB962C8B-B14F-4D97-AF65-F5344CB8AC3E}">
        <p14:creationId xmlns:p14="http://schemas.microsoft.com/office/powerpoint/2010/main" val="159760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6C61-CCBE-4F72-B347-4755523B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Communication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F174FEF1-6F18-4303-BB8A-39397A1BC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292" y="1690688"/>
            <a:ext cx="5011482" cy="3413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95F3DB-B631-45E9-B82F-C061DE4120EB}"/>
              </a:ext>
            </a:extLst>
          </p:cNvPr>
          <p:cNvSpPr/>
          <p:nvPr/>
        </p:nvSpPr>
        <p:spPr>
          <a:xfrm>
            <a:off x="4938292" y="546048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00FF"/>
                </a:solidFill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9E08D4-6C7F-4706-98A9-2AB0DC0D3FBF}"/>
              </a:ext>
            </a:extLst>
          </p:cNvPr>
          <p:cNvSpPr txBox="1">
            <a:spLocks noChangeArrowheads="1"/>
          </p:cNvSpPr>
          <p:nvPr/>
        </p:nvSpPr>
        <p:spPr>
          <a:xfrm>
            <a:off x="740463" y="1576093"/>
            <a:ext cx="3419475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Connection-oriented (TCP)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Connectionless (UDP)</a:t>
            </a:r>
          </a:p>
          <a:p>
            <a:pPr lvl="1"/>
            <a:r>
              <a:rPr lang="en-US" altLang="en-US" sz="2000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sz="2000" dirty="0"/>
              <a:t> class– data can be sent to multiple recipients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668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431F-D2F2-4BD7-B2B4-B5032E24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Remote Procedure </a:t>
            </a:r>
            <a:r>
              <a:rPr lang="en-US" dirty="0"/>
              <a:t>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55D14-7A5D-4D73-B3B3-0FA98A4F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Semantics: a client to invoke a procedure on a remote host as it would a procedure locally</a:t>
            </a:r>
          </a:p>
          <a:p>
            <a:r>
              <a:rPr lang="en-US" dirty="0"/>
              <a:t>How to find the remote process?</a:t>
            </a:r>
          </a:p>
          <a:p>
            <a:pPr lvl="1"/>
            <a:r>
              <a:rPr lang="en-US" dirty="0"/>
              <a:t>Matchmaker service on a fixed port</a:t>
            </a:r>
          </a:p>
          <a:p>
            <a:r>
              <a:rPr lang="en-US" dirty="0"/>
              <a:t>How to pass parameters?</a:t>
            </a:r>
          </a:p>
          <a:p>
            <a:pPr lvl="1"/>
            <a:r>
              <a:rPr lang="en-US" dirty="0"/>
              <a:t>Client and Server Stubs and Marshalling</a:t>
            </a:r>
          </a:p>
          <a:p>
            <a:pPr lvl="1"/>
            <a:endParaRPr lang="en-US" dirty="0"/>
          </a:p>
          <a:p>
            <a:r>
              <a:rPr lang="en-US" dirty="0"/>
              <a:t>Communication Failure?</a:t>
            </a:r>
          </a:p>
          <a:p>
            <a:pPr lvl="1"/>
            <a:r>
              <a:rPr lang="en-US" dirty="0"/>
              <a:t>at most once – history info</a:t>
            </a:r>
          </a:p>
          <a:p>
            <a:pPr lvl="1"/>
            <a:r>
              <a:rPr lang="en-US" dirty="0"/>
              <a:t>exact once – ack and resend</a:t>
            </a:r>
          </a:p>
        </p:txBody>
      </p:sp>
      <p:pic>
        <p:nvPicPr>
          <p:cNvPr id="4" name="Picture 2" descr="Image result for DATEPROG remote procedure call">
            <a:extLst>
              <a:ext uri="{FF2B5EF4-FFF2-40B4-BE49-F238E27FC236}">
                <a16:creationId xmlns:a16="http://schemas.microsoft.com/office/drawing/2014/main" id="{D384696B-1A40-4CB8-A289-F5589901E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2689160"/>
            <a:ext cx="37242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15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2C8A-27FF-4F24-AA3E-3EF63F9E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Running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06DEE7C6-DB39-4FA4-B488-3D893D457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516" y="1778491"/>
            <a:ext cx="3616137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959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401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Monotype Sorts</vt:lpstr>
      <vt:lpstr>Office Theme</vt:lpstr>
      <vt:lpstr>Processes Lesson 3 Interprocess Communications Examples</vt:lpstr>
      <vt:lpstr>Interprocess Communication Examples</vt:lpstr>
      <vt:lpstr>POSIX Shared Memory</vt:lpstr>
      <vt:lpstr>POSIX Producer</vt:lpstr>
      <vt:lpstr>POSIX Consumer</vt:lpstr>
      <vt:lpstr>Mach Message Passing</vt:lpstr>
      <vt:lpstr>Mach Message Passing</vt:lpstr>
      <vt:lpstr>Window Message Passing</vt:lpstr>
      <vt:lpstr>Pipes</vt:lpstr>
      <vt:lpstr>Client-Server Communication </vt:lpstr>
      <vt:lpstr>Socket Communication</vt:lpstr>
      <vt:lpstr>Remote Procedure Call</vt:lpstr>
      <vt:lpstr>RPC Running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Processes Lesson 2</dc:title>
  <dc:creator>David Liu</dc:creator>
  <cp:lastModifiedBy>David Liu</cp:lastModifiedBy>
  <cp:revision>39</cp:revision>
  <dcterms:created xsi:type="dcterms:W3CDTF">2021-09-20T13:52:43Z</dcterms:created>
  <dcterms:modified xsi:type="dcterms:W3CDTF">2023-01-26T17:34:25Z</dcterms:modified>
</cp:coreProperties>
</file>