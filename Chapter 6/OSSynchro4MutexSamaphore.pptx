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350" r:id="rId4"/>
    <p:sldId id="432" r:id="rId5"/>
    <p:sldId id="436" r:id="rId6"/>
    <p:sldId id="44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7896CD-963B-44A6-A98E-A8BEACB8A82A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A2F98-EC12-4112-84ED-7FAB882E7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8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F1848EFA-F1F8-4E55-9AF8-FDE7F31F9C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B93A3B6-AB82-4831-97E8-AD11354644D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34CE0837-38B3-441B-97A7-7C66972BD8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798369D-3FFB-41A0-8B6A-C5D68CF4A7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13534FD-5D13-40DC-AF55-7192765915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4552011-73B1-4DC4-B94B-9A092B611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13534FD-5D13-40DC-AF55-7192765915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4552011-73B1-4DC4-B94B-9A092B611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35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CCC86-716E-4D27-A15F-F1599E74F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CFF6A-C6D7-499E-BFA3-A4D1B32318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119D6-5DF1-41B7-82A0-3ACF0FB5D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41570-2B5F-4551-AF58-6B9A64C98537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1926E-6AB4-4742-9779-CAF822C13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B0333-C2E9-472D-8FD9-118DA407D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BC12-E8F2-4DC3-A026-8ABE7C7DA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5CF63-E124-4F02-8CA6-5E3EA7690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4601-8F69-41AB-A8F2-27A350E2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4849-3FB3-4EF6-8753-DE975140FE3D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E76AB-165C-4C3F-BCF2-BBC3FDB89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D80F8-C5FC-4678-A0EB-035B0387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088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C615-CEE7-4B51-9ACF-ACB013F9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DB7F8-24EC-436D-AB7B-894FFC326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76EF2-95CE-4D86-ADDA-00A08AAC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77BA9-C914-46CE-834A-F9D4AC2B3294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5405-5412-4F73-952D-809F1598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4433-18AB-4040-A97F-2264ACEF3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505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F66AB-EC90-4992-8BCC-A4B47228C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911E-D031-432B-BCE5-7EE9D40C8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42A70-07D0-478F-9C2A-CCE6292A5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0EE0E-51AF-4BC5-B278-01743B296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4E0-61FF-4CB6-BE2E-1925B5564EF1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BBBC3-813A-4172-BE85-C553ED33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DA920A-5428-4743-916D-6E89BCAF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1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E2D68-C4D3-4AFF-B33C-A2D7EB81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41F7D-5506-4F01-8B6A-BDFBF0430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1ADF5-2884-4165-9D2A-828BB8FBF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1B96D-90D4-41E7-96B7-EDF4F2B48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127AA-E660-4342-BE65-674B710DB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D66DE-5D51-4B81-A0B1-674D58BBB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EA7D2-CD69-4920-A1C6-73753E5EAA2D}" type="datetime1">
              <a:rPr lang="en-US" smtClean="0"/>
              <a:t>10/3/2024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C207C-DC30-4A6B-A649-FAACA6E9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2B45A4-0256-48FC-827B-45F1F27E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3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DB4AA-5096-4261-AF44-9D25355FD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3A14B-8C01-412A-97FB-0BA1A35E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19081-2A38-42B2-AEAE-E0EBCCBC592A}" type="datetime1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F5E68-E7AB-45F2-B3FA-CA3F4E502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CE5DC8-C571-488A-994B-225C7A60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19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D27FC-5556-43BE-B6E3-93A7EABBB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36C58E-F757-4EC9-BD7F-F72FE2872240}" type="datetime1">
              <a:rPr lang="en-US" smtClean="0"/>
              <a:t>10/3/2024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8D3E0-E9DD-4C49-AAF5-DC05FFAB8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37DC5-DF4E-4099-8B92-F8A87070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7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A911-DCFF-4066-82BE-1E1734A76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9FFA-F1E8-44F7-B74D-C82529B0C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E9C6D-8EEB-45D9-90DA-CB0447B6A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F1ECE-E431-457C-AFDB-3E096EE74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216EF-14A2-4401-B929-57E2A29BD8A6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73E2D-1FCA-46FF-821F-657CD31F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BA89A-7332-4A93-A112-E32C4B90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639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B341A-1DCD-4CA8-9E6F-F02A17AB8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F010DE-6056-4310-9128-5B2E2CAEE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78521-2651-45AC-931B-B1D325DD5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A61B9-0F8C-49B0-B34B-F1D19960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84081-3554-4AB6-8620-F39FD3C887F0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1E411-60FC-47C1-B570-B79DA9D6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B172F-E22B-4ECB-B767-8610BE04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09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65AA-397B-46B8-B002-F0B9293F4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5DBD8-4593-4D18-B833-96DB9286E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ADCFF-16EF-4F0F-97D9-9B6282F8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CD856-D33E-4D84-8028-75C90C26C578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F01C2-DC73-4EED-A64D-FA40F8AD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022C77-78A0-4C8A-8A24-90CB2F53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6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5DF77-3402-424D-B5D8-A86302E8A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A81D9-2A1A-46C6-8573-836134A02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34C5F-321A-42CC-842D-B0D83D03A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D6217-33EA-4309-95E3-50CCB35B0D06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23D48-4CB1-4997-81A9-36DD6619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8CD5F-628D-47FD-8291-C85D1E19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8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AA640-9769-4625-9BED-F49DD091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6B236C-AF93-4504-AE25-7F0E9AF5C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0EF6D-E970-49FF-8731-C5D7719C4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68525-6805-442B-9DBD-B7E04B6FEC2B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2EEC5-9299-4806-A515-CC05FF081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915A5-0DF0-478C-9987-A4691BC74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FF232-EDA1-4D4F-B60A-C9C5A98020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7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D57C-7A2C-414C-8E1B-F87EA8690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Synchronization</a:t>
            </a:r>
            <a:br>
              <a:rPr lang="en-US" dirty="0"/>
            </a:br>
            <a:r>
              <a:rPr lang="en-US" dirty="0"/>
              <a:t>Lesson 4</a:t>
            </a:r>
            <a:br>
              <a:rPr lang="en-US" dirty="0"/>
            </a:br>
            <a:r>
              <a:rPr lang="en-US" dirty="0"/>
              <a:t>Mutex Locks &amp; Semaphores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CC952D-C4E7-4C0C-A708-3DEDD82BA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39868-2C33-4DE1-87B2-539F2A9EE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65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0589-41D5-402E-AAD3-51281A3F6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Software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75277-C803-44DB-A424-919E109AF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Mutex locks</a:t>
            </a:r>
          </a:p>
          <a:p>
            <a:r>
              <a:rPr lang="en-US" dirty="0"/>
              <a:t>Semaphores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71A72-2B4F-47F6-A98A-2AF3329A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C166CAE3-8D5D-402F-A9D2-011EBDED9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Mutex Locks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D6AFB1E-6E53-40CD-8BA1-4F980377DF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Protect a critical section  by </a:t>
            </a:r>
          </a:p>
          <a:p>
            <a:pPr lvl="1"/>
            <a:r>
              <a:rPr lang="en-US" altLang="en-US" dirty="0"/>
              <a:t>first 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acquire()</a:t>
            </a:r>
            <a:r>
              <a:rPr lang="en-US" altLang="en-US" sz="1600" dirty="0"/>
              <a:t> </a:t>
            </a:r>
            <a:r>
              <a:rPr lang="en-US" altLang="en-US" dirty="0"/>
              <a:t>a lock </a:t>
            </a:r>
          </a:p>
          <a:p>
            <a:pPr lvl="1"/>
            <a:r>
              <a:rPr lang="en-US" altLang="en-US" dirty="0"/>
              <a:t>then </a:t>
            </a:r>
            <a:r>
              <a:rPr lang="en-US" altLang="en-US" sz="1600" b="1" dirty="0">
                <a:latin typeface="Courier New" panose="02070309020205020404" pitchFamily="49" charset="0"/>
              </a:rPr>
              <a:t>release()</a:t>
            </a:r>
            <a:r>
              <a:rPr lang="en-US" altLang="en-US" sz="1600" dirty="0"/>
              <a:t> </a:t>
            </a:r>
            <a:r>
              <a:rPr lang="en-US" altLang="en-US" dirty="0"/>
              <a:t>the lock</a:t>
            </a:r>
          </a:p>
          <a:p>
            <a:pPr marL="457200" lvl="1" indent="0"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Calls to </a:t>
            </a:r>
            <a:r>
              <a:rPr lang="en-US" altLang="en-US" sz="2000" b="1" dirty="0">
                <a:latin typeface="Courier New" panose="02070309020205020404" pitchFamily="49" charset="0"/>
              </a:rPr>
              <a:t>acquire()</a:t>
            </a:r>
            <a:r>
              <a:rPr lang="en-US" altLang="en-US" sz="2000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latin typeface="Courier New" panose="02070309020205020404" pitchFamily="49" charset="0"/>
              </a:rPr>
              <a:t>release()</a:t>
            </a:r>
            <a:r>
              <a:rPr lang="en-US" altLang="en-US" sz="2000" dirty="0"/>
              <a:t> </a:t>
            </a:r>
            <a:r>
              <a:rPr lang="en-US" altLang="en-US" dirty="0"/>
              <a:t>must be </a:t>
            </a:r>
            <a:r>
              <a:rPr lang="en-US" altLang="en-US" b="1" dirty="0"/>
              <a:t>atomic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Usually implemented via hardware </a:t>
            </a:r>
            <a:r>
              <a:rPr lang="en-US" altLang="en-US" b="1" dirty="0"/>
              <a:t>atomic</a:t>
            </a:r>
            <a:r>
              <a:rPr lang="en-US" altLang="en-US" dirty="0"/>
              <a:t> instructions such as compare-and-swap.</a:t>
            </a: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But this solution requires </a:t>
            </a:r>
            <a:r>
              <a:rPr lang="en-US" altLang="en-US" b="1" dirty="0">
                <a:solidFill>
                  <a:srgbClr val="3366FF"/>
                </a:solidFill>
              </a:rPr>
              <a:t>busy waiting</a:t>
            </a:r>
          </a:p>
          <a:p>
            <a:pPr lvl="1">
              <a:lnSpc>
                <a:spcPct val="90000"/>
              </a:lnSpc>
              <a:buFont typeface="Monotype Sorts" pitchFamily="-84" charset="2"/>
              <a:buChar char="n"/>
            </a:pPr>
            <a:r>
              <a:rPr lang="en-US" altLang="en-US" dirty="0"/>
              <a:t>This lock therefore called a </a:t>
            </a:r>
            <a:r>
              <a:rPr lang="en-US" altLang="en-US" b="1" dirty="0">
                <a:solidFill>
                  <a:srgbClr val="3366FF"/>
                </a:solidFill>
              </a:rPr>
              <a:t>spinlock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8627C5-9F6F-4A84-AC29-E463D230C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835CCB-AC94-48CF-9C27-C9E4943A4791}"/>
              </a:ext>
            </a:extLst>
          </p:cNvPr>
          <p:cNvSpPr/>
          <p:nvPr/>
        </p:nvSpPr>
        <p:spPr bwMode="auto">
          <a:xfrm>
            <a:off x="2180918" y="2458929"/>
            <a:ext cx="2024063" cy="3762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CD07E-83E2-47BC-9EA7-CC4A48D311BB}"/>
              </a:ext>
            </a:extLst>
          </p:cNvPr>
          <p:cNvSpPr/>
          <p:nvPr/>
        </p:nvSpPr>
        <p:spPr bwMode="auto">
          <a:xfrm>
            <a:off x="2101019" y="3504406"/>
            <a:ext cx="2024063" cy="3460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57348" name="Title 1">
            <a:extLst>
              <a:ext uri="{FF2B5EF4-FFF2-40B4-BE49-F238E27FC236}">
                <a16:creationId xmlns:a16="http://schemas.microsoft.com/office/drawing/2014/main" id="{00D3756D-68CC-4960-A5ED-42F738AEA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Lock for Critical-section Problem</a:t>
            </a:r>
            <a:endParaRPr lang="en-US" altLang="en-US" b="1" dirty="0"/>
          </a:p>
        </p:txBody>
      </p:sp>
      <p:sp>
        <p:nvSpPr>
          <p:cNvPr id="57349" name="Rectangle 2">
            <a:extLst>
              <a:ext uri="{FF2B5EF4-FFF2-40B4-BE49-F238E27FC236}">
                <a16:creationId xmlns:a16="http://schemas.microsoft.com/office/drawing/2014/main" id="{FC1E5C28-E6D0-4DD1-A262-481AE12E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843" y="2136338"/>
            <a:ext cx="666565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acquire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critical section 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release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remainder section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BEE23C-DFBC-4C5D-B75A-084FF6CE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A94C3BF0-AE40-4D80-BF4D-2EEE13A1C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Mutex Lock Definitions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381271EA-EEF6-483C-84B8-86C3BC4968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5522843" cy="4246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Definitions</a:t>
            </a:r>
          </a:p>
          <a:p>
            <a:pPr marL="0" indent="0"/>
            <a:r>
              <a:rPr lang="en-US" altLang="en-US" sz="2000" b="1" dirty="0">
                <a:latin typeface="Courier New" panose="02070309020205020404" pitchFamily="49" charset="0"/>
              </a:rPr>
              <a:t>  acquire() {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r>
              <a:rPr lang="en-US" altLang="en-US" sz="2000" b="1" dirty="0">
                <a:latin typeface="Courier New" panose="02070309020205020404" pitchFamily="49" charset="0"/>
              </a:rPr>
              <a:t>       while (!available)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   ; /* busy wait */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available = false;;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} </a:t>
            </a:r>
            <a:br>
              <a:rPr lang="en-US" altLang="en-US" sz="2000" b="1" dirty="0">
                <a:latin typeface="Courier New" panose="02070309020205020404" pitchFamily="49" charset="0"/>
              </a:rPr>
            </a:br>
            <a:endParaRPr lang="en-US" altLang="en-US" sz="2000" b="1" dirty="0">
              <a:latin typeface="Courier New" panose="02070309020205020404" pitchFamily="49" charset="0"/>
            </a:endParaRPr>
          </a:p>
          <a:p>
            <a:pPr marL="0" indent="0"/>
            <a:r>
              <a:rPr lang="en-US" altLang="en-US" sz="2000" b="1" dirty="0">
                <a:latin typeface="Courier New" panose="02070309020205020404" pitchFamily="49" charset="0"/>
              </a:rPr>
              <a:t>   release() {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   available = true; </a:t>
            </a:r>
          </a:p>
          <a:p>
            <a:pPr marL="0" indent="0"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    } </a:t>
            </a:r>
          </a:p>
          <a:p>
            <a:pPr marL="0" indent="0">
              <a:buNone/>
            </a:pPr>
            <a:endParaRPr lang="en-US" altLang="en-US" sz="14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dirty="0"/>
          </a:p>
        </p:txBody>
      </p:sp>
      <p:sp>
        <p:nvSpPr>
          <p:cNvPr id="59396" name="TextBox 5">
            <a:extLst>
              <a:ext uri="{FF2B5EF4-FFF2-40B4-BE49-F238E27FC236}">
                <a16:creationId xmlns:a16="http://schemas.microsoft.com/office/drawing/2014/main" id="{2FF10191-C604-412F-95D6-D353E0F51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1593" y="1991286"/>
            <a:ext cx="5340626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/>
              <a:t>These two functions must be implemented atomically. Both </a:t>
            </a:r>
          </a:p>
          <a:p>
            <a:endParaRPr lang="en-US" alt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test-and-set and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compare-and-swap</a:t>
            </a:r>
          </a:p>
          <a:p>
            <a:pPr lvl="1"/>
            <a:endParaRPr lang="en-US" altLang="en-US" sz="2800" dirty="0"/>
          </a:p>
          <a:p>
            <a:r>
              <a:rPr lang="en-US" altLang="en-US" sz="2800" dirty="0"/>
              <a:t>can be used to implement these functions.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DDBD4B-F634-4EB2-B2F1-20FD8ADF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835CCB-AC94-48CF-9C27-C9E4943A4791}"/>
              </a:ext>
            </a:extLst>
          </p:cNvPr>
          <p:cNvSpPr/>
          <p:nvPr/>
        </p:nvSpPr>
        <p:spPr bwMode="auto">
          <a:xfrm>
            <a:off x="2180918" y="2458929"/>
            <a:ext cx="2024063" cy="37623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ACD07E-83E2-47BC-9EA7-CC4A48D311BB}"/>
              </a:ext>
            </a:extLst>
          </p:cNvPr>
          <p:cNvSpPr/>
          <p:nvPr/>
        </p:nvSpPr>
        <p:spPr bwMode="auto">
          <a:xfrm>
            <a:off x="2101019" y="3504406"/>
            <a:ext cx="2024063" cy="3460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lIns="64002" tIns="32001" rIns="64002" bIns="32001"/>
          <a:lstStyle/>
          <a:p>
            <a:pPr>
              <a:defRPr/>
            </a:pPr>
            <a:endParaRPr lang="en-US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57348" name="Title 1">
            <a:extLst>
              <a:ext uri="{FF2B5EF4-FFF2-40B4-BE49-F238E27FC236}">
                <a16:creationId xmlns:a16="http://schemas.microsoft.com/office/drawing/2014/main" id="{00D3756D-68CC-4960-A5ED-42F738AEA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Lock for Critical-section Problem</a:t>
            </a:r>
            <a:endParaRPr lang="en-US" altLang="en-US" b="1" dirty="0"/>
          </a:p>
        </p:txBody>
      </p:sp>
      <p:sp>
        <p:nvSpPr>
          <p:cNvPr id="57349" name="Rectangle 2">
            <a:extLst>
              <a:ext uri="{FF2B5EF4-FFF2-40B4-BE49-F238E27FC236}">
                <a16:creationId xmlns:a16="http://schemas.microsoft.com/office/drawing/2014/main" id="{FC1E5C28-E6D0-4DD1-A262-481AE12ED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843" y="2136338"/>
            <a:ext cx="666565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acquire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	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critical section 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release lock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remainder section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BEE23C-DFBC-4C5D-B75A-084FF6CE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878E07-D81C-473A-9AA1-23E94553C3B6}"/>
              </a:ext>
            </a:extLst>
          </p:cNvPr>
          <p:cNvSpPr/>
          <p:nvPr/>
        </p:nvSpPr>
        <p:spPr>
          <a:xfrm>
            <a:off x="5790282" y="2458929"/>
            <a:ext cx="6112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ourier New" panose="02070309020205020404" pitchFamily="49" charset="0"/>
              </a:rPr>
              <a:t>while (</a:t>
            </a:r>
            <a:r>
              <a:rPr lang="en-US" altLang="en-US" b="1" dirty="0" err="1">
                <a:latin typeface="Courier New" panose="02070309020205020404" pitchFamily="49" charset="0"/>
              </a:rPr>
              <a:t>compare_and_swap</a:t>
            </a:r>
            <a:r>
              <a:rPr lang="en-US" altLang="en-US" b="1" dirty="0">
                <a:latin typeface="Courier New" panose="02070309020205020404" pitchFamily="49" charset="0"/>
              </a:rPr>
              <a:t>(&amp;lock, 0, 1) != 0)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248EDF-9FB2-40B5-BC56-92C8BE8A501F}"/>
              </a:ext>
            </a:extLst>
          </p:cNvPr>
          <p:cNvSpPr/>
          <p:nvPr/>
        </p:nvSpPr>
        <p:spPr>
          <a:xfrm>
            <a:off x="6503672" y="3507489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ourier New" panose="02070309020205020404" pitchFamily="49" charset="0"/>
              </a:rPr>
              <a:t>lock = 0;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55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3CA4E-93B7-4325-B9C9-E03D44D15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DC6C6-DD8A-4745-BD64-BE58A0F51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039"/>
            <a:ext cx="10515600" cy="5116836"/>
          </a:xfrm>
        </p:spPr>
        <p:txBody>
          <a:bodyPr/>
          <a:lstStyle/>
          <a:p>
            <a:r>
              <a:rPr lang="en-US" dirty="0"/>
              <a:t>A process “spins” or loops continuously in the call to acquire() for a lock</a:t>
            </a:r>
          </a:p>
          <a:p>
            <a:r>
              <a:rPr lang="en-US" dirty="0"/>
              <a:t>Issues:</a:t>
            </a:r>
          </a:p>
          <a:p>
            <a:pPr lvl="1"/>
            <a:r>
              <a:rPr lang="en-US" dirty="0"/>
              <a:t>A single CPU core: waste of CPU cycles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Sleep and wake up (later in Chapter)</a:t>
            </a:r>
          </a:p>
          <a:p>
            <a:r>
              <a:rPr lang="en-US" dirty="0"/>
              <a:t>Advantage</a:t>
            </a:r>
          </a:p>
          <a:p>
            <a:pPr lvl="1"/>
            <a:r>
              <a:rPr lang="en-US" dirty="0"/>
              <a:t>No context switch while waiting</a:t>
            </a:r>
          </a:p>
          <a:p>
            <a:r>
              <a:rPr lang="en-US" dirty="0">
                <a:solidFill>
                  <a:srgbClr val="FF0000"/>
                </a:solidFill>
              </a:rPr>
              <a:t>Then when we should use a “spinlock”?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9F55F-5023-4245-BE09-579D4A1C5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6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89F9C-177B-4436-87E1-34B948EF1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CE6FC-4043-4136-8602-13A466F3D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Semaphore </a:t>
            </a:r>
            <a:r>
              <a:rPr lang="en-US" altLang="en-US" b="1" i="1" dirty="0"/>
              <a:t>S</a:t>
            </a:r>
            <a:r>
              <a:rPr lang="en-US" altLang="en-US" dirty="0"/>
              <a:t> – integer variable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altLang="en-US" dirty="0"/>
              <a:t>Can only be accessed via two indivisible (</a:t>
            </a:r>
            <a:r>
              <a:rPr lang="en-US" altLang="en-US" b="1" dirty="0"/>
              <a:t>atomic</a:t>
            </a:r>
            <a:r>
              <a:rPr lang="en-US" altLang="en-US" dirty="0"/>
              <a:t>) operations</a:t>
            </a:r>
          </a:p>
          <a:p>
            <a:pPr lvl="2"/>
            <a:r>
              <a:rPr lang="en-US" altLang="en-US" dirty="0"/>
              <a:t>wait() and signal()</a:t>
            </a:r>
          </a:p>
          <a:p>
            <a:pPr marL="914400" lvl="2" indent="0">
              <a:buNone/>
            </a:pPr>
            <a:endParaRPr lang="en-US" altLang="en-US" dirty="0"/>
          </a:p>
          <a:p>
            <a:pPr marL="914400" lvl="2" indent="0">
              <a:buNone/>
            </a:pPr>
            <a:endParaRPr lang="en-US" altLang="en-US" dirty="0"/>
          </a:p>
          <a:p>
            <a:pPr marL="914400" lvl="2" indent="0">
              <a:buNone/>
            </a:pPr>
            <a:endParaRPr lang="en-US" altLang="en-US" dirty="0"/>
          </a:p>
          <a:p>
            <a:pPr marL="914400" lvl="2" indent="0">
              <a:buNone/>
            </a:pPr>
            <a:endParaRPr lang="en-US" altLang="en-US" dirty="0"/>
          </a:p>
          <a:p>
            <a:pPr marL="914400" lvl="2" indent="0">
              <a:buNone/>
            </a:pPr>
            <a:endParaRPr lang="en-US" altLang="en-US" dirty="0"/>
          </a:p>
          <a:p>
            <a:r>
              <a:rPr lang="en-US" altLang="en-US" dirty="0"/>
              <a:t>Two types</a:t>
            </a:r>
          </a:p>
          <a:p>
            <a:pPr lvl="1"/>
            <a:r>
              <a:rPr lang="en-US" altLang="en-US" dirty="0"/>
              <a:t>Counting semaphore</a:t>
            </a:r>
          </a:p>
          <a:p>
            <a:pPr lvl="1"/>
            <a:r>
              <a:rPr lang="en-US" altLang="en-US" dirty="0"/>
              <a:t>Binary semaphore  (</a:t>
            </a:r>
            <a:r>
              <a:rPr lang="en-US" altLang="en-US" dirty="0">
                <a:solidFill>
                  <a:srgbClr val="FF0000"/>
                </a:solidFill>
              </a:rPr>
              <a:t>mutex lock?</a:t>
            </a:r>
            <a:r>
              <a:rPr lang="en-US" altLang="en-US" dirty="0"/>
              <a:t>)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A873A-50C4-4DCE-AADA-1530441A3C46}"/>
              </a:ext>
            </a:extLst>
          </p:cNvPr>
          <p:cNvSpPr txBox="1"/>
          <p:nvPr/>
        </p:nvSpPr>
        <p:spPr>
          <a:xfrm>
            <a:off x="1296139" y="3508899"/>
            <a:ext cx="3238387" cy="1234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wait(S)</a:t>
            </a: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{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while (S &lt;= 0)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; // busy wait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    S--;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81DB4-66A2-49B3-8899-04843E819319}"/>
              </a:ext>
            </a:extLst>
          </p:cNvPr>
          <p:cNvSpPr txBox="1"/>
          <p:nvPr/>
        </p:nvSpPr>
        <p:spPr>
          <a:xfrm>
            <a:off x="5443490" y="3508899"/>
            <a:ext cx="2300630" cy="1067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signal(S) {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    S++;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b="1" dirty="0">
              <a:latin typeface="Courier New" panose="02070309020205020404" pitchFamily="49" charset="0"/>
              <a:sym typeface="Symbol" panose="05050102010706020507" pitchFamily="18" charset="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05962-0513-4420-88E0-AD876772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5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99599-F1BD-4105-AAA7-1341653F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EFF37-FF84-4EB6-93B6-3FFCE2D87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Solve Synchronization problems </a:t>
            </a:r>
          </a:p>
          <a:p>
            <a:pPr lvl="1"/>
            <a:r>
              <a:rPr lang="en-US" dirty="0"/>
              <a:t>Control access to limited N instances of a resource</a:t>
            </a:r>
          </a:p>
          <a:p>
            <a:pPr lvl="1"/>
            <a:r>
              <a:rPr lang="en-US" dirty="0"/>
              <a:t>semaphore S initialized to N</a:t>
            </a:r>
          </a:p>
          <a:p>
            <a:pPr lvl="1"/>
            <a:r>
              <a:rPr lang="en-US" dirty="0"/>
              <a:t>More than critical section access</a:t>
            </a:r>
          </a:p>
          <a:p>
            <a:r>
              <a:rPr lang="en-US" dirty="0"/>
              <a:t>Example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684574-1E26-4AFE-8B35-1920497AE55F}"/>
              </a:ext>
            </a:extLst>
          </p:cNvPr>
          <p:cNvSpPr txBox="1"/>
          <p:nvPr/>
        </p:nvSpPr>
        <p:spPr>
          <a:xfrm>
            <a:off x="2068496" y="4332342"/>
            <a:ext cx="5157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Process P1: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1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;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   signal(synch);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3351C-3555-446B-A656-B0AC82442731}"/>
              </a:ext>
            </a:extLst>
          </p:cNvPr>
          <p:cNvSpPr txBox="1"/>
          <p:nvPr/>
        </p:nvSpPr>
        <p:spPr>
          <a:xfrm>
            <a:off x="2068496" y="5413434"/>
            <a:ext cx="51579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Process P2:</a:t>
            </a: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   wait(synch)</a:t>
            </a:r>
            <a:r>
              <a:rPr lang="en-US" altLang="en-US" sz="1400" dirty="0">
                <a:solidFill>
                  <a:srgbClr val="0000FF"/>
                </a:solidFill>
                <a:sym typeface="MT Extra" panose="05050102010205020202" pitchFamily="18" charset="2"/>
              </a:rPr>
              <a:t>;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  <a:sym typeface="MT Extra" panose="05050102010205020202" pitchFamily="18" charset="2"/>
            </a:endParaRPr>
          </a:p>
          <a:p>
            <a:pPr lvl="1">
              <a:buFont typeface="Monotype Sorts" pitchFamily="-84" charset="2"/>
              <a:buNone/>
              <a:tabLst>
                <a:tab pos="2001838" algn="ctr"/>
                <a:tab pos="4513263" algn="ctr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   S</a:t>
            </a:r>
            <a:r>
              <a:rPr lang="en-US" altLang="en-US" sz="1600" b="1" baseline="-25000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2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sym typeface="MT Extra" panose="05050102010205020202" pitchFamily="18" charset="2"/>
              </a:rPr>
              <a:t>;</a:t>
            </a:r>
            <a:endParaRPr lang="en-US" altLang="en-US" sz="1600" dirty="0">
              <a:sym typeface="MT Extra" panose="05050102010205020202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BD253-4AAE-46BC-8E81-485F4E76A1BE}"/>
              </a:ext>
            </a:extLst>
          </p:cNvPr>
          <p:cNvSpPr txBox="1"/>
          <p:nvPr/>
        </p:nvSpPr>
        <p:spPr>
          <a:xfrm>
            <a:off x="2501170" y="3759081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/* initially</a:t>
            </a:r>
          </a:p>
          <a:p>
            <a:r>
              <a:rPr lang="en-US" dirty="0"/>
              <a:t>synch = 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85FD-7E7E-462D-A786-DCFCA406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23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BF7B-6F4A-4787-8C51-B9A1A314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BD0D7-BAFE-4586-B96B-815459CB3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 1: </a:t>
            </a:r>
          </a:p>
          <a:p>
            <a:pPr marL="0" indent="0">
              <a:buNone/>
            </a:pPr>
            <a:r>
              <a:rPr lang="en-US" dirty="0"/>
              <a:t>      use </a:t>
            </a:r>
            <a:r>
              <a:rPr lang="en-US" b="1" dirty="0"/>
              <a:t>atomic</a:t>
            </a:r>
            <a:r>
              <a:rPr lang="en-US" dirty="0"/>
              <a:t> operation over semaphore S </a:t>
            </a:r>
          </a:p>
          <a:p>
            <a:pPr marL="0" indent="0">
              <a:buNone/>
            </a:pPr>
            <a:r>
              <a:rPr lang="en-US" dirty="0"/>
              <a:t>       for wait() and signal() operations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Method 2:</a:t>
            </a:r>
          </a:p>
          <a:p>
            <a:pPr lvl="1"/>
            <a:r>
              <a:rPr lang="en-US" dirty="0"/>
              <a:t>No busy waiting, no “spinning”</a:t>
            </a:r>
          </a:p>
          <a:p>
            <a:pPr lvl="1"/>
            <a:r>
              <a:rPr lang="en-US" dirty="0"/>
              <a:t>Use a waiting queue instead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CFDD2-617E-491B-B7F4-D599B46A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38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454A-2628-471C-AFB6-E795349E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with Waiting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C4A7F-75E8-408F-B7F2-1CB9242D1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Semaphore Definition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Operations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Sleep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place the process invoking the operation on the appropriate waiting queue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wakeup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remove one of processes in the waiting queue and place it in the ready queue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DA63A-C24D-4812-A4EB-8F1BB7BD8C12}"/>
              </a:ext>
            </a:extLst>
          </p:cNvPr>
          <p:cNvSpPr txBox="1"/>
          <p:nvPr/>
        </p:nvSpPr>
        <p:spPr>
          <a:xfrm>
            <a:off x="2583402" y="2361837"/>
            <a:ext cx="68980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b="1" dirty="0">
                <a:latin typeface="Courier New" panose="02070309020205020404" pitchFamily="49" charset="0"/>
              </a:rPr>
              <a:t>typedef struct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	int value;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	struct process *list;  /* waiting list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} semaphore;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17D9C-21CB-4440-8CA5-DB4680A3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6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EC62-3F6D-4683-8915-B00B80BE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Busy Waiting: Wait and Signal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F54D6E0-FAB5-4A3C-8160-46359FBB124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31668" y="2349408"/>
            <a:ext cx="5181600" cy="2648721"/>
          </a:xfrm>
        </p:spPr>
        <p:txBody>
          <a:bodyPr>
            <a:normAutofit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wait(semaphore *S)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S-&gt;value--;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if (S-&gt;value &lt; 0) 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add this process to S-&gt;list;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sleep();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</a:p>
          <a:p>
            <a:pPr marL="0" indent="0">
              <a:buFont typeface="Monotype Sorts" pitchFamily="-84" charset="2"/>
              <a:buNone/>
            </a:pPr>
            <a:endParaRPr lang="en-US" altLang="en-US" sz="1600" b="1" dirty="0">
              <a:latin typeface="Courier New" panose="02070309020205020404" pitchFamily="49" charset="0"/>
            </a:endParaRPr>
          </a:p>
          <a:p>
            <a:pPr marL="0" indent="0">
              <a:buFont typeface="Monotype Sorts" pitchFamily="-84" charset="2"/>
              <a:buNone/>
            </a:pPr>
            <a:endParaRPr lang="en-US" altLang="en-US" sz="1600" b="1" dirty="0">
              <a:latin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9BB2B05-7337-4E6B-AE9C-D3D3E3D4104C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72200" y="2349408"/>
            <a:ext cx="5181600" cy="2648721"/>
          </a:xfrm>
        </p:spPr>
        <p:txBody>
          <a:bodyPr>
            <a:normAutofit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signal(semaphore *S)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S-&gt;value++;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if (S-&gt;value &lt;= 0) 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remove a process P from S-&gt;list;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wakeup(P);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D808E8-B0B7-4812-A38C-147FBA61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12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B352F6-1AE7-4C55-AE34-E5B1FDC9FCC5}"/>
              </a:ext>
            </a:extLst>
          </p:cNvPr>
          <p:cNvSpPr/>
          <p:nvPr/>
        </p:nvSpPr>
        <p:spPr>
          <a:xfrm>
            <a:off x="4716925" y="5099321"/>
            <a:ext cx="164006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4000" b="1" dirty="0"/>
              <a:t>atomic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98223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142-EE3F-4FCE-8BBA-D550E19C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Semaphore Values Mean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BFEE6A-5B67-4F41-821C-5F2D1AEA0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Positive</a:t>
            </a:r>
          </a:p>
          <a:p>
            <a:endParaRPr lang="en-US" dirty="0"/>
          </a:p>
          <a:p>
            <a:r>
              <a:rPr lang="en-US" dirty="0"/>
              <a:t>Zero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Negative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9C96E-1294-4192-9C4C-6A731652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986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75614-A761-43D1-AB83-466D02E5C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Implement the Waiting List?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2E021-D485-474D-8FE5-BBC92DBD5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568A6-9649-419A-9332-406C56366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19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B1E3-B237-4DEB-BD0D-02A73700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wait ……….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000EE-494B-4D81-81D1-B60CB2D0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many steps of wait() and signal() operations, Problem?</a:t>
            </a:r>
          </a:p>
          <a:p>
            <a:r>
              <a:rPr lang="en-US" dirty="0"/>
              <a:t>Single core vs multicore</a:t>
            </a:r>
          </a:p>
          <a:p>
            <a:r>
              <a:rPr lang="en-US" dirty="0"/>
              <a:t>Really no busy waiting at all?</a:t>
            </a:r>
          </a:p>
          <a:p>
            <a:endParaRPr lang="en-US" dirty="0"/>
          </a:p>
          <a:p>
            <a:r>
              <a:rPr lang="en-US" dirty="0"/>
              <a:t>Please read Section 6.6.2 </a:t>
            </a:r>
            <a:r>
              <a:rPr lang="en-US"/>
              <a:t>Semaphore Implementation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61336-9696-4E46-AA26-98B8263A9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FF232-EDA1-4D4F-B60A-C9C5A980209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91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619</Words>
  <Application>Microsoft Office PowerPoint</Application>
  <PresentationFormat>Widescreen</PresentationFormat>
  <Paragraphs>159</Paragraphs>
  <Slides>15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Monotype Sorts</vt:lpstr>
      <vt:lpstr>Times New Roman</vt:lpstr>
      <vt:lpstr>Verdana</vt:lpstr>
      <vt:lpstr>Office Theme</vt:lpstr>
      <vt:lpstr>Process Synchronization Lesson 4 Mutex Locks &amp; Semaphores</vt:lpstr>
      <vt:lpstr>High-Level Software Tools</vt:lpstr>
      <vt:lpstr>Mutex Locks</vt:lpstr>
      <vt:lpstr>Lock for Critical-section Problem</vt:lpstr>
      <vt:lpstr>Mutex Lock Definitions</vt:lpstr>
      <vt:lpstr>Lock for Critical-section Problem</vt:lpstr>
      <vt:lpstr>Spinlock</vt:lpstr>
      <vt:lpstr>Semaphore</vt:lpstr>
      <vt:lpstr>Semaphore Usage</vt:lpstr>
      <vt:lpstr>Semaphore Implementation</vt:lpstr>
      <vt:lpstr>Semaphore with Waiting Queue</vt:lpstr>
      <vt:lpstr>No Busy Waiting: Wait and Signal </vt:lpstr>
      <vt:lpstr>What Semaphore Values Mean</vt:lpstr>
      <vt:lpstr>How to Implement the Waiting List?</vt:lpstr>
      <vt:lpstr>wait ……….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Synchronization Lesson 4 Mutex Locks &amp; Semaphores</dc:title>
  <dc:creator>David Liu</dc:creator>
  <cp:lastModifiedBy>David Liu</cp:lastModifiedBy>
  <cp:revision>30</cp:revision>
  <dcterms:created xsi:type="dcterms:W3CDTF">2021-10-19T18:31:15Z</dcterms:created>
  <dcterms:modified xsi:type="dcterms:W3CDTF">2024-10-03T15:24:29Z</dcterms:modified>
</cp:coreProperties>
</file>