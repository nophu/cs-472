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446" r:id="rId4"/>
    <p:sldId id="258" r:id="rId5"/>
    <p:sldId id="447" r:id="rId6"/>
    <p:sldId id="373" r:id="rId7"/>
    <p:sldId id="377" r:id="rId8"/>
    <p:sldId id="378" r:id="rId9"/>
    <p:sldId id="379" r:id="rId10"/>
    <p:sldId id="380" r:id="rId11"/>
    <p:sldId id="444" r:id="rId12"/>
    <p:sldId id="437" r:id="rId13"/>
    <p:sldId id="439" r:id="rId14"/>
    <p:sldId id="440" r:id="rId15"/>
    <p:sldId id="4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EB1CF-A891-4B50-B618-D6081032B694}" type="datetimeFigureOut">
              <a:rPr lang="en-US" smtClean="0"/>
              <a:t>10/26/2022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D1B15-D230-4628-8A3B-F5CB7FE32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49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99C460EF-516E-4547-91E1-A27C8CD477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92C3A8-326E-4D42-AA85-91C64194CECA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DEB1743-6A16-4F14-9151-99C8E702E1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FC2BDD41-1ED4-4A21-8223-75B21E0660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ADA6E2A9-D42E-4BC5-93BE-48281578D9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B7D50D-A600-4D0D-BA16-4B00B890EE8D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14E20C88-006F-4910-8D3B-14EB420026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30AAAB5-8CEC-47B1-8385-DFE95A780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694D2877-9601-4CAB-99A9-C4F1F0B95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91F5516-2C9B-4F2E-AD58-EE787104BD54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FFC921E9-94FE-4768-82F7-F556DE6A43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CC9D9AA8-F136-4CC8-B503-4401F626B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07467E7C-FF3E-4A22-921B-237496082E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41CBF3-A149-46C2-843F-8B70A11221A5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3934DB8D-222A-4CF6-B01D-5CDEC51787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85E900E4-25D5-4657-BE8E-A3FCE91D6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1EFDA305-9586-4E54-8879-E74B1822DE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E2F1AB-672B-45A9-B21E-439E4F8D77D2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53A473A-A4D1-41FC-9827-4CBED66B2D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2EDDA577-A45F-4265-9415-FBE2F3B53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362C585A-F166-4325-ACFF-C4DF970B0D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0A6C9B-0862-465A-B349-B9514D56E67B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7EE0A04E-F6D7-43BF-B3F5-076B9DD7C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4FFAB339-0A34-4F54-A8D3-F0B20477F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13BD-9922-481D-8821-4ADFFF788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6139E-FC28-4E67-9843-FBF8B5EE6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6EF-FAC2-45D3-BB05-D1956957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0BE3-9F62-44A9-8847-50ABD2AEDBA9}" type="datetime1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F635C-B417-4B5D-853A-720024FE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B9586-C5E8-4ABA-B40F-E78B3D8A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1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271F2-3BC0-4A3D-B28A-E08E5AB9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6178-36D6-4DEF-8CE7-B5BCF12B9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FA9-0F47-4B13-88A4-B042C32B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A8658-3873-4FF4-9ECA-140BD6078998}" type="datetime1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3489B-D57A-43AF-B839-A22C2FC3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1C1C8-C7FE-4A42-8878-62D09F17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3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2513-36EE-416A-9F66-2FEC7D9B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5AF84-8FA1-41C0-A4E0-1E9BC4044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80851-AEE2-4472-8E7E-26ACA4C0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185D-DEC8-493A-9F98-CBC35F11082F}" type="datetime1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A8D89-BC05-46D4-93CB-B71FCDC4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4CA6B-BBD6-4E7C-B808-FB8E5B05C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C052-2C3D-43EB-9A2B-54851EF1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2D432-119A-4B83-AE47-DD469F674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92E1C-2D3B-4891-94E4-47FA7C1FA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38346-EFA5-470F-989F-82111307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0FC9-8E11-4BAB-BB1A-68A451CDADD3}" type="datetime1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1FD79-9A51-42A8-A237-5D7051F7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F3F75-C81E-4424-A873-92C0CC30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9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9A81-E961-44AE-A388-87EB0215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93A3B-2124-43F5-8F94-0C66D61A8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8A593-2C85-49F4-A5FE-2A9DF4C6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B7FD9-11C2-4DB6-BA50-622730DC4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35070-1D84-41B2-B661-B928E52A3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FDFE5-E2E6-4C32-9943-314FC6A8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66DF-867D-4BA0-A428-7CCE427767DA}" type="datetime1">
              <a:rPr lang="en-US" smtClean="0"/>
              <a:t>10/26/2022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2ACB1-3289-4A04-8265-D02136E7C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B619A-E4DA-4049-A942-C8C4CEFE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6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BB73-DFAE-44F3-8E27-F92134CE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D3964-54AF-4963-B9D0-FD3EECB50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256F-1D35-4CBC-9A6A-E90B649FDA08}" type="datetime1">
              <a:rPr lang="en-US" smtClean="0"/>
              <a:t>10/26/2022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DBB77-6660-42F6-9DDB-8E91D02B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0640D-ED87-4E7C-8A1B-9CF2F867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4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B3E6D-47D0-4F98-A032-E02A5CEB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5419-1D2B-4AF0-A42F-24EE96F0344A}" type="datetime1">
              <a:rPr lang="en-US" smtClean="0"/>
              <a:t>10/26/2022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30EDF-24A1-4673-95EF-DC8EAED6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C326B-BB32-4686-96F7-46E02F3C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5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64CE-03C4-407B-96CA-43034C40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D91C9-2C35-4475-A06F-42D524A8A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7BA24-D07D-4205-A38C-AA9D1420B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EDB20-A22D-414E-9BF4-234FFEAE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47966-94A5-40A3-8DE5-5F579E1FD1EE}" type="datetime1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80EBE-E61E-46B3-9FD5-DEBBDE1B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778B1-ACFD-486C-BCBB-0F8176C1D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1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B075-2402-4797-B669-A09A59CF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DE692-3BDF-4067-8026-97A75EA81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85C8E-8075-4BE6-837F-BF6D0C3C9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93457-2762-4C4F-9DAB-D496CB16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727E-41A7-4E36-B556-A5FEE27981AA}" type="datetime1">
              <a:rPr lang="en-US" smtClean="0"/>
              <a:t>10/26/2022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37B52-C7DD-45B6-B2CF-5EEA498C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57324-09B3-4D82-AE3E-FDFB0285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9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8FA51-43AF-43A0-BD39-FB4C8E7F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27B32-FCD1-40DD-B5D9-5BA0B567F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2C121-0327-4E1A-BD0E-3DD9B53B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1DF5-2D2E-44E0-9EDE-95F1A685CEB2}" type="datetime1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CE06D-3CE0-4D3B-AA04-1E35F1BE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E568F-234E-47EB-9126-ADF3D1D14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7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0F137-D1C6-4B53-8FD0-61BF51206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D523B-DE8E-40A7-93B2-93A9FE679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7A170-C555-4144-A321-4B99982E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14A25-589C-4B0B-97C2-0041D36D22C4}" type="datetime1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E9372-F002-4154-9BDF-F1757616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9EBB0-C0A2-47F1-98D2-6C4DC70C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C8B1F-7F7F-442A-9E65-FDBA7095B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DCB89-5BB3-4E71-AB98-E9DFB48C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C5E14-C477-4A9C-B805-23E62C770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2CD3F-BBEE-40EF-AEBB-73DE653B4F32}" type="datetime1">
              <a:rPr lang="en-US" smtClean="0"/>
              <a:t>10/26/2022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B764A-6DCC-480B-BEDD-03AB2918C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163AA-7A01-4F94-A831-F55BC3766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ADC2B-D3E2-4BB8-B25B-09E2FA08F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C92A-C9F4-462B-9EFC-DABAEEAFED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Synchronization</a:t>
            </a:r>
            <a:br>
              <a:rPr lang="en-US" dirty="0"/>
            </a:br>
            <a:r>
              <a:rPr lang="en-US"/>
              <a:t>Lesson 5</a:t>
            </a:r>
            <a:br>
              <a:rPr lang="en-US" dirty="0"/>
            </a:br>
            <a:r>
              <a:rPr lang="en-US" dirty="0"/>
              <a:t>Monitor, Liveness, &amp;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5979E-D061-4744-B231-0845CD1E32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46A70-61CB-486D-98CF-BBC80123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6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6776-5A4D-45A1-8CF1-096D7058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For a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4400C-FA32-4344-8A68-48A9647DA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143" y="1339064"/>
            <a:ext cx="10515600" cy="4768122"/>
          </a:xfrm>
        </p:spPr>
        <p:txBody>
          <a:bodyPr>
            <a:normAutofit/>
          </a:bodyPr>
          <a:lstStyle/>
          <a:p>
            <a:r>
              <a:rPr lang="en-US" dirty="0"/>
              <a:t>Semaphore and other synchronization tools may be used incorrectly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High-level construct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AAA6E-8DD5-49A2-B7E5-7FADE4FEF0BE}"/>
              </a:ext>
            </a:extLst>
          </p:cNvPr>
          <p:cNvSpPr txBox="1"/>
          <p:nvPr/>
        </p:nvSpPr>
        <p:spPr>
          <a:xfrm>
            <a:off x="3011648" y="1824912"/>
            <a:ext cx="51338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dirty="0"/>
              <a:t>signal (mutex)  ….  wait (mutex)</a:t>
            </a:r>
          </a:p>
          <a:p>
            <a:pPr lvl="1"/>
            <a:r>
              <a:rPr lang="en-US" dirty="0"/>
              <a:t>wait (mutex)  …  wait (mutex)</a:t>
            </a:r>
          </a:p>
          <a:p>
            <a:pPr lvl="1"/>
            <a:r>
              <a:rPr lang="en-US" dirty="0"/>
              <a:t>Omitting  of wait (mutex) and/or signal (mutex)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2DC0F-F139-4D22-91B7-A9DCAE0B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9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6776-5A4D-45A1-8CF1-096D7058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For a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4400C-FA32-4344-8A68-48A9647DA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143" y="1339064"/>
            <a:ext cx="10515600" cy="4768122"/>
          </a:xfrm>
        </p:spPr>
        <p:txBody>
          <a:bodyPr/>
          <a:lstStyle/>
          <a:p>
            <a:r>
              <a:rPr lang="en-US" dirty="0"/>
              <a:t>High-level construct</a:t>
            </a:r>
          </a:p>
          <a:p>
            <a:r>
              <a:rPr lang="en-US" dirty="0"/>
              <a:t>An abstract data type: encapsulates data with a set </a:t>
            </a:r>
          </a:p>
          <a:p>
            <a:pPr marL="0" indent="0">
              <a:buNone/>
            </a:pPr>
            <a:r>
              <a:rPr lang="en-US" dirty="0"/>
              <a:t>   of functions to operate on that data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Monitor type is an </a:t>
            </a:r>
            <a:r>
              <a:rPr lang="en-US" dirty="0">
                <a:solidFill>
                  <a:srgbClr val="FF0000"/>
                </a:solidFill>
              </a:rPr>
              <a:t>ADT</a:t>
            </a:r>
          </a:p>
          <a:p>
            <a:pPr lvl="1"/>
            <a:r>
              <a:rPr lang="en-US" dirty="0"/>
              <a:t>A set of programmer-defined operations</a:t>
            </a:r>
          </a:p>
          <a:p>
            <a:pPr lvl="1"/>
            <a:r>
              <a:rPr lang="en-US" dirty="0"/>
              <a:t>Operations are provided </a:t>
            </a:r>
            <a:r>
              <a:rPr lang="en-US" dirty="0">
                <a:solidFill>
                  <a:srgbClr val="FF0000"/>
                </a:solidFill>
              </a:rPr>
              <a:t>mutual exclusion </a:t>
            </a:r>
          </a:p>
          <a:p>
            <a:pPr marL="457200" lvl="1" indent="0">
              <a:buNone/>
            </a:pPr>
            <a:r>
              <a:rPr lang="en-US" dirty="0"/>
              <a:t>    within the monitor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Variables</a:t>
            </a:r>
            <a:r>
              <a:rPr lang="en-US" dirty="0"/>
              <a:t> for the state of a monitor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0A81C-35F7-4C51-81B2-C4A9B324F030}"/>
              </a:ext>
            </a:extLst>
          </p:cNvPr>
          <p:cNvSpPr txBox="1"/>
          <p:nvPr/>
        </p:nvSpPr>
        <p:spPr>
          <a:xfrm>
            <a:off x="7055140" y="2600587"/>
            <a:ext cx="42986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monitor monitor-name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// </a:t>
            </a:r>
            <a:r>
              <a:rPr lang="en-US" b="1" dirty="0"/>
              <a:t>shared variable declarations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                 function P1 (…) { …. }</a:t>
            </a:r>
          </a:p>
          <a:p>
            <a:endParaRPr lang="en-US" dirty="0"/>
          </a:p>
          <a:p>
            <a:r>
              <a:rPr lang="en-US" dirty="0"/>
              <a:t>	function P2 (…) { …. }</a:t>
            </a:r>
            <a:br>
              <a:rPr lang="en-US" dirty="0"/>
            </a:br>
            <a:endParaRPr lang="en-US" dirty="0"/>
          </a:p>
          <a:p>
            <a:r>
              <a:rPr lang="en-US" dirty="0"/>
              <a:t>	function </a:t>
            </a:r>
            <a:r>
              <a:rPr lang="en-US" dirty="0" err="1"/>
              <a:t>Pn</a:t>
            </a:r>
            <a:r>
              <a:rPr lang="en-US" dirty="0"/>
              <a:t> (…) {……}</a:t>
            </a:r>
          </a:p>
          <a:p>
            <a:endParaRPr lang="en-US" dirty="0"/>
          </a:p>
          <a:p>
            <a:r>
              <a:rPr lang="en-US" dirty="0"/>
              <a:t>                 initialization code (…) { …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2DC0F-F139-4D22-91B7-A9DCAE0B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1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8BD5-5782-41EC-92D5-80726EA2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Schematic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FD861EA-4063-478A-9359-470B35833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265" y="2185638"/>
            <a:ext cx="3939646" cy="3745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69F12-552F-4C1A-B58E-202395499065}"/>
              </a:ext>
            </a:extLst>
          </p:cNvPr>
          <p:cNvSpPr txBox="1"/>
          <p:nvPr/>
        </p:nvSpPr>
        <p:spPr>
          <a:xfrm>
            <a:off x="1577130" y="1627464"/>
            <a:ext cx="432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Only one process at a time is active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0D5C57-789F-4795-B33A-02B5D66F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9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8BD5-5782-41EC-92D5-80726EA2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Schematic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B9523B36-7D74-4319-868B-532FC3561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75" y="2459446"/>
            <a:ext cx="4535119" cy="313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454FA6-D54B-40D8-B4D6-807F37BA69B6}"/>
              </a:ext>
            </a:extLst>
          </p:cNvPr>
          <p:cNvSpPr/>
          <p:nvPr/>
        </p:nvSpPr>
        <p:spPr>
          <a:xfrm>
            <a:off x="5239346" y="2136338"/>
            <a:ext cx="630852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condition x, y;</a:t>
            </a:r>
          </a:p>
          <a:p>
            <a:r>
              <a:rPr lang="en-US" dirty="0"/>
              <a:t>Two operations are allowed on a condition variable:</a:t>
            </a:r>
          </a:p>
          <a:p>
            <a:pPr lvl="1"/>
            <a:r>
              <a:rPr lang="en-US" b="1" dirty="0" err="1"/>
              <a:t>x.wait</a:t>
            </a:r>
            <a:r>
              <a:rPr lang="en-US" b="1" dirty="0"/>
              <a:t>() </a:t>
            </a:r>
            <a:r>
              <a:rPr lang="en-US" dirty="0"/>
              <a:t>–  a process that invokes the operation is suspended         </a:t>
            </a:r>
          </a:p>
          <a:p>
            <a:pPr lvl="1"/>
            <a:r>
              <a:rPr lang="en-US" dirty="0"/>
              <a:t>                   until </a:t>
            </a:r>
            <a:r>
              <a:rPr lang="en-US" b="1" dirty="0" err="1"/>
              <a:t>x.signal</a:t>
            </a:r>
            <a:r>
              <a:rPr lang="en-US" b="1" dirty="0"/>
              <a:t>() </a:t>
            </a:r>
          </a:p>
          <a:p>
            <a:pPr lvl="1"/>
            <a:endParaRPr lang="en-US" b="1" dirty="0"/>
          </a:p>
          <a:p>
            <a:pPr lvl="1"/>
            <a:r>
              <a:rPr lang="en-US" b="1" dirty="0" err="1"/>
              <a:t>x.signal</a:t>
            </a:r>
            <a:r>
              <a:rPr lang="en-US" b="1" dirty="0"/>
              <a:t>() </a:t>
            </a:r>
            <a:r>
              <a:rPr lang="en-US" dirty="0"/>
              <a:t>– resumes one of processes (if any) that  invoked </a:t>
            </a:r>
          </a:p>
          <a:p>
            <a:pPr lvl="1"/>
            <a:r>
              <a:rPr lang="en-US" b="1" dirty="0"/>
              <a:t>                    </a:t>
            </a:r>
            <a:r>
              <a:rPr lang="en-US" b="1" dirty="0" err="1"/>
              <a:t>x.wait</a:t>
            </a:r>
            <a:r>
              <a:rPr lang="en-US" b="1" dirty="0"/>
              <a:t>()</a:t>
            </a:r>
          </a:p>
          <a:p>
            <a:pPr lvl="2"/>
            <a:r>
              <a:rPr lang="en-US" dirty="0"/>
              <a:t>           If no </a:t>
            </a:r>
            <a:r>
              <a:rPr lang="en-US" dirty="0" err="1"/>
              <a:t>x.wait</a:t>
            </a:r>
            <a:r>
              <a:rPr lang="en-US" dirty="0"/>
              <a:t>() on the variable, then it has no effect </a:t>
            </a:r>
          </a:p>
          <a:p>
            <a:pPr lvl="2"/>
            <a:r>
              <a:rPr lang="en-US" dirty="0"/>
              <a:t>           on the variable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0D5C57-789F-4795-B33A-02B5D66F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48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>
            <a:extLst>
              <a:ext uri="{FF2B5EF4-FFF2-40B4-BE49-F238E27FC236}">
                <a16:creationId xmlns:a16="http://schemas.microsoft.com/office/drawing/2014/main" id="{842DFC57-5B87-46F2-B309-3120ACB73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6156" y="319088"/>
            <a:ext cx="76596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Who Should Stay, P or Q?</a:t>
            </a:r>
          </a:p>
        </p:txBody>
      </p:sp>
      <p:sp>
        <p:nvSpPr>
          <p:cNvPr id="80899" name="Rectangle 5">
            <a:extLst>
              <a:ext uri="{FF2B5EF4-FFF2-40B4-BE49-F238E27FC236}">
                <a16:creationId xmlns:a16="http://schemas.microsoft.com/office/drawing/2014/main" id="{3FFEBD9F-1F8E-40E2-9C63-AA7195140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598" y="1271500"/>
            <a:ext cx="8229602" cy="5267412"/>
          </a:xfrm>
        </p:spPr>
        <p:txBody>
          <a:bodyPr>
            <a:normAutofit/>
          </a:bodyPr>
          <a:lstStyle/>
          <a:p>
            <a:r>
              <a:rPr lang="en-US" altLang="en-US" dirty="0"/>
              <a:t>If process P invokes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x.signal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(),</a:t>
            </a:r>
            <a:r>
              <a:rPr lang="en-US" altLang="en-US" sz="2000" dirty="0"/>
              <a:t> </a:t>
            </a:r>
            <a:r>
              <a:rPr lang="en-US" altLang="en-US" dirty="0"/>
              <a:t>and</a:t>
            </a:r>
            <a:r>
              <a:rPr lang="en-US" altLang="en-US" sz="2000" dirty="0"/>
              <a:t> </a:t>
            </a:r>
            <a:r>
              <a:rPr lang="en-US" altLang="en-US" dirty="0"/>
              <a:t>process Q is suspended in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x.wait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  <a:r>
              <a:rPr lang="en-US" altLang="en-US" dirty="0"/>
              <a:t>, what should happen next?</a:t>
            </a:r>
          </a:p>
          <a:p>
            <a:pPr lvl="1"/>
            <a:r>
              <a:rPr lang="en-US" altLang="en-US" dirty="0"/>
              <a:t>Both Q and P cannot execute in parallel. If Q is resumed, then P must wait</a:t>
            </a:r>
          </a:p>
          <a:p>
            <a:r>
              <a:rPr lang="en-US" altLang="en-US" dirty="0"/>
              <a:t>Options include</a:t>
            </a:r>
          </a:p>
          <a:p>
            <a:pPr lvl="1"/>
            <a:r>
              <a:rPr lang="en-US" altLang="en-US" b="1" dirty="0"/>
              <a:t>Signal and wait </a:t>
            </a:r>
            <a:r>
              <a:rPr lang="en-US" altLang="en-US" dirty="0"/>
              <a:t>– </a:t>
            </a:r>
            <a:r>
              <a:rPr lang="en-US" altLang="en-US" dirty="0">
                <a:solidFill>
                  <a:srgbClr val="FF0000"/>
                </a:solidFill>
              </a:rPr>
              <a:t>P waits </a:t>
            </a:r>
            <a:r>
              <a:rPr lang="en-US" altLang="en-US" dirty="0"/>
              <a:t>until Q either leaves the monitor or it waits for another condition</a:t>
            </a:r>
          </a:p>
          <a:p>
            <a:pPr lvl="1"/>
            <a:r>
              <a:rPr lang="en-US" altLang="en-US" b="1" dirty="0"/>
              <a:t>Signal and continue </a:t>
            </a:r>
            <a:r>
              <a:rPr lang="en-US" altLang="en-US" dirty="0"/>
              <a:t>– </a:t>
            </a:r>
            <a:r>
              <a:rPr lang="en-US" altLang="en-US" dirty="0">
                <a:solidFill>
                  <a:srgbClr val="FF0000"/>
                </a:solidFill>
              </a:rPr>
              <a:t>Q waits </a:t>
            </a:r>
            <a:r>
              <a:rPr lang="en-US" altLang="en-US" dirty="0"/>
              <a:t>until P either leaves the monitor or it  waits for another condition</a:t>
            </a:r>
          </a:p>
          <a:p>
            <a:pPr lvl="1"/>
            <a:r>
              <a:rPr lang="en-US" altLang="en-US" dirty="0"/>
              <a:t>Compromise - P executing signal immediately leaves the monitor, Q is resumed  (Concurrent Pascal 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CEF2A-EBC9-4A94-905D-726591E4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FEBBCDC-1BF2-4FD4-910F-96E230906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2514" y="207657"/>
            <a:ext cx="9159250" cy="8445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Monitor Implementation Using Semaphores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B9788F1-A193-42D8-B3AC-56DAC8E47F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76514" y="1133476"/>
            <a:ext cx="7043737" cy="524351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dirty="0"/>
              <a:t>Variables </a:t>
            </a:r>
          </a:p>
          <a:p>
            <a:pPr>
              <a:lnSpc>
                <a:spcPct val="80000"/>
              </a:lnSpc>
              <a:buNone/>
              <a:tabLst>
                <a:tab pos="1887538" algn="l"/>
                <a:tab pos="2335213" algn="l"/>
                <a:tab pos="2506663" algn="l"/>
              </a:tabLst>
            </a:pPr>
            <a:endParaRPr lang="en-US" altLang="en-US" dirty="0"/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semaphore mutex;  // </a:t>
            </a:r>
            <a:r>
              <a:rPr lang="en-US" altLang="en-US" sz="2600" b="1" dirty="0">
                <a:solidFill>
                  <a:srgbClr val="000000"/>
                </a:solidFill>
                <a:latin typeface="Courier New" panose="02070309020205020404" pitchFamily="49" charset="0"/>
              </a:rPr>
              <a:t>(initially  = 1)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semaphore next;   // </a:t>
            </a:r>
            <a:r>
              <a:rPr lang="en-US" altLang="en-US" sz="2600" b="1" dirty="0">
                <a:solidFill>
                  <a:srgbClr val="000000"/>
                </a:solidFill>
                <a:latin typeface="Courier New" panose="02070309020205020404" pitchFamily="49" charset="0"/>
              </a:rPr>
              <a:t>(initially  = 0)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int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next_count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= 0</a:t>
            </a:r>
            <a:r>
              <a:rPr lang="en-US" altLang="en-US" sz="2600" b="1" dirty="0">
                <a:solidFill>
                  <a:srgbClr val="000000"/>
                </a:solidFill>
                <a:latin typeface="Courier New" panose="02070309020205020404" pitchFamily="49" charset="0"/>
              </a:rPr>
              <a:t>;// # of processes      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sz="2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// suspended in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next</a:t>
            </a:r>
            <a:b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dirty="0"/>
              <a:t>Each function </a:t>
            </a:r>
            <a:r>
              <a:rPr lang="en-US" altLang="en-US" b="1" i="1" dirty="0"/>
              <a:t>F</a:t>
            </a:r>
            <a:r>
              <a:rPr lang="en-US" altLang="en-US" dirty="0"/>
              <a:t>  will be replaced by</a:t>
            </a:r>
          </a:p>
          <a:p>
            <a:pPr>
              <a:lnSpc>
                <a:spcPct val="80000"/>
              </a:lnSpc>
              <a:tabLst>
                <a:tab pos="1887538" algn="l"/>
                <a:tab pos="2335213" algn="l"/>
                <a:tab pos="2506663" algn="l"/>
              </a:tabLst>
            </a:pPr>
            <a:endParaRPr lang="en-US" altLang="en-US" sz="1600" dirty="0"/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wait(mutex);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     …			 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body of F;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     …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if (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next_count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&gt; 0)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	signal(next)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else 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	signal(mutex);</a:t>
            </a:r>
            <a:b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tabLst>
                <a:tab pos="1887538" algn="l"/>
                <a:tab pos="2335213" algn="l"/>
                <a:tab pos="2506663" algn="l"/>
              </a:tabLst>
            </a:pPr>
            <a:r>
              <a:rPr lang="en-US" altLang="en-US" dirty="0"/>
              <a:t>Mutual exclusion within a monitor is ensured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6B8589-F974-439A-BF50-78DFCB33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9D4AD2-01AA-40D1-8A36-7889923C5034}"/>
              </a:ext>
            </a:extLst>
          </p:cNvPr>
          <p:cNvSpPr/>
          <p:nvPr/>
        </p:nvSpPr>
        <p:spPr>
          <a:xfrm>
            <a:off x="246962" y="4443021"/>
            <a:ext cx="21352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Signal and wait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B66021-02E6-4F34-BDE6-6AC370C4F6B6}"/>
              </a:ext>
            </a:extLst>
          </p:cNvPr>
          <p:cNvCxnSpPr>
            <a:stCxn id="3" idx="3"/>
          </p:cNvCxnSpPr>
          <p:nvPr/>
        </p:nvCxnSpPr>
        <p:spPr>
          <a:xfrm>
            <a:off x="2382227" y="4673854"/>
            <a:ext cx="2542111" cy="158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C24C47-4DC9-4C03-A42B-28665BFDB6ED}"/>
              </a:ext>
            </a:extLst>
          </p:cNvPr>
          <p:cNvCxnSpPr/>
          <p:nvPr/>
        </p:nvCxnSpPr>
        <p:spPr>
          <a:xfrm flipV="1">
            <a:off x="2382227" y="2184146"/>
            <a:ext cx="646199" cy="2320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93F47E-E996-4D71-B818-60777BBBB637}"/>
              </a:ext>
            </a:extLst>
          </p:cNvPr>
          <p:cNvSpPr txBox="1"/>
          <p:nvPr/>
        </p:nvSpPr>
        <p:spPr>
          <a:xfrm>
            <a:off x="6096000" y="1161658"/>
            <a:ext cx="833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Binary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3122FE-5C5C-45A8-8197-85428BB2BEE3}"/>
              </a:ext>
            </a:extLst>
          </p:cNvPr>
          <p:cNvCxnSpPr/>
          <p:nvPr/>
        </p:nvCxnSpPr>
        <p:spPr>
          <a:xfrm flipH="1">
            <a:off x="5327009" y="1375794"/>
            <a:ext cx="696286" cy="31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5AF14B-8027-4194-9D2A-863C609EBF19}"/>
              </a:ext>
            </a:extLst>
          </p:cNvPr>
          <p:cNvCxnSpPr/>
          <p:nvPr/>
        </p:nvCxnSpPr>
        <p:spPr>
          <a:xfrm flipH="1">
            <a:off x="5712139" y="1530990"/>
            <a:ext cx="311156" cy="515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762E835-8D4D-42F8-8027-B69D27048B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9960" y="158751"/>
            <a:ext cx="9592665" cy="57626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Monitor Implementation – Condition Variables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2D14BBD-CE2C-449D-8AAB-ACA9F9E449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46644" y="855067"/>
            <a:ext cx="8857040" cy="1847409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ct val="15000"/>
              </a:spcBef>
              <a:tabLst>
                <a:tab pos="1828800" algn="l"/>
                <a:tab pos="2217738" algn="l"/>
              </a:tabLst>
            </a:pPr>
            <a:r>
              <a:rPr lang="en-US" altLang="en-US" dirty="0"/>
              <a:t>For each condition variable </a:t>
            </a:r>
            <a:r>
              <a:rPr lang="en-US" altLang="en-US" b="1" i="1" dirty="0"/>
              <a:t>x</a:t>
            </a:r>
            <a:r>
              <a:rPr lang="en-US" altLang="en-US" dirty="0"/>
              <a:t>, we  have</a:t>
            </a:r>
            <a:r>
              <a:rPr lang="en-US" altLang="en-US" sz="1600" dirty="0"/>
              <a:t>:</a:t>
            </a:r>
          </a:p>
          <a:p>
            <a:pPr>
              <a:spcBef>
                <a:spcPct val="15000"/>
              </a:spcBef>
              <a:buNone/>
              <a:tabLst>
                <a:tab pos="1828800" algn="l"/>
                <a:tab pos="2217738" algn="l"/>
              </a:tabLst>
            </a:pPr>
            <a:endParaRPr lang="en-US" altLang="en-US" sz="1600" dirty="0"/>
          </a:p>
          <a:p>
            <a:pPr>
              <a:spcBef>
                <a:spcPct val="15000"/>
              </a:spcBef>
              <a:buNone/>
              <a:tabLst>
                <a:tab pos="1828800" algn="l"/>
                <a:tab pos="2217738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  semaphore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x_sem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 // (initially  = 0)</a:t>
            </a:r>
          </a:p>
          <a:p>
            <a:pPr>
              <a:spcBef>
                <a:spcPct val="15000"/>
              </a:spcBef>
              <a:buNone/>
              <a:tabLst>
                <a:tab pos="1828800" algn="l"/>
                <a:tab pos="2217738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  int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x_count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</a:t>
            </a:r>
            <a:b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  <a:buNone/>
              <a:tabLst>
                <a:tab pos="1828800" algn="l"/>
                <a:tab pos="2217738" algn="l"/>
              </a:tabLst>
            </a:pPr>
            <a:r>
              <a:rPr lang="en-US" altLang="en-US" sz="1600" dirty="0"/>
              <a:t>		</a:t>
            </a:r>
          </a:p>
          <a:p>
            <a:pPr>
              <a:spcBef>
                <a:spcPct val="15000"/>
              </a:spcBef>
              <a:buNone/>
              <a:tabLst>
                <a:tab pos="1828800" algn="l"/>
                <a:tab pos="2217738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endParaRPr lang="en-US" altLang="en-US" sz="1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3DD1A3-858A-4486-9E54-7987D3BF641D}"/>
              </a:ext>
            </a:extLst>
          </p:cNvPr>
          <p:cNvSpPr txBox="1"/>
          <p:nvPr/>
        </p:nvSpPr>
        <p:spPr>
          <a:xfrm>
            <a:off x="1394306" y="3477615"/>
            <a:ext cx="40854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x_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</a:t>
            </a:r>
            <a:r>
              <a:rPr lang="en-US" dirty="0"/>
              <a:t>++;</a:t>
            </a:r>
          </a:p>
          <a:p>
            <a:r>
              <a:rPr lang="en-US" dirty="0"/>
              <a:t>if (</a:t>
            </a:r>
            <a:r>
              <a:rPr lang="en-US" dirty="0" err="1"/>
              <a:t>next_count</a:t>
            </a:r>
            <a:r>
              <a:rPr lang="en-US" dirty="0"/>
              <a:t> &gt; 0)</a:t>
            </a:r>
          </a:p>
          <a:p>
            <a:r>
              <a:rPr lang="en-US" dirty="0"/>
              <a:t>        signal(next);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    signal(mutex);</a:t>
            </a:r>
          </a:p>
          <a:p>
            <a:r>
              <a:rPr lang="en-US" dirty="0"/>
              <a:t>wait(</a:t>
            </a:r>
            <a:r>
              <a:rPr lang="en-US" dirty="0" err="1"/>
              <a:t>x_sem</a:t>
            </a:r>
            <a:r>
              <a:rPr lang="en-US" dirty="0"/>
              <a:t>);</a:t>
            </a:r>
          </a:p>
          <a:p>
            <a:r>
              <a:rPr lang="en-US" dirty="0" err="1"/>
              <a:t>x_count</a:t>
            </a:r>
            <a:r>
              <a:rPr lang="en-US" dirty="0"/>
              <a:t>--;</a:t>
            </a:r>
          </a:p>
          <a:p>
            <a:r>
              <a:rPr lang="en-US" dirty="0"/>
              <a:t>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833AD-D270-4CEF-8F33-EC3A2FB0DAB3}"/>
              </a:ext>
            </a:extLst>
          </p:cNvPr>
          <p:cNvSpPr txBox="1"/>
          <p:nvPr/>
        </p:nvSpPr>
        <p:spPr>
          <a:xfrm>
            <a:off x="1840164" y="300906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x.wait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A3C40-102D-4E85-BB4A-4B96C3BA223A}"/>
              </a:ext>
            </a:extLst>
          </p:cNvPr>
          <p:cNvSpPr txBox="1"/>
          <p:nvPr/>
        </p:nvSpPr>
        <p:spPr>
          <a:xfrm>
            <a:off x="6654635" y="2822085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x.signal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228A9-087F-4E34-B30F-72CFDA871BAD}"/>
              </a:ext>
            </a:extLst>
          </p:cNvPr>
          <p:cNvSpPr txBox="1"/>
          <p:nvPr/>
        </p:nvSpPr>
        <p:spPr>
          <a:xfrm>
            <a:off x="6398192" y="3336025"/>
            <a:ext cx="2666114" cy="1962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if (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x_count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&gt; 0) {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next_count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++;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signal(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x_sem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wait(next);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next_count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--;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27D84-C8EE-4423-B304-95BE0F3A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15DC-0DF3-40E1-A0D6-7E3B96F6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Resume from </a:t>
            </a:r>
            <a:r>
              <a:rPr lang="en-US" dirty="0" err="1"/>
              <a:t>x.signal</a:t>
            </a:r>
            <a:r>
              <a:rPr lang="en-US" dirty="0"/>
              <a:t>()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24329-ABA1-4820-AB39-A61656295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FCFS</a:t>
            </a:r>
          </a:p>
          <a:p>
            <a:r>
              <a:rPr lang="en-US" dirty="0"/>
              <a:t>Priority based</a:t>
            </a:r>
          </a:p>
          <a:p>
            <a:pPr lvl="1"/>
            <a:r>
              <a:rPr lang="en-US" dirty="0" err="1"/>
              <a:t>x.wait</a:t>
            </a:r>
            <a:r>
              <a:rPr lang="en-US" dirty="0"/>
              <a:t>(</a:t>
            </a:r>
            <a:r>
              <a:rPr lang="en-US" dirty="0" err="1"/>
              <a:t>priority_num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DAFA0-4ED8-444E-BA83-D93E5C58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7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4996F-EBA6-46E0-84B1-64AA595D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Example: Single Resource Allocator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70861-A1D8-44DE-9FAB-159BD51D8E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2090" y="1590733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endParaRPr lang="en-US" altLang="en-US" sz="1400" dirty="0"/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ResourceAllocator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boolean busy;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condition x;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void acquire(int time) {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if (busy)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x.wait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(time);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busy = true;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void release() {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busy = FALSE;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x.signal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initialization code() {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busy = false; 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spcBef>
                <a:spcPct val="15000"/>
              </a:spcBef>
              <a:buFont typeface="Monotype Sorts" pitchFamily="-84" charset="2"/>
              <a:buNone/>
              <a:tabLst>
                <a:tab pos="1368425" algn="l"/>
                <a:tab pos="1712913" algn="l"/>
                <a:tab pos="233521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en-US" sz="1600" b="1" dirty="0"/>
              <a:t>	</a:t>
            </a:r>
            <a:r>
              <a:rPr lang="en-US" altLang="en-US" sz="1400" b="1" dirty="0"/>
              <a:t>	</a:t>
            </a:r>
            <a:r>
              <a:rPr lang="en-US" altLang="en-US" sz="1400" dirty="0"/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B926C-F49E-43F7-B5E8-20620D632490}"/>
              </a:ext>
            </a:extLst>
          </p:cNvPr>
          <p:cNvSpPr txBox="1"/>
          <p:nvPr/>
        </p:nvSpPr>
        <p:spPr>
          <a:xfrm>
            <a:off x="4706224" y="2097248"/>
            <a:ext cx="5000023" cy="319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/>
              <a:t>maximum time a process  plans to use the resource</a:t>
            </a:r>
            <a:endParaRPr lang="en-US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588EC2-A35A-4D01-ADD0-97AE0EC4E884}"/>
              </a:ext>
            </a:extLst>
          </p:cNvPr>
          <p:cNvCxnSpPr/>
          <p:nvPr/>
        </p:nvCxnSpPr>
        <p:spPr>
          <a:xfrm flipH="1">
            <a:off x="3632433" y="2290194"/>
            <a:ext cx="989901" cy="444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B3BF48-83BC-48AA-98A4-77BC3A36E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1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>
            <a:extLst>
              <a:ext uri="{FF2B5EF4-FFF2-40B4-BE49-F238E27FC236}">
                <a16:creationId xmlns:a16="http://schemas.microsoft.com/office/drawing/2014/main" id="{279E9DF8-ED34-4AE1-9B84-74D566874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Liveness</a:t>
            </a:r>
          </a:p>
        </p:txBody>
      </p:sp>
      <p:sp>
        <p:nvSpPr>
          <p:cNvPr id="95235" name="Content Placeholder 2">
            <a:extLst>
              <a:ext uri="{FF2B5EF4-FFF2-40B4-BE49-F238E27FC236}">
                <a16:creationId xmlns:a16="http://schemas.microsoft.com/office/drawing/2014/main" id="{25434E6F-B490-44BB-8A6F-6B383F5D8B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Processes may have to wait indefinitely while trying to acquire a synchronization tool such as a mutex lock or semaphore.</a:t>
            </a:r>
          </a:p>
          <a:p>
            <a:r>
              <a:rPr lang="en-US" altLang="en-US"/>
              <a:t>Waiting indefinitely violates the progress and bounded-waiting criteria discussed at the beginning of this chapter.</a:t>
            </a:r>
          </a:p>
          <a:p>
            <a:r>
              <a:rPr lang="en-US" altLang="en-US" b="1"/>
              <a:t>Liveness</a:t>
            </a:r>
            <a:r>
              <a:rPr lang="en-US" altLang="en-US"/>
              <a:t> refers to a set of properties that a system must satisfy to ensure processes make progress.</a:t>
            </a:r>
          </a:p>
          <a:p>
            <a:pPr lvl="1"/>
            <a:r>
              <a:rPr lang="en-US" altLang="en-US"/>
              <a:t>Freedom from deadlock</a:t>
            </a:r>
          </a:p>
          <a:p>
            <a:pPr lvl="1"/>
            <a:r>
              <a:rPr lang="en-US" altLang="en-US"/>
              <a:t>Freedom from starvation</a:t>
            </a:r>
          </a:p>
          <a:p>
            <a:pPr lvl="1"/>
            <a:r>
              <a:rPr lang="en-US" altLang="en-US"/>
              <a:t>Better bounded bypass</a:t>
            </a:r>
          </a:p>
          <a:p>
            <a:r>
              <a:rPr lang="en-US" altLang="en-US"/>
              <a:t>Indefinite waiting is an example of a liveness failure.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B5D69E-099F-4845-A926-ABE5F315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7B895864-4E6E-4667-A975-2D6B7A97D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3964" y="161926"/>
            <a:ext cx="771683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Liveness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22306361-0A39-4556-8E7A-8B54590CCF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44739" y="1073151"/>
            <a:ext cx="7640637" cy="4906963"/>
          </a:xfrm>
        </p:spPr>
        <p:txBody>
          <a:bodyPr>
            <a:normAutofit fontScale="70000" lnSpcReduction="20000"/>
          </a:bodyPr>
          <a:lstStyle/>
          <a:p>
            <a:pPr>
              <a:tabLst>
                <a:tab pos="1882775" algn="ctr"/>
                <a:tab pos="4568825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Deadlock </a:t>
            </a:r>
            <a:r>
              <a:rPr lang="en-US" altLang="en-US" dirty="0"/>
              <a:t>– two or more processes are waiting indefinitely for an event that can be caused by only one of the waiting processes</a:t>
            </a: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dirty="0">
                <a:solidFill>
                  <a:srgbClr val="000000"/>
                </a:solidFill>
              </a:rPr>
              <a:t>Let 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S</a:t>
            </a:r>
            <a:r>
              <a:rPr lang="en-US" altLang="en-US" dirty="0">
                <a:solidFill>
                  <a:srgbClr val="000000"/>
                </a:solidFill>
              </a:rPr>
              <a:t> and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Q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be </a:t>
            </a:r>
            <a:r>
              <a:rPr lang="en-US" altLang="en-US" dirty="0"/>
              <a:t>two semaphores initialized to 1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i="1" dirty="0">
                <a:solidFill>
                  <a:srgbClr val="000000"/>
                </a:solidFill>
              </a:rPr>
              <a:t>		        P</a:t>
            </a:r>
            <a:r>
              <a:rPr lang="en-US" altLang="en-US" baseline="-25000" dirty="0">
                <a:solidFill>
                  <a:srgbClr val="000000"/>
                </a:solidFill>
              </a:rPr>
              <a:t>0</a:t>
            </a:r>
            <a:r>
              <a:rPr lang="en-US" altLang="en-US" dirty="0">
                <a:solidFill>
                  <a:srgbClr val="000000"/>
                </a:solidFill>
              </a:rPr>
              <a:t>	                           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1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P0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P1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wait(S); 	              wait(Q);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       wait(Q); 	              wait(S);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   ...		     ...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       signal(S);                           signal(Q);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signal(Q);                          signal(S);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dirty="0">
                <a:sym typeface="MT Extra" panose="05050102010205020202" pitchFamily="18" charset="2"/>
              </a:rPr>
              <a:t>Consider if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0</a:t>
            </a:r>
            <a:r>
              <a:rPr lang="en-US" altLang="en-US" dirty="0">
                <a:sym typeface="MT Extra" panose="05050102010205020202" pitchFamily="18" charset="2"/>
              </a:rPr>
              <a:t> executes wait(S) and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1 </a:t>
            </a:r>
            <a:r>
              <a:rPr lang="en-US" altLang="en-US" dirty="0">
                <a:sym typeface="MT Extra" panose="05050102010205020202" pitchFamily="18" charset="2"/>
              </a:rPr>
              <a:t>wait(Q). When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0</a:t>
            </a:r>
            <a:r>
              <a:rPr lang="en-US" altLang="en-US" dirty="0">
                <a:sym typeface="MT Extra" panose="05050102010205020202" pitchFamily="18" charset="2"/>
              </a:rPr>
              <a:t> executes wait(Q), it must wait until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1 </a:t>
            </a:r>
            <a:r>
              <a:rPr lang="en-US" altLang="en-US" dirty="0">
                <a:sym typeface="MT Extra" panose="05050102010205020202" pitchFamily="18" charset="2"/>
              </a:rPr>
              <a:t>executes signal(Q)</a:t>
            </a: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dirty="0">
                <a:sym typeface="MT Extra" panose="05050102010205020202" pitchFamily="18" charset="2"/>
              </a:rPr>
              <a:t>However,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1 </a:t>
            </a:r>
            <a:r>
              <a:rPr lang="en-US" altLang="en-US" dirty="0">
                <a:sym typeface="MT Extra" panose="05050102010205020202" pitchFamily="18" charset="2"/>
              </a:rPr>
              <a:t>is waiting until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0</a:t>
            </a:r>
            <a:r>
              <a:rPr lang="en-US" altLang="en-US" dirty="0">
                <a:sym typeface="MT Extra" panose="05050102010205020202" pitchFamily="18" charset="2"/>
              </a:rPr>
              <a:t> execute signal(S).</a:t>
            </a: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dirty="0">
                <a:sym typeface="MT Extra" panose="05050102010205020202" pitchFamily="18" charset="2"/>
              </a:rPr>
              <a:t>Since these signal() operations will never be executed,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0 </a:t>
            </a:r>
            <a:r>
              <a:rPr lang="en-US" altLang="en-US" dirty="0">
                <a:sym typeface="MT Extra" panose="05050102010205020202" pitchFamily="18" charset="2"/>
              </a:rPr>
              <a:t>and </a:t>
            </a:r>
            <a:r>
              <a:rPr lang="en-US" altLang="en-US" i="1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1 </a:t>
            </a:r>
            <a:r>
              <a:rPr lang="en-US" altLang="en-US" dirty="0">
                <a:sym typeface="MT Extra" panose="05050102010205020202" pitchFamily="18" charset="2"/>
              </a:rPr>
              <a:t>are </a:t>
            </a:r>
            <a:r>
              <a:rPr lang="en-US" altLang="en-US" b="1" dirty="0">
                <a:sym typeface="MT Extra" panose="05050102010205020202" pitchFamily="18" charset="2"/>
              </a:rPr>
              <a:t>deadlocked</a:t>
            </a:r>
            <a:r>
              <a:rPr lang="en-US" altLang="en-US" dirty="0">
                <a:sym typeface="MT Extra" panose="05050102010205020202" pitchFamily="18" charset="2"/>
              </a:rPr>
              <a:t>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15C2419-4FB8-4418-B9B3-78E61A9457EA}"/>
              </a:ext>
            </a:extLst>
          </p:cNvPr>
          <p:cNvCxnSpPr>
            <a:cxnSpLocks/>
          </p:cNvCxnSpPr>
          <p:nvPr/>
        </p:nvCxnSpPr>
        <p:spPr>
          <a:xfrm flipV="1">
            <a:off x="3641125" y="2950590"/>
            <a:ext cx="516096" cy="336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BC261D-88C3-4704-A6FA-CDE663804F1A}"/>
              </a:ext>
            </a:extLst>
          </p:cNvPr>
          <p:cNvCxnSpPr/>
          <p:nvPr/>
        </p:nvCxnSpPr>
        <p:spPr>
          <a:xfrm flipH="1" flipV="1">
            <a:off x="7956647" y="2909401"/>
            <a:ext cx="881448" cy="82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2AFCC9-EEEC-4DAC-95A9-6B3187F0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C91DB9CA-8605-4657-B76E-2F65EFC72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3964" y="161926"/>
            <a:ext cx="771683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Liveness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01825073-BCC9-44B5-9147-62AC57EB03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44739" y="1073151"/>
            <a:ext cx="7640637" cy="4906963"/>
          </a:xfrm>
        </p:spPr>
        <p:txBody>
          <a:bodyPr/>
          <a:lstStyle/>
          <a:p>
            <a:pPr>
              <a:tabLst>
                <a:tab pos="1882775" algn="ctr"/>
                <a:tab pos="4568825" algn="ctr"/>
              </a:tabLst>
            </a:pPr>
            <a:r>
              <a:rPr lang="en-US" altLang="en-US" dirty="0"/>
              <a:t>Other forms off not liveness: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b="1" dirty="0">
                <a:sym typeface="MT Extra" panose="05050102010205020202" pitchFamily="18" charset="2"/>
              </a:rPr>
              <a:t>Starvation</a:t>
            </a:r>
            <a:r>
              <a:rPr lang="en-US" altLang="en-US" dirty="0">
                <a:sym typeface="MT Extra" panose="05050102010205020202" pitchFamily="18" charset="2"/>
              </a:rPr>
              <a:t> </a:t>
            </a:r>
            <a:r>
              <a:rPr lang="en-US" altLang="en-US" dirty="0"/>
              <a:t>– indefinite blocking  </a:t>
            </a:r>
          </a:p>
          <a:p>
            <a:pPr lvl="1">
              <a:tabLst>
                <a:tab pos="1882775" algn="ctr"/>
                <a:tab pos="4568825" algn="ctr"/>
              </a:tabLst>
            </a:pPr>
            <a:r>
              <a:rPr lang="en-US" altLang="en-US" sz="1600" dirty="0"/>
              <a:t>A process may never be removed from the semaphore queue in which it is suspended</a:t>
            </a: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b="1" dirty="0"/>
              <a:t>Priority Inversion</a:t>
            </a:r>
            <a:r>
              <a:rPr lang="en-US" altLang="en-US" dirty="0"/>
              <a:t> – Scheduling problem when lower-priority process holds a lock needed by higher-priority process</a:t>
            </a: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sz="1600" dirty="0"/>
              <a:t>Solved via </a:t>
            </a:r>
            <a:r>
              <a:rPr lang="en-US" altLang="en-US" sz="1600" b="1" dirty="0"/>
              <a:t>priority-inheritance protocol</a:t>
            </a:r>
            <a:br>
              <a:rPr lang="en-US" altLang="en-US" sz="1600" b="1" dirty="0"/>
            </a:br>
            <a:br>
              <a:rPr lang="en-US" altLang="en-US" sz="1600" b="1" dirty="0"/>
            </a:br>
            <a:endParaRPr lang="en-US" altLang="en-US" sz="16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00801-A8A9-4F41-9003-A862E14A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4EA9ABC8-F59D-4D5E-A860-6530D4556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3964" y="161926"/>
            <a:ext cx="771683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Inheritance Protocol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02C4DF77-45CA-482B-B9ED-3707A70E1B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44739" y="1073151"/>
            <a:ext cx="7640637" cy="4906963"/>
          </a:xfrm>
        </p:spPr>
        <p:txBody>
          <a:bodyPr>
            <a:normAutofit fontScale="85000" lnSpcReduction="10000"/>
          </a:bodyPr>
          <a:lstStyle/>
          <a:p>
            <a:pPr>
              <a:tabLst>
                <a:tab pos="1882775" algn="ctr"/>
                <a:tab pos="4568825" algn="ctr"/>
              </a:tabLst>
            </a:pPr>
            <a:r>
              <a:rPr lang="en-US" altLang="en-US" dirty="0"/>
              <a:t>Consider the scenario with  three processes </a:t>
            </a:r>
            <a:r>
              <a:rPr lang="en-US" altLang="en-US" b="1" dirty="0"/>
              <a:t>P1, P2</a:t>
            </a:r>
            <a:r>
              <a:rPr lang="en-US" altLang="en-US" dirty="0"/>
              <a:t>, and </a:t>
            </a:r>
            <a:r>
              <a:rPr lang="en-US" altLang="en-US" b="1" dirty="0"/>
              <a:t>P3</a:t>
            </a:r>
            <a:r>
              <a:rPr lang="en-US" altLang="en-US" dirty="0"/>
              <a:t>. </a:t>
            </a:r>
            <a:r>
              <a:rPr lang="en-US" altLang="en-US" b="1" dirty="0"/>
              <a:t>P1</a:t>
            </a:r>
            <a:r>
              <a:rPr lang="en-US" altLang="en-US" dirty="0"/>
              <a:t> has the highest priority, </a:t>
            </a:r>
            <a:r>
              <a:rPr lang="en-US" altLang="en-US" b="1" dirty="0"/>
              <a:t>P2</a:t>
            </a:r>
            <a:r>
              <a:rPr lang="en-US" altLang="en-US" dirty="0"/>
              <a:t> the next highest, and </a:t>
            </a:r>
            <a:r>
              <a:rPr lang="en-US" altLang="en-US" b="1" dirty="0"/>
              <a:t>P3</a:t>
            </a:r>
            <a:r>
              <a:rPr lang="en-US" altLang="en-US" dirty="0"/>
              <a:t> the lowest. Assume a resource </a:t>
            </a:r>
            <a:r>
              <a:rPr lang="en-US" altLang="en-US" b="1" dirty="0"/>
              <a:t>P3</a:t>
            </a:r>
            <a:r>
              <a:rPr lang="en-US" altLang="en-US" dirty="0"/>
              <a:t> is assigned a resource </a:t>
            </a:r>
            <a:r>
              <a:rPr lang="en-US" altLang="en-US" b="1" dirty="0"/>
              <a:t>R </a:t>
            </a:r>
            <a:r>
              <a:rPr lang="en-US" altLang="en-US" dirty="0"/>
              <a:t>that </a:t>
            </a:r>
            <a:r>
              <a:rPr lang="en-US" altLang="en-US" b="1" dirty="0"/>
              <a:t>P1</a:t>
            </a:r>
            <a:r>
              <a:rPr lang="en-US" altLang="en-US" dirty="0"/>
              <a:t> wants. Thus, </a:t>
            </a:r>
            <a:r>
              <a:rPr lang="en-US" altLang="en-US" b="1" dirty="0"/>
              <a:t>P1</a:t>
            </a:r>
            <a:r>
              <a:rPr lang="en-US" altLang="en-US" dirty="0"/>
              <a:t> must wait for </a:t>
            </a:r>
            <a:r>
              <a:rPr lang="en-US" altLang="en-US" b="1" dirty="0"/>
              <a:t>P3</a:t>
            </a:r>
            <a:r>
              <a:rPr lang="en-US" altLang="en-US" dirty="0"/>
              <a:t> to finish using the resource. However, </a:t>
            </a:r>
            <a:r>
              <a:rPr lang="en-US" altLang="en-US" b="1" dirty="0"/>
              <a:t>P2</a:t>
            </a:r>
            <a:r>
              <a:rPr lang="en-US" altLang="en-US" dirty="0"/>
              <a:t> becomes runnable and preempts </a:t>
            </a:r>
            <a:r>
              <a:rPr lang="en-US" altLang="en-US" b="1" dirty="0"/>
              <a:t>P3</a:t>
            </a:r>
            <a:r>
              <a:rPr lang="en-US" altLang="en-US" dirty="0"/>
              <a:t>. What has happened is that </a:t>
            </a:r>
            <a:r>
              <a:rPr lang="en-US" altLang="en-US" b="1" dirty="0"/>
              <a:t>P2</a:t>
            </a:r>
            <a:r>
              <a:rPr lang="en-US" altLang="en-US" dirty="0"/>
              <a:t> - a process with a lower priority than </a:t>
            </a:r>
            <a:r>
              <a:rPr lang="en-US" altLang="en-US" b="1" dirty="0"/>
              <a:t>P1</a:t>
            </a:r>
            <a:r>
              <a:rPr lang="en-US" altLang="en-US" dirty="0"/>
              <a:t> - has indirectly </a:t>
            </a:r>
            <a:r>
              <a:rPr lang="en-US" altLang="en-US"/>
              <a:t>prevented </a:t>
            </a:r>
            <a:r>
              <a:rPr lang="en-US" altLang="en-US" b="1"/>
              <a:t>P1</a:t>
            </a:r>
            <a:r>
              <a:rPr lang="en-US" altLang="en-US"/>
              <a:t> </a:t>
            </a:r>
            <a:r>
              <a:rPr lang="en-US" altLang="en-US" dirty="0"/>
              <a:t>from gaining access to the resource.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dirty="0"/>
              <a:t>To prevent this from occurring, a </a:t>
            </a:r>
            <a:r>
              <a:rPr lang="en-US" altLang="en-US" b="1" dirty="0"/>
              <a:t>priority inheritance protocol</a:t>
            </a:r>
            <a:r>
              <a:rPr lang="en-US" altLang="en-US" dirty="0"/>
              <a:t> is used. This simply allows the priority of the highest thread waiting to access a shared resource to be assigned to the thread currently using the resource. </a:t>
            </a:r>
            <a:r>
              <a:rPr lang="en-US" altLang="en-US" b="1" dirty="0"/>
              <a:t>Thus, the current owner of the resource is assigned the priority of the highest priority thread wishing to acquire the resource.  (P3 inherits P1’s priority)</a:t>
            </a:r>
          </a:p>
          <a:p>
            <a:pPr lvl="1">
              <a:tabLst>
                <a:tab pos="1882775" algn="ctr"/>
                <a:tab pos="4568825" algn="ctr"/>
              </a:tabLst>
            </a:pPr>
            <a:endParaRPr lang="en-US" altLang="en-US" sz="16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B8169B-A666-4D4E-9753-470FC3C4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D6564-7E49-415A-9261-D997C924E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</a:t>
            </a:r>
            <a:r>
              <a:rPr lang="en-US"/>
              <a:t>Synchronization Tools </a:t>
            </a:r>
            <a:r>
              <a:rPr lang="en-US" dirty="0"/>
              <a:t>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7870-18E5-4125-87DF-9DB3DF26D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66" y="15152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Lock free: optimistic, using </a:t>
            </a:r>
            <a:r>
              <a:rPr lang="en-US" dirty="0" err="1"/>
              <a:t>compare_and_swap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optimistically first update a variable and then use collision detection      </a:t>
            </a:r>
          </a:p>
          <a:p>
            <a:pPr marL="0" indent="0">
              <a:buNone/>
            </a:pPr>
            <a:r>
              <a:rPr lang="en-US" dirty="0"/>
              <a:t>       to see if another thread is updating the variable concurrently</a:t>
            </a:r>
          </a:p>
          <a:p>
            <a:pPr marL="0" indent="0">
              <a:buNone/>
            </a:pPr>
            <a:r>
              <a:rPr lang="en-US" dirty="0"/>
              <a:t>        for uncontended or moderate contention</a:t>
            </a:r>
          </a:p>
          <a:p>
            <a:r>
              <a:rPr lang="en-US" dirty="0"/>
              <a:t>Mutex lock: pessimistic, for high contention</a:t>
            </a:r>
          </a:p>
          <a:p>
            <a:r>
              <a:rPr lang="en-US" dirty="0"/>
              <a:t>Atomic integers are much lighter weight than tradition locks</a:t>
            </a:r>
          </a:p>
          <a:p>
            <a:r>
              <a:rPr lang="en-US" dirty="0"/>
              <a:t>Spinlocks on multiprocessor systems</a:t>
            </a:r>
          </a:p>
          <a:p>
            <a:r>
              <a:rPr lang="en-US" dirty="0"/>
              <a:t>Mutex is less overhead than binary semaphore</a:t>
            </a:r>
          </a:p>
          <a:p>
            <a:r>
              <a:rPr lang="en-US" dirty="0"/>
              <a:t>Monitors and condition variables have significant overhead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7AB81-77C4-42EB-8205-40EF8D3B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ADC2B-D3E2-4BB8-B25B-09E2FA08FC2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09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1230</Words>
  <Application>Microsoft Office PowerPoint</Application>
  <PresentationFormat>Widescreen</PresentationFormat>
  <Paragraphs>180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MS PGothic</vt:lpstr>
      <vt:lpstr>Arial</vt:lpstr>
      <vt:lpstr>Calibri</vt:lpstr>
      <vt:lpstr>Calibri Light</vt:lpstr>
      <vt:lpstr>Courier New</vt:lpstr>
      <vt:lpstr>Monotype Sorts</vt:lpstr>
      <vt:lpstr>MT Extra</vt:lpstr>
      <vt:lpstr>Times New Roman</vt:lpstr>
      <vt:lpstr>Office Theme</vt:lpstr>
      <vt:lpstr>Process Synchronization Lesson 5 Monitor, Liveness, &amp; Evaluation</vt:lpstr>
      <vt:lpstr>Monitor For a Purpose</vt:lpstr>
      <vt:lpstr>Monitor For a Purpose</vt:lpstr>
      <vt:lpstr>Monitor Schematic</vt:lpstr>
      <vt:lpstr>Monitor Schematic</vt:lpstr>
      <vt:lpstr>Who Should Stay, P or Q?</vt:lpstr>
      <vt:lpstr>Monitor Implementation Using Semaphores</vt:lpstr>
      <vt:lpstr>Monitor Implementation – Condition Variables</vt:lpstr>
      <vt:lpstr>Process Resume from x.signal() </vt:lpstr>
      <vt:lpstr>Monitor Example: Single Resource Allocator</vt:lpstr>
      <vt:lpstr>Liveness</vt:lpstr>
      <vt:lpstr>Liveness</vt:lpstr>
      <vt:lpstr>Liveness</vt:lpstr>
      <vt:lpstr>Priority Inheritance Protocol</vt:lpstr>
      <vt:lpstr>Which Synchronization Tools to 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Synchronization Lesson 4 Monitor, Liveness, &amp; Evaluation</dc:title>
  <dc:creator>David Liu</dc:creator>
  <cp:lastModifiedBy>David Liu</cp:lastModifiedBy>
  <cp:revision>31</cp:revision>
  <dcterms:created xsi:type="dcterms:W3CDTF">2021-10-27T16:18:54Z</dcterms:created>
  <dcterms:modified xsi:type="dcterms:W3CDTF">2022-10-26T18:29:53Z</dcterms:modified>
</cp:coreProperties>
</file>