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7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536377-B904-42CC-B78D-16BF7BFD4151}" type="datetimeFigureOut">
              <a:rPr lang="en-US" smtClean="0"/>
              <a:t>2/22/2022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047C31-D71C-4BC3-B75A-6765FB751D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63701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A9AC4D-632B-4C51-B38A-074B7CAADB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ABC0133-DF03-47E4-B62F-401A8EBCC4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CD0867-62B6-4ABE-90C2-B41CC2336F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C4CDDA-7CF9-4AC5-A382-C5A034F5F641}" type="datetime1">
              <a:rPr lang="en-US" smtClean="0"/>
              <a:t>2/22/2022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A8B9A8-007B-4C15-AA6C-EB6EA60CFE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2B222E-1714-4A8E-822C-B907486269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C15C91-606A-4181-BBCB-80AE07C2B3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00360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C3508B-7599-4FB2-A1D0-F327D517AA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514F79-CAAF-4CFC-BB16-4B29DAB00C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459320-18FD-42B3-A8FD-BFE7DE3D1B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92CD3-5798-43DD-B3B9-0C69E581F481}" type="datetime1">
              <a:rPr lang="en-US" smtClean="0"/>
              <a:t>2/22/2022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E8724A-9FD0-4542-A3FD-444788B79C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755321-BD25-4984-82D6-7732FD1A6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C15C91-606A-4181-BBCB-80AE07C2B3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29203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060960-EA41-487F-8BC3-C6DE818F21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1BE2AA-A956-4846-9C36-082989C428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4F6113-0C48-4084-9F45-45B9932006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26CF29-AAAF-4BF6-9E99-0F1ACA03FF7F}" type="datetime1">
              <a:rPr lang="en-US" smtClean="0"/>
              <a:t>2/22/2022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738CE7-C0CC-4AE6-9576-3171E29D54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F925E0-7184-47EF-94A1-CC386CCF5E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C15C91-606A-4181-BBCB-80AE07C2B3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13214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C91873-7FC3-438D-9519-998EA7E9DF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60EAEA-B67C-430D-895B-EA020BA0D5B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FC6F95-9097-42B3-A98C-480D32267F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A0A783-712F-4EEF-A6EE-D112AEF770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1E1FD4-9F4E-4E2B-A0E9-D7A2B722A69B}" type="datetime1">
              <a:rPr lang="en-US" smtClean="0"/>
              <a:t>2/22/2022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949E09-E64D-4014-A64F-C828CE3E8E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503D18-FFEB-4F1D-ACCE-AEEA11DA72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C15C91-606A-4181-BBCB-80AE07C2B3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6600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23F19B-3903-4E55-8366-C93F376AC3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BD4C69-6C0C-47E0-9B3B-6C8EDD084B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5E6C88D-06EE-4B08-9766-480B521E4C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AFB3FF2-7040-4A55-BFB0-E3E5A008DFD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B195E90-4FB7-4A35-BF1F-057782AA7A1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B2F9A2D-99B9-4150-A696-AAB9E067B6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E8BAC8-9FC6-44D6-AAA9-8095B16E0C0E}" type="datetime1">
              <a:rPr lang="en-US" smtClean="0"/>
              <a:t>2/22/2022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51D3228-1ECF-40C4-AF01-6442895B78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4DC104A-1A7D-4183-B4DF-DE5DC65EC1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C15C91-606A-4181-BBCB-80AE07C2B3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31440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3FBDA1-5ED0-4288-A5B8-201135B1C1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EB73F67-7D8E-426A-A71A-0C6865BB92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BB86E-3ED2-4761-BAD2-BD31D8051458}" type="datetime1">
              <a:rPr lang="en-US" smtClean="0"/>
              <a:t>2/22/2022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A363553-9AB4-42AF-8254-A95E1C595A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14FA684-21C8-4DB4-ADE0-85AB90DB20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C15C91-606A-4181-BBCB-80AE07C2B3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41286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B4AC811-2D04-4349-85D8-5FF69FC75D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2C33DA-FF1F-45C4-8AC4-070D1B74ED6B}" type="datetime1">
              <a:rPr lang="en-US" smtClean="0"/>
              <a:t>2/22/2022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B871781-9D08-4EE0-96CE-BDBC7F4259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6B3707-96DF-4388-A028-B04EDA9514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C15C91-606A-4181-BBCB-80AE07C2B3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90352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0F95A4-B748-431D-8C01-F11F0EF44B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F6900B-FCAF-4DA4-8CEA-70B25D6031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589BE5-D4B7-489B-901F-548BCF540A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0AAA45-6FD4-4EF7-A924-45B835FF59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1918F-C4AD-4E4F-A8B9-65950511F11B}" type="datetime1">
              <a:rPr lang="en-US" smtClean="0"/>
              <a:t>2/22/2022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DF270D-6C9B-4086-A4A8-8E5D101C7B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E64B51-5CB5-484B-9310-0DB86FAB5F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C15C91-606A-4181-BBCB-80AE07C2B3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80977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5ECA76-C7F0-4302-965F-C50045DCA9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2B1431A-830C-48E3-93B9-570EBC324C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9565847-FFD8-482A-8D61-9DB5307C2C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ABDA14-4D0F-4FBE-9387-B93820D184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DD9323-7342-4DC1-ACF8-8C91AE672090}" type="datetime1">
              <a:rPr lang="en-US" smtClean="0"/>
              <a:t>2/22/2022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22C21A-6A2C-4E8A-A1C8-2898E3D791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1D2DDB-0EB6-473A-AEF7-8D48492495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C15C91-606A-4181-BBCB-80AE07C2B3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84477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8EEB47-34E8-45BF-91B7-2D153D1D5C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E64CE32-6513-4FEA-B689-924FF2C942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0C25DB-C9BB-4060-996A-543624535D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95CB4A-2E1F-4248-BA81-13D9A20886D6}" type="datetime1">
              <a:rPr lang="en-US" smtClean="0"/>
              <a:t>2/22/2022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FF9B1B-2635-4364-AAE2-0D2F6A1CDE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C159AB-31D8-4177-B3D6-FDF03228F5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C15C91-606A-4181-BBCB-80AE07C2B3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31797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1FFAACA-75CC-418A-B86B-67B88431B78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DD4E72D-F17F-44E8-A6D5-9442A473B2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1D6BA9-31A4-4E1E-B25B-CC2F8096AD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851DF7-66CA-49A2-B375-D60900573A03}" type="datetime1">
              <a:rPr lang="en-US" smtClean="0"/>
              <a:t>2/22/2022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542E53-AB48-49B8-8BC3-B9FB4546D7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AE026D-50EC-4D94-B5F0-2169EF642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C15C91-606A-4181-BBCB-80AE07C2B3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96100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21DAC15-EA36-4B01-A65E-FFE1BB735F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48A328-B259-464C-83BB-D91FE590F6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CDD0D2-CD1F-4175-81F1-64BBC8B7E68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0A1CED-3720-4993-BDC3-022887FDD6BC}" type="datetime1">
              <a:rPr lang="en-US" smtClean="0"/>
              <a:t>2/22/2022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5A6988-32AB-40DD-BBAD-9AB83D9EBEB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DAB21D-6FBD-4003-8C58-F96341F8DDB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C15C91-606A-4181-BBCB-80AE07C2B3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91576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601A27-F8ED-47BA-8E7B-0E102129169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Process Synchronization</a:t>
            </a:r>
            <a:br>
              <a:rPr lang="en-US" dirty="0"/>
            </a:br>
            <a:r>
              <a:rPr lang="en-US" dirty="0"/>
              <a:t>Lesson 1</a:t>
            </a:r>
            <a:br>
              <a:rPr lang="en-US" dirty="0"/>
            </a:br>
            <a:r>
              <a:rPr lang="en-US" dirty="0"/>
              <a:t>Introduction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C99D87-DA29-490E-B501-9D98B19CE17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David Liu</a:t>
            </a:r>
          </a:p>
          <a:p>
            <a:r>
              <a:rPr lang="en-US" dirty="0"/>
              <a:t>Fall 2021, Spring 2022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A0A8BE-7F2E-4658-BBC6-3BA284E9D1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C15C91-606A-4181-BBCB-80AE07C2B3B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00003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E0D18B-C256-458E-824C-31FBACC840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Process Execution and Shared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2C31BD-7363-41D2-9ECF-C8237249F1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Process Execution</a:t>
            </a:r>
          </a:p>
          <a:p>
            <a:pPr lvl="1"/>
            <a:r>
              <a:rPr lang="en-US" dirty="0"/>
              <a:t>Order in time</a:t>
            </a:r>
          </a:p>
          <a:p>
            <a:r>
              <a:rPr lang="en-US" dirty="0"/>
              <a:t>Shared Data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consistency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BE0937-C467-4946-9B2B-05D0F6AAB1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C15C91-606A-4181-BBCB-80AE07C2B3B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22746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2F2D7B-2A98-45AA-8E14-B8209C9BCC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Two Processes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7D95FDC5-36D2-4CDC-B2B3-474506C05870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838200" y="2252329"/>
            <a:ext cx="5181600" cy="349792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D9BA2A6-DCD6-4606-BDB6-84E0A19066D5}"/>
              </a:ext>
            </a:extLst>
          </p:cNvPr>
          <p:cNvSpPr txBox="1"/>
          <p:nvPr/>
        </p:nvSpPr>
        <p:spPr>
          <a:xfrm>
            <a:off x="2332892" y="1793631"/>
            <a:ext cx="10385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Producer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E4CB29B-9D09-4ACF-9E76-4748C5A516C0}"/>
              </a:ext>
            </a:extLst>
          </p:cNvPr>
          <p:cNvSpPr txBox="1"/>
          <p:nvPr/>
        </p:nvSpPr>
        <p:spPr>
          <a:xfrm>
            <a:off x="7577910" y="1786842"/>
            <a:ext cx="11432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Consumer</a:t>
            </a: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9F12275E-3C98-4339-A845-BB3CC49EB074}"/>
              </a:ext>
            </a:extLst>
          </p:cNvPr>
          <p:cNvSpPr txBox="1">
            <a:spLocks noChangeArrowheads="1"/>
          </p:cNvSpPr>
          <p:nvPr/>
        </p:nvSpPr>
        <p:spPr>
          <a:xfrm>
            <a:off x="6096000" y="2299644"/>
            <a:ext cx="4319451" cy="2258712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Monotype Sorts" pitchFamily="-84" charset="2"/>
              <a:buNone/>
            </a:pPr>
            <a:r>
              <a:rPr lang="en-US" altLang="en-US" sz="1600" dirty="0">
                <a:latin typeface="Courier New" panose="02070309020205020404" pitchFamily="49" charset="0"/>
              </a:rPr>
              <a:t>while (true) {</a:t>
            </a:r>
          </a:p>
          <a:p>
            <a:pPr marL="0" indent="0">
              <a:buFont typeface="Monotype Sorts" pitchFamily="-84" charset="2"/>
              <a:buNone/>
            </a:pPr>
            <a:r>
              <a:rPr lang="en-US" altLang="en-US" sz="1600" dirty="0">
                <a:latin typeface="Courier New" panose="02070309020205020404" pitchFamily="49" charset="0"/>
              </a:rPr>
              <a:t>	while (counter == 0) </a:t>
            </a:r>
          </a:p>
          <a:p>
            <a:pPr marL="0" indent="0">
              <a:buFont typeface="Monotype Sorts" pitchFamily="-84" charset="2"/>
              <a:buNone/>
            </a:pPr>
            <a:r>
              <a:rPr lang="en-US" altLang="en-US" sz="1600" dirty="0">
                <a:latin typeface="Courier New" panose="02070309020205020404" pitchFamily="49" charset="0"/>
              </a:rPr>
              <a:t>		; /* do nothing */ </a:t>
            </a:r>
          </a:p>
          <a:p>
            <a:pPr marL="0" indent="0">
              <a:buFont typeface="Monotype Sorts" pitchFamily="-84" charset="2"/>
              <a:buNone/>
            </a:pPr>
            <a:r>
              <a:rPr lang="en-US" altLang="en-US" sz="1600" dirty="0">
                <a:latin typeface="Courier New" panose="02070309020205020404" pitchFamily="49" charset="0"/>
              </a:rPr>
              <a:t>	</a:t>
            </a:r>
            <a:r>
              <a:rPr lang="en-US" altLang="en-US" sz="1600" dirty="0" err="1">
                <a:latin typeface="Courier New" panose="02070309020205020404" pitchFamily="49" charset="0"/>
              </a:rPr>
              <a:t>next_consumed</a:t>
            </a:r>
            <a:r>
              <a:rPr lang="en-US" altLang="en-US" sz="1600" dirty="0">
                <a:latin typeface="Courier New" panose="02070309020205020404" pitchFamily="49" charset="0"/>
              </a:rPr>
              <a:t> = buffer[out]; </a:t>
            </a:r>
          </a:p>
          <a:p>
            <a:pPr marL="0" indent="0">
              <a:buFont typeface="Monotype Sorts" pitchFamily="-84" charset="2"/>
              <a:buNone/>
            </a:pPr>
            <a:r>
              <a:rPr lang="en-US" altLang="en-US" sz="1600" dirty="0">
                <a:latin typeface="Courier New" panose="02070309020205020404" pitchFamily="49" charset="0"/>
              </a:rPr>
              <a:t>	out = (out + 1) % BUFFER_SIZE; 	</a:t>
            </a:r>
          </a:p>
          <a:p>
            <a:pPr marL="0" indent="0">
              <a:buFont typeface="Monotype Sorts" pitchFamily="-84" charset="2"/>
              <a:buNone/>
            </a:pPr>
            <a:r>
              <a:rPr lang="en-US" altLang="en-US" sz="1600" dirty="0">
                <a:latin typeface="Courier New" panose="02070309020205020404" pitchFamily="49" charset="0"/>
              </a:rPr>
              <a:t>           counter--; </a:t>
            </a:r>
          </a:p>
          <a:p>
            <a:pPr marL="0" indent="0">
              <a:buFont typeface="Monotype Sorts" pitchFamily="-84" charset="2"/>
              <a:buNone/>
            </a:pPr>
            <a:r>
              <a:rPr lang="en-US" altLang="en-US" sz="1600" dirty="0">
                <a:latin typeface="Courier New" panose="02070309020205020404" pitchFamily="49" charset="0"/>
              </a:rPr>
              <a:t>	/* consume the item in next consumed */ </a:t>
            </a:r>
          </a:p>
          <a:p>
            <a:pPr marL="0" indent="0">
              <a:buFont typeface="Monotype Sorts" pitchFamily="-84" charset="2"/>
              <a:buNone/>
            </a:pPr>
            <a:r>
              <a:rPr lang="en-US" altLang="en-US" sz="1600" dirty="0">
                <a:latin typeface="Courier New" panose="02070309020205020404" pitchFamily="49" charset="0"/>
              </a:rPr>
              <a:t>}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E15743A-BF52-498E-9D08-9E28BE44D2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C15C91-606A-4181-BBCB-80AE07C2B3B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07495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20322CA-D8AC-416F-8370-D0DB22EE47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Two Processes and One Shared Data</a:t>
            </a:r>
          </a:p>
        </p:txBody>
      </p:sp>
      <p:sp>
        <p:nvSpPr>
          <p:cNvPr id="8" name="Rectangle 1027">
            <a:extLst>
              <a:ext uri="{FF2B5EF4-FFF2-40B4-BE49-F238E27FC236}">
                <a16:creationId xmlns:a16="http://schemas.microsoft.com/office/drawing/2014/main" id="{7EE34E5C-4F02-4B00-924E-5334A91ABBE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 lnSpcReduction="10000"/>
          </a:bodyPr>
          <a:lstStyle/>
          <a:p>
            <a:pPr>
              <a:lnSpc>
                <a:spcPct val="90000"/>
              </a:lnSpc>
            </a:pPr>
            <a:r>
              <a:rPr lang="en-US" alt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counter++ </a:t>
            </a:r>
            <a:r>
              <a:rPr lang="en-US" altLang="en-US" sz="1600" dirty="0"/>
              <a:t>could be implemented as</a:t>
            </a:r>
            <a:br>
              <a:rPr lang="en-US" altLang="en-US" sz="1600" dirty="0"/>
            </a:br>
            <a:br>
              <a:rPr lang="en-US" altLang="en-US" sz="1600" dirty="0"/>
            </a:br>
            <a:r>
              <a:rPr lang="en-US" altLang="en-US" sz="1600" b="1" dirty="0">
                <a:latin typeface="Courier New" panose="02070309020205020404" pitchFamily="49" charset="0"/>
              </a:rPr>
              <a:t>     </a:t>
            </a:r>
            <a:r>
              <a:rPr lang="en-US" altLang="en-US" sz="1600" b="1" dirty="0">
                <a:solidFill>
                  <a:srgbClr val="0000FF"/>
                </a:solidFill>
                <a:latin typeface="Courier New" panose="02070309020205020404" pitchFamily="49" charset="0"/>
              </a:rPr>
              <a:t>register1 = counter</a:t>
            </a:r>
            <a:br>
              <a:rPr lang="en-US" altLang="en-US" sz="1600" b="1" dirty="0">
                <a:solidFill>
                  <a:srgbClr val="0000FF"/>
                </a:solidFill>
                <a:latin typeface="Courier New" panose="02070309020205020404" pitchFamily="49" charset="0"/>
              </a:rPr>
            </a:br>
            <a:r>
              <a:rPr lang="en-US" altLang="en-US" sz="1600" b="1" dirty="0">
                <a:solidFill>
                  <a:srgbClr val="0000FF"/>
                </a:solidFill>
                <a:latin typeface="Courier New" panose="02070309020205020404" pitchFamily="49" charset="0"/>
              </a:rPr>
              <a:t>     register1 = register1 + 1</a:t>
            </a:r>
            <a:br>
              <a:rPr lang="en-US" altLang="en-US" sz="1600" b="1" dirty="0">
                <a:solidFill>
                  <a:srgbClr val="0000FF"/>
                </a:solidFill>
                <a:latin typeface="Courier New" panose="02070309020205020404" pitchFamily="49" charset="0"/>
              </a:rPr>
            </a:br>
            <a:r>
              <a:rPr lang="en-US" altLang="en-US" sz="1600" b="1" dirty="0">
                <a:solidFill>
                  <a:srgbClr val="0000FF"/>
                </a:solidFill>
                <a:latin typeface="Courier New" panose="02070309020205020404" pitchFamily="49" charset="0"/>
              </a:rPr>
              <a:t>     counter = register1</a:t>
            </a:r>
            <a:endParaRPr lang="en-US" altLang="en-US" sz="800" dirty="0">
              <a:solidFill>
                <a:srgbClr val="0000FF"/>
              </a:solidFill>
            </a:endParaRPr>
          </a:p>
          <a:p>
            <a:pPr>
              <a:lnSpc>
                <a:spcPct val="90000"/>
              </a:lnSpc>
            </a:pPr>
            <a:r>
              <a:rPr lang="en-US" alt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counter--</a:t>
            </a:r>
            <a:r>
              <a:rPr lang="en-US" altLang="en-US" sz="1600" b="1" dirty="0">
                <a:solidFill>
                  <a:schemeClr val="tx2"/>
                </a:solidFill>
                <a:latin typeface="Courier New" panose="02070309020205020404" pitchFamily="49" charset="0"/>
              </a:rPr>
              <a:t> </a:t>
            </a:r>
            <a:r>
              <a:rPr lang="en-US" altLang="en-US" sz="1600" dirty="0"/>
              <a:t>could be implemented as</a:t>
            </a:r>
            <a:br>
              <a:rPr lang="en-US" altLang="en-US" sz="1600" dirty="0"/>
            </a:br>
            <a:br>
              <a:rPr lang="en-US" altLang="en-US" sz="1600" dirty="0"/>
            </a:br>
            <a:r>
              <a:rPr lang="en-US" altLang="en-US" sz="1600" b="1" dirty="0">
                <a:latin typeface="Courier New" panose="02070309020205020404" pitchFamily="49" charset="0"/>
              </a:rPr>
              <a:t>     </a:t>
            </a:r>
            <a:r>
              <a:rPr lang="en-US" altLang="en-US" sz="1600" b="1" dirty="0">
                <a:solidFill>
                  <a:schemeClr val="tx2"/>
                </a:solidFill>
                <a:latin typeface="Courier New" panose="02070309020205020404" pitchFamily="49" charset="0"/>
              </a:rPr>
              <a:t>register2 = counter</a:t>
            </a:r>
            <a:br>
              <a:rPr lang="en-US" altLang="en-US" sz="1600" b="1" dirty="0">
                <a:solidFill>
                  <a:schemeClr val="tx2"/>
                </a:solidFill>
                <a:latin typeface="Courier New" panose="02070309020205020404" pitchFamily="49" charset="0"/>
              </a:rPr>
            </a:br>
            <a:r>
              <a:rPr lang="en-US" altLang="en-US" sz="1600" b="1" dirty="0">
                <a:solidFill>
                  <a:schemeClr val="tx2"/>
                </a:solidFill>
                <a:latin typeface="Courier New" panose="02070309020205020404" pitchFamily="49" charset="0"/>
              </a:rPr>
              <a:t>     register2 = register2 - 1</a:t>
            </a:r>
            <a:br>
              <a:rPr lang="en-US" altLang="en-US" sz="1600" b="1" dirty="0">
                <a:solidFill>
                  <a:schemeClr val="tx2"/>
                </a:solidFill>
                <a:latin typeface="Courier New" panose="02070309020205020404" pitchFamily="49" charset="0"/>
              </a:rPr>
            </a:br>
            <a:r>
              <a:rPr lang="en-US" altLang="en-US" sz="1600" b="1" dirty="0">
                <a:solidFill>
                  <a:schemeClr val="tx2"/>
                </a:solidFill>
                <a:latin typeface="Courier New" panose="02070309020205020404" pitchFamily="49" charset="0"/>
              </a:rPr>
              <a:t>     counter = register2</a:t>
            </a:r>
          </a:p>
          <a:p>
            <a:pPr>
              <a:lnSpc>
                <a:spcPct val="90000"/>
              </a:lnSpc>
              <a:buFont typeface="Monotype Sorts" pitchFamily="-84" charset="2"/>
              <a:buNone/>
            </a:pPr>
            <a:endParaRPr lang="en-US" altLang="en-US" sz="800" dirty="0">
              <a:solidFill>
                <a:schemeClr val="tx2"/>
              </a:solidFill>
            </a:endParaRPr>
          </a:p>
          <a:p>
            <a:pPr>
              <a:lnSpc>
                <a:spcPct val="90000"/>
              </a:lnSpc>
            </a:pPr>
            <a:r>
              <a:rPr lang="en-US" altLang="en-US" sz="1600" dirty="0"/>
              <a:t>Consider this execution </a:t>
            </a:r>
            <a:r>
              <a:rPr lang="en-US" altLang="en-US" sz="1600" dirty="0">
                <a:solidFill>
                  <a:srgbClr val="FF0000"/>
                </a:solidFill>
              </a:rPr>
              <a:t>interleaving</a:t>
            </a:r>
            <a:r>
              <a:rPr lang="en-US" altLang="en-US" sz="1600" dirty="0"/>
              <a:t> with </a:t>
            </a:r>
            <a:r>
              <a:rPr lang="ja-JP" altLang="en-US" sz="1600" dirty="0"/>
              <a:t>“</a:t>
            </a:r>
            <a:r>
              <a:rPr lang="en-US" altLang="ja-JP" sz="1600" dirty="0"/>
              <a:t>count = 5</a:t>
            </a:r>
            <a:r>
              <a:rPr lang="ja-JP" altLang="en-US" sz="1600" dirty="0"/>
              <a:t>”</a:t>
            </a:r>
            <a:r>
              <a:rPr lang="en-US" altLang="ja-JP" sz="1600" dirty="0"/>
              <a:t> initially:</a:t>
            </a:r>
          </a:p>
          <a:p>
            <a:pPr lvl="1">
              <a:lnSpc>
                <a:spcPct val="90000"/>
              </a:lnSpc>
              <a:buFont typeface="Monotype Sorts" pitchFamily="-84" charset="2"/>
              <a:buNone/>
            </a:pPr>
            <a:r>
              <a:rPr lang="en-US" altLang="en-US" sz="1600" dirty="0"/>
              <a:t>	S0: producer execute </a:t>
            </a:r>
            <a:r>
              <a:rPr lang="en-US" altLang="en-US" sz="1600" b="1" dirty="0">
                <a:solidFill>
                  <a:srgbClr val="0000FF"/>
                </a:solidFill>
                <a:latin typeface="Courier New" panose="02070309020205020404" pitchFamily="49" charset="0"/>
              </a:rPr>
              <a:t>register1 = counter</a:t>
            </a:r>
            <a:r>
              <a:rPr lang="en-US" altLang="en-US" sz="1600" b="1" dirty="0">
                <a:latin typeface="Courier New" panose="02070309020205020404" pitchFamily="49" charset="0"/>
              </a:rPr>
              <a:t>         </a:t>
            </a:r>
            <a:r>
              <a:rPr lang="en-US" altLang="en-US" sz="1600" dirty="0"/>
              <a:t>{register1 = 5}</a:t>
            </a:r>
            <a:br>
              <a:rPr lang="en-US" altLang="en-US" sz="1600" dirty="0"/>
            </a:br>
            <a:r>
              <a:rPr lang="en-US" altLang="en-US" sz="1600" dirty="0"/>
              <a:t>S1: producer execute </a:t>
            </a:r>
            <a:r>
              <a:rPr lang="en-US" altLang="en-US" sz="1600" b="1" dirty="0">
                <a:solidFill>
                  <a:srgbClr val="0000FF"/>
                </a:solidFill>
                <a:latin typeface="Courier New" panose="02070309020205020404" pitchFamily="49" charset="0"/>
              </a:rPr>
              <a:t>register1 = register1 + 1   </a:t>
            </a:r>
            <a:r>
              <a:rPr lang="en-US" altLang="en-US" sz="1600" dirty="0"/>
              <a:t>{register1 = 6} </a:t>
            </a:r>
            <a:br>
              <a:rPr lang="en-US" altLang="en-US" sz="1600" dirty="0"/>
            </a:br>
            <a:r>
              <a:rPr lang="en-US" altLang="en-US" sz="1600" dirty="0"/>
              <a:t>S2: consumer execute </a:t>
            </a:r>
            <a:r>
              <a:rPr lang="en-US" altLang="en-US" sz="1600" b="1" dirty="0">
                <a:solidFill>
                  <a:schemeClr val="tx2"/>
                </a:solidFill>
                <a:latin typeface="Courier New" panose="02070309020205020404" pitchFamily="49" charset="0"/>
              </a:rPr>
              <a:t>register2 = counter</a:t>
            </a:r>
            <a:r>
              <a:rPr lang="en-US" altLang="en-US" sz="1600" b="1" dirty="0">
                <a:latin typeface="Courier New" panose="02070309020205020404" pitchFamily="49" charset="0"/>
              </a:rPr>
              <a:t>        </a:t>
            </a:r>
            <a:r>
              <a:rPr lang="en-US" altLang="en-US" sz="1600" dirty="0"/>
              <a:t>{register2 = 5} </a:t>
            </a:r>
            <a:br>
              <a:rPr lang="en-US" altLang="en-US" sz="1600" dirty="0"/>
            </a:br>
            <a:r>
              <a:rPr lang="en-US" altLang="en-US" sz="1600" dirty="0"/>
              <a:t>S3: consumer execute </a:t>
            </a:r>
            <a:r>
              <a:rPr lang="en-US" altLang="en-US" sz="1600" b="1" dirty="0">
                <a:solidFill>
                  <a:schemeClr val="tx2"/>
                </a:solidFill>
                <a:latin typeface="Courier New" panose="02070309020205020404" pitchFamily="49" charset="0"/>
              </a:rPr>
              <a:t>register2 = register2 – 1  </a:t>
            </a:r>
            <a:r>
              <a:rPr lang="en-US" altLang="en-US" sz="1600" dirty="0"/>
              <a:t>{register2 = 4} </a:t>
            </a:r>
            <a:br>
              <a:rPr lang="en-US" altLang="en-US" sz="1600" dirty="0"/>
            </a:br>
            <a:r>
              <a:rPr lang="en-US" altLang="en-US" sz="1600" dirty="0"/>
              <a:t>S4: producer execute </a:t>
            </a:r>
            <a:r>
              <a:rPr lang="en-US" altLang="en-US" sz="1600" b="1" dirty="0">
                <a:solidFill>
                  <a:srgbClr val="0000FF"/>
                </a:solidFill>
                <a:latin typeface="Courier New" panose="02070309020205020404" pitchFamily="49" charset="0"/>
              </a:rPr>
              <a:t>counter = register1         </a:t>
            </a:r>
            <a:r>
              <a:rPr lang="en-US" altLang="en-US" sz="1600" dirty="0"/>
              <a:t>{counter = 6 } </a:t>
            </a:r>
            <a:br>
              <a:rPr lang="en-US" altLang="en-US" sz="1600" dirty="0"/>
            </a:br>
            <a:r>
              <a:rPr lang="en-US" altLang="en-US" sz="1600" dirty="0"/>
              <a:t>S5: consumer execute </a:t>
            </a:r>
            <a:r>
              <a:rPr lang="en-US" altLang="en-US" sz="1600" b="1" dirty="0">
                <a:solidFill>
                  <a:schemeClr val="tx2"/>
                </a:solidFill>
                <a:latin typeface="Courier New" panose="02070309020205020404" pitchFamily="49" charset="0"/>
              </a:rPr>
              <a:t>counter = register2        </a:t>
            </a:r>
            <a:r>
              <a:rPr lang="en-US" altLang="en-US" sz="1600" dirty="0"/>
              <a:t>{counter = 4}</a:t>
            </a:r>
          </a:p>
          <a:p>
            <a:pPr lvl="1">
              <a:lnSpc>
                <a:spcPct val="90000"/>
              </a:lnSpc>
              <a:buFont typeface="Monotype Sorts" pitchFamily="-84" charset="2"/>
              <a:buNone/>
            </a:pPr>
            <a:endParaRPr lang="en-US" alt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E0AE35B-96B0-42F4-926C-104A2C74F1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C15C91-606A-4181-BBCB-80AE07C2B3B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16343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69BE8A-9BD3-4C4C-A82B-598D241C28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Race Condition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004929-65C0-4BB9-8258-3524A6917E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2209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altLang="en-US" dirty="0"/>
              <a:t>Several processes access and </a:t>
            </a:r>
            <a:r>
              <a:rPr lang="en-US" altLang="en-US" dirty="0">
                <a:solidFill>
                  <a:srgbClr val="FF0000"/>
                </a:solidFill>
              </a:rPr>
              <a:t>manipulate</a:t>
            </a:r>
            <a:r>
              <a:rPr lang="en-US" altLang="en-US" dirty="0"/>
              <a:t> </a:t>
            </a:r>
            <a:r>
              <a:rPr lang="en-US" altLang="en-US" dirty="0">
                <a:solidFill>
                  <a:srgbClr val="FF0000"/>
                </a:solidFill>
              </a:rPr>
              <a:t>the same data concurrently</a:t>
            </a:r>
            <a:r>
              <a:rPr lang="en-US" altLang="en-US" dirty="0"/>
              <a:t> and the </a:t>
            </a:r>
            <a:r>
              <a:rPr lang="en-US" altLang="en-US" dirty="0">
                <a:solidFill>
                  <a:srgbClr val="FF0000"/>
                </a:solidFill>
              </a:rPr>
              <a:t>outcome</a:t>
            </a:r>
            <a:r>
              <a:rPr lang="en-US" altLang="en-US" dirty="0"/>
              <a:t> of the execution depends on the </a:t>
            </a:r>
            <a:r>
              <a:rPr lang="en-US" altLang="en-US" dirty="0">
                <a:solidFill>
                  <a:srgbClr val="FF0000"/>
                </a:solidFill>
              </a:rPr>
              <a:t>particular order </a:t>
            </a:r>
            <a:r>
              <a:rPr lang="en-US" altLang="en-US" dirty="0"/>
              <a:t>in which the access takes place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DF2B246-08A0-457E-AFC7-4C6C7B6109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48819" y="3125834"/>
            <a:ext cx="3005335" cy="30053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2B0F7C0-3245-4184-8B9F-5FAD170FA6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846" y="2918299"/>
            <a:ext cx="6729046" cy="386614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630A614-860E-481D-AC98-44DD1E007B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05577" y="4101231"/>
            <a:ext cx="2746019" cy="1712316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2A481F-748C-476B-A2D0-9441D9F786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C15C91-606A-4181-BBCB-80AE07C2B3B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45831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267</Words>
  <Application>Microsoft Office PowerPoint</Application>
  <PresentationFormat>Widescreen</PresentationFormat>
  <Paragraphs>32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2" baseType="lpstr">
      <vt:lpstr>游ゴシック</vt:lpstr>
      <vt:lpstr>Arial</vt:lpstr>
      <vt:lpstr>Calibri</vt:lpstr>
      <vt:lpstr>Calibri Light</vt:lpstr>
      <vt:lpstr>Courier New</vt:lpstr>
      <vt:lpstr>Monotype Sorts</vt:lpstr>
      <vt:lpstr>Office Theme</vt:lpstr>
      <vt:lpstr>Process Synchronization Lesson 1 Introduction</vt:lpstr>
      <vt:lpstr>Process Execution and Shared Data</vt:lpstr>
      <vt:lpstr>Two Processes</vt:lpstr>
      <vt:lpstr>Two Processes and One Shared Data</vt:lpstr>
      <vt:lpstr>Race Condition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Process Synchronization Lesson 1 Introduction</dc:title>
  <dc:creator>David Liu</dc:creator>
  <cp:lastModifiedBy>David Liu</cp:lastModifiedBy>
  <cp:revision>6</cp:revision>
  <dcterms:created xsi:type="dcterms:W3CDTF">2021-10-11T16:17:10Z</dcterms:created>
  <dcterms:modified xsi:type="dcterms:W3CDTF">2022-02-22T16:03:26Z</dcterms:modified>
</cp:coreProperties>
</file>