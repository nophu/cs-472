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431" r:id="rId5"/>
    <p:sldId id="433" r:id="rId6"/>
    <p:sldId id="345" r:id="rId7"/>
    <p:sldId id="346" r:id="rId8"/>
    <p:sldId id="417" r:id="rId9"/>
    <p:sldId id="348" r:id="rId10"/>
    <p:sldId id="349" r:id="rId11"/>
    <p:sldId id="434" r:id="rId12"/>
    <p:sldId id="435" r:id="rId13"/>
    <p:sldId id="4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E8107-6BEB-4362-879D-806B31DA6D2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2D80A-3A0B-4B22-98B4-908877E03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4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CF0F224-2F43-4AA2-B129-BFEA357A33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B24729-6A9A-42F8-9A15-13C15A99B5B1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A721199-5F7C-4778-8E2A-1DE1F598E9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77B125C-53CB-4E54-88CD-F2C048FBE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FC2EE906-CB66-4E47-932E-87CFA8F9EA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A66371-DE5A-46A2-97F9-164F15D561EF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D5CA95A-9410-4D08-AE18-27496C2392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9260D5B3-A23A-4D9F-8687-91F6DC13A7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B1B98E4-C6C7-48CD-8A8C-51ED3A93FE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849728-5F84-48A5-99BC-D2129A624D26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B0092140-A988-450B-91E5-59005807D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FF5AE1F-8937-4B0E-AE10-F6FC684A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E84D3F1F-F6D3-4012-A383-3209D6897B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BD216C-2D81-4AAE-ACCF-E20B396E74BC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1005C67-848D-4948-B3AF-B34C9C4B55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8A7BF990-6D04-4BAC-8B21-F66AC8918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9D17BCE-A7A5-4390-91B8-928A345F7F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B76C963-25DF-4766-AE08-DA1EECC60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9D17BCE-A7A5-4390-91B8-928A345F7F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B76C963-25DF-4766-AE08-DA1EECC60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476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8EA4-CEFD-4A6C-ACBA-2E5AE5C16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2E1BA-DB26-4756-B7CE-9C3CC1133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E37F9-18C7-4A6A-ACC8-B65DCBCF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4A55F-0E3D-4405-8DD8-14FDDFF4E6AC}" type="datetime1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5DC4A-20B9-4103-B3F0-C53B39F8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853A0-D06E-4152-862C-14117B0D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4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04D5-4AC5-4931-91C5-F1F3C68F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6865-AE11-4109-8F0B-EE28D4B5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ED978-F080-45E3-8AC4-B59B239F4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9719D-CD2E-47D9-892E-30D9847B0AFC}" type="datetime1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FCD7B-15CE-4B40-8D26-39B7DD34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C3DFC-E13D-4778-AD6F-DE6D4276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6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CA2E-0DF7-41DA-8D54-C8BED276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890F9-E1CC-4B5A-BDD8-D8729AE51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2D04-87E0-460C-9A05-A5FC959FA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DAF4-9B36-4CDA-B9C8-137843D76DA5}" type="datetime1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D62AE-EFA3-4527-8541-C5AEA580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9D2A5-370F-4C52-8BF2-DE7AD8AF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1D30-16AD-44BC-979C-D9FDFA25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12734-206A-4F6A-9CC6-0F734BF31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2E83D-525C-415F-84B2-4B6E12030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0FF61-C392-4206-9D85-C4FD0CE94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F6172-05A8-4404-82AD-97D5709F95FD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1969B-2B3F-4C7D-94A5-E1CF9700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D45B-6501-4459-B5F2-D8F284C7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03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CC1D-9E2F-416D-84DA-F42D36F8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4F3C3-A263-43E7-B291-19F1418F4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01105-C679-48F4-9FD2-C5D09912D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D3C47-4E00-4413-806E-E90EC02AE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21878-B5EE-42F2-86C8-1E920C0EE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3CE80-7065-4ADE-AF7B-17E107E7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F339-63EF-4CBB-B114-CA0758C2772E}" type="datetime1">
              <a:rPr lang="en-US" smtClean="0"/>
              <a:t>2/24/2022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AD26F-5B49-4B94-8630-B1296E09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95DDC-EB19-4D9C-BA7F-544F2888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5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E092-0CB8-40F9-8F2E-E5A145EA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E5CC5-68D8-4037-9A69-2284BA84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E47F-02E9-4BF0-9DF0-87CAB8801C20}" type="datetime1">
              <a:rPr lang="en-US" smtClean="0"/>
              <a:t>2/24/2022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CC0B-92A6-4F69-9379-CA8E719E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CC89C-0A72-47C1-8F95-5B54A8E7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8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A0FD0-FE97-46FC-9DE6-12BF1DE4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4199-5A9B-4D25-AD0C-E38738FC0337}" type="datetime1">
              <a:rPr lang="en-US" smtClean="0"/>
              <a:t>2/24/2022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70A64-D153-493B-9A4E-A4C7FF10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57383-C807-49D4-81DC-3A2DB5FF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6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741E-51C2-4C2A-97B9-AAC2C688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50F8-F641-4FC2-B473-34775D23E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E59F6-DF55-4326-AF9C-14DF5E882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A51DA-6B3B-4B0F-8658-F985F18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A256-0774-4DDB-BDD8-85A96702C247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76EB1-A2CF-449D-9CE3-406595F3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8AD52-2DBF-43AD-9E02-F41686D0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5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0C3B-0A97-4D9C-813F-EFF1A503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58DD0-0A81-4B32-9230-6B10561A3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2746A-4368-4552-A7AB-0BF274007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56B6F-F457-452C-B25B-8C5597CD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67E9-9E26-423A-AB9D-1881AA56A3F7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5FF5F-B14A-49AB-9043-C8BF6416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532A5-49ED-4E0B-B880-534FAAEB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3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8226-3963-4407-A935-C5969649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62390-0B4F-4744-B954-C6ACFE674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307DA-780C-40ED-A48C-55785F7E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3D3A-11D0-43F4-8B92-6AB496CE80C8}" type="datetime1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B326B-E2E0-4675-A06D-02540E63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2F7FD-1D26-4899-B103-03FDD09F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2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1B949-E03B-461C-982C-63F0F0487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3C393-A611-4274-B530-10B6EEBF4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9518E-6EF1-406B-9A65-ACE00DEB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2A578-11E0-46E9-AD56-87C10CA38678}" type="datetime1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4B404-6506-4EEA-91C6-6E77FED4C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0B54-B316-486E-B589-67E3AB70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0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A0B0D-CFD6-45F6-B096-D64A87FE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E8BDC-C978-4F9D-A0F9-51A2FDCF7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EFBBC-212A-4D7C-9518-BE1623122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DF2AE-3D9F-4405-8049-C8379DAD9E07}" type="datetime1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A077A-F69D-4DFF-8CE6-973D71911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BADB9-361C-4188-A763-863D06B4C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92EBF-CA27-461A-9D64-9339B862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7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3647-B9C7-4F30-A831-331EB458D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Synchronization</a:t>
            </a:r>
            <a:br>
              <a:rPr lang="en-US" dirty="0"/>
            </a:br>
            <a:r>
              <a:rPr lang="en-US" dirty="0"/>
              <a:t>Lesson 3</a:t>
            </a:r>
            <a:br>
              <a:rPr lang="en-US" dirty="0"/>
            </a:br>
            <a:r>
              <a:rPr lang="en-US"/>
              <a:t>Hardware Instruction Support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0A53B-8E85-45C7-90AA-F4BBA6A7F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195C-14DD-448A-B71F-8963C2A7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7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89FE-5FD6-4A20-8E40-34C8DE39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Support </a:t>
            </a:r>
            <a:r>
              <a:rPr lang="en-US"/>
              <a:t>for Synchronization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B5456-7CCC-4179-8F85-F62112D9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barriers</a:t>
            </a:r>
          </a:p>
          <a:p>
            <a:r>
              <a:rPr lang="en-US" dirty="0"/>
              <a:t>Hardware instructions</a:t>
            </a:r>
          </a:p>
          <a:p>
            <a:r>
              <a:rPr lang="en-US" dirty="0"/>
              <a:t>Atomic variable</a:t>
            </a:r>
          </a:p>
          <a:p>
            <a:endParaRPr lang="en-US" dirty="0"/>
          </a:p>
          <a:p>
            <a:r>
              <a:rPr lang="en-US" dirty="0"/>
              <a:t>Note: </a:t>
            </a:r>
            <a:r>
              <a:rPr lang="en-US" sz="3200" dirty="0">
                <a:solidFill>
                  <a:srgbClr val="FF0000"/>
                </a:solidFill>
              </a:rPr>
              <a:t>disabling interrupts in uniprocessors are not inefficient.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A66BC-5512-455F-A856-876A2B15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1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6362-9B05-4AD7-B812-36144C1F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Barrier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781C3-E904-4608-A8C6-88FD19833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Model</a:t>
            </a:r>
          </a:p>
          <a:p>
            <a:pPr lvl="1"/>
            <a:r>
              <a:rPr lang="en-US" altLang="en-US" b="1" dirty="0"/>
              <a:t>Strongly ordered </a:t>
            </a:r>
            <a:r>
              <a:rPr lang="en-US" altLang="en-US" dirty="0"/>
              <a:t>– where a memory modification of one processor is immediately visible to all other processors.</a:t>
            </a:r>
          </a:p>
          <a:p>
            <a:pPr lvl="1"/>
            <a:r>
              <a:rPr lang="en-US" altLang="en-US" b="1" dirty="0"/>
              <a:t>Weakly ordered  </a:t>
            </a:r>
            <a:r>
              <a:rPr lang="en-US" altLang="en-US" dirty="0"/>
              <a:t>– where a memory modification of one processor may not be immediately visible to all other processors</a:t>
            </a:r>
          </a:p>
          <a:p>
            <a:pPr lvl="1"/>
            <a:endParaRPr lang="en-US" dirty="0"/>
          </a:p>
          <a:p>
            <a:r>
              <a:rPr lang="en-US" altLang="en-US" dirty="0"/>
              <a:t>A </a:t>
            </a:r>
            <a:r>
              <a:rPr lang="en-US" altLang="en-US" b="1" dirty="0"/>
              <a:t>memory barrier </a:t>
            </a:r>
            <a:r>
              <a:rPr lang="en-US" altLang="en-US" dirty="0"/>
              <a:t>is an instruction that forces any change in memory to be propagated (made visible) to all other processors.</a:t>
            </a:r>
          </a:p>
          <a:p>
            <a:pPr lvl="1"/>
            <a:r>
              <a:rPr lang="en-US" altLang="en-US" dirty="0"/>
              <a:t>All loads and stores are completed before any subsequent load or store operations are performed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33DCF-EB56-4B10-A366-EFD89FBB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3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EB62E9DF-79BE-4D41-A115-0B00BD286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Memory Barrier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0F8FCABA-C90D-4445-80C2-DD29007327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We could add a memory barrier to the following instructions to ensure Thread 1 outputs 100:</a:t>
            </a:r>
          </a:p>
          <a:p>
            <a:r>
              <a:rPr lang="en-US" altLang="en-US"/>
              <a:t>Thread 1 now performs</a:t>
            </a:r>
            <a:br>
              <a:rPr lang="en-US" altLang="en-US"/>
            </a:br>
            <a:br>
              <a:rPr lang="en-US" altLang="en-US"/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while (!flag)</a:t>
            </a:r>
            <a:b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memory_barrier();</a:t>
            </a:r>
            <a:b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print x</a:t>
            </a:r>
          </a:p>
          <a:p>
            <a:r>
              <a:rPr lang="en-US" altLang="en-US"/>
              <a:t>Thread 2 now performs</a:t>
            </a:r>
            <a:br>
              <a:rPr lang="en-US" altLang="en-US"/>
            </a:br>
            <a:br>
              <a:rPr lang="en-US" altLang="en-US"/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x = 100;</a:t>
            </a:r>
            <a:b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memory_barrier();</a:t>
            </a:r>
            <a:b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flag = true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54A246-CF08-440D-B841-F2F8B5EB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A973C55-CAA2-469D-8A49-F6D6EDE5D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Hardware Instructions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38568644-6F99-42E8-9A72-9F377C40CE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Special hardware instructions that allow us to </a:t>
            </a:r>
          </a:p>
          <a:p>
            <a:pPr marL="0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either </a:t>
            </a:r>
            <a:r>
              <a:rPr lang="en-US" altLang="en-US" i="1" dirty="0"/>
              <a:t>test-and-modify</a:t>
            </a:r>
            <a:r>
              <a:rPr lang="en-US" altLang="en-US" dirty="0"/>
              <a:t> the content of a word, </a:t>
            </a:r>
          </a:p>
          <a:p>
            <a:pPr lvl="2"/>
            <a:r>
              <a:rPr lang="en-US" altLang="en-US" b="1" dirty="0"/>
              <a:t>Test-and-Set</a:t>
            </a:r>
            <a:r>
              <a:rPr lang="en-US" altLang="en-US" dirty="0"/>
              <a:t> instruction</a:t>
            </a:r>
          </a:p>
          <a:p>
            <a:pPr marL="914400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or two </a:t>
            </a:r>
            <a:r>
              <a:rPr lang="en-US" altLang="en-US" i="1" dirty="0"/>
              <a:t>swap</a:t>
            </a:r>
            <a:r>
              <a:rPr lang="en-US" altLang="en-US" dirty="0"/>
              <a:t> the contents of two words </a:t>
            </a:r>
            <a:r>
              <a:rPr lang="en-US" altLang="en-US" dirty="0">
                <a:solidFill>
                  <a:srgbClr val="FF0000"/>
                </a:solidFill>
              </a:rPr>
              <a:t>atomically (</a:t>
            </a:r>
            <a:r>
              <a:rPr lang="en-US" altLang="en-US" dirty="0" err="1">
                <a:solidFill>
                  <a:srgbClr val="FF0000"/>
                </a:solidFill>
              </a:rPr>
              <a:t>uninterruptibly</a:t>
            </a:r>
            <a:r>
              <a:rPr lang="en-US" altLang="en-US" dirty="0">
                <a:solidFill>
                  <a:srgbClr val="FF0000"/>
                </a:solidFill>
              </a:rPr>
              <a:t>.)</a:t>
            </a:r>
          </a:p>
          <a:p>
            <a:pPr lvl="2"/>
            <a:r>
              <a:rPr lang="en-US" altLang="en-US" b="1" dirty="0"/>
              <a:t>Compare-and-Swap</a:t>
            </a:r>
            <a:r>
              <a:rPr lang="en-US" altLang="en-US" dirty="0"/>
              <a:t> instruction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02CAA-4C15-4193-9B3C-FC002F38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F836051-A8C9-4F70-8857-04F71B326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1464" y="161926"/>
            <a:ext cx="7399337" cy="57626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dirty="0" err="1"/>
              <a:t>test_and_set</a:t>
            </a:r>
            <a:r>
              <a:rPr lang="en-US" altLang="en-US" b="1" dirty="0"/>
              <a:t>  </a:t>
            </a:r>
            <a:r>
              <a:rPr lang="en-US" altLang="en-US" dirty="0"/>
              <a:t>Instruction 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1A06946-0924-4F48-976A-EE2DCA4704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0451" y="827089"/>
            <a:ext cx="7408863" cy="4422775"/>
          </a:xfrm>
        </p:spPr>
        <p:txBody>
          <a:bodyPr>
            <a:normAutofit lnSpcReduction="10000"/>
          </a:bodyPr>
          <a:lstStyle/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/>
          </a:p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   Definition: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boolean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(boolean *target)</a:t>
            </a:r>
          </a:p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{</a:t>
            </a:r>
          </a:p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boolean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*target;</a:t>
            </a:r>
          </a:p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*target = true;</a:t>
            </a:r>
          </a:p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return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:</a:t>
            </a:r>
          </a:p>
          <a:p>
            <a:pPr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Executed atomically, </a:t>
            </a:r>
            <a:r>
              <a:rPr lang="en-US" altLang="en-US" dirty="0">
                <a:solidFill>
                  <a:srgbClr val="FF0000"/>
                </a:solidFill>
              </a:rPr>
              <a:t>one shot!!!!!</a:t>
            </a:r>
          </a:p>
          <a:p>
            <a:pPr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Returns the </a:t>
            </a:r>
            <a:r>
              <a:rPr lang="en-US" altLang="en-US" dirty="0">
                <a:solidFill>
                  <a:srgbClr val="FF0000"/>
                </a:solidFill>
              </a:rPr>
              <a:t>original</a:t>
            </a:r>
            <a:r>
              <a:rPr lang="en-US" altLang="en-US" dirty="0"/>
              <a:t> value of passed parameter</a:t>
            </a:r>
          </a:p>
          <a:p>
            <a:pPr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Set the </a:t>
            </a:r>
            <a:r>
              <a:rPr lang="en-US" altLang="en-US" dirty="0">
                <a:solidFill>
                  <a:srgbClr val="FF0000"/>
                </a:solidFill>
              </a:rPr>
              <a:t>new value </a:t>
            </a:r>
            <a:r>
              <a:rPr lang="en-US" altLang="en-US" dirty="0"/>
              <a:t>of passed parameter to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true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F0982B-CDCB-4270-B3EE-CCCD71E9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489353C-1145-4A96-82AC-3A157B4ED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Solution using </a:t>
            </a:r>
            <a:r>
              <a:rPr lang="en-US" altLang="en-US" b="1" dirty="0" err="1"/>
              <a:t>test_and_set</a:t>
            </a:r>
            <a:r>
              <a:rPr lang="en-US" altLang="en-US" b="1" dirty="0"/>
              <a:t>()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9A26B2C-296A-472D-9832-A6F59C38D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3400" dirty="0"/>
              <a:t>Shared boolean variable </a:t>
            </a:r>
            <a:r>
              <a:rPr lang="en-US" alt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3400" dirty="0"/>
              <a:t>, initialized to </a:t>
            </a:r>
            <a:r>
              <a:rPr lang="en-US" alt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3400" dirty="0"/>
              <a:t>Solution:</a:t>
            </a:r>
            <a:endParaRPr lang="en-US" altLang="en-US" sz="3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{</a:t>
            </a:r>
            <a:b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while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(&amp;lock))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; /* do nothing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/* critical section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lock = false;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/* remainder section */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} while (true);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            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C340E7-5BBA-4AB6-A760-02F55172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814C229-80A9-4FD0-A8ED-E288AFC7F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 err="1"/>
              <a:t>compare_and_swap</a:t>
            </a:r>
            <a:r>
              <a:rPr lang="en-US" altLang="en-US" b="1" dirty="0"/>
              <a:t> </a:t>
            </a:r>
            <a:r>
              <a:rPr lang="en-US" altLang="en-US" dirty="0"/>
              <a:t>Instruction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98C1B752-8460-4C5E-A205-32FFBEBA95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/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Definition: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anose="02070309020205020404" pitchFamily="49" charset="0"/>
              </a:rPr>
              <a:t>     int compare _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and_swap</a:t>
            </a:r>
            <a:r>
              <a:rPr lang="en-US" altLang="en-US" sz="1400" b="1" dirty="0">
                <a:latin typeface="Courier New" panose="02070309020205020404" pitchFamily="49" charset="0"/>
              </a:rPr>
              <a:t>(int *value, int expected, int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new_value</a:t>
            </a:r>
            <a:r>
              <a:rPr lang="en-US" altLang="en-US" sz="1400" b="1" dirty="0">
                <a:latin typeface="Courier New" panose="02070309020205020404" pitchFamily="49" charset="0"/>
              </a:rPr>
              <a:t>) {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anose="02070309020205020404" pitchFamily="49" charset="0"/>
              </a:rPr>
              <a:t>         int temp = *value;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anose="02070309020205020404" pitchFamily="49" charset="0"/>
              </a:rPr>
              <a:t>         if (*value == expected)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anose="02070309020205020404" pitchFamily="49" charset="0"/>
              </a:rPr>
              <a:t>            *value 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new_value</a:t>
            </a:r>
            <a:r>
              <a:rPr lang="en-US" altLang="en-US" sz="1400" b="1" dirty="0">
                <a:latin typeface="Courier New" panose="02070309020205020404" pitchFamily="49" charset="0"/>
              </a:rPr>
              <a:t>;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anose="02070309020205020404" pitchFamily="49" charset="0"/>
              </a:rPr>
              <a:t>      return temp;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anose="02070309020205020404" pitchFamily="49" charset="0"/>
              </a:rPr>
              <a:t>     } </a:t>
            </a:r>
          </a:p>
          <a:p>
            <a:pPr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Executed atomically</a:t>
            </a:r>
          </a:p>
          <a:p>
            <a:pPr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Returns the </a:t>
            </a:r>
            <a:r>
              <a:rPr lang="en-US" altLang="en-US" dirty="0">
                <a:solidFill>
                  <a:srgbClr val="FF0000"/>
                </a:solidFill>
              </a:rPr>
              <a:t>original</a:t>
            </a:r>
            <a:r>
              <a:rPr lang="en-US" altLang="en-US" dirty="0"/>
              <a:t> value of passed parameter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</a:p>
          <a:p>
            <a:pPr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Set  the variable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dirty="0"/>
              <a:t> the value of the passed parameter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new_value</a:t>
            </a:r>
            <a:r>
              <a:rPr lang="en-US" altLang="en-US" dirty="0"/>
              <a:t> but only if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*value == expected </a:t>
            </a:r>
            <a:r>
              <a:rPr lang="en-US" altLang="en-US" dirty="0"/>
              <a:t>is true. That is, the swap takes place only under this condition.</a:t>
            </a:r>
          </a:p>
          <a:p>
            <a:pPr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E3D2C5-7221-420E-B020-5017FA41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BD932F8-E23F-4048-ABAC-945EE2C61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Solution using </a:t>
            </a:r>
            <a:r>
              <a:rPr lang="en-US" altLang="en-US" b="1" dirty="0" err="1"/>
              <a:t>compare_and_swap</a:t>
            </a:r>
            <a:endParaRPr lang="en-US" altLang="en-US" b="1" dirty="0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7DEF311-AFCD-4E8F-8649-188AF86DB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Shared integer  </a:t>
            </a:r>
            <a:r>
              <a:rPr lang="en-US" altLang="ja-JP" b="1" dirty="0"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ja-JP" dirty="0"/>
              <a:t>  initialized to 0; </a:t>
            </a:r>
          </a:p>
          <a:p>
            <a:pPr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Solution: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b="1" dirty="0">
                <a:latin typeface="Courier New" panose="02070309020205020404" pitchFamily="49" charset="0"/>
              </a:rPr>
              <a:t>   </a:t>
            </a:r>
            <a:r>
              <a:rPr lang="en-US" altLang="en-US" sz="1600" b="1" dirty="0">
                <a:latin typeface="Courier New" panose="02070309020205020404" pitchFamily="49" charset="0"/>
              </a:rPr>
              <a:t>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	while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compare_and_swap</a:t>
            </a:r>
            <a:r>
              <a:rPr lang="en-US" altLang="en-US" sz="1600" b="1" dirty="0">
                <a:latin typeface="Courier New" panose="02070309020205020404" pitchFamily="49" charset="0"/>
              </a:rPr>
              <a:t>(&amp;lock, 0, 1) != 0)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	; /* do nothing */ 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anose="02070309020205020404" pitchFamily="49" charset="0"/>
              </a:rPr>
              <a:t>       		/* critical section */ 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anose="02070309020205020404" pitchFamily="49" charset="0"/>
              </a:rPr>
              <a:t>       		lock = 0; 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anose="02070309020205020404" pitchFamily="49" charset="0"/>
              </a:rPr>
              <a:t>          /* remainder section */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anose="02070309020205020404" pitchFamily="49" charset="0"/>
              </a:rPr>
              <a:t>     } 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dirty="0"/>
              <a:t>            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E63534-281C-4632-A3F1-079C287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365456FB-FF2C-4A4F-B8FC-55A2FF8B2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760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Bounded-waiting Mutual Exclusion  with </a:t>
            </a:r>
            <a:r>
              <a:rPr lang="en-US" altLang="en-US" b="1" dirty="0"/>
              <a:t>compare-and-swap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B00C7A03-91BB-4894-98A0-962AF50D88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2043466"/>
            <a:ext cx="10515600" cy="5094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   waiting[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] = true;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   key = 1;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   while (waiting[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] &amp;&amp; key == 1)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key 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compare_and_swap</a:t>
            </a:r>
            <a:r>
              <a:rPr lang="en-US" altLang="en-US" sz="1400" b="1" dirty="0">
                <a:latin typeface="Courier New" panose="02070309020205020404" pitchFamily="49" charset="0"/>
              </a:rPr>
              <a:t>(&amp;lock,0,1);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waiting[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] = false;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/* critical section */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j = (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 + 1) % n;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while ((j !=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) &amp;&amp; !waiting[j])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j = (j + 1) % n;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if (j ==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lock = 0;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else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waiting[j] = false;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/* remainder section */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ACFC0C-5931-4803-891A-99A4698D6A2C}"/>
              </a:ext>
            </a:extLst>
          </p:cNvPr>
          <p:cNvSpPr txBox="1">
            <a:spLocks/>
          </p:cNvSpPr>
          <p:nvPr/>
        </p:nvSpPr>
        <p:spPr bwMode="auto">
          <a:xfrm>
            <a:off x="838200" y="1286935"/>
            <a:ext cx="6015037" cy="756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1400" b="1" i="1" kern="0" dirty="0">
                <a:latin typeface="Courier New" panose="02070309020205020404" pitchFamily="49" charset="0"/>
              </a:rPr>
              <a:t>/* Initially: */</a:t>
            </a:r>
            <a:br>
              <a:rPr lang="en-US" altLang="en-US" sz="1400" b="1" kern="0" dirty="0">
                <a:latin typeface="Courier New" panose="02070309020205020404" pitchFamily="49" charset="0"/>
              </a:rPr>
            </a:br>
            <a:r>
              <a:rPr lang="en-US" altLang="en-US" sz="1400" b="1" kern="0" dirty="0">
                <a:latin typeface="Courier New" panose="02070309020205020404" pitchFamily="49" charset="0"/>
              </a:rPr>
              <a:t>waiting[</a:t>
            </a:r>
            <a:r>
              <a:rPr lang="en-US" altLang="en-US" sz="1400" b="1" kern="0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kern="0" dirty="0">
                <a:latin typeface="Courier New" panose="02070309020205020404" pitchFamily="49" charset="0"/>
              </a:rPr>
              <a:t>] = false; /* for all I */</a:t>
            </a:r>
          </a:p>
          <a:p>
            <a:pPr marL="0" indent="0">
              <a:buNone/>
              <a:defRPr/>
            </a:pPr>
            <a:r>
              <a:rPr lang="en-US" altLang="en-US" sz="1400" b="1" kern="0" dirty="0">
                <a:latin typeface="Courier New" panose="02070309020205020404" pitchFamily="49" charset="0"/>
              </a:rPr>
              <a:t>key = 0;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A3311-CA48-4C16-89FE-B58D7506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365456FB-FF2C-4A4F-B8FC-55A2FF8B2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Bounded-waiting Mutual Exclusion</a:t>
            </a:r>
            <a:endParaRPr lang="en-US" altLang="en-US" b="1" dirty="0"/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B00C7A03-91BB-4894-98A0-962AF50D88A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1427" y="2299759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   waiting[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] = true;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   key = 1;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   while (waiting[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] &amp;&amp; key == 1)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key 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compare_and_swap</a:t>
            </a:r>
            <a:r>
              <a:rPr lang="en-US" altLang="en-US" sz="1400" b="1" dirty="0">
                <a:latin typeface="Courier New" panose="02070309020205020404" pitchFamily="49" charset="0"/>
              </a:rPr>
              <a:t>(&amp;lock,0,1);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waiting[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] = false;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/* critical section */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j = (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 + 1) % n;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while ((j !=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) &amp;&amp; !waiting[j])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j = (j + 1) % n;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if (j ==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lock = 0;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else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waiting[j] = false;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/* remainder section */ </a:t>
            </a:r>
          </a:p>
          <a:p>
            <a:pPr marL="0" indent="0"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D2C42B-0950-4FCF-B170-07D6C7596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315383"/>
            <a:ext cx="5181600" cy="435133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8BB0D9-F6FB-40B4-A466-87D83D4741DA}"/>
              </a:ext>
            </a:extLst>
          </p:cNvPr>
          <p:cNvSpPr txBox="1">
            <a:spLocks/>
          </p:cNvSpPr>
          <p:nvPr/>
        </p:nvSpPr>
        <p:spPr bwMode="auto">
          <a:xfrm>
            <a:off x="3534068" y="1201209"/>
            <a:ext cx="6015037" cy="744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1400" b="1" i="1" kern="0" dirty="0">
                <a:latin typeface="Courier New" panose="02070309020205020404" pitchFamily="49" charset="0"/>
              </a:rPr>
              <a:t>/* Initially: */</a:t>
            </a:r>
            <a:br>
              <a:rPr lang="en-US" altLang="en-US" sz="1400" b="1" kern="0" dirty="0">
                <a:latin typeface="Courier New" panose="02070309020205020404" pitchFamily="49" charset="0"/>
              </a:rPr>
            </a:br>
            <a:r>
              <a:rPr lang="en-US" altLang="en-US" sz="1400" b="1" kern="0" dirty="0">
                <a:latin typeface="Courier New" panose="02070309020205020404" pitchFamily="49" charset="0"/>
              </a:rPr>
              <a:t>waiting[</a:t>
            </a:r>
            <a:r>
              <a:rPr lang="en-US" altLang="en-US" sz="1400" b="1" kern="0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kern="0" dirty="0">
                <a:latin typeface="Courier New" panose="02070309020205020404" pitchFamily="49" charset="0"/>
              </a:rPr>
              <a:t>] = false; /* for all I */</a:t>
            </a:r>
          </a:p>
          <a:p>
            <a:pPr marL="0" indent="0">
              <a:buNone/>
              <a:defRPr/>
            </a:pPr>
            <a:r>
              <a:rPr lang="en-US" altLang="en-US" sz="1400" b="1" kern="0" dirty="0">
                <a:latin typeface="Courier New" panose="02070309020205020404" pitchFamily="49" charset="0"/>
              </a:rPr>
              <a:t>key = 0;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3046B-8E18-460C-8169-810743196DC2}"/>
              </a:ext>
            </a:extLst>
          </p:cNvPr>
          <p:cNvSpPr txBox="1"/>
          <p:nvPr/>
        </p:nvSpPr>
        <p:spPr>
          <a:xfrm>
            <a:off x="1632522" y="1946051"/>
            <a:ext cx="2020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/>
              <a:t>compare-and-swap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5E798-4F56-4686-A036-B9903C96B0CC}"/>
              </a:ext>
            </a:extLst>
          </p:cNvPr>
          <p:cNvSpPr txBox="1"/>
          <p:nvPr/>
        </p:nvSpPr>
        <p:spPr>
          <a:xfrm>
            <a:off x="7714224" y="1930427"/>
            <a:ext cx="1333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/>
              <a:t>test-and-set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3C3C1-48B5-42C2-A6CA-485567D7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6CB1EFA3-7989-410F-AF1F-49BDD50DD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Atomic Variables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09F5BE90-0F92-4818-B695-781057154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Typically, instructions such as </a:t>
            </a:r>
            <a:r>
              <a:rPr lang="en-US" altLang="en-US" b="1" dirty="0"/>
              <a:t>compare-and-swap</a:t>
            </a:r>
            <a:r>
              <a:rPr lang="en-US" altLang="en-US" dirty="0"/>
              <a:t> are used as building blocks for other synchronization tools.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One tool is an </a:t>
            </a:r>
            <a:r>
              <a:rPr lang="en-US" altLang="en-US" b="1" dirty="0"/>
              <a:t>atomic variable </a:t>
            </a:r>
            <a:r>
              <a:rPr lang="en-US" altLang="en-US" dirty="0"/>
              <a:t>that provides </a:t>
            </a:r>
            <a:r>
              <a:rPr lang="en-US" altLang="en-US" i="1" dirty="0"/>
              <a:t>atomic</a:t>
            </a:r>
            <a:r>
              <a:rPr lang="en-US" altLang="en-US" dirty="0"/>
              <a:t> (uninterruptible) updates on basic data types such as integers and </a:t>
            </a:r>
            <a:r>
              <a:rPr lang="en-US" altLang="en-US" dirty="0" err="1"/>
              <a:t>booleans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For example,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increment()</a:t>
            </a:r>
            <a:r>
              <a:rPr lang="en-US" altLang="en-US" dirty="0"/>
              <a:t> operation on the atomic variable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r>
              <a:rPr lang="en-US" altLang="en-US" dirty="0"/>
              <a:t> ensures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r>
              <a:rPr lang="en-US" altLang="en-US" dirty="0"/>
              <a:t> is incremented without interruption: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increment(&amp;sequence);</a:t>
            </a:r>
            <a:r>
              <a:rPr lang="en-US" altLang="en-US" dirty="0"/>
              <a:t> 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ACEA56-998E-4CBA-BD94-16E04406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CEE3EEE5-5446-4CCF-8726-A55E08D64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Atomic Variables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6A6462A7-9519-4E92-9C94-78E3BEC0D3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743955"/>
          </a:xfrm>
        </p:spPr>
        <p:txBody>
          <a:bodyPr>
            <a:normAutofit/>
          </a:bodyPr>
          <a:lstStyle/>
          <a:p>
            <a:r>
              <a:rPr lang="en-US" altLang="en-US" dirty="0"/>
              <a:t>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increment()</a:t>
            </a:r>
            <a:r>
              <a:rPr lang="en-US" altLang="en-US" dirty="0"/>
              <a:t> function can be implemented as follows: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1E16F4-A643-4E7B-A5D0-17F2777688FA}"/>
              </a:ext>
            </a:extLst>
          </p:cNvPr>
          <p:cNvSpPr txBox="1">
            <a:spLocks noChangeArrowheads="1"/>
          </p:cNvSpPr>
          <p:nvPr/>
        </p:nvSpPr>
        <p:spPr>
          <a:xfrm>
            <a:off x="1087056" y="2665052"/>
            <a:ext cx="8982919" cy="17583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void increment(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atomic_int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 *v)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int temp;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do {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temp = *v;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while (temp != (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compare_and_swap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(v,temp,temp+1));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F14485-CE92-476D-868E-238267B8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92EBF-CA27-461A-9D64-9339B8620E8C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956</Words>
  <Application>Microsoft Office PowerPoint</Application>
  <PresentationFormat>Widescreen</PresentationFormat>
  <Paragraphs>133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MS PGothic</vt:lpstr>
      <vt:lpstr>游ゴシック</vt:lpstr>
      <vt:lpstr>Arial</vt:lpstr>
      <vt:lpstr>Calibri</vt:lpstr>
      <vt:lpstr>Calibri Light</vt:lpstr>
      <vt:lpstr>Courier New</vt:lpstr>
      <vt:lpstr>Monotype Sorts</vt:lpstr>
      <vt:lpstr>Times New Roman</vt:lpstr>
      <vt:lpstr>Office Theme</vt:lpstr>
      <vt:lpstr>Process Synchronization Lesson 3 Hardware Instruction Support</vt:lpstr>
      <vt:lpstr>Hardware Support for Synchronization</vt:lpstr>
      <vt:lpstr>Memory Barrier</vt:lpstr>
      <vt:lpstr>Memory Barrier</vt:lpstr>
      <vt:lpstr>Hardware Instructions</vt:lpstr>
      <vt:lpstr>test_and_set  Instruction </vt:lpstr>
      <vt:lpstr>Solution using test_and_set()</vt:lpstr>
      <vt:lpstr>compare_and_swap Instruction</vt:lpstr>
      <vt:lpstr>Solution using compare_and_swap</vt:lpstr>
      <vt:lpstr>Bounded-waiting Mutual Exclusion  with compare-and-swap</vt:lpstr>
      <vt:lpstr>Bounded-waiting Mutual Exclusion</vt:lpstr>
      <vt:lpstr>Atomic Variables</vt:lpstr>
      <vt:lpstr>Atomic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Synchronization Lesson 2 Hardware Support</dc:title>
  <dc:creator>David Liu</dc:creator>
  <cp:lastModifiedBy>David Liu</cp:lastModifiedBy>
  <cp:revision>20</cp:revision>
  <dcterms:created xsi:type="dcterms:W3CDTF">2021-10-19T15:44:22Z</dcterms:created>
  <dcterms:modified xsi:type="dcterms:W3CDTF">2022-02-24T16:22:13Z</dcterms:modified>
</cp:coreProperties>
</file>