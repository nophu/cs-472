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341" r:id="rId13"/>
    <p:sldId id="433" r:id="rId14"/>
    <p:sldId id="426" r:id="rId15"/>
    <p:sldId id="428" r:id="rId16"/>
    <p:sldId id="429" r:id="rId17"/>
    <p:sldId id="430" r:id="rId18"/>
    <p:sldId id="407" r:id="rId19"/>
    <p:sldId id="427" r:id="rId20"/>
    <p:sldId id="431" r:id="rId21"/>
    <p:sldId id="43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FA26B-7B4B-401D-B97B-103132D85D20}" type="datetimeFigureOut">
              <a:rPr lang="en-US" smtClean="0"/>
              <a:t>2/22/2022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6854F-3827-4B19-BA76-F0970900D349}" type="slidenum">
              <a:rPr lang="en-US" smtClean="0"/>
              <a:t>‹#›</a:t>
            </a:fld>
            <a:endParaRPr lang="en-US"/>
          </a:p>
        </p:txBody>
      </p:sp>
    </p:spTree>
    <p:extLst>
      <p:ext uri="{BB962C8B-B14F-4D97-AF65-F5344CB8AC3E}">
        <p14:creationId xmlns:p14="http://schemas.microsoft.com/office/powerpoint/2010/main" val="1092721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3F01B55A-F68F-4704-AAB4-3B533E3ACF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8DFC445-2EF0-43E1-8056-2DCEA5290358}"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5826B969-8975-4F83-BD07-300B8B48A50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B015CD42-C32C-477F-BFFD-F2E61B5A2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3F01B55A-F68F-4704-AAB4-3B533E3ACF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8DFC445-2EF0-43E1-8056-2DCEA5290358}"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5826B969-8975-4F83-BD07-300B8B48A50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B015CD42-C32C-477F-BFFD-F2E61B5A2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3205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BD0CF886-1B8B-4A85-B861-D7891B5ED9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4146E8-2173-4E78-9AFC-FB1725655C04}"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3795" name="Rectangle 2">
            <a:extLst>
              <a:ext uri="{FF2B5EF4-FFF2-40B4-BE49-F238E27FC236}">
                <a16:creationId xmlns:a16="http://schemas.microsoft.com/office/drawing/2014/main" id="{4BDF8AD8-2E1D-40F2-BD9C-DBD74CB0E226}"/>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09F28A6-DAFF-4EFE-B082-715A6696A8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78A63-4C28-40C7-80C0-6B25227292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497233-6BF7-4733-B8C6-DB64F5A961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A556C6-9F4E-45E3-ADE0-8A3B54F37E83}"/>
              </a:ext>
            </a:extLst>
          </p:cNvPr>
          <p:cNvSpPr>
            <a:spLocks noGrp="1"/>
          </p:cNvSpPr>
          <p:nvPr>
            <p:ph type="dt" sz="half" idx="10"/>
          </p:nvPr>
        </p:nvSpPr>
        <p:spPr/>
        <p:txBody>
          <a:bodyPr/>
          <a:lstStyle/>
          <a:p>
            <a:fld id="{DFFFB408-46D1-4BB6-ACA1-F0863843CE17}" type="datetime1">
              <a:rPr lang="en-US" smtClean="0"/>
              <a:t>2/22/2022</a:t>
            </a:fld>
            <a:endParaRPr lang="en-US"/>
          </a:p>
        </p:txBody>
      </p:sp>
      <p:sp>
        <p:nvSpPr>
          <p:cNvPr id="5" name="Footer Placeholder 4">
            <a:extLst>
              <a:ext uri="{FF2B5EF4-FFF2-40B4-BE49-F238E27FC236}">
                <a16:creationId xmlns:a16="http://schemas.microsoft.com/office/drawing/2014/main" id="{5AC7DB56-0BD3-45D7-B609-01C1CEA2B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4EC82C-DA2E-49A8-978A-7CCF38021D90}"/>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135789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1FD-6D71-4CFF-9FE1-04AA5B428F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83190-9FDC-49FA-B4A3-AFD73EB0BB0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B6ACC-D646-445E-93E3-827E4DC4FBFB}"/>
              </a:ext>
            </a:extLst>
          </p:cNvPr>
          <p:cNvSpPr>
            <a:spLocks noGrp="1"/>
          </p:cNvSpPr>
          <p:nvPr>
            <p:ph type="dt" sz="half" idx="10"/>
          </p:nvPr>
        </p:nvSpPr>
        <p:spPr/>
        <p:txBody>
          <a:bodyPr/>
          <a:lstStyle/>
          <a:p>
            <a:fld id="{AF32F8F8-F409-4A48-935B-BE9B2CD83F22}" type="datetime1">
              <a:rPr lang="en-US" smtClean="0"/>
              <a:t>2/22/2022</a:t>
            </a:fld>
            <a:endParaRPr lang="en-US"/>
          </a:p>
        </p:txBody>
      </p:sp>
      <p:sp>
        <p:nvSpPr>
          <p:cNvPr id="5" name="Footer Placeholder 4">
            <a:extLst>
              <a:ext uri="{FF2B5EF4-FFF2-40B4-BE49-F238E27FC236}">
                <a16:creationId xmlns:a16="http://schemas.microsoft.com/office/drawing/2014/main" id="{7246FD3D-1431-4147-AA6E-BB8E7A434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056662-7BC2-4A98-A178-10FAFD7D6C34}"/>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2240393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1129E-A0A2-4E95-9371-A6411520BA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11FEFD-9A41-48A0-9FAE-26F108FAD0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85F7295-D9B3-44DB-B62E-9F74372496B8}"/>
              </a:ext>
            </a:extLst>
          </p:cNvPr>
          <p:cNvSpPr>
            <a:spLocks noGrp="1"/>
          </p:cNvSpPr>
          <p:nvPr>
            <p:ph type="dt" sz="half" idx="10"/>
          </p:nvPr>
        </p:nvSpPr>
        <p:spPr/>
        <p:txBody>
          <a:bodyPr/>
          <a:lstStyle/>
          <a:p>
            <a:fld id="{D130468C-EC64-4C38-8D21-CF942E487D0A}" type="datetime1">
              <a:rPr lang="en-US" smtClean="0"/>
              <a:t>2/22/2022</a:t>
            </a:fld>
            <a:endParaRPr lang="en-US"/>
          </a:p>
        </p:txBody>
      </p:sp>
      <p:sp>
        <p:nvSpPr>
          <p:cNvPr id="5" name="Footer Placeholder 4">
            <a:extLst>
              <a:ext uri="{FF2B5EF4-FFF2-40B4-BE49-F238E27FC236}">
                <a16:creationId xmlns:a16="http://schemas.microsoft.com/office/drawing/2014/main" id="{FA1A4EEE-3476-4D75-BFA5-AB86059FF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8971D0-6F94-458F-82C4-DD98ADF43395}"/>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3247462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BC69-EA20-41B4-BAA4-AA00689BBB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E7F22-05DF-4112-9710-D35EFF202C7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4332471-6811-4B25-9182-F4E930E8DAA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3CB77D-0A96-4E88-A0C7-755012F2C1CD}"/>
              </a:ext>
            </a:extLst>
          </p:cNvPr>
          <p:cNvSpPr>
            <a:spLocks noGrp="1"/>
          </p:cNvSpPr>
          <p:nvPr>
            <p:ph type="dt" sz="half" idx="10"/>
          </p:nvPr>
        </p:nvSpPr>
        <p:spPr/>
        <p:txBody>
          <a:bodyPr/>
          <a:lstStyle/>
          <a:p>
            <a:fld id="{ACC4D502-07DA-4B97-B274-0DD1649A083C}" type="datetime1">
              <a:rPr lang="en-US" smtClean="0"/>
              <a:t>2/22/2022</a:t>
            </a:fld>
            <a:endParaRPr lang="en-US"/>
          </a:p>
        </p:txBody>
      </p:sp>
      <p:sp>
        <p:nvSpPr>
          <p:cNvPr id="6" name="Footer Placeholder 5">
            <a:extLst>
              <a:ext uri="{FF2B5EF4-FFF2-40B4-BE49-F238E27FC236}">
                <a16:creationId xmlns:a16="http://schemas.microsoft.com/office/drawing/2014/main" id="{42B1B79C-3586-45FB-B3D7-37FDDD23F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B03ABE-29B9-4A20-8AB8-E78A0A5AE32B}"/>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319067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7F551-B1E8-4642-9DC4-7536C1B38F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EE8B73-B8E1-4B0A-98FF-2E937E4C9E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4701608-174D-40B1-B3F5-B0AED6E78D2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F29D27-82F9-423F-9848-36B6740163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9456D58-CC80-4CEA-BDBD-DFB42B28020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63E764-82BA-4F88-8B72-C41F280347FC}"/>
              </a:ext>
            </a:extLst>
          </p:cNvPr>
          <p:cNvSpPr>
            <a:spLocks noGrp="1"/>
          </p:cNvSpPr>
          <p:nvPr>
            <p:ph type="dt" sz="half" idx="10"/>
          </p:nvPr>
        </p:nvSpPr>
        <p:spPr/>
        <p:txBody>
          <a:bodyPr/>
          <a:lstStyle/>
          <a:p>
            <a:fld id="{DA6AE93A-340C-4ED8-B680-1D87BA5633AA}" type="datetime1">
              <a:rPr lang="en-US" smtClean="0"/>
              <a:t>2/22/2022</a:t>
            </a:fld>
            <a:endParaRPr lang="en-US"/>
          </a:p>
        </p:txBody>
      </p:sp>
      <p:sp>
        <p:nvSpPr>
          <p:cNvPr id="8" name="Footer Placeholder 7">
            <a:extLst>
              <a:ext uri="{FF2B5EF4-FFF2-40B4-BE49-F238E27FC236}">
                <a16:creationId xmlns:a16="http://schemas.microsoft.com/office/drawing/2014/main" id="{F4F27495-D01C-4D0B-9EB3-EB26D66A93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E279CB-4AD7-4E1F-9D91-B7518766FBBC}"/>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357414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464F1-C6E5-41BB-A389-00888F507E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B6A7F2-C57A-460F-A353-11CE974399A4}"/>
              </a:ext>
            </a:extLst>
          </p:cNvPr>
          <p:cNvSpPr>
            <a:spLocks noGrp="1"/>
          </p:cNvSpPr>
          <p:nvPr>
            <p:ph type="dt" sz="half" idx="10"/>
          </p:nvPr>
        </p:nvSpPr>
        <p:spPr/>
        <p:txBody>
          <a:bodyPr/>
          <a:lstStyle/>
          <a:p>
            <a:fld id="{44A99B70-5688-4780-A00B-D3805D7D668F}" type="datetime1">
              <a:rPr lang="en-US" smtClean="0"/>
              <a:t>2/22/2022</a:t>
            </a:fld>
            <a:endParaRPr lang="en-US"/>
          </a:p>
        </p:txBody>
      </p:sp>
      <p:sp>
        <p:nvSpPr>
          <p:cNvPr id="4" name="Footer Placeholder 3">
            <a:extLst>
              <a:ext uri="{FF2B5EF4-FFF2-40B4-BE49-F238E27FC236}">
                <a16:creationId xmlns:a16="http://schemas.microsoft.com/office/drawing/2014/main" id="{48F39BDE-D14F-4183-9406-4DF991223D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D53CEE-B64C-4CE2-A65A-1C65580818BF}"/>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3720045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AC552-2B67-4FEB-B3CA-70ACF481CE2F}"/>
              </a:ext>
            </a:extLst>
          </p:cNvPr>
          <p:cNvSpPr>
            <a:spLocks noGrp="1"/>
          </p:cNvSpPr>
          <p:nvPr>
            <p:ph type="dt" sz="half" idx="10"/>
          </p:nvPr>
        </p:nvSpPr>
        <p:spPr/>
        <p:txBody>
          <a:bodyPr/>
          <a:lstStyle/>
          <a:p>
            <a:fld id="{4FFB153A-D4A1-43B4-B3B8-63D132DF29B6}" type="datetime1">
              <a:rPr lang="en-US" smtClean="0"/>
              <a:t>2/22/2022</a:t>
            </a:fld>
            <a:endParaRPr lang="en-US"/>
          </a:p>
        </p:txBody>
      </p:sp>
      <p:sp>
        <p:nvSpPr>
          <p:cNvPr id="3" name="Footer Placeholder 2">
            <a:extLst>
              <a:ext uri="{FF2B5EF4-FFF2-40B4-BE49-F238E27FC236}">
                <a16:creationId xmlns:a16="http://schemas.microsoft.com/office/drawing/2014/main" id="{A1899A08-BE56-4AE6-96F3-A149F9FD87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9C6FB3-F057-4852-91EE-43D3BD63AFD3}"/>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199600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63FDD-6FD8-4776-9A5A-A61212B41C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98C4A-F504-4D37-AD28-FA5F723EEF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5E41B4-F56D-470A-8F31-1819EA0EC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808AA34-0E76-4BBF-A953-C4CAE5277677}"/>
              </a:ext>
            </a:extLst>
          </p:cNvPr>
          <p:cNvSpPr>
            <a:spLocks noGrp="1"/>
          </p:cNvSpPr>
          <p:nvPr>
            <p:ph type="dt" sz="half" idx="10"/>
          </p:nvPr>
        </p:nvSpPr>
        <p:spPr/>
        <p:txBody>
          <a:bodyPr/>
          <a:lstStyle/>
          <a:p>
            <a:fld id="{53602EE3-290B-40FC-B90B-5015988465A2}" type="datetime1">
              <a:rPr lang="en-US" smtClean="0"/>
              <a:t>2/22/2022</a:t>
            </a:fld>
            <a:endParaRPr lang="en-US"/>
          </a:p>
        </p:txBody>
      </p:sp>
      <p:sp>
        <p:nvSpPr>
          <p:cNvPr id="6" name="Footer Placeholder 5">
            <a:extLst>
              <a:ext uri="{FF2B5EF4-FFF2-40B4-BE49-F238E27FC236}">
                <a16:creationId xmlns:a16="http://schemas.microsoft.com/office/drawing/2014/main" id="{D47BE5B9-BB3F-4806-94D9-C29834D3EA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E6A75B-2981-4BA7-BF91-38229C2CA4D1}"/>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4083478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B38E1-10BD-4CDA-996F-B4ED7EB2B0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E9CAC2-4B44-4601-9C65-FEE7B18975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56C583-4646-4378-9B8F-B602439A2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24904D-3E4C-4CA7-8F35-464AF57B7EF8}"/>
              </a:ext>
            </a:extLst>
          </p:cNvPr>
          <p:cNvSpPr>
            <a:spLocks noGrp="1"/>
          </p:cNvSpPr>
          <p:nvPr>
            <p:ph type="dt" sz="half" idx="10"/>
          </p:nvPr>
        </p:nvSpPr>
        <p:spPr/>
        <p:txBody>
          <a:bodyPr/>
          <a:lstStyle/>
          <a:p>
            <a:fld id="{BE2CF667-085F-4C4E-9825-FECEA092F7C9}" type="datetime1">
              <a:rPr lang="en-US" smtClean="0"/>
              <a:t>2/22/2022</a:t>
            </a:fld>
            <a:endParaRPr lang="en-US"/>
          </a:p>
        </p:txBody>
      </p:sp>
      <p:sp>
        <p:nvSpPr>
          <p:cNvPr id="6" name="Footer Placeholder 5">
            <a:extLst>
              <a:ext uri="{FF2B5EF4-FFF2-40B4-BE49-F238E27FC236}">
                <a16:creationId xmlns:a16="http://schemas.microsoft.com/office/drawing/2014/main" id="{B036532C-17AC-4519-B0EC-D1FB369B38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26E7F-4C7A-4A0F-A645-E6D5AF8729B7}"/>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190573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284D2-0A29-4B8C-87B5-B3883008EE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579738-DD09-4BEE-81AD-DFA43960803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B7408A-D614-48C4-8582-EC2B5DE6EEFC}"/>
              </a:ext>
            </a:extLst>
          </p:cNvPr>
          <p:cNvSpPr>
            <a:spLocks noGrp="1"/>
          </p:cNvSpPr>
          <p:nvPr>
            <p:ph type="dt" sz="half" idx="10"/>
          </p:nvPr>
        </p:nvSpPr>
        <p:spPr/>
        <p:txBody>
          <a:bodyPr/>
          <a:lstStyle/>
          <a:p>
            <a:fld id="{FF10E9C4-C3DC-4631-816D-4D3A638737AF}" type="datetime1">
              <a:rPr lang="en-US" smtClean="0"/>
              <a:t>2/22/2022</a:t>
            </a:fld>
            <a:endParaRPr lang="en-US"/>
          </a:p>
        </p:txBody>
      </p:sp>
      <p:sp>
        <p:nvSpPr>
          <p:cNvPr id="5" name="Footer Placeholder 4">
            <a:extLst>
              <a:ext uri="{FF2B5EF4-FFF2-40B4-BE49-F238E27FC236}">
                <a16:creationId xmlns:a16="http://schemas.microsoft.com/office/drawing/2014/main" id="{AF86450B-0469-4103-B092-9B3B9379E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44D7E5-B1C0-4C52-900A-9544F863B5D7}"/>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3760588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75ADE6-998E-4822-A9AF-1B2BC8713A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A27115-09F2-4122-9B8F-4C41CE70408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43EC6-4B08-43CE-91F6-6E4F49DCF8BD}"/>
              </a:ext>
            </a:extLst>
          </p:cNvPr>
          <p:cNvSpPr>
            <a:spLocks noGrp="1"/>
          </p:cNvSpPr>
          <p:nvPr>
            <p:ph type="dt" sz="half" idx="10"/>
          </p:nvPr>
        </p:nvSpPr>
        <p:spPr/>
        <p:txBody>
          <a:bodyPr/>
          <a:lstStyle/>
          <a:p>
            <a:fld id="{A6364FBA-6455-4247-8B7E-3CD42AEFABDF}" type="datetime1">
              <a:rPr lang="en-US" smtClean="0"/>
              <a:t>2/22/2022</a:t>
            </a:fld>
            <a:endParaRPr lang="en-US"/>
          </a:p>
        </p:txBody>
      </p:sp>
      <p:sp>
        <p:nvSpPr>
          <p:cNvPr id="5" name="Footer Placeholder 4">
            <a:extLst>
              <a:ext uri="{FF2B5EF4-FFF2-40B4-BE49-F238E27FC236}">
                <a16:creationId xmlns:a16="http://schemas.microsoft.com/office/drawing/2014/main" id="{9BD5079E-FAF0-4B49-89D6-7349DB3C7A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A5EEA-8554-4D84-B2C0-5CF0B599EFF2}"/>
              </a:ext>
            </a:extLst>
          </p:cNvPr>
          <p:cNvSpPr>
            <a:spLocks noGrp="1"/>
          </p:cNvSpPr>
          <p:nvPr>
            <p:ph type="sldNum" sz="quarter" idx="12"/>
          </p:nvPr>
        </p:nvSpPr>
        <p:spPr/>
        <p:txBody>
          <a:bodyPr/>
          <a:lstStyle/>
          <a:p>
            <a:fld id="{E7C9531F-FEFF-41F6-9815-41D608E752B1}" type="slidenum">
              <a:rPr lang="en-US" smtClean="0"/>
              <a:t>‹#›</a:t>
            </a:fld>
            <a:endParaRPr lang="en-US"/>
          </a:p>
        </p:txBody>
      </p:sp>
    </p:spTree>
    <p:extLst>
      <p:ext uri="{BB962C8B-B14F-4D97-AF65-F5344CB8AC3E}">
        <p14:creationId xmlns:p14="http://schemas.microsoft.com/office/powerpoint/2010/main" val="3459151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603D4A-7B6B-4E20-952D-2B4EDEA0DF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D53C6F-1CC2-4457-A7AD-4F07E40A47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A8E10-755E-4355-B1DC-AF5265E875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38EC93-443A-4FA0-9D4D-155E450DF09C}" type="datetime1">
              <a:rPr lang="en-US" smtClean="0"/>
              <a:t>2/22/2022</a:t>
            </a:fld>
            <a:endParaRPr lang="en-US"/>
          </a:p>
        </p:txBody>
      </p:sp>
      <p:sp>
        <p:nvSpPr>
          <p:cNvPr id="5" name="Footer Placeholder 4">
            <a:extLst>
              <a:ext uri="{FF2B5EF4-FFF2-40B4-BE49-F238E27FC236}">
                <a16:creationId xmlns:a16="http://schemas.microsoft.com/office/drawing/2014/main" id="{AB9002E4-E604-4905-85C0-12A00F3EE7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294E01-0DD5-48FD-AD7C-22064B2B4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C9531F-FEFF-41F6-9815-41D608E752B1}" type="slidenum">
              <a:rPr lang="en-US" smtClean="0"/>
              <a:t>‹#›</a:t>
            </a:fld>
            <a:endParaRPr lang="en-US"/>
          </a:p>
        </p:txBody>
      </p:sp>
    </p:spTree>
    <p:extLst>
      <p:ext uri="{BB962C8B-B14F-4D97-AF65-F5344CB8AC3E}">
        <p14:creationId xmlns:p14="http://schemas.microsoft.com/office/powerpoint/2010/main" val="962715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F3D3-CC3A-496C-AE13-14902D10CA6C}"/>
              </a:ext>
            </a:extLst>
          </p:cNvPr>
          <p:cNvSpPr>
            <a:spLocks noGrp="1"/>
          </p:cNvSpPr>
          <p:nvPr>
            <p:ph type="ctrTitle"/>
          </p:nvPr>
        </p:nvSpPr>
        <p:spPr/>
        <p:txBody>
          <a:bodyPr>
            <a:normAutofit fontScale="90000"/>
          </a:bodyPr>
          <a:lstStyle/>
          <a:p>
            <a:r>
              <a:rPr lang="en-US" dirty="0"/>
              <a:t>Process Synchronization</a:t>
            </a:r>
            <a:br>
              <a:rPr lang="en-US" dirty="0"/>
            </a:br>
            <a:r>
              <a:rPr lang="en-US" dirty="0"/>
              <a:t>Lesson 2</a:t>
            </a:r>
            <a:br>
              <a:rPr lang="en-US" dirty="0"/>
            </a:br>
            <a:r>
              <a:rPr lang="en-US" dirty="0"/>
              <a:t>Critical Section</a:t>
            </a:r>
          </a:p>
        </p:txBody>
      </p:sp>
      <p:sp>
        <p:nvSpPr>
          <p:cNvPr id="3" name="Subtitle 2">
            <a:extLst>
              <a:ext uri="{FF2B5EF4-FFF2-40B4-BE49-F238E27FC236}">
                <a16:creationId xmlns:a16="http://schemas.microsoft.com/office/drawing/2014/main" id="{3605B385-8596-43C9-BE71-416F8D08D0D4}"/>
              </a:ext>
            </a:extLst>
          </p:cNvPr>
          <p:cNvSpPr>
            <a:spLocks noGrp="1"/>
          </p:cNvSpPr>
          <p:nvPr>
            <p:ph type="subTitle" idx="1"/>
          </p:nvPr>
        </p:nvSpPr>
        <p:spPr/>
        <p:txBody>
          <a:bodyPr/>
          <a:lstStyle/>
          <a:p>
            <a:r>
              <a:rPr lang="en-US" dirty="0"/>
              <a:t>David Liu</a:t>
            </a:r>
          </a:p>
          <a:p>
            <a:r>
              <a:rPr lang="en-US" dirty="0"/>
              <a:t>Fall 2021</a:t>
            </a:r>
            <a:r>
              <a:rPr lang="en-US"/>
              <a:t>, Spring 2022</a:t>
            </a:r>
            <a:endParaRPr lang="en-US" dirty="0"/>
          </a:p>
        </p:txBody>
      </p:sp>
      <p:sp>
        <p:nvSpPr>
          <p:cNvPr id="4" name="Slide Number Placeholder 3">
            <a:extLst>
              <a:ext uri="{FF2B5EF4-FFF2-40B4-BE49-F238E27FC236}">
                <a16:creationId xmlns:a16="http://schemas.microsoft.com/office/drawing/2014/main" id="{FF24B057-C3B0-415F-9637-AB0420428BE4}"/>
              </a:ext>
            </a:extLst>
          </p:cNvPr>
          <p:cNvSpPr>
            <a:spLocks noGrp="1"/>
          </p:cNvSpPr>
          <p:nvPr>
            <p:ph type="sldNum" sz="quarter" idx="12"/>
          </p:nvPr>
        </p:nvSpPr>
        <p:spPr/>
        <p:txBody>
          <a:bodyPr/>
          <a:lstStyle/>
          <a:p>
            <a:fld id="{E7C9531F-FEFF-41F6-9815-41D608E752B1}" type="slidenum">
              <a:rPr lang="en-US" smtClean="0"/>
              <a:t>1</a:t>
            </a:fld>
            <a:endParaRPr lang="en-US"/>
          </a:p>
        </p:txBody>
      </p:sp>
    </p:spTree>
    <p:extLst>
      <p:ext uri="{BB962C8B-B14F-4D97-AF65-F5344CB8AC3E}">
        <p14:creationId xmlns:p14="http://schemas.microsoft.com/office/powerpoint/2010/main" val="3013241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7344A-BA9F-4590-8663-47B8B3D5D494}"/>
              </a:ext>
            </a:extLst>
          </p:cNvPr>
          <p:cNvSpPr>
            <a:spLocks noGrp="1"/>
          </p:cNvSpPr>
          <p:nvPr>
            <p:ph type="title"/>
          </p:nvPr>
        </p:nvSpPr>
        <p:spPr/>
        <p:txBody>
          <a:bodyPr/>
          <a:lstStyle/>
          <a:p>
            <a:r>
              <a:rPr lang="en-US" dirty="0"/>
              <a:t>Problems to Solve</a:t>
            </a:r>
          </a:p>
        </p:txBody>
      </p:sp>
      <p:sp>
        <p:nvSpPr>
          <p:cNvPr id="3" name="Content Placeholder 2">
            <a:extLst>
              <a:ext uri="{FF2B5EF4-FFF2-40B4-BE49-F238E27FC236}">
                <a16:creationId xmlns:a16="http://schemas.microsoft.com/office/drawing/2014/main" id="{D5E86A93-CC62-47A6-9112-CBC94F597811}"/>
              </a:ext>
            </a:extLst>
          </p:cNvPr>
          <p:cNvSpPr>
            <a:spLocks noGrp="1"/>
          </p:cNvSpPr>
          <p:nvPr>
            <p:ph idx="1"/>
          </p:nvPr>
        </p:nvSpPr>
        <p:spPr/>
        <p:txBody>
          <a:bodyPr/>
          <a:lstStyle/>
          <a:p>
            <a:r>
              <a:rPr lang="en-US" dirty="0"/>
              <a:t>Race condition</a:t>
            </a:r>
          </a:p>
          <a:p>
            <a:pPr lvl="1"/>
            <a:r>
              <a:rPr lang="en-US" dirty="0"/>
              <a:t>Finish variable update without interruption</a:t>
            </a:r>
          </a:p>
          <a:p>
            <a:r>
              <a:rPr lang="en-US" dirty="0"/>
              <a:t>Positively, maximize data sharing opportunities with certain requirements.</a:t>
            </a:r>
          </a:p>
        </p:txBody>
      </p:sp>
      <p:sp>
        <p:nvSpPr>
          <p:cNvPr id="4" name="Slide Number Placeholder 3">
            <a:extLst>
              <a:ext uri="{FF2B5EF4-FFF2-40B4-BE49-F238E27FC236}">
                <a16:creationId xmlns:a16="http://schemas.microsoft.com/office/drawing/2014/main" id="{1B7B5C15-39F0-4B06-87C6-FEE9FAE253F6}"/>
              </a:ext>
            </a:extLst>
          </p:cNvPr>
          <p:cNvSpPr>
            <a:spLocks noGrp="1"/>
          </p:cNvSpPr>
          <p:nvPr>
            <p:ph type="sldNum" sz="quarter" idx="12"/>
          </p:nvPr>
        </p:nvSpPr>
        <p:spPr/>
        <p:txBody>
          <a:bodyPr/>
          <a:lstStyle/>
          <a:p>
            <a:fld id="{E7C9531F-FEFF-41F6-9815-41D608E752B1}" type="slidenum">
              <a:rPr lang="en-US" smtClean="0"/>
              <a:t>2</a:t>
            </a:fld>
            <a:endParaRPr lang="en-US"/>
          </a:p>
        </p:txBody>
      </p:sp>
    </p:spTree>
    <p:extLst>
      <p:ext uri="{BB962C8B-B14F-4D97-AF65-F5344CB8AC3E}">
        <p14:creationId xmlns:p14="http://schemas.microsoft.com/office/powerpoint/2010/main" val="733746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A977E-BBFF-441E-A8DB-D6015F2D0668}"/>
              </a:ext>
            </a:extLst>
          </p:cNvPr>
          <p:cNvSpPr>
            <a:spLocks noGrp="1"/>
          </p:cNvSpPr>
          <p:nvPr>
            <p:ph type="title"/>
          </p:nvPr>
        </p:nvSpPr>
        <p:spPr/>
        <p:txBody>
          <a:bodyPr/>
          <a:lstStyle/>
          <a:p>
            <a:r>
              <a:rPr lang="en-US" dirty="0"/>
              <a:t>Process Critical Section</a:t>
            </a:r>
          </a:p>
        </p:txBody>
      </p:sp>
      <p:sp>
        <p:nvSpPr>
          <p:cNvPr id="3" name="Content Placeholder 2">
            <a:extLst>
              <a:ext uri="{FF2B5EF4-FFF2-40B4-BE49-F238E27FC236}">
                <a16:creationId xmlns:a16="http://schemas.microsoft.com/office/drawing/2014/main" id="{F2BB9BEC-1887-41B0-A041-0AC3C6D1254D}"/>
              </a:ext>
            </a:extLst>
          </p:cNvPr>
          <p:cNvSpPr>
            <a:spLocks noGrp="1"/>
          </p:cNvSpPr>
          <p:nvPr>
            <p:ph idx="1"/>
          </p:nvPr>
        </p:nvSpPr>
        <p:spPr/>
        <p:txBody>
          <a:bodyPr/>
          <a:lstStyle/>
          <a:p>
            <a:r>
              <a:rPr lang="en-US" dirty="0"/>
              <a:t>N processes share common variables, tables or files</a:t>
            </a:r>
          </a:p>
          <a:p>
            <a:r>
              <a:rPr lang="en-US" dirty="0"/>
              <a:t>Each process has a </a:t>
            </a:r>
            <a:r>
              <a:rPr lang="en-US" b="1" dirty="0"/>
              <a:t>Critical Section</a:t>
            </a:r>
          </a:p>
          <a:p>
            <a:pPr lvl="1"/>
            <a:r>
              <a:rPr lang="en-US" dirty="0"/>
              <a:t>Segment of code</a:t>
            </a:r>
          </a:p>
          <a:p>
            <a:pPr lvl="1"/>
            <a:r>
              <a:rPr lang="en-US" dirty="0"/>
              <a:t>Update or change common variables, tables or files</a:t>
            </a:r>
          </a:p>
          <a:p>
            <a:r>
              <a:rPr lang="en-US" dirty="0"/>
              <a:t>Requirement</a:t>
            </a:r>
          </a:p>
          <a:p>
            <a:pPr lvl="1"/>
            <a:r>
              <a:rPr lang="en-US" dirty="0"/>
              <a:t>Only one process can enter its </a:t>
            </a:r>
            <a:r>
              <a:rPr lang="en-US" b="1" dirty="0"/>
              <a:t>critical section </a:t>
            </a:r>
            <a:r>
              <a:rPr lang="en-US" dirty="0"/>
              <a:t>(cs)</a:t>
            </a:r>
          </a:p>
          <a:p>
            <a:pPr lvl="1"/>
            <a:r>
              <a:rPr lang="en-US" b="1" dirty="0"/>
              <a:t>No two processes </a:t>
            </a:r>
            <a:r>
              <a:rPr lang="en-US" dirty="0"/>
              <a:t>can be its own critical section at any time</a:t>
            </a:r>
          </a:p>
          <a:p>
            <a:pPr lvl="1"/>
            <a:endParaRPr lang="en-US" dirty="0"/>
          </a:p>
        </p:txBody>
      </p:sp>
      <p:sp>
        <p:nvSpPr>
          <p:cNvPr id="4" name="Slide Number Placeholder 3">
            <a:extLst>
              <a:ext uri="{FF2B5EF4-FFF2-40B4-BE49-F238E27FC236}">
                <a16:creationId xmlns:a16="http://schemas.microsoft.com/office/drawing/2014/main" id="{1D99A5BF-C925-4170-9C72-AE7B8ED64656}"/>
              </a:ext>
            </a:extLst>
          </p:cNvPr>
          <p:cNvSpPr>
            <a:spLocks noGrp="1"/>
          </p:cNvSpPr>
          <p:nvPr>
            <p:ph type="sldNum" sz="quarter" idx="12"/>
          </p:nvPr>
        </p:nvSpPr>
        <p:spPr/>
        <p:txBody>
          <a:bodyPr/>
          <a:lstStyle/>
          <a:p>
            <a:fld id="{E7C9531F-FEFF-41F6-9815-41D608E752B1}" type="slidenum">
              <a:rPr lang="en-US" smtClean="0"/>
              <a:t>3</a:t>
            </a:fld>
            <a:endParaRPr lang="en-US"/>
          </a:p>
        </p:txBody>
      </p:sp>
    </p:spTree>
    <p:extLst>
      <p:ext uri="{BB962C8B-B14F-4D97-AF65-F5344CB8AC3E}">
        <p14:creationId xmlns:p14="http://schemas.microsoft.com/office/powerpoint/2010/main" val="3232403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B50D3-E51F-45A8-999E-2708074A8928}"/>
              </a:ext>
            </a:extLst>
          </p:cNvPr>
          <p:cNvSpPr>
            <a:spLocks noGrp="1"/>
          </p:cNvSpPr>
          <p:nvPr>
            <p:ph type="title"/>
          </p:nvPr>
        </p:nvSpPr>
        <p:spPr/>
        <p:txBody>
          <a:bodyPr/>
          <a:lstStyle/>
          <a:p>
            <a:r>
              <a:rPr lang="en-US" dirty="0"/>
              <a:t>Critical Section</a:t>
            </a:r>
          </a:p>
        </p:txBody>
      </p:sp>
      <p:sp>
        <p:nvSpPr>
          <p:cNvPr id="4" name="Content Placeholder 2">
            <a:extLst>
              <a:ext uri="{FF2B5EF4-FFF2-40B4-BE49-F238E27FC236}">
                <a16:creationId xmlns:a16="http://schemas.microsoft.com/office/drawing/2014/main" id="{B1C129BB-9A46-456C-B150-A2BD075E1E07}"/>
              </a:ext>
            </a:extLst>
          </p:cNvPr>
          <p:cNvSpPr>
            <a:spLocks noGrp="1" noChangeArrowheads="1"/>
          </p:cNvSpPr>
          <p:nvPr>
            <p:ph idx="1"/>
          </p:nvPr>
        </p:nvSpPr>
        <p:spPr>
          <a:xfrm>
            <a:off x="838200" y="1825625"/>
            <a:ext cx="10515600" cy="518990"/>
          </a:xfrm>
        </p:spPr>
        <p:txBody>
          <a:bodyPr/>
          <a:lstStyle/>
          <a:p>
            <a:r>
              <a:rPr lang="en-US" altLang="en-US" dirty="0"/>
              <a:t>General structure of process </a:t>
            </a:r>
            <a:r>
              <a:rPr lang="en-US" altLang="en-US" b="1" i="1" dirty="0"/>
              <a:t>P</a:t>
            </a:r>
            <a:r>
              <a:rPr lang="en-US" altLang="en-US" b="1" i="1" baseline="-25000" dirty="0"/>
              <a:t>i  </a:t>
            </a:r>
            <a:endParaRPr lang="en-US" altLang="en-US" dirty="0"/>
          </a:p>
          <a:p>
            <a:endParaRPr lang="en-US" altLang="en-US" b="1" dirty="0">
              <a:solidFill>
                <a:srgbClr val="0000FF"/>
              </a:solidFill>
            </a:endParaRPr>
          </a:p>
        </p:txBody>
      </p:sp>
      <p:pic>
        <p:nvPicPr>
          <p:cNvPr id="5" name="Picture 1">
            <a:extLst>
              <a:ext uri="{FF2B5EF4-FFF2-40B4-BE49-F238E27FC236}">
                <a16:creationId xmlns:a16="http://schemas.microsoft.com/office/drawing/2014/main" id="{FD50834E-2BE4-45E8-B3EC-11CB52C4BF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4544" y="2479552"/>
            <a:ext cx="5180255" cy="3579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69992AA0-765F-4D61-89FF-486E19D37A53}"/>
              </a:ext>
            </a:extLst>
          </p:cNvPr>
          <p:cNvSpPr>
            <a:spLocks noGrp="1"/>
          </p:cNvSpPr>
          <p:nvPr>
            <p:ph type="sldNum" sz="quarter" idx="12"/>
          </p:nvPr>
        </p:nvSpPr>
        <p:spPr/>
        <p:txBody>
          <a:bodyPr/>
          <a:lstStyle/>
          <a:p>
            <a:fld id="{E7C9531F-FEFF-41F6-9815-41D608E752B1}" type="slidenum">
              <a:rPr lang="en-US" smtClean="0"/>
              <a:t>4</a:t>
            </a:fld>
            <a:endParaRPr lang="en-US"/>
          </a:p>
        </p:txBody>
      </p:sp>
    </p:spTree>
    <p:extLst>
      <p:ext uri="{BB962C8B-B14F-4D97-AF65-F5344CB8AC3E}">
        <p14:creationId xmlns:p14="http://schemas.microsoft.com/office/powerpoint/2010/main" val="2495319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4C4B0-05AE-4E45-B7B2-1D233B418EFD}"/>
              </a:ext>
            </a:extLst>
          </p:cNvPr>
          <p:cNvSpPr>
            <a:spLocks noGrp="1"/>
          </p:cNvSpPr>
          <p:nvPr>
            <p:ph type="title"/>
          </p:nvPr>
        </p:nvSpPr>
        <p:spPr/>
        <p:txBody>
          <a:bodyPr/>
          <a:lstStyle/>
          <a:p>
            <a:r>
              <a:rPr lang="en-US" dirty="0"/>
              <a:t>Good Solution to Critical Section Problem</a:t>
            </a:r>
          </a:p>
        </p:txBody>
      </p:sp>
      <p:sp>
        <p:nvSpPr>
          <p:cNvPr id="3" name="Content Placeholder 2">
            <a:extLst>
              <a:ext uri="{FF2B5EF4-FFF2-40B4-BE49-F238E27FC236}">
                <a16:creationId xmlns:a16="http://schemas.microsoft.com/office/drawing/2014/main" id="{1BF877F0-7C92-4397-ADCA-45F2DC6CD2D4}"/>
              </a:ext>
            </a:extLst>
          </p:cNvPr>
          <p:cNvSpPr>
            <a:spLocks noGrp="1"/>
          </p:cNvSpPr>
          <p:nvPr>
            <p:ph idx="1"/>
          </p:nvPr>
        </p:nvSpPr>
        <p:spPr>
          <a:xfrm>
            <a:off x="838200" y="1690688"/>
            <a:ext cx="10662138" cy="4698389"/>
          </a:xfrm>
        </p:spPr>
        <p:txBody>
          <a:bodyPr>
            <a:normAutofit fontScale="92500" lnSpcReduction="20000"/>
          </a:bodyPr>
          <a:lstStyle/>
          <a:p>
            <a:r>
              <a:rPr lang="en-US" altLang="en-US" b="1" dirty="0">
                <a:solidFill>
                  <a:srgbClr val="3366FF"/>
                </a:solidFill>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endParaRPr lang="en-US" dirty="0"/>
          </a:p>
          <a:p>
            <a:r>
              <a:rPr lang="en-US" altLang="en-US" b="1" dirty="0">
                <a:solidFill>
                  <a:srgbClr val="3366FF"/>
                </a:solidFill>
              </a:rPr>
              <a:t>Progress</a:t>
            </a:r>
            <a:r>
              <a:rPr lang="en-US" altLang="en-US" b="1" dirty="0"/>
              <a:t> </a:t>
            </a:r>
            <a:r>
              <a:rPr lang="en-US" altLang="en-US" dirty="0"/>
              <a:t>- If no process is executing in its critical section and there exist some processes that wish to enter their critical section, then the selection of the processes that will enter the critical section next cannot be postponed indefinitely</a:t>
            </a:r>
          </a:p>
          <a:p>
            <a:endParaRPr lang="en-US" altLang="en-US" b="1" dirty="0">
              <a:solidFill>
                <a:srgbClr val="3366FF"/>
              </a:solidFill>
            </a:endParaRPr>
          </a:p>
          <a:p>
            <a:r>
              <a:rPr lang="en-US" altLang="en-US" b="1" dirty="0">
                <a:solidFill>
                  <a:srgbClr val="3366FF"/>
                </a:solidFill>
              </a:rPr>
              <a:t>Bounded Waiting </a:t>
            </a:r>
            <a:r>
              <a:rPr lang="en-US" altLang="en-US" dirty="0"/>
              <a:t>-  A </a:t>
            </a:r>
            <a:r>
              <a:rPr lang="en-US" altLang="en-US" dirty="0">
                <a:solidFill>
                  <a:srgbClr val="FF0000"/>
                </a:solidFill>
              </a:rPr>
              <a:t>bound</a:t>
            </a:r>
            <a:r>
              <a:rPr lang="en-US" altLang="en-US" dirty="0"/>
              <a:t> must exist on </a:t>
            </a:r>
            <a:r>
              <a:rPr lang="en-US" altLang="en-US" dirty="0">
                <a:solidFill>
                  <a:srgbClr val="FF0000"/>
                </a:solidFill>
              </a:rPr>
              <a:t>the number of times </a:t>
            </a:r>
            <a:r>
              <a:rPr lang="en-US" altLang="en-US" dirty="0"/>
              <a:t>that other processes are allowed to enter their critical sections after a process has </a:t>
            </a:r>
            <a:r>
              <a:rPr lang="en-US" altLang="en-US" dirty="0">
                <a:solidFill>
                  <a:srgbClr val="FF0000"/>
                </a:solidFill>
              </a:rPr>
              <a:t>made a request </a:t>
            </a:r>
            <a:r>
              <a:rPr lang="en-US" altLang="en-US" dirty="0"/>
              <a:t>to enter its critical section and before that request is granted</a:t>
            </a:r>
          </a:p>
          <a:p>
            <a:pPr marL="795338" lvl="1" indent="-338138">
              <a:buSzPct val="125000"/>
              <a:buFont typeface="Wingdings 2" panose="05020102010507070707" pitchFamily="18" charset="2"/>
              <a:buChar char=""/>
            </a:pPr>
            <a:r>
              <a:rPr lang="en-US" altLang="en-US" dirty="0"/>
              <a:t>Assume that each process executes at a nonzero speed </a:t>
            </a:r>
          </a:p>
          <a:p>
            <a:pPr marL="795338" lvl="1" indent="-338138">
              <a:buSzPct val="125000"/>
              <a:buFont typeface="Wingdings 2" panose="05020102010507070707" pitchFamily="18" charset="2"/>
              <a:buChar char=""/>
            </a:pPr>
            <a:r>
              <a:rPr lang="en-US" altLang="en-US" dirty="0"/>
              <a:t>No assumption concerning </a:t>
            </a:r>
            <a:r>
              <a:rPr lang="en-US" altLang="en-US" b="1" dirty="0">
                <a:solidFill>
                  <a:srgbClr val="3366FF"/>
                </a:solidFill>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a:p>
            <a:endParaRPr lang="en-US" dirty="0"/>
          </a:p>
        </p:txBody>
      </p:sp>
      <p:sp>
        <p:nvSpPr>
          <p:cNvPr id="4" name="Slide Number Placeholder 3">
            <a:extLst>
              <a:ext uri="{FF2B5EF4-FFF2-40B4-BE49-F238E27FC236}">
                <a16:creationId xmlns:a16="http://schemas.microsoft.com/office/drawing/2014/main" id="{C3DD5056-A0E7-44B5-85BA-14F9C95971D0}"/>
              </a:ext>
            </a:extLst>
          </p:cNvPr>
          <p:cNvSpPr>
            <a:spLocks noGrp="1"/>
          </p:cNvSpPr>
          <p:nvPr>
            <p:ph type="sldNum" sz="quarter" idx="12"/>
          </p:nvPr>
        </p:nvSpPr>
        <p:spPr/>
        <p:txBody>
          <a:bodyPr/>
          <a:lstStyle/>
          <a:p>
            <a:fld id="{E7C9531F-FEFF-41F6-9815-41D608E752B1}" type="slidenum">
              <a:rPr lang="en-US" smtClean="0"/>
              <a:t>5</a:t>
            </a:fld>
            <a:endParaRPr lang="en-US"/>
          </a:p>
        </p:txBody>
      </p:sp>
    </p:spTree>
    <p:extLst>
      <p:ext uri="{BB962C8B-B14F-4D97-AF65-F5344CB8AC3E}">
        <p14:creationId xmlns:p14="http://schemas.microsoft.com/office/powerpoint/2010/main" val="545040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C3A17-0594-43F3-BC7C-63C42FD42352}"/>
              </a:ext>
            </a:extLst>
          </p:cNvPr>
          <p:cNvSpPr>
            <a:spLocks noGrp="1"/>
          </p:cNvSpPr>
          <p:nvPr>
            <p:ph type="title"/>
          </p:nvPr>
        </p:nvSpPr>
        <p:spPr/>
        <p:txBody>
          <a:bodyPr/>
          <a:lstStyle/>
          <a:p>
            <a:r>
              <a:rPr lang="en-US" altLang="en-US" b="1" dirty="0">
                <a:solidFill>
                  <a:srgbClr val="3366FF"/>
                </a:solidFill>
              </a:rPr>
              <a:t>Mutual Exclusion</a:t>
            </a:r>
            <a:endParaRPr lang="en-US" dirty="0"/>
          </a:p>
        </p:txBody>
      </p:sp>
      <p:sp>
        <p:nvSpPr>
          <p:cNvPr id="3" name="Content Placeholder 2">
            <a:extLst>
              <a:ext uri="{FF2B5EF4-FFF2-40B4-BE49-F238E27FC236}">
                <a16:creationId xmlns:a16="http://schemas.microsoft.com/office/drawing/2014/main" id="{419CBA6C-DB25-441A-B02D-1B685F3A0FD4}"/>
              </a:ext>
            </a:extLst>
          </p:cNvPr>
          <p:cNvSpPr>
            <a:spLocks noGrp="1"/>
          </p:cNvSpPr>
          <p:nvPr>
            <p:ph idx="1"/>
          </p:nvPr>
        </p:nvSpPr>
        <p:spPr/>
        <p:txBody>
          <a:bodyPr/>
          <a:lstStyle/>
          <a:p>
            <a:r>
              <a:rPr lang="en-US" altLang="en-US" dirty="0"/>
              <a:t>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endParaRPr lang="en-US" dirty="0"/>
          </a:p>
        </p:txBody>
      </p:sp>
      <p:sp>
        <p:nvSpPr>
          <p:cNvPr id="4" name="Slide Number Placeholder 3">
            <a:extLst>
              <a:ext uri="{FF2B5EF4-FFF2-40B4-BE49-F238E27FC236}">
                <a16:creationId xmlns:a16="http://schemas.microsoft.com/office/drawing/2014/main" id="{DBF4423A-A4AD-4F29-862D-1857481103BA}"/>
              </a:ext>
            </a:extLst>
          </p:cNvPr>
          <p:cNvSpPr>
            <a:spLocks noGrp="1"/>
          </p:cNvSpPr>
          <p:nvPr>
            <p:ph type="sldNum" sz="quarter" idx="12"/>
          </p:nvPr>
        </p:nvSpPr>
        <p:spPr/>
        <p:txBody>
          <a:bodyPr/>
          <a:lstStyle/>
          <a:p>
            <a:fld id="{E7C9531F-FEFF-41F6-9815-41D608E752B1}" type="slidenum">
              <a:rPr lang="en-US" smtClean="0"/>
              <a:t>6</a:t>
            </a:fld>
            <a:endParaRPr lang="en-US"/>
          </a:p>
        </p:txBody>
      </p:sp>
    </p:spTree>
    <p:extLst>
      <p:ext uri="{BB962C8B-B14F-4D97-AF65-F5344CB8AC3E}">
        <p14:creationId xmlns:p14="http://schemas.microsoft.com/office/powerpoint/2010/main" val="791407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56BA9-C61A-41AA-AFAA-5AF1BD7BF209}"/>
              </a:ext>
            </a:extLst>
          </p:cNvPr>
          <p:cNvSpPr>
            <a:spLocks noGrp="1"/>
          </p:cNvSpPr>
          <p:nvPr>
            <p:ph type="title"/>
          </p:nvPr>
        </p:nvSpPr>
        <p:spPr/>
        <p:txBody>
          <a:bodyPr/>
          <a:lstStyle/>
          <a:p>
            <a:r>
              <a:rPr lang="en-US" altLang="en-US" b="1" dirty="0">
                <a:solidFill>
                  <a:srgbClr val="3366FF"/>
                </a:solidFill>
              </a:rPr>
              <a:t>Progress</a:t>
            </a:r>
            <a:endParaRPr lang="en-US" dirty="0"/>
          </a:p>
        </p:txBody>
      </p:sp>
      <p:sp>
        <p:nvSpPr>
          <p:cNvPr id="3" name="Content Placeholder 2">
            <a:extLst>
              <a:ext uri="{FF2B5EF4-FFF2-40B4-BE49-F238E27FC236}">
                <a16:creationId xmlns:a16="http://schemas.microsoft.com/office/drawing/2014/main" id="{1456B093-1F89-442D-B58B-0548FDA738DB}"/>
              </a:ext>
            </a:extLst>
          </p:cNvPr>
          <p:cNvSpPr>
            <a:spLocks noGrp="1"/>
          </p:cNvSpPr>
          <p:nvPr>
            <p:ph idx="1"/>
          </p:nvPr>
        </p:nvSpPr>
        <p:spPr/>
        <p:txBody>
          <a:bodyPr/>
          <a:lstStyle/>
          <a:p>
            <a:r>
              <a:rPr lang="en-US" altLang="en-US" dirty="0"/>
              <a:t>If no process is executing in its critical section and there exist some processes that wish to enter their critical section, then the selection of the processes that will enter the critical section next cannot be postponed indefinitely</a:t>
            </a:r>
          </a:p>
          <a:p>
            <a:endParaRPr lang="en-US" dirty="0"/>
          </a:p>
        </p:txBody>
      </p:sp>
      <p:sp>
        <p:nvSpPr>
          <p:cNvPr id="4" name="Slide Number Placeholder 3">
            <a:extLst>
              <a:ext uri="{FF2B5EF4-FFF2-40B4-BE49-F238E27FC236}">
                <a16:creationId xmlns:a16="http://schemas.microsoft.com/office/drawing/2014/main" id="{31646AC3-080C-407C-8A1B-14EBEBA6B4F3}"/>
              </a:ext>
            </a:extLst>
          </p:cNvPr>
          <p:cNvSpPr>
            <a:spLocks noGrp="1"/>
          </p:cNvSpPr>
          <p:nvPr>
            <p:ph type="sldNum" sz="quarter" idx="12"/>
          </p:nvPr>
        </p:nvSpPr>
        <p:spPr/>
        <p:txBody>
          <a:bodyPr/>
          <a:lstStyle/>
          <a:p>
            <a:fld id="{E7C9531F-FEFF-41F6-9815-41D608E752B1}" type="slidenum">
              <a:rPr lang="en-US" smtClean="0"/>
              <a:t>7</a:t>
            </a:fld>
            <a:endParaRPr lang="en-US"/>
          </a:p>
        </p:txBody>
      </p:sp>
    </p:spTree>
    <p:extLst>
      <p:ext uri="{BB962C8B-B14F-4D97-AF65-F5344CB8AC3E}">
        <p14:creationId xmlns:p14="http://schemas.microsoft.com/office/powerpoint/2010/main" val="65423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73B99-83A5-4411-AE04-A33CAB828324}"/>
              </a:ext>
            </a:extLst>
          </p:cNvPr>
          <p:cNvSpPr>
            <a:spLocks noGrp="1"/>
          </p:cNvSpPr>
          <p:nvPr>
            <p:ph type="title"/>
          </p:nvPr>
        </p:nvSpPr>
        <p:spPr/>
        <p:txBody>
          <a:bodyPr/>
          <a:lstStyle/>
          <a:p>
            <a:r>
              <a:rPr lang="en-US" altLang="en-US" b="1" dirty="0">
                <a:solidFill>
                  <a:srgbClr val="3366FF"/>
                </a:solidFill>
              </a:rPr>
              <a:t>Bounded Waiting</a:t>
            </a:r>
            <a:endParaRPr lang="en-US" dirty="0"/>
          </a:p>
        </p:txBody>
      </p:sp>
      <p:sp>
        <p:nvSpPr>
          <p:cNvPr id="3" name="Content Placeholder 2">
            <a:extLst>
              <a:ext uri="{FF2B5EF4-FFF2-40B4-BE49-F238E27FC236}">
                <a16:creationId xmlns:a16="http://schemas.microsoft.com/office/drawing/2014/main" id="{BD3B1B9F-3B9D-423D-BD22-5342B93932C9}"/>
              </a:ext>
            </a:extLst>
          </p:cNvPr>
          <p:cNvSpPr>
            <a:spLocks noGrp="1"/>
          </p:cNvSpPr>
          <p:nvPr>
            <p:ph idx="1"/>
          </p:nvPr>
        </p:nvSpPr>
        <p:spPr/>
        <p:txBody>
          <a:bodyPr/>
          <a:lstStyle/>
          <a:p>
            <a:r>
              <a:rPr lang="en-US" altLang="en-US" dirty="0"/>
              <a:t>A </a:t>
            </a:r>
            <a:r>
              <a:rPr lang="en-US" altLang="en-US" dirty="0">
                <a:solidFill>
                  <a:srgbClr val="FF0000"/>
                </a:solidFill>
              </a:rPr>
              <a:t>bound</a:t>
            </a:r>
            <a:r>
              <a:rPr lang="en-US" altLang="en-US" dirty="0"/>
              <a:t> must exist on </a:t>
            </a:r>
            <a:r>
              <a:rPr lang="en-US" altLang="en-US" dirty="0">
                <a:solidFill>
                  <a:srgbClr val="FF0000"/>
                </a:solidFill>
              </a:rPr>
              <a:t>the number of times </a:t>
            </a:r>
            <a:r>
              <a:rPr lang="en-US" altLang="en-US" dirty="0"/>
              <a:t>that other processes are allowed to enter their critical sections after a process has </a:t>
            </a:r>
            <a:r>
              <a:rPr lang="en-US" altLang="en-US" dirty="0">
                <a:solidFill>
                  <a:srgbClr val="FF0000"/>
                </a:solidFill>
              </a:rPr>
              <a:t>made a request </a:t>
            </a:r>
            <a:r>
              <a:rPr lang="en-US" altLang="en-US" dirty="0"/>
              <a:t>to enter its critical section and before that request is granted</a:t>
            </a:r>
          </a:p>
          <a:p>
            <a:pPr marL="0" indent="0">
              <a:buNone/>
            </a:pPr>
            <a:endParaRPr lang="en-US" dirty="0"/>
          </a:p>
        </p:txBody>
      </p:sp>
      <p:sp>
        <p:nvSpPr>
          <p:cNvPr id="4" name="Slide Number Placeholder 3">
            <a:extLst>
              <a:ext uri="{FF2B5EF4-FFF2-40B4-BE49-F238E27FC236}">
                <a16:creationId xmlns:a16="http://schemas.microsoft.com/office/drawing/2014/main" id="{150EBD0E-6A59-4784-948F-8997BADA476B}"/>
              </a:ext>
            </a:extLst>
          </p:cNvPr>
          <p:cNvSpPr>
            <a:spLocks noGrp="1"/>
          </p:cNvSpPr>
          <p:nvPr>
            <p:ph type="sldNum" sz="quarter" idx="12"/>
          </p:nvPr>
        </p:nvSpPr>
        <p:spPr/>
        <p:txBody>
          <a:bodyPr/>
          <a:lstStyle/>
          <a:p>
            <a:fld id="{E7C9531F-FEFF-41F6-9815-41D608E752B1}" type="slidenum">
              <a:rPr lang="en-US" smtClean="0"/>
              <a:t>8</a:t>
            </a:fld>
            <a:endParaRPr lang="en-US"/>
          </a:p>
        </p:txBody>
      </p:sp>
    </p:spTree>
    <p:extLst>
      <p:ext uri="{BB962C8B-B14F-4D97-AF65-F5344CB8AC3E}">
        <p14:creationId xmlns:p14="http://schemas.microsoft.com/office/powerpoint/2010/main" val="962326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5E2B-DA30-4782-B8CC-3A5EE5BC4BD2}"/>
              </a:ext>
            </a:extLst>
          </p:cNvPr>
          <p:cNvSpPr>
            <a:spLocks noGrp="1"/>
          </p:cNvSpPr>
          <p:nvPr>
            <p:ph type="title"/>
          </p:nvPr>
        </p:nvSpPr>
        <p:spPr/>
        <p:txBody>
          <a:bodyPr/>
          <a:lstStyle/>
          <a:p>
            <a:r>
              <a:rPr lang="en-US" dirty="0"/>
              <a:t>Shared Variable Update</a:t>
            </a:r>
          </a:p>
        </p:txBody>
      </p:sp>
      <p:sp>
        <p:nvSpPr>
          <p:cNvPr id="3" name="Content Placeholder 2">
            <a:extLst>
              <a:ext uri="{FF2B5EF4-FFF2-40B4-BE49-F238E27FC236}">
                <a16:creationId xmlns:a16="http://schemas.microsoft.com/office/drawing/2014/main" id="{9220AEA5-3FBE-485B-AC51-65B7F407C961}"/>
              </a:ext>
            </a:extLst>
          </p:cNvPr>
          <p:cNvSpPr>
            <a:spLocks noGrp="1"/>
          </p:cNvSpPr>
          <p:nvPr>
            <p:ph idx="1"/>
          </p:nvPr>
        </p:nvSpPr>
        <p:spPr/>
        <p:txBody>
          <a:bodyPr/>
          <a:lstStyle/>
          <a:p>
            <a:r>
              <a:rPr lang="en-US" dirty="0"/>
              <a:t>Single-core environment</a:t>
            </a:r>
          </a:p>
          <a:p>
            <a:endParaRPr lang="en-US" dirty="0"/>
          </a:p>
          <a:p>
            <a:endParaRPr lang="en-US" dirty="0"/>
          </a:p>
          <a:p>
            <a:r>
              <a:rPr lang="en-US" dirty="0"/>
              <a:t>Multiprocessor environment</a:t>
            </a:r>
          </a:p>
        </p:txBody>
      </p:sp>
      <p:sp>
        <p:nvSpPr>
          <p:cNvPr id="4" name="Slide Number Placeholder 3">
            <a:extLst>
              <a:ext uri="{FF2B5EF4-FFF2-40B4-BE49-F238E27FC236}">
                <a16:creationId xmlns:a16="http://schemas.microsoft.com/office/drawing/2014/main" id="{A4FE5F15-225C-491A-8A13-AA8CA232CD93}"/>
              </a:ext>
            </a:extLst>
          </p:cNvPr>
          <p:cNvSpPr>
            <a:spLocks noGrp="1"/>
          </p:cNvSpPr>
          <p:nvPr>
            <p:ph type="sldNum" sz="quarter" idx="12"/>
          </p:nvPr>
        </p:nvSpPr>
        <p:spPr/>
        <p:txBody>
          <a:bodyPr/>
          <a:lstStyle/>
          <a:p>
            <a:fld id="{E7C9531F-FEFF-41F6-9815-41D608E752B1}" type="slidenum">
              <a:rPr lang="en-US" smtClean="0"/>
              <a:t>9</a:t>
            </a:fld>
            <a:endParaRPr lang="en-US"/>
          </a:p>
        </p:txBody>
      </p:sp>
    </p:spTree>
    <p:extLst>
      <p:ext uri="{BB962C8B-B14F-4D97-AF65-F5344CB8AC3E}">
        <p14:creationId xmlns:p14="http://schemas.microsoft.com/office/powerpoint/2010/main" val="47526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5E2B-DA30-4782-B8CC-3A5EE5BC4BD2}"/>
              </a:ext>
            </a:extLst>
          </p:cNvPr>
          <p:cNvSpPr>
            <a:spLocks noGrp="1"/>
          </p:cNvSpPr>
          <p:nvPr>
            <p:ph type="title"/>
          </p:nvPr>
        </p:nvSpPr>
        <p:spPr/>
        <p:txBody>
          <a:bodyPr/>
          <a:lstStyle/>
          <a:p>
            <a:r>
              <a:rPr lang="en-US" dirty="0"/>
              <a:t>Shared Variable Update</a:t>
            </a:r>
          </a:p>
        </p:txBody>
      </p:sp>
      <p:sp>
        <p:nvSpPr>
          <p:cNvPr id="3" name="Content Placeholder 2">
            <a:extLst>
              <a:ext uri="{FF2B5EF4-FFF2-40B4-BE49-F238E27FC236}">
                <a16:creationId xmlns:a16="http://schemas.microsoft.com/office/drawing/2014/main" id="{9220AEA5-3FBE-485B-AC51-65B7F407C961}"/>
              </a:ext>
            </a:extLst>
          </p:cNvPr>
          <p:cNvSpPr>
            <a:spLocks noGrp="1"/>
          </p:cNvSpPr>
          <p:nvPr>
            <p:ph idx="1"/>
          </p:nvPr>
        </p:nvSpPr>
        <p:spPr/>
        <p:txBody>
          <a:bodyPr/>
          <a:lstStyle/>
          <a:p>
            <a:r>
              <a:rPr lang="en-US" dirty="0"/>
              <a:t>Single-core environment</a:t>
            </a:r>
          </a:p>
          <a:p>
            <a:pPr lvl="1"/>
            <a:r>
              <a:rPr lang="en-US" dirty="0"/>
              <a:t>Disable interrupt</a:t>
            </a:r>
          </a:p>
          <a:p>
            <a:endParaRPr lang="en-US" dirty="0"/>
          </a:p>
          <a:p>
            <a:r>
              <a:rPr lang="en-US" dirty="0"/>
              <a:t>Multiprocessor environment</a:t>
            </a:r>
          </a:p>
          <a:p>
            <a:pPr lvl="1"/>
            <a:r>
              <a:rPr lang="en-US" dirty="0"/>
              <a:t>Message passing – delays</a:t>
            </a:r>
          </a:p>
          <a:p>
            <a:pPr lvl="1"/>
            <a:endParaRPr lang="en-US" dirty="0"/>
          </a:p>
        </p:txBody>
      </p:sp>
      <p:sp>
        <p:nvSpPr>
          <p:cNvPr id="4" name="Slide Number Placeholder 3">
            <a:extLst>
              <a:ext uri="{FF2B5EF4-FFF2-40B4-BE49-F238E27FC236}">
                <a16:creationId xmlns:a16="http://schemas.microsoft.com/office/drawing/2014/main" id="{50FCCFEF-56A1-4851-999D-5CFC4E5A576B}"/>
              </a:ext>
            </a:extLst>
          </p:cNvPr>
          <p:cNvSpPr>
            <a:spLocks noGrp="1"/>
          </p:cNvSpPr>
          <p:nvPr>
            <p:ph type="sldNum" sz="quarter" idx="12"/>
          </p:nvPr>
        </p:nvSpPr>
        <p:spPr/>
        <p:txBody>
          <a:bodyPr/>
          <a:lstStyle/>
          <a:p>
            <a:fld id="{E7C9531F-FEFF-41F6-9815-41D608E752B1}" type="slidenum">
              <a:rPr lang="en-US" smtClean="0"/>
              <a:t>10</a:t>
            </a:fld>
            <a:endParaRPr lang="en-US"/>
          </a:p>
        </p:txBody>
      </p:sp>
    </p:spTree>
    <p:extLst>
      <p:ext uri="{BB962C8B-B14F-4D97-AF65-F5344CB8AC3E}">
        <p14:creationId xmlns:p14="http://schemas.microsoft.com/office/powerpoint/2010/main" val="2880095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CAF9-E6E4-44AE-A3BA-567467AC7785}"/>
              </a:ext>
            </a:extLst>
          </p:cNvPr>
          <p:cNvSpPr>
            <a:spLocks noGrp="1"/>
          </p:cNvSpPr>
          <p:nvPr>
            <p:ph type="title"/>
          </p:nvPr>
        </p:nvSpPr>
        <p:spPr/>
        <p:txBody>
          <a:bodyPr/>
          <a:lstStyle/>
          <a:p>
            <a:r>
              <a:rPr lang="en-US" dirty="0"/>
              <a:t>OS Critical Section for Kernel Data Structures</a:t>
            </a:r>
          </a:p>
        </p:txBody>
      </p:sp>
      <p:sp>
        <p:nvSpPr>
          <p:cNvPr id="3" name="Content Placeholder 2">
            <a:extLst>
              <a:ext uri="{FF2B5EF4-FFF2-40B4-BE49-F238E27FC236}">
                <a16:creationId xmlns:a16="http://schemas.microsoft.com/office/drawing/2014/main" id="{5482A946-27A2-4FAF-9883-F9E094A160C4}"/>
              </a:ext>
            </a:extLst>
          </p:cNvPr>
          <p:cNvSpPr>
            <a:spLocks noGrp="1"/>
          </p:cNvSpPr>
          <p:nvPr>
            <p:ph idx="1"/>
          </p:nvPr>
        </p:nvSpPr>
        <p:spPr>
          <a:xfrm>
            <a:off x="838200" y="1825625"/>
            <a:ext cx="5257800" cy="4351338"/>
          </a:xfrm>
        </p:spPr>
        <p:txBody>
          <a:bodyPr/>
          <a:lstStyle/>
          <a:p>
            <a:r>
              <a:rPr lang="en-US" dirty="0"/>
              <a:t>Nonpreemptive kernel</a:t>
            </a:r>
          </a:p>
          <a:p>
            <a:pPr lvl="1"/>
            <a:r>
              <a:rPr lang="en-US" dirty="0"/>
              <a:t>No race condition</a:t>
            </a:r>
          </a:p>
          <a:p>
            <a:endParaRPr lang="en-US" dirty="0"/>
          </a:p>
          <a:p>
            <a:r>
              <a:rPr lang="en-US" dirty="0"/>
              <a:t>Preemptive kernel</a:t>
            </a:r>
          </a:p>
          <a:p>
            <a:pPr lvl="1"/>
            <a:r>
              <a:rPr lang="en-US" dirty="0"/>
              <a:t>More responsive</a:t>
            </a:r>
          </a:p>
          <a:p>
            <a:pPr lvl="1"/>
            <a:r>
              <a:rPr lang="en-US" dirty="0"/>
              <a:t>Real-time programming</a:t>
            </a:r>
          </a:p>
        </p:txBody>
      </p:sp>
      <p:pic>
        <p:nvPicPr>
          <p:cNvPr id="1028" name="Picture 4" descr="Dilbert | Jokes, Guilt, Books">
            <a:extLst>
              <a:ext uri="{FF2B5EF4-FFF2-40B4-BE49-F238E27FC236}">
                <a16:creationId xmlns:a16="http://schemas.microsoft.com/office/drawing/2014/main" id="{7A47E366-B07C-4F4E-97E4-B7040DE56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0401" y="2191163"/>
            <a:ext cx="7797109" cy="282959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7E7ECD21-1BF8-4439-B85E-DBE6BF89298E}"/>
              </a:ext>
            </a:extLst>
          </p:cNvPr>
          <p:cNvSpPr>
            <a:spLocks noGrp="1"/>
          </p:cNvSpPr>
          <p:nvPr>
            <p:ph type="sldNum" sz="quarter" idx="12"/>
          </p:nvPr>
        </p:nvSpPr>
        <p:spPr/>
        <p:txBody>
          <a:bodyPr/>
          <a:lstStyle/>
          <a:p>
            <a:fld id="{E7C9531F-FEFF-41F6-9815-41D608E752B1}" type="slidenum">
              <a:rPr lang="en-US" smtClean="0"/>
              <a:t>11</a:t>
            </a:fld>
            <a:endParaRPr lang="en-US"/>
          </a:p>
        </p:txBody>
      </p:sp>
    </p:spTree>
    <p:extLst>
      <p:ext uri="{BB962C8B-B14F-4D97-AF65-F5344CB8AC3E}">
        <p14:creationId xmlns:p14="http://schemas.microsoft.com/office/powerpoint/2010/main" val="807151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4DF4BC9-8182-4F31-90C2-5E18662BE32A}"/>
              </a:ext>
            </a:extLst>
          </p:cNvPr>
          <p:cNvSpPr>
            <a:spLocks noGrp="1" noChangeArrowheads="1"/>
          </p:cNvSpPr>
          <p:nvPr>
            <p:ph type="title"/>
          </p:nvPr>
        </p:nvSpPr>
        <p:spPr>
          <a:xfrm>
            <a:off x="2470150" y="214313"/>
            <a:ext cx="7688262" cy="576262"/>
          </a:xfrm>
        </p:spPr>
        <p:txBody>
          <a:bodyPr>
            <a:normAutofit fontScale="90000"/>
          </a:bodyPr>
          <a:lstStyle/>
          <a:p>
            <a:pPr eaLnBrk="1" hangingPunct="1"/>
            <a:r>
              <a:rPr lang="en-US" altLang="en-US"/>
              <a:t>Peterson</a:t>
            </a:r>
            <a:r>
              <a:rPr lang="ja-JP" altLang="en-US"/>
              <a:t>’</a:t>
            </a:r>
            <a:r>
              <a:rPr lang="en-US" altLang="ja-JP"/>
              <a:t>s Solution</a:t>
            </a:r>
            <a:endParaRPr lang="en-US" altLang="en-US"/>
          </a:p>
        </p:txBody>
      </p:sp>
      <p:sp>
        <p:nvSpPr>
          <p:cNvPr id="29699" name="Rectangle 3">
            <a:extLst>
              <a:ext uri="{FF2B5EF4-FFF2-40B4-BE49-F238E27FC236}">
                <a16:creationId xmlns:a16="http://schemas.microsoft.com/office/drawing/2014/main" id="{BD15F618-7ED6-4F4D-921C-7EEB483F9E6B}"/>
              </a:ext>
            </a:extLst>
          </p:cNvPr>
          <p:cNvSpPr>
            <a:spLocks noGrp="1" noChangeArrowheads="1"/>
          </p:cNvSpPr>
          <p:nvPr>
            <p:ph idx="1"/>
          </p:nvPr>
        </p:nvSpPr>
        <p:spPr>
          <a:xfrm>
            <a:off x="1204057" y="1077181"/>
            <a:ext cx="8748835" cy="5030542"/>
          </a:xfrm>
        </p:spPr>
        <p:txBody>
          <a:bodyPr>
            <a:normAutofit/>
          </a:bodyPr>
          <a:lstStyle/>
          <a:p>
            <a:pPr>
              <a:tabLst>
                <a:tab pos="739775" algn="l"/>
                <a:tab pos="1020763" algn="l"/>
                <a:tab pos="1257300" algn="l"/>
              </a:tabLst>
            </a:pPr>
            <a:r>
              <a:rPr lang="en-US" altLang="en-US" dirty="0"/>
              <a:t>Classic software-based solution</a:t>
            </a:r>
          </a:p>
          <a:p>
            <a:pPr>
              <a:tabLst>
                <a:tab pos="739775" algn="l"/>
                <a:tab pos="1020763" algn="l"/>
                <a:tab pos="1257300" algn="l"/>
              </a:tabLst>
            </a:pPr>
            <a:r>
              <a:rPr lang="en-US" altLang="en-US" dirty="0"/>
              <a:t>Not guaranteed to work on </a:t>
            </a:r>
            <a:r>
              <a:rPr lang="en-US" altLang="en-US" dirty="0">
                <a:solidFill>
                  <a:srgbClr val="FF0000"/>
                </a:solidFill>
              </a:rPr>
              <a:t>modern architectures</a:t>
            </a:r>
            <a:r>
              <a:rPr lang="en-US" altLang="en-US" dirty="0"/>
              <a:t>! (But good algorithmic  description of solving the problem)</a:t>
            </a:r>
            <a:endParaRPr lang="en-US" altLang="en-US" sz="800" dirty="0"/>
          </a:p>
          <a:p>
            <a:pPr>
              <a:tabLst>
                <a:tab pos="739775" algn="l"/>
                <a:tab pos="1020763" algn="l"/>
                <a:tab pos="1257300" algn="l"/>
              </a:tabLst>
            </a:pPr>
            <a:r>
              <a:rPr lang="en-US" altLang="en-US" dirty="0"/>
              <a:t>Two process solution: P</a:t>
            </a:r>
            <a:r>
              <a:rPr lang="en-US" altLang="en-US" baseline="-25000" dirty="0"/>
              <a:t>0</a:t>
            </a:r>
            <a:r>
              <a:rPr lang="en-US" altLang="en-US" dirty="0"/>
              <a:t> and P</a:t>
            </a:r>
            <a:r>
              <a:rPr lang="en-US" altLang="en-US" baseline="-25000" dirty="0"/>
              <a:t>1</a:t>
            </a:r>
            <a:endParaRPr lang="en-US" altLang="en-US" sz="800" dirty="0"/>
          </a:p>
          <a:p>
            <a:pPr>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p:txBody>
      </p:sp>
      <p:sp>
        <p:nvSpPr>
          <p:cNvPr id="2" name="Slide Number Placeholder 1">
            <a:extLst>
              <a:ext uri="{FF2B5EF4-FFF2-40B4-BE49-F238E27FC236}">
                <a16:creationId xmlns:a16="http://schemas.microsoft.com/office/drawing/2014/main" id="{7EB93F2B-31B5-48DF-AE66-B68F1EF980A0}"/>
              </a:ext>
            </a:extLst>
          </p:cNvPr>
          <p:cNvSpPr>
            <a:spLocks noGrp="1"/>
          </p:cNvSpPr>
          <p:nvPr>
            <p:ph type="sldNum" sz="quarter" idx="12"/>
          </p:nvPr>
        </p:nvSpPr>
        <p:spPr/>
        <p:txBody>
          <a:bodyPr/>
          <a:lstStyle/>
          <a:p>
            <a:fld id="{E7C9531F-FEFF-41F6-9815-41D608E752B1}"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4DF4BC9-8182-4F31-90C2-5E18662BE32A}"/>
              </a:ext>
            </a:extLst>
          </p:cNvPr>
          <p:cNvSpPr>
            <a:spLocks noGrp="1" noChangeArrowheads="1"/>
          </p:cNvSpPr>
          <p:nvPr>
            <p:ph type="title"/>
          </p:nvPr>
        </p:nvSpPr>
        <p:spPr>
          <a:xfrm>
            <a:off x="2470150" y="214313"/>
            <a:ext cx="7688262" cy="576262"/>
          </a:xfrm>
        </p:spPr>
        <p:txBody>
          <a:bodyPr>
            <a:normAutofit fontScale="90000"/>
          </a:bodyPr>
          <a:lstStyle/>
          <a:p>
            <a:pPr eaLnBrk="1" hangingPunct="1"/>
            <a:r>
              <a:rPr lang="en-US" altLang="en-US"/>
              <a:t>Peterson</a:t>
            </a:r>
            <a:r>
              <a:rPr lang="ja-JP" altLang="en-US"/>
              <a:t>’</a:t>
            </a:r>
            <a:r>
              <a:rPr lang="en-US" altLang="ja-JP"/>
              <a:t>s Solution</a:t>
            </a:r>
            <a:endParaRPr lang="en-US" altLang="en-US"/>
          </a:p>
        </p:txBody>
      </p:sp>
      <p:sp>
        <p:nvSpPr>
          <p:cNvPr id="29699" name="Rectangle 3">
            <a:extLst>
              <a:ext uri="{FF2B5EF4-FFF2-40B4-BE49-F238E27FC236}">
                <a16:creationId xmlns:a16="http://schemas.microsoft.com/office/drawing/2014/main" id="{BD15F618-7ED6-4F4D-921C-7EEB483F9E6B}"/>
              </a:ext>
            </a:extLst>
          </p:cNvPr>
          <p:cNvSpPr>
            <a:spLocks noGrp="1" noChangeArrowheads="1"/>
          </p:cNvSpPr>
          <p:nvPr>
            <p:ph idx="1"/>
          </p:nvPr>
        </p:nvSpPr>
        <p:spPr>
          <a:xfrm>
            <a:off x="1204057" y="1077181"/>
            <a:ext cx="8748835" cy="5030542"/>
          </a:xfrm>
        </p:spPr>
        <p:txBody>
          <a:bodyPr>
            <a:normAutofit/>
          </a:bodyPr>
          <a:lstStyle/>
          <a:p>
            <a:pPr>
              <a:tabLst>
                <a:tab pos="739775" algn="l"/>
                <a:tab pos="1020763" algn="l"/>
                <a:tab pos="1257300" algn="l"/>
              </a:tabLst>
            </a:pPr>
            <a:r>
              <a:rPr lang="en-US" altLang="en-US" dirty="0">
                <a:solidFill>
                  <a:srgbClr val="000000"/>
                </a:solidFill>
              </a:rPr>
              <a:t>The two processes share two variables:</a:t>
            </a:r>
          </a:p>
          <a:p>
            <a:pPr lvl="1">
              <a:tabLst>
                <a:tab pos="739775" algn="l"/>
                <a:tab pos="1020763" algn="l"/>
                <a:tab pos="1257300" algn="l"/>
              </a:tabLst>
            </a:pPr>
            <a:r>
              <a:rPr lang="en-US" altLang="en-US" sz="1600" b="1" dirty="0">
                <a:latin typeface="Courier New" panose="02070309020205020404" pitchFamily="49" charset="0"/>
              </a:rPr>
              <a:t>int turn; </a:t>
            </a:r>
          </a:p>
          <a:p>
            <a:pPr lvl="1">
              <a:tabLst>
                <a:tab pos="739775" algn="l"/>
                <a:tab pos="1020763" algn="l"/>
                <a:tab pos="1257300" algn="l"/>
              </a:tabLst>
            </a:pPr>
            <a:r>
              <a:rPr lang="en-US" altLang="en-US" sz="1600" b="1" dirty="0">
                <a:latin typeface="Courier New" panose="02070309020205020404" pitchFamily="49" charset="0"/>
              </a:rPr>
              <a:t>boolean flag[2]</a:t>
            </a:r>
          </a:p>
          <a:p>
            <a:pPr lvl="1">
              <a:tabLst>
                <a:tab pos="739775" algn="l"/>
                <a:tab pos="1020763" algn="l"/>
                <a:tab pos="1257300" algn="l"/>
              </a:tabLst>
            </a:pPr>
            <a:endParaRPr lang="en-US" altLang="en-US" sz="800" b="1" dirty="0">
              <a:solidFill>
                <a:srgbClr val="000000"/>
              </a:solidFill>
            </a:endParaRPr>
          </a:p>
          <a:p>
            <a:pPr>
              <a:tabLst>
                <a:tab pos="739775" algn="l"/>
                <a:tab pos="1020763" algn="l"/>
                <a:tab pos="1257300" algn="l"/>
              </a:tabLst>
            </a:pPr>
            <a:r>
              <a:rPr lang="en-US" altLang="en-US" dirty="0">
                <a:solidFill>
                  <a:srgbClr val="000000"/>
                </a:solidFill>
              </a:rPr>
              <a:t>The variable </a:t>
            </a:r>
            <a:r>
              <a:rPr lang="en-US" altLang="en-US" sz="16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tabLst>
                <a:tab pos="739775" algn="l"/>
                <a:tab pos="1020763" algn="l"/>
                <a:tab pos="1257300" algn="l"/>
              </a:tabLst>
            </a:pPr>
            <a:r>
              <a:rPr lang="en-US" altLang="en-US" dirty="0">
                <a:solidFill>
                  <a:srgbClr val="000000"/>
                </a:solidFill>
              </a:rPr>
              <a:t>The </a:t>
            </a:r>
            <a:r>
              <a:rPr lang="en-US" altLang="en-US" sz="1600" b="1" dirty="0">
                <a:latin typeface="Courier New" panose="02070309020205020404" pitchFamily="49" charset="0"/>
              </a:rPr>
              <a:t>flag</a:t>
            </a:r>
            <a:r>
              <a:rPr lang="en-US" altLang="en-US" b="1" dirty="0">
                <a:latin typeface="Courier New" panose="02070309020205020404" pitchFamily="49" charset="0"/>
              </a:rPr>
              <a:t> </a:t>
            </a:r>
            <a:r>
              <a:rPr lang="en-US" altLang="en-US" dirty="0">
                <a:solidFill>
                  <a:srgbClr val="000000"/>
                </a:solidFill>
              </a:rPr>
              <a:t>array is used to indicate if a process is ready to enter the critical section. </a:t>
            </a:r>
            <a:r>
              <a:rPr lang="en-US" altLang="en-US" sz="1600" b="1" dirty="0">
                <a:latin typeface="Courier New" panose="02070309020205020404" pitchFamily="49" charset="0"/>
              </a:rPr>
              <a:t>flag[</a:t>
            </a:r>
            <a:r>
              <a:rPr lang="en-US" altLang="en-US" sz="1600" b="1" dirty="0" err="1">
                <a:latin typeface="Courier New" panose="02070309020205020404" pitchFamily="49" charset="0"/>
              </a:rPr>
              <a:t>i</a:t>
            </a:r>
            <a:r>
              <a:rPr lang="en-US" altLang="en-US" sz="1600" b="1" dirty="0">
                <a:latin typeface="Courier New" panose="02070309020205020404" pitchFamily="49" charset="0"/>
              </a:rPr>
              <a:t>] = </a:t>
            </a:r>
            <a:r>
              <a:rPr lang="en-US" altLang="en-US" sz="1600" b="1" i="1" dirty="0">
                <a:latin typeface="Courier New" panose="02070309020205020404" pitchFamily="49" charset="0"/>
              </a:rPr>
              <a:t>true</a:t>
            </a:r>
            <a:r>
              <a:rPr lang="en-US" altLang="en-US" sz="1600" dirty="0">
                <a:solidFill>
                  <a:srgbClr val="000000"/>
                </a:solidFill>
              </a:rPr>
              <a:t>  </a:t>
            </a:r>
            <a:r>
              <a:rPr lang="en-US" altLang="en-US" dirty="0">
                <a:solidFill>
                  <a:srgbClr val="000000"/>
                </a:solidFill>
              </a:rPr>
              <a:t>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
        <p:nvSpPr>
          <p:cNvPr id="2" name="Slide Number Placeholder 1">
            <a:extLst>
              <a:ext uri="{FF2B5EF4-FFF2-40B4-BE49-F238E27FC236}">
                <a16:creationId xmlns:a16="http://schemas.microsoft.com/office/drawing/2014/main" id="{7EB93F2B-31B5-48DF-AE66-B68F1EF980A0}"/>
              </a:ext>
            </a:extLst>
          </p:cNvPr>
          <p:cNvSpPr>
            <a:spLocks noGrp="1"/>
          </p:cNvSpPr>
          <p:nvPr>
            <p:ph type="sldNum" sz="quarter" idx="12"/>
          </p:nvPr>
        </p:nvSpPr>
        <p:spPr/>
        <p:txBody>
          <a:bodyPr/>
          <a:lstStyle/>
          <a:p>
            <a:fld id="{E7C9531F-FEFF-41F6-9815-41D608E752B1}" type="slidenum">
              <a:rPr lang="en-US" smtClean="0"/>
              <a:t>13</a:t>
            </a:fld>
            <a:endParaRPr lang="en-US"/>
          </a:p>
        </p:txBody>
      </p:sp>
    </p:spTree>
    <p:extLst>
      <p:ext uri="{BB962C8B-B14F-4D97-AF65-F5344CB8AC3E}">
        <p14:creationId xmlns:p14="http://schemas.microsoft.com/office/powerpoint/2010/main" val="1508603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70CAA902-C692-435B-B6F7-38452DB546AC}"/>
              </a:ext>
            </a:extLst>
          </p:cNvPr>
          <p:cNvSpPr>
            <a:spLocks noGrp="1" noChangeArrowheads="1"/>
          </p:cNvSpPr>
          <p:nvPr>
            <p:ph type="title"/>
          </p:nvPr>
        </p:nvSpPr>
        <p:spPr/>
        <p:txBody>
          <a:bodyPr/>
          <a:lstStyle/>
          <a:p>
            <a:r>
              <a:rPr lang="en-US" altLang="en-US"/>
              <a:t>Algorithm for Process </a:t>
            </a:r>
            <a:r>
              <a:rPr lang="en-US" altLang="en-US">
                <a:solidFill>
                  <a:srgbClr val="0000FF"/>
                </a:solidFill>
              </a:rPr>
              <a:t>P</a:t>
            </a:r>
            <a:r>
              <a:rPr lang="en-US" altLang="en-US" baseline="-25000">
                <a:solidFill>
                  <a:srgbClr val="0000FF"/>
                </a:solidFill>
              </a:rPr>
              <a:t>i</a:t>
            </a:r>
            <a:endParaRPr lang="en-US" altLang="en-US"/>
          </a:p>
        </p:txBody>
      </p:sp>
      <p:sp>
        <p:nvSpPr>
          <p:cNvPr id="31747" name="Rectangle 3">
            <a:extLst>
              <a:ext uri="{FF2B5EF4-FFF2-40B4-BE49-F238E27FC236}">
                <a16:creationId xmlns:a16="http://schemas.microsoft.com/office/drawing/2014/main" id="{B0A5B185-CBD6-4C93-BC2E-A35BC1C11A9E}"/>
              </a:ext>
            </a:extLst>
          </p:cNvPr>
          <p:cNvSpPr>
            <a:spLocks noChangeArrowheads="1"/>
          </p:cNvSpPr>
          <p:nvPr/>
        </p:nvSpPr>
        <p:spPr bwMode="auto">
          <a:xfrm>
            <a:off x="2562957" y="1690688"/>
            <a:ext cx="6217627"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31748" name="Rectangle 7">
            <a:extLst>
              <a:ext uri="{FF2B5EF4-FFF2-40B4-BE49-F238E27FC236}">
                <a16:creationId xmlns:a16="http://schemas.microsoft.com/office/drawing/2014/main" id="{43304DE8-AE46-4A92-8024-A3ABE6C5B364}"/>
              </a:ext>
            </a:extLst>
          </p:cNvPr>
          <p:cNvSpPr>
            <a:spLocks noChangeArrowheads="1"/>
          </p:cNvSpPr>
          <p:nvPr/>
        </p:nvSpPr>
        <p:spPr bwMode="auto">
          <a:xfrm>
            <a:off x="4197350" y="3162301"/>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31749" name="Rectangle 8">
            <a:extLst>
              <a:ext uri="{FF2B5EF4-FFF2-40B4-BE49-F238E27FC236}">
                <a16:creationId xmlns:a16="http://schemas.microsoft.com/office/drawing/2014/main" id="{2C10E2FA-AA9F-4301-A7BE-FDD04F14FD03}"/>
              </a:ext>
            </a:extLst>
          </p:cNvPr>
          <p:cNvSpPr>
            <a:spLocks noChangeArrowheads="1"/>
          </p:cNvSpPr>
          <p:nvPr/>
        </p:nvSpPr>
        <p:spPr bwMode="auto">
          <a:xfrm>
            <a:off x="4197350" y="4279900"/>
            <a:ext cx="3505200" cy="5222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 name="Slide Number Placeholder 1">
            <a:extLst>
              <a:ext uri="{FF2B5EF4-FFF2-40B4-BE49-F238E27FC236}">
                <a16:creationId xmlns:a16="http://schemas.microsoft.com/office/drawing/2014/main" id="{58A94829-BD03-4D40-B379-B382EFB863B9}"/>
              </a:ext>
            </a:extLst>
          </p:cNvPr>
          <p:cNvSpPr>
            <a:spLocks noGrp="1"/>
          </p:cNvSpPr>
          <p:nvPr>
            <p:ph type="sldNum" sz="quarter" idx="12"/>
          </p:nvPr>
        </p:nvSpPr>
        <p:spPr/>
        <p:txBody>
          <a:bodyPr/>
          <a:lstStyle/>
          <a:p>
            <a:fld id="{E7C9531F-FEFF-41F6-9815-41D608E752B1}"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E7CBB7-C03C-4235-B0A6-3C8D1BEAEE15}"/>
              </a:ext>
            </a:extLst>
          </p:cNvPr>
          <p:cNvSpPr>
            <a:spLocks noGrp="1"/>
          </p:cNvSpPr>
          <p:nvPr>
            <p:ph type="title"/>
          </p:nvPr>
        </p:nvSpPr>
        <p:spPr/>
        <p:txBody>
          <a:bodyPr/>
          <a:lstStyle/>
          <a:p>
            <a:r>
              <a:rPr lang="en-US" dirty="0"/>
              <a:t>P</a:t>
            </a:r>
            <a:r>
              <a:rPr lang="en-US" baseline="-25000" dirty="0"/>
              <a:t>0</a:t>
            </a:r>
            <a:r>
              <a:rPr lang="en-US" dirty="0"/>
              <a:t>           Mutex Property          P</a:t>
            </a:r>
            <a:r>
              <a:rPr lang="en-US" baseline="-25000" dirty="0"/>
              <a:t>1  </a:t>
            </a:r>
            <a:endParaRPr lang="en-US" dirty="0"/>
          </a:p>
        </p:txBody>
      </p:sp>
      <p:sp>
        <p:nvSpPr>
          <p:cNvPr id="6" name="Rectangle 3">
            <a:extLst>
              <a:ext uri="{FF2B5EF4-FFF2-40B4-BE49-F238E27FC236}">
                <a16:creationId xmlns:a16="http://schemas.microsoft.com/office/drawing/2014/main" id="{68950A49-2ADF-46C0-8251-0B3F17D1100E}"/>
              </a:ext>
            </a:extLst>
          </p:cNvPr>
          <p:cNvSpPr>
            <a:spLocks noGrp="1" noChangeArrowheads="1"/>
          </p:cNvSpPr>
          <p:nvPr>
            <p:ph sz="half" idx="1"/>
          </p:nvPr>
        </p:nvSpPr>
        <p:spPr bwMode="auto">
          <a:xfrm>
            <a:off x="838200" y="1825625"/>
            <a:ext cx="5181600" cy="4945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flag[0] = true; </a:t>
            </a:r>
          </a:p>
          <a:p>
            <a:pPr>
              <a:buFont typeface="Monotype Sorts" pitchFamily="-84" charset="2"/>
              <a:buNone/>
            </a:pPr>
            <a:r>
              <a:rPr lang="en-US" altLang="en-US" sz="2000" b="1" dirty="0">
                <a:solidFill>
                  <a:srgbClr val="000000"/>
                </a:solidFill>
                <a:latin typeface="Courier New" panose="02070309020205020404" pitchFamily="49" charset="0"/>
              </a:rPr>
              <a:t>	turn = 1; </a:t>
            </a:r>
          </a:p>
          <a:p>
            <a:pPr>
              <a:buFont typeface="Monotype Sorts" pitchFamily="-84" charset="2"/>
              <a:buNone/>
            </a:pPr>
            <a:r>
              <a:rPr lang="en-US" altLang="en-US" sz="2000" b="1" dirty="0">
                <a:solidFill>
                  <a:srgbClr val="000000"/>
                </a:solidFill>
                <a:latin typeface="Courier New" panose="02070309020205020404" pitchFamily="49" charset="0"/>
              </a:rPr>
              <a:t>	while (flag[1] &amp;&amp; turn = = 1)</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flag[0] = false;</a:t>
            </a: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a:t>
            </a:r>
          </a:p>
        </p:txBody>
      </p:sp>
      <p:sp>
        <p:nvSpPr>
          <p:cNvPr id="8" name="Rectangle 3">
            <a:extLst>
              <a:ext uri="{FF2B5EF4-FFF2-40B4-BE49-F238E27FC236}">
                <a16:creationId xmlns:a16="http://schemas.microsoft.com/office/drawing/2014/main" id="{DA9F215C-AD1A-42A5-BADB-53693142ABE5}"/>
              </a:ext>
            </a:extLst>
          </p:cNvPr>
          <p:cNvSpPr>
            <a:spLocks noGrp="1" noChangeArrowheads="1"/>
          </p:cNvSpPr>
          <p:nvPr>
            <p:ph sz="half" idx="2"/>
          </p:nvPr>
        </p:nvSpPr>
        <p:spPr bwMode="auto">
          <a:xfrm>
            <a:off x="6172200" y="1825625"/>
            <a:ext cx="5181600" cy="4945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flag[1] = true; </a:t>
            </a:r>
          </a:p>
          <a:p>
            <a:pPr>
              <a:buFont typeface="Monotype Sorts" pitchFamily="-84" charset="2"/>
              <a:buNone/>
            </a:pPr>
            <a:r>
              <a:rPr lang="en-US" altLang="en-US" sz="2000" b="1" dirty="0">
                <a:solidFill>
                  <a:srgbClr val="000000"/>
                </a:solidFill>
                <a:latin typeface="Courier New" panose="02070309020205020404" pitchFamily="49" charset="0"/>
              </a:rPr>
              <a:t>	turn = 0; </a:t>
            </a:r>
          </a:p>
          <a:p>
            <a:pPr>
              <a:buFont typeface="Monotype Sorts" pitchFamily="-84" charset="2"/>
              <a:buNone/>
            </a:pPr>
            <a:r>
              <a:rPr lang="en-US" altLang="en-US" sz="2000" b="1" dirty="0">
                <a:solidFill>
                  <a:srgbClr val="000000"/>
                </a:solidFill>
                <a:latin typeface="Courier New" panose="02070309020205020404" pitchFamily="49" charset="0"/>
              </a:rPr>
              <a:t>	while (flag[0] &amp;&amp; turn = = 0)</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flag[1] = false;</a:t>
            </a: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a:t>
            </a:r>
          </a:p>
        </p:txBody>
      </p:sp>
      <p:sp>
        <p:nvSpPr>
          <p:cNvPr id="4" name="Star: 5 Points 3">
            <a:extLst>
              <a:ext uri="{FF2B5EF4-FFF2-40B4-BE49-F238E27FC236}">
                <a16:creationId xmlns:a16="http://schemas.microsoft.com/office/drawing/2014/main" id="{AD2E4709-45D7-4837-AE83-8D7F105CF766}"/>
              </a:ext>
            </a:extLst>
          </p:cNvPr>
          <p:cNvSpPr/>
          <p:nvPr/>
        </p:nvSpPr>
        <p:spPr>
          <a:xfrm>
            <a:off x="354875" y="3788229"/>
            <a:ext cx="330925" cy="35705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5E982344-2440-4858-BEC0-C49C00DA2894}"/>
              </a:ext>
            </a:extLst>
          </p:cNvPr>
          <p:cNvSpPr/>
          <p:nvPr/>
        </p:nvSpPr>
        <p:spPr>
          <a:xfrm>
            <a:off x="6019800" y="3788228"/>
            <a:ext cx="330925" cy="35705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29EDD57A-4266-465D-922D-060BF06BE5D3}"/>
              </a:ext>
            </a:extLst>
          </p:cNvPr>
          <p:cNvSpPr>
            <a:spLocks noGrp="1"/>
          </p:cNvSpPr>
          <p:nvPr>
            <p:ph type="sldNum" sz="quarter" idx="12"/>
          </p:nvPr>
        </p:nvSpPr>
        <p:spPr/>
        <p:txBody>
          <a:bodyPr/>
          <a:lstStyle/>
          <a:p>
            <a:fld id="{E7C9531F-FEFF-41F6-9815-41D608E752B1}" type="slidenum">
              <a:rPr lang="en-US" smtClean="0"/>
              <a:t>15</a:t>
            </a:fld>
            <a:endParaRPr lang="en-US"/>
          </a:p>
        </p:txBody>
      </p:sp>
    </p:spTree>
    <p:extLst>
      <p:ext uri="{BB962C8B-B14F-4D97-AF65-F5344CB8AC3E}">
        <p14:creationId xmlns:p14="http://schemas.microsoft.com/office/powerpoint/2010/main" val="2169957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E7CBB7-C03C-4235-B0A6-3C8D1BEAEE15}"/>
              </a:ext>
            </a:extLst>
          </p:cNvPr>
          <p:cNvSpPr>
            <a:spLocks noGrp="1"/>
          </p:cNvSpPr>
          <p:nvPr>
            <p:ph type="title"/>
          </p:nvPr>
        </p:nvSpPr>
        <p:spPr/>
        <p:txBody>
          <a:bodyPr/>
          <a:lstStyle/>
          <a:p>
            <a:r>
              <a:rPr lang="en-US" dirty="0"/>
              <a:t>P</a:t>
            </a:r>
            <a:r>
              <a:rPr lang="en-US" baseline="-25000" dirty="0"/>
              <a:t>0</a:t>
            </a:r>
            <a:r>
              <a:rPr lang="en-US" dirty="0"/>
              <a:t>         Progress Property     P</a:t>
            </a:r>
            <a:r>
              <a:rPr lang="en-US" baseline="-25000" dirty="0"/>
              <a:t>1  </a:t>
            </a:r>
            <a:endParaRPr lang="en-US" dirty="0"/>
          </a:p>
        </p:txBody>
      </p:sp>
      <p:sp>
        <p:nvSpPr>
          <p:cNvPr id="6" name="Rectangle 3">
            <a:extLst>
              <a:ext uri="{FF2B5EF4-FFF2-40B4-BE49-F238E27FC236}">
                <a16:creationId xmlns:a16="http://schemas.microsoft.com/office/drawing/2014/main" id="{68950A49-2ADF-46C0-8251-0B3F17D1100E}"/>
              </a:ext>
            </a:extLst>
          </p:cNvPr>
          <p:cNvSpPr>
            <a:spLocks noGrp="1" noChangeArrowheads="1"/>
          </p:cNvSpPr>
          <p:nvPr>
            <p:ph sz="half" idx="1"/>
          </p:nvPr>
        </p:nvSpPr>
        <p:spPr bwMode="auto">
          <a:xfrm>
            <a:off x="838200" y="1825625"/>
            <a:ext cx="5181600" cy="5350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flag[0] = true; </a:t>
            </a:r>
          </a:p>
          <a:p>
            <a:pPr>
              <a:buFont typeface="Monotype Sorts" pitchFamily="-84" charset="2"/>
              <a:buNone/>
            </a:pPr>
            <a:r>
              <a:rPr lang="en-US" altLang="en-US" sz="2000" b="1" dirty="0">
                <a:solidFill>
                  <a:srgbClr val="000000"/>
                </a:solidFill>
                <a:latin typeface="Courier New" panose="02070309020205020404" pitchFamily="49" charset="0"/>
              </a:rPr>
              <a:t>	turn = 1;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while (flag[1] &amp;&amp; turn = = 1)</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flag[0] = false;</a:t>
            </a: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a:t>
            </a:r>
          </a:p>
        </p:txBody>
      </p:sp>
      <p:sp>
        <p:nvSpPr>
          <p:cNvPr id="8" name="Rectangle 3">
            <a:extLst>
              <a:ext uri="{FF2B5EF4-FFF2-40B4-BE49-F238E27FC236}">
                <a16:creationId xmlns:a16="http://schemas.microsoft.com/office/drawing/2014/main" id="{DA9F215C-AD1A-42A5-BADB-53693142ABE5}"/>
              </a:ext>
            </a:extLst>
          </p:cNvPr>
          <p:cNvSpPr>
            <a:spLocks noGrp="1" noChangeArrowheads="1"/>
          </p:cNvSpPr>
          <p:nvPr>
            <p:ph sz="half" idx="2"/>
          </p:nvPr>
        </p:nvSpPr>
        <p:spPr bwMode="auto">
          <a:xfrm>
            <a:off x="6172200" y="1825625"/>
            <a:ext cx="5181600" cy="5350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flag[1] = true; </a:t>
            </a:r>
          </a:p>
          <a:p>
            <a:pPr>
              <a:buFont typeface="Monotype Sorts" pitchFamily="-84" charset="2"/>
              <a:buNone/>
            </a:pPr>
            <a:r>
              <a:rPr lang="en-US" altLang="en-US" sz="2000" b="1" dirty="0">
                <a:solidFill>
                  <a:srgbClr val="000000"/>
                </a:solidFill>
                <a:latin typeface="Courier New" panose="02070309020205020404" pitchFamily="49" charset="0"/>
              </a:rPr>
              <a:t>	turn = 0;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while (flag[0] &amp;&amp; turn = = 0)</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flag[1] = false;</a:t>
            </a: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a:t>
            </a:r>
          </a:p>
        </p:txBody>
      </p:sp>
      <p:sp>
        <p:nvSpPr>
          <p:cNvPr id="4" name="Star: 5 Points 3">
            <a:extLst>
              <a:ext uri="{FF2B5EF4-FFF2-40B4-BE49-F238E27FC236}">
                <a16:creationId xmlns:a16="http://schemas.microsoft.com/office/drawing/2014/main" id="{AD2E4709-45D7-4837-AE83-8D7F105CF766}"/>
              </a:ext>
            </a:extLst>
          </p:cNvPr>
          <p:cNvSpPr/>
          <p:nvPr/>
        </p:nvSpPr>
        <p:spPr>
          <a:xfrm>
            <a:off x="431075" y="3428999"/>
            <a:ext cx="330925" cy="35705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5E982344-2440-4858-BEC0-C49C00DA2894}"/>
              </a:ext>
            </a:extLst>
          </p:cNvPr>
          <p:cNvSpPr/>
          <p:nvPr/>
        </p:nvSpPr>
        <p:spPr>
          <a:xfrm>
            <a:off x="11068595" y="3428998"/>
            <a:ext cx="330925" cy="35705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BC66A466-AEAD-42B3-A235-2E1D5D4795E5}"/>
              </a:ext>
            </a:extLst>
          </p:cNvPr>
          <p:cNvSpPr>
            <a:spLocks noGrp="1"/>
          </p:cNvSpPr>
          <p:nvPr>
            <p:ph type="sldNum" sz="quarter" idx="12"/>
          </p:nvPr>
        </p:nvSpPr>
        <p:spPr/>
        <p:txBody>
          <a:bodyPr/>
          <a:lstStyle/>
          <a:p>
            <a:fld id="{E7C9531F-FEFF-41F6-9815-41D608E752B1}" type="slidenum">
              <a:rPr lang="en-US" smtClean="0"/>
              <a:t>16</a:t>
            </a:fld>
            <a:endParaRPr lang="en-US"/>
          </a:p>
        </p:txBody>
      </p:sp>
    </p:spTree>
    <p:extLst>
      <p:ext uri="{BB962C8B-B14F-4D97-AF65-F5344CB8AC3E}">
        <p14:creationId xmlns:p14="http://schemas.microsoft.com/office/powerpoint/2010/main" val="1348595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E7CBB7-C03C-4235-B0A6-3C8D1BEAEE15}"/>
              </a:ext>
            </a:extLst>
          </p:cNvPr>
          <p:cNvSpPr>
            <a:spLocks noGrp="1"/>
          </p:cNvSpPr>
          <p:nvPr>
            <p:ph type="title"/>
          </p:nvPr>
        </p:nvSpPr>
        <p:spPr/>
        <p:txBody>
          <a:bodyPr/>
          <a:lstStyle/>
          <a:p>
            <a:r>
              <a:rPr lang="en-US" dirty="0"/>
              <a:t>P</a:t>
            </a:r>
            <a:r>
              <a:rPr lang="en-US" baseline="-25000" dirty="0"/>
              <a:t>0</a:t>
            </a:r>
            <a:r>
              <a:rPr lang="en-US" dirty="0"/>
              <a:t>   Bounded Waiting Property     P</a:t>
            </a:r>
            <a:r>
              <a:rPr lang="en-US" baseline="-25000" dirty="0"/>
              <a:t>1  </a:t>
            </a:r>
            <a:endParaRPr lang="en-US" dirty="0"/>
          </a:p>
        </p:txBody>
      </p:sp>
      <p:sp>
        <p:nvSpPr>
          <p:cNvPr id="6" name="Rectangle 3">
            <a:extLst>
              <a:ext uri="{FF2B5EF4-FFF2-40B4-BE49-F238E27FC236}">
                <a16:creationId xmlns:a16="http://schemas.microsoft.com/office/drawing/2014/main" id="{68950A49-2ADF-46C0-8251-0B3F17D1100E}"/>
              </a:ext>
            </a:extLst>
          </p:cNvPr>
          <p:cNvSpPr>
            <a:spLocks noGrp="1" noChangeArrowheads="1"/>
          </p:cNvSpPr>
          <p:nvPr>
            <p:ph sz="half" idx="1"/>
          </p:nvPr>
        </p:nvSpPr>
        <p:spPr bwMode="auto">
          <a:xfrm>
            <a:off x="838200" y="1825625"/>
            <a:ext cx="5181600" cy="5350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flag[0] = true; </a:t>
            </a:r>
          </a:p>
          <a:p>
            <a:pPr>
              <a:buFont typeface="Monotype Sorts" pitchFamily="-84" charset="2"/>
              <a:buNone/>
            </a:pPr>
            <a:r>
              <a:rPr lang="en-US" altLang="en-US" sz="2000" b="1" dirty="0">
                <a:solidFill>
                  <a:srgbClr val="000000"/>
                </a:solidFill>
                <a:latin typeface="Courier New" panose="02070309020205020404" pitchFamily="49" charset="0"/>
              </a:rPr>
              <a:t>	turn = 1;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while (flag[1] &amp;&amp; turn = = 1)</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flag[0] = false;</a:t>
            </a: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a:t>
            </a:r>
          </a:p>
        </p:txBody>
      </p:sp>
      <p:sp>
        <p:nvSpPr>
          <p:cNvPr id="8" name="Rectangle 3">
            <a:extLst>
              <a:ext uri="{FF2B5EF4-FFF2-40B4-BE49-F238E27FC236}">
                <a16:creationId xmlns:a16="http://schemas.microsoft.com/office/drawing/2014/main" id="{DA9F215C-AD1A-42A5-BADB-53693142ABE5}"/>
              </a:ext>
            </a:extLst>
          </p:cNvPr>
          <p:cNvSpPr>
            <a:spLocks noGrp="1" noChangeArrowheads="1"/>
          </p:cNvSpPr>
          <p:nvPr>
            <p:ph sz="half" idx="2"/>
          </p:nvPr>
        </p:nvSpPr>
        <p:spPr bwMode="auto">
          <a:xfrm>
            <a:off x="6172200" y="1825625"/>
            <a:ext cx="5181600" cy="5350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flag[1] = true; </a:t>
            </a:r>
          </a:p>
          <a:p>
            <a:pPr>
              <a:buFont typeface="Monotype Sorts" pitchFamily="-84" charset="2"/>
              <a:buNone/>
            </a:pPr>
            <a:r>
              <a:rPr lang="en-US" altLang="en-US" sz="2000" b="1" dirty="0">
                <a:solidFill>
                  <a:srgbClr val="000000"/>
                </a:solidFill>
                <a:latin typeface="Courier New" panose="02070309020205020404" pitchFamily="49" charset="0"/>
              </a:rPr>
              <a:t>	turn = 0;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while (flag[0] &amp;&amp; turn = = 0)</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flag[1] = false;</a:t>
            </a: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a:t>
            </a:r>
          </a:p>
        </p:txBody>
      </p:sp>
      <p:sp>
        <p:nvSpPr>
          <p:cNvPr id="4" name="Star: 5 Points 3">
            <a:extLst>
              <a:ext uri="{FF2B5EF4-FFF2-40B4-BE49-F238E27FC236}">
                <a16:creationId xmlns:a16="http://schemas.microsoft.com/office/drawing/2014/main" id="{AD2E4709-45D7-4837-AE83-8D7F105CF766}"/>
              </a:ext>
            </a:extLst>
          </p:cNvPr>
          <p:cNvSpPr/>
          <p:nvPr/>
        </p:nvSpPr>
        <p:spPr>
          <a:xfrm>
            <a:off x="507275" y="3429000"/>
            <a:ext cx="330925" cy="35705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5E982344-2440-4858-BEC0-C49C00DA2894}"/>
              </a:ext>
            </a:extLst>
          </p:cNvPr>
          <p:cNvSpPr/>
          <p:nvPr/>
        </p:nvSpPr>
        <p:spPr>
          <a:xfrm>
            <a:off x="6019800" y="4298353"/>
            <a:ext cx="330925" cy="35705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rrow: Right 1">
            <a:extLst>
              <a:ext uri="{FF2B5EF4-FFF2-40B4-BE49-F238E27FC236}">
                <a16:creationId xmlns:a16="http://schemas.microsoft.com/office/drawing/2014/main" id="{1C243895-CE25-4B1C-9D5B-7D062ADA4C10}"/>
              </a:ext>
            </a:extLst>
          </p:cNvPr>
          <p:cNvSpPr/>
          <p:nvPr/>
        </p:nvSpPr>
        <p:spPr>
          <a:xfrm rot="11030681">
            <a:off x="9109164" y="502484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AEA0D74E-51FC-496F-B716-0CA43DF85E86}"/>
              </a:ext>
            </a:extLst>
          </p:cNvPr>
          <p:cNvSpPr/>
          <p:nvPr/>
        </p:nvSpPr>
        <p:spPr>
          <a:xfrm rot="11030681">
            <a:off x="8164285" y="2646853"/>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ACFA50D7-3036-4942-A7C9-0E2FFE367D15}"/>
              </a:ext>
            </a:extLst>
          </p:cNvPr>
          <p:cNvSpPr>
            <a:spLocks noGrp="1"/>
          </p:cNvSpPr>
          <p:nvPr>
            <p:ph type="sldNum" sz="quarter" idx="12"/>
          </p:nvPr>
        </p:nvSpPr>
        <p:spPr/>
        <p:txBody>
          <a:bodyPr/>
          <a:lstStyle/>
          <a:p>
            <a:fld id="{E7C9531F-FEFF-41F6-9815-41D608E752B1}" type="slidenum">
              <a:rPr lang="en-US" smtClean="0"/>
              <a:t>17</a:t>
            </a:fld>
            <a:endParaRPr lang="en-US"/>
          </a:p>
        </p:txBody>
      </p:sp>
    </p:spTree>
    <p:extLst>
      <p:ext uri="{BB962C8B-B14F-4D97-AF65-F5344CB8AC3E}">
        <p14:creationId xmlns:p14="http://schemas.microsoft.com/office/powerpoint/2010/main" val="785808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251EB02-E666-4D08-BC7D-332DBA6FE02B}"/>
              </a:ext>
            </a:extLst>
          </p:cNvPr>
          <p:cNvSpPr>
            <a:spLocks noGrp="1" noChangeArrowheads="1"/>
          </p:cNvSpPr>
          <p:nvPr>
            <p:ph type="title"/>
          </p:nvPr>
        </p:nvSpPr>
        <p:spPr>
          <a:xfrm>
            <a:off x="2624138" y="277813"/>
            <a:ext cx="7586662" cy="576262"/>
          </a:xfrm>
        </p:spPr>
        <p:txBody>
          <a:bodyPr>
            <a:normAutofit fontScale="90000"/>
          </a:bodyPr>
          <a:lstStyle/>
          <a:p>
            <a:pPr eaLnBrk="1" hangingPunct="1"/>
            <a:r>
              <a:rPr lang="en-US" altLang="en-US"/>
              <a:t>Peterson</a:t>
            </a:r>
            <a:r>
              <a:rPr lang="ja-JP" altLang="en-US"/>
              <a:t>’</a:t>
            </a:r>
            <a:r>
              <a:rPr lang="en-US" altLang="ja-JP"/>
              <a:t>s Solution (Cont.)</a:t>
            </a:r>
            <a:endParaRPr lang="en-US" altLang="en-US"/>
          </a:p>
        </p:txBody>
      </p:sp>
      <p:sp>
        <p:nvSpPr>
          <p:cNvPr id="32771" name="Rectangle 3">
            <a:extLst>
              <a:ext uri="{FF2B5EF4-FFF2-40B4-BE49-F238E27FC236}">
                <a16:creationId xmlns:a16="http://schemas.microsoft.com/office/drawing/2014/main" id="{D34CBA40-9BDC-418A-BDD7-52E32F04C270}"/>
              </a:ext>
            </a:extLst>
          </p:cNvPr>
          <p:cNvSpPr>
            <a:spLocks noGrp="1" noChangeArrowheads="1"/>
          </p:cNvSpPr>
          <p:nvPr>
            <p:ph idx="1"/>
          </p:nvPr>
        </p:nvSpPr>
        <p:spPr>
          <a:xfrm>
            <a:off x="1158143" y="1221766"/>
            <a:ext cx="7985857" cy="4874234"/>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b="1" dirty="0">
                <a:solidFill>
                  <a:srgbClr val="000000"/>
                </a:solidFill>
                <a:latin typeface="Courier New" panose="02070309020205020404" pitchFamily="49" charset="0"/>
              </a:rPr>
              <a:t>flag[j] = false </a:t>
            </a: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endParaRPr lang="en-US" altLang="en-US"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 </a:t>
            </a:r>
          </a:p>
          <a:p>
            <a:pPr>
              <a:buFont typeface="Monotype Sorts" pitchFamily="-84" charset="2"/>
              <a:buNone/>
            </a:pPr>
            <a:r>
              <a:rPr lang="en-US" altLang="en-US" dirty="0">
                <a:solidFill>
                  <a:srgbClr val="000000"/>
                </a:solidFill>
              </a:rPr>
              <a:t>              What is the bound?   1</a:t>
            </a:r>
          </a:p>
          <a:p>
            <a:pPr>
              <a:buFont typeface="Monotype Sorts" pitchFamily="-84" charset="2"/>
              <a:buNone/>
            </a:pPr>
            <a:r>
              <a:rPr lang="en-US" altLang="en-US" sz="1600" dirty="0">
                <a:solidFill>
                  <a:srgbClr val="000000"/>
                </a:solidFill>
              </a:rPr>
              <a:t>                         </a:t>
            </a:r>
          </a:p>
          <a:p>
            <a:pPr>
              <a:lnSpc>
                <a:spcPct val="90000"/>
              </a:lnSpc>
            </a:pPr>
            <a:endParaRPr lang="en-US" altLang="en-US" dirty="0"/>
          </a:p>
        </p:txBody>
      </p:sp>
      <p:sp>
        <p:nvSpPr>
          <p:cNvPr id="2" name="Slide Number Placeholder 1">
            <a:extLst>
              <a:ext uri="{FF2B5EF4-FFF2-40B4-BE49-F238E27FC236}">
                <a16:creationId xmlns:a16="http://schemas.microsoft.com/office/drawing/2014/main" id="{7C60F4A1-ECBD-4E00-981C-90A56D8FE003}"/>
              </a:ext>
            </a:extLst>
          </p:cNvPr>
          <p:cNvSpPr>
            <a:spLocks noGrp="1"/>
          </p:cNvSpPr>
          <p:nvPr>
            <p:ph type="sldNum" sz="quarter" idx="12"/>
          </p:nvPr>
        </p:nvSpPr>
        <p:spPr/>
        <p:txBody>
          <a:bodyPr/>
          <a:lstStyle/>
          <a:p>
            <a:fld id="{E7C9531F-FEFF-41F6-9815-41D608E752B1}"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01A50C9-99A1-4B93-A40A-6BD2999D6300}"/>
              </a:ext>
            </a:extLst>
          </p:cNvPr>
          <p:cNvSpPr>
            <a:spLocks noGrp="1" noChangeArrowheads="1"/>
          </p:cNvSpPr>
          <p:nvPr>
            <p:ph type="title"/>
          </p:nvPr>
        </p:nvSpPr>
        <p:spPr/>
        <p:txBody>
          <a:bodyPr/>
          <a:lstStyle/>
          <a:p>
            <a:r>
              <a:rPr lang="en-US" altLang="en-US"/>
              <a:t>Peterson’s Solution</a:t>
            </a:r>
          </a:p>
        </p:txBody>
      </p:sp>
      <p:sp>
        <p:nvSpPr>
          <p:cNvPr id="34819" name="Content Placeholder 2">
            <a:extLst>
              <a:ext uri="{FF2B5EF4-FFF2-40B4-BE49-F238E27FC236}">
                <a16:creationId xmlns:a16="http://schemas.microsoft.com/office/drawing/2014/main" id="{F81E3200-DA9A-4991-9827-3D9C9915B76B}"/>
              </a:ext>
            </a:extLst>
          </p:cNvPr>
          <p:cNvSpPr>
            <a:spLocks noGrp="1" noChangeArrowheads="1"/>
          </p:cNvSpPr>
          <p:nvPr>
            <p:ph idx="1"/>
          </p:nvPr>
        </p:nvSpPr>
        <p:spPr/>
        <p:txBody>
          <a:bodyPr/>
          <a:lstStyle/>
          <a:p>
            <a:r>
              <a:rPr lang="en-US" altLang="en-US"/>
              <a:t>Although useful for demonstrating an algorithm, Peterson’s Solution is not guaranteed to work on modern architectures.</a:t>
            </a:r>
          </a:p>
          <a:p>
            <a:r>
              <a:rPr lang="en-US" altLang="en-US"/>
              <a:t>Understanding why it will not work is also useful for better understanding race conditions.</a:t>
            </a:r>
          </a:p>
          <a:p>
            <a:r>
              <a:rPr lang="en-US" altLang="en-US"/>
              <a:t>To improve performance, </a:t>
            </a:r>
            <a:r>
              <a:rPr lang="en-US" altLang="en-US">
                <a:solidFill>
                  <a:srgbClr val="FF0000"/>
                </a:solidFill>
              </a:rPr>
              <a:t>processors and/or compilers may reorder operations that have no dependencies</a:t>
            </a:r>
            <a:r>
              <a:rPr lang="en-US" altLang="en-US"/>
              <a:t>.</a:t>
            </a:r>
          </a:p>
          <a:p>
            <a:r>
              <a:rPr lang="en-US" altLang="en-US"/>
              <a:t>For single-threaded this is ok as the result will always be the same.</a:t>
            </a:r>
          </a:p>
          <a:p>
            <a:r>
              <a:rPr lang="en-US" altLang="en-US"/>
              <a:t>For multithreaded the reordering may produce inconsistent or unexpected results!</a:t>
            </a:r>
          </a:p>
        </p:txBody>
      </p:sp>
      <p:sp>
        <p:nvSpPr>
          <p:cNvPr id="2" name="Slide Number Placeholder 1">
            <a:extLst>
              <a:ext uri="{FF2B5EF4-FFF2-40B4-BE49-F238E27FC236}">
                <a16:creationId xmlns:a16="http://schemas.microsoft.com/office/drawing/2014/main" id="{29D5CD11-1C37-48EF-BE5C-8EE65A619B28}"/>
              </a:ext>
            </a:extLst>
          </p:cNvPr>
          <p:cNvSpPr>
            <a:spLocks noGrp="1"/>
          </p:cNvSpPr>
          <p:nvPr>
            <p:ph type="sldNum" sz="quarter" idx="12"/>
          </p:nvPr>
        </p:nvSpPr>
        <p:spPr/>
        <p:txBody>
          <a:bodyPr/>
          <a:lstStyle/>
          <a:p>
            <a:fld id="{E7C9531F-FEFF-41F6-9815-41D608E752B1}"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7155089-42AA-4063-9DDA-2960CD98ED9C}"/>
              </a:ext>
            </a:extLst>
          </p:cNvPr>
          <p:cNvSpPr>
            <a:spLocks noGrp="1" noChangeArrowheads="1"/>
          </p:cNvSpPr>
          <p:nvPr>
            <p:ph type="title"/>
          </p:nvPr>
        </p:nvSpPr>
        <p:spPr/>
        <p:txBody>
          <a:bodyPr/>
          <a:lstStyle/>
          <a:p>
            <a:r>
              <a:rPr lang="en-US" altLang="en-US"/>
              <a:t>Instruction Reordering</a:t>
            </a:r>
          </a:p>
        </p:txBody>
      </p:sp>
      <p:sp>
        <p:nvSpPr>
          <p:cNvPr id="35843" name="Content Placeholder 2">
            <a:extLst>
              <a:ext uri="{FF2B5EF4-FFF2-40B4-BE49-F238E27FC236}">
                <a16:creationId xmlns:a16="http://schemas.microsoft.com/office/drawing/2014/main" id="{B94874C7-E0CC-4D77-8DFA-51AE2E70B829}"/>
              </a:ext>
            </a:extLst>
          </p:cNvPr>
          <p:cNvSpPr>
            <a:spLocks noGrp="1" noChangeArrowheads="1"/>
          </p:cNvSpPr>
          <p:nvPr>
            <p:ph sz="half" idx="1"/>
          </p:nvPr>
        </p:nvSpPr>
        <p:spPr/>
        <p:txBody>
          <a:bodyPr>
            <a:normAutofit fontScale="85000" lnSpcReduction="20000"/>
          </a:bodyPr>
          <a:lstStyle/>
          <a:p>
            <a:r>
              <a:rPr lang="en-US" altLang="en-US" dirty="0"/>
              <a:t>Two threads share the data:</a:t>
            </a:r>
            <a:br>
              <a:rPr lang="en-US" altLang="en-US" dirty="0"/>
            </a:br>
            <a:br>
              <a:rPr lang="en-US" altLang="en-US" dirty="0"/>
            </a:br>
            <a:r>
              <a:rPr lang="en-US" altLang="en-US" dirty="0">
                <a:latin typeface="Courier New" panose="02070309020205020404" pitchFamily="49" charset="0"/>
                <a:cs typeface="Courier New" panose="02070309020205020404" pitchFamily="49" charset="0"/>
              </a:rPr>
              <a:t>boolean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int x = 0;</a:t>
            </a:r>
          </a:p>
          <a:p>
            <a:r>
              <a:rPr lang="en-US" altLang="en-US" dirty="0"/>
              <a:t>Thread 1 performs</a:t>
            </a:r>
            <a:br>
              <a:rPr lang="en-US" altLang="en-US" dirty="0"/>
            </a:br>
            <a:br>
              <a:rPr lang="en-US" altLang="en-US" dirty="0"/>
            </a:b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print x</a:t>
            </a:r>
          </a:p>
          <a:p>
            <a:r>
              <a:rPr lang="en-US" altLang="en-US" dirty="0"/>
              <a:t>Thread 2 performs</a:t>
            </a:r>
            <a:br>
              <a:rPr lang="en-US" altLang="en-US" dirty="0"/>
            </a:br>
            <a:br>
              <a:rPr lang="en-US" altLang="en-US" dirty="0"/>
            </a:b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endParaRPr lang="en-US" altLang="en-US" dirty="0">
              <a:latin typeface="Courier New" panose="02070309020205020404" pitchFamily="49" charset="0"/>
              <a:cs typeface="Courier New" panose="02070309020205020404" pitchFamily="49" charset="0"/>
            </a:endParaRPr>
          </a:p>
          <a:p>
            <a:r>
              <a:rPr lang="en-US" altLang="en-US" dirty="0"/>
              <a:t>What is the expected output?</a:t>
            </a:r>
          </a:p>
        </p:txBody>
      </p:sp>
      <p:sp>
        <p:nvSpPr>
          <p:cNvPr id="2" name="Content Placeholder 1">
            <a:extLst>
              <a:ext uri="{FF2B5EF4-FFF2-40B4-BE49-F238E27FC236}">
                <a16:creationId xmlns:a16="http://schemas.microsoft.com/office/drawing/2014/main" id="{63FFB965-F63A-4307-AFEF-39EC9B98464C}"/>
              </a:ext>
            </a:extLst>
          </p:cNvPr>
          <p:cNvSpPr>
            <a:spLocks noGrp="1"/>
          </p:cNvSpPr>
          <p:nvPr>
            <p:ph sz="half" idx="2"/>
          </p:nvPr>
        </p:nvSpPr>
        <p:spPr/>
        <p:txBody>
          <a:bodyPr/>
          <a:lstStyle/>
          <a:p>
            <a:r>
              <a:rPr lang="en-US" sz="2400" dirty="0"/>
              <a:t>Expected </a:t>
            </a:r>
          </a:p>
          <a:p>
            <a:pPr marL="0" indent="0">
              <a:buNone/>
            </a:pPr>
            <a:r>
              <a:rPr lang="en-US" sz="2400" dirty="0"/>
              <a:t>    </a:t>
            </a:r>
            <a:r>
              <a:rPr lang="en-US" sz="2400" b="1" dirty="0"/>
              <a:t>print output</a:t>
            </a:r>
            <a:r>
              <a:rPr lang="en-US" sz="2400" dirty="0"/>
              <a:t>: 100</a:t>
            </a:r>
          </a:p>
          <a:p>
            <a:endParaRPr lang="en-US" sz="2400" dirty="0"/>
          </a:p>
          <a:p>
            <a:r>
              <a:rPr lang="en-US" sz="2400" dirty="0"/>
              <a:t>If Thread 2 reordered by compiler</a:t>
            </a:r>
          </a:p>
          <a:p>
            <a:pPr marL="0" indent="0">
              <a:buNone/>
            </a:pP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flag = true</a:t>
            </a:r>
          </a:p>
          <a:p>
            <a:pPr marL="0" indent="0">
              <a:buNone/>
            </a:pPr>
            <a:r>
              <a:rPr lang="en-US" altLang="en-US" sz="2400" dirty="0">
                <a:latin typeface="Courier New" panose="02070309020205020404" pitchFamily="49" charset="0"/>
                <a:cs typeface="Courier New" panose="02070309020205020404" pitchFamily="49" charset="0"/>
              </a:rPr>
              <a:t>   x =  100;</a:t>
            </a:r>
          </a:p>
          <a:p>
            <a:pPr marL="0" indent="0">
              <a:buNone/>
            </a:pP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sz="2400" b="1" dirty="0"/>
              <a:t>print output</a:t>
            </a:r>
            <a:r>
              <a:rPr lang="en-US" altLang="en-US" sz="2400" dirty="0"/>
              <a:t>: 0 or 100</a:t>
            </a:r>
            <a:endParaRPr lang="en-US" sz="2400" dirty="0"/>
          </a:p>
          <a:p>
            <a:endParaRPr lang="en-US" dirty="0"/>
          </a:p>
          <a:p>
            <a:endParaRPr lang="en-US" dirty="0"/>
          </a:p>
        </p:txBody>
      </p:sp>
      <p:sp>
        <p:nvSpPr>
          <p:cNvPr id="3" name="Slide Number Placeholder 2">
            <a:extLst>
              <a:ext uri="{FF2B5EF4-FFF2-40B4-BE49-F238E27FC236}">
                <a16:creationId xmlns:a16="http://schemas.microsoft.com/office/drawing/2014/main" id="{1739019F-5AF5-451A-9903-4F24825C849F}"/>
              </a:ext>
            </a:extLst>
          </p:cNvPr>
          <p:cNvSpPr>
            <a:spLocks noGrp="1"/>
          </p:cNvSpPr>
          <p:nvPr>
            <p:ph type="sldNum" sz="quarter" idx="12"/>
          </p:nvPr>
        </p:nvSpPr>
        <p:spPr/>
        <p:txBody>
          <a:bodyPr/>
          <a:lstStyle/>
          <a:p>
            <a:fld id="{E7C9531F-FEFF-41F6-9815-41D608E752B1}"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C92E1-60FD-4998-ABCE-E1880F22D979}"/>
              </a:ext>
            </a:extLst>
          </p:cNvPr>
          <p:cNvSpPr>
            <a:spLocks noGrp="1"/>
          </p:cNvSpPr>
          <p:nvPr>
            <p:ph type="title"/>
          </p:nvPr>
        </p:nvSpPr>
        <p:spPr/>
        <p:txBody>
          <a:bodyPr/>
          <a:lstStyle/>
          <a:p>
            <a:r>
              <a:rPr lang="en-US" dirty="0"/>
              <a:t>Peterson’s Solution under Reordering</a:t>
            </a:r>
          </a:p>
        </p:txBody>
      </p:sp>
      <p:sp>
        <p:nvSpPr>
          <p:cNvPr id="5" name="Content Placeholder 4">
            <a:extLst>
              <a:ext uri="{FF2B5EF4-FFF2-40B4-BE49-F238E27FC236}">
                <a16:creationId xmlns:a16="http://schemas.microsoft.com/office/drawing/2014/main" id="{97F867C4-6069-4EF0-BD72-BBDB988919F5}"/>
              </a:ext>
            </a:extLst>
          </p:cNvPr>
          <p:cNvSpPr>
            <a:spLocks noGrp="1"/>
          </p:cNvSpPr>
          <p:nvPr>
            <p:ph idx="1"/>
          </p:nvPr>
        </p:nvSpPr>
        <p:spPr/>
        <p:txBody>
          <a:bodyPr/>
          <a:lstStyle/>
          <a:p>
            <a:r>
              <a:rPr lang="en-US" altLang="en-US" dirty="0"/>
              <a:t>The effects of instruction reordering in Peterson’s Solution</a:t>
            </a:r>
          </a:p>
          <a:p>
            <a:pPr marL="0" indent="0">
              <a:buNone/>
            </a:pPr>
            <a:endParaRPr lang="en-US" dirty="0"/>
          </a:p>
        </p:txBody>
      </p:sp>
      <p:pic>
        <p:nvPicPr>
          <p:cNvPr id="6" name="Picture 3">
            <a:extLst>
              <a:ext uri="{FF2B5EF4-FFF2-40B4-BE49-F238E27FC236}">
                <a16:creationId xmlns:a16="http://schemas.microsoft.com/office/drawing/2014/main" id="{E951D6FC-B5AC-42BA-9745-73ADEA8A0C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34709" y="274796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a:extLst>
              <a:ext uri="{FF2B5EF4-FFF2-40B4-BE49-F238E27FC236}">
                <a16:creationId xmlns:a16="http://schemas.microsoft.com/office/drawing/2014/main" id="{60B9979A-D574-4E58-B216-B2BD28D112CA}"/>
              </a:ext>
            </a:extLst>
          </p:cNvPr>
          <p:cNvSpPr txBox="1">
            <a:spLocks noChangeArrowheads="1"/>
          </p:cNvSpPr>
          <p:nvPr/>
        </p:nvSpPr>
        <p:spPr bwMode="auto">
          <a:xfrm>
            <a:off x="7367411" y="2439987"/>
            <a:ext cx="946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1400" dirty="0">
                <a:solidFill>
                  <a:srgbClr val="FF0000"/>
                </a:solidFill>
              </a:rPr>
              <a:t>turn = 0</a:t>
            </a:r>
          </a:p>
        </p:txBody>
      </p:sp>
      <p:sp>
        <p:nvSpPr>
          <p:cNvPr id="8" name="TextBox 1">
            <a:extLst>
              <a:ext uri="{FF2B5EF4-FFF2-40B4-BE49-F238E27FC236}">
                <a16:creationId xmlns:a16="http://schemas.microsoft.com/office/drawing/2014/main" id="{9D7386C5-98AD-4602-B6AB-CA9D969CFA93}"/>
              </a:ext>
            </a:extLst>
          </p:cNvPr>
          <p:cNvSpPr txBox="1">
            <a:spLocks noChangeArrowheads="1"/>
          </p:cNvSpPr>
          <p:nvPr/>
        </p:nvSpPr>
        <p:spPr bwMode="auto">
          <a:xfrm>
            <a:off x="5621867" y="3606977"/>
            <a:ext cx="1304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1200" dirty="0">
                <a:solidFill>
                  <a:srgbClr val="FF0000"/>
                </a:solidFill>
              </a:rPr>
              <a:t>flag[0] = false</a:t>
            </a:r>
          </a:p>
        </p:txBody>
      </p:sp>
      <p:sp>
        <p:nvSpPr>
          <p:cNvPr id="10" name="TextBox 9">
            <a:extLst>
              <a:ext uri="{FF2B5EF4-FFF2-40B4-BE49-F238E27FC236}">
                <a16:creationId xmlns:a16="http://schemas.microsoft.com/office/drawing/2014/main" id="{1FE459D6-E421-4176-8C82-5BE7FA6F23E6}"/>
              </a:ext>
            </a:extLst>
          </p:cNvPr>
          <p:cNvSpPr txBox="1"/>
          <p:nvPr/>
        </p:nvSpPr>
        <p:spPr>
          <a:xfrm>
            <a:off x="1625599" y="4476397"/>
            <a:ext cx="8906933" cy="1631216"/>
          </a:xfrm>
          <a:prstGeom prst="rect">
            <a:avLst/>
          </a:prstGeom>
          <a:noFill/>
        </p:spPr>
        <p:txBody>
          <a:bodyPr wrap="square">
            <a:spAutoFit/>
          </a:bodyPr>
          <a:lstStyle/>
          <a:p>
            <a:r>
              <a:rPr lang="en-US" altLang="en-US" sz="3200" dirty="0">
                <a:solidFill>
                  <a:srgbClr val="FF0000"/>
                </a:solidFill>
              </a:rPr>
              <a:t>This allows both processes to be in their critical section at the same time!</a:t>
            </a:r>
            <a:br>
              <a:rPr lang="en-US" altLang="en-US" sz="3200" dirty="0">
                <a:solidFill>
                  <a:srgbClr val="FF0000"/>
                </a:solidFill>
              </a:rPr>
            </a:br>
            <a:br>
              <a:rPr lang="en-US" altLang="en-US" dirty="0"/>
            </a:br>
            <a:endParaRPr lang="en-US" dirty="0"/>
          </a:p>
        </p:txBody>
      </p:sp>
      <p:sp>
        <p:nvSpPr>
          <p:cNvPr id="4" name="TextBox 3">
            <a:extLst>
              <a:ext uri="{FF2B5EF4-FFF2-40B4-BE49-F238E27FC236}">
                <a16:creationId xmlns:a16="http://schemas.microsoft.com/office/drawing/2014/main" id="{861DA081-417C-4CE8-9223-6B27E0333D63}"/>
              </a:ext>
            </a:extLst>
          </p:cNvPr>
          <p:cNvSpPr txBox="1"/>
          <p:nvPr/>
        </p:nvSpPr>
        <p:spPr>
          <a:xfrm>
            <a:off x="6669062" y="2226228"/>
            <a:ext cx="3091543" cy="338554"/>
          </a:xfrm>
          <a:prstGeom prst="rect">
            <a:avLst/>
          </a:prstGeom>
          <a:noFill/>
        </p:spPr>
        <p:txBody>
          <a:bodyPr wrap="square" rtlCol="0">
            <a:spAutoFit/>
          </a:bodyPr>
          <a:lstStyle/>
          <a:p>
            <a:r>
              <a:rPr lang="en-US" altLang="en-US" sz="1600" b="1" dirty="0">
                <a:solidFill>
                  <a:srgbClr val="000000"/>
                </a:solidFill>
                <a:latin typeface="Courier New" panose="02070309020205020404" pitchFamily="49" charset="0"/>
              </a:rPr>
              <a:t>flag[1] &amp;&amp; turn = = 1?</a:t>
            </a:r>
            <a:endParaRPr lang="en-US" sz="1600" dirty="0"/>
          </a:p>
        </p:txBody>
      </p:sp>
      <p:sp>
        <p:nvSpPr>
          <p:cNvPr id="11" name="TextBox 10">
            <a:extLst>
              <a:ext uri="{FF2B5EF4-FFF2-40B4-BE49-F238E27FC236}">
                <a16:creationId xmlns:a16="http://schemas.microsoft.com/office/drawing/2014/main" id="{1E86A344-99A4-41B0-9142-14A32E4E0B6C}"/>
              </a:ext>
            </a:extLst>
          </p:cNvPr>
          <p:cNvSpPr txBox="1"/>
          <p:nvPr/>
        </p:nvSpPr>
        <p:spPr>
          <a:xfrm>
            <a:off x="6797624" y="3544648"/>
            <a:ext cx="3091543" cy="338554"/>
          </a:xfrm>
          <a:prstGeom prst="rect">
            <a:avLst/>
          </a:prstGeom>
          <a:noFill/>
        </p:spPr>
        <p:txBody>
          <a:bodyPr wrap="square" rtlCol="0">
            <a:spAutoFit/>
          </a:bodyPr>
          <a:lstStyle/>
          <a:p>
            <a:r>
              <a:rPr lang="en-US" altLang="en-US" sz="1600" b="1" dirty="0">
                <a:solidFill>
                  <a:srgbClr val="000000"/>
                </a:solidFill>
                <a:latin typeface="Courier New" panose="02070309020205020404" pitchFamily="49" charset="0"/>
              </a:rPr>
              <a:t>flag[0] &amp;&amp; turn = = 0?</a:t>
            </a:r>
            <a:endParaRPr lang="en-US" sz="1600" dirty="0"/>
          </a:p>
        </p:txBody>
      </p:sp>
      <p:sp>
        <p:nvSpPr>
          <p:cNvPr id="3" name="Slide Number Placeholder 2">
            <a:extLst>
              <a:ext uri="{FF2B5EF4-FFF2-40B4-BE49-F238E27FC236}">
                <a16:creationId xmlns:a16="http://schemas.microsoft.com/office/drawing/2014/main" id="{8129E409-7A12-4163-A78A-BA9258A9AE08}"/>
              </a:ext>
            </a:extLst>
          </p:cNvPr>
          <p:cNvSpPr>
            <a:spLocks noGrp="1"/>
          </p:cNvSpPr>
          <p:nvPr>
            <p:ph type="sldNum" sz="quarter" idx="12"/>
          </p:nvPr>
        </p:nvSpPr>
        <p:spPr/>
        <p:txBody>
          <a:bodyPr/>
          <a:lstStyle/>
          <a:p>
            <a:fld id="{E7C9531F-FEFF-41F6-9815-41D608E752B1}" type="slidenum">
              <a:rPr lang="en-US" smtClean="0"/>
              <a:t>21</a:t>
            </a:fld>
            <a:endParaRPr lang="en-US"/>
          </a:p>
        </p:txBody>
      </p:sp>
    </p:spTree>
    <p:extLst>
      <p:ext uri="{BB962C8B-B14F-4D97-AF65-F5344CB8AC3E}">
        <p14:creationId xmlns:p14="http://schemas.microsoft.com/office/powerpoint/2010/main" val="4030945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1183</Words>
  <Application>Microsoft Office PowerPoint</Application>
  <PresentationFormat>Widescreen</PresentationFormat>
  <Paragraphs>213</Paragraphs>
  <Slides>21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MS PGothic</vt:lpstr>
      <vt:lpstr>游ゴシック Light</vt:lpstr>
      <vt:lpstr>Arial</vt:lpstr>
      <vt:lpstr>Calibri</vt:lpstr>
      <vt:lpstr>Calibri Light</vt:lpstr>
      <vt:lpstr>Courier New</vt:lpstr>
      <vt:lpstr>Monotype Sorts</vt:lpstr>
      <vt:lpstr>Times New Roman</vt:lpstr>
      <vt:lpstr>Wingdings 2</vt:lpstr>
      <vt:lpstr>Office Theme</vt:lpstr>
      <vt:lpstr>Process Synchronization Lesson 2 Critical Section</vt:lpstr>
      <vt:lpstr>Problems to Solve</vt:lpstr>
      <vt:lpstr>Process Critical Section</vt:lpstr>
      <vt:lpstr>Critical Section</vt:lpstr>
      <vt:lpstr>Good Solution to Critical Section Problem</vt:lpstr>
      <vt:lpstr>Mutual Exclusion</vt:lpstr>
      <vt:lpstr>Progress</vt:lpstr>
      <vt:lpstr>Bounded Waiting</vt:lpstr>
      <vt:lpstr>Shared Variable Update</vt:lpstr>
      <vt:lpstr>Shared Variable Update</vt:lpstr>
      <vt:lpstr>OS Critical Section for Kernel Data Structures</vt:lpstr>
      <vt:lpstr>Peterson’s Solution</vt:lpstr>
      <vt:lpstr>Peterson’s Solution</vt:lpstr>
      <vt:lpstr>Algorithm for Process Pi</vt:lpstr>
      <vt:lpstr>P0           Mutex Property          P1  </vt:lpstr>
      <vt:lpstr>P0         Progress Property     P1  </vt:lpstr>
      <vt:lpstr>P0   Bounded Waiting Property     P1  </vt:lpstr>
      <vt:lpstr>Peterson’s Solution (Cont.)</vt:lpstr>
      <vt:lpstr>Peterson’s Solution</vt:lpstr>
      <vt:lpstr>Instruction Reordering</vt:lpstr>
      <vt:lpstr>Peterson’s Solution under Reordering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Synchronization Lesson 2 Introduction</dc:title>
  <dc:creator>David Liu</dc:creator>
  <cp:lastModifiedBy>David Liu</cp:lastModifiedBy>
  <cp:revision>24</cp:revision>
  <dcterms:created xsi:type="dcterms:W3CDTF">2021-10-13T16:36:10Z</dcterms:created>
  <dcterms:modified xsi:type="dcterms:W3CDTF">2022-02-22T17:49:35Z</dcterms:modified>
</cp:coreProperties>
</file>