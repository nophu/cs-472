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64" r:id="rId3"/>
    <p:sldId id="367" r:id="rId4"/>
    <p:sldId id="365" r:id="rId5"/>
    <p:sldId id="366" r:id="rId6"/>
    <p:sldId id="368" r:id="rId7"/>
    <p:sldId id="369" r:id="rId8"/>
    <p:sldId id="370" r:id="rId9"/>
    <p:sldId id="386" r:id="rId10"/>
    <p:sldId id="385" r:id="rId11"/>
    <p:sldId id="387" r:id="rId12"/>
    <p:sldId id="371" r:id="rId13"/>
    <p:sldId id="372" r:id="rId14"/>
    <p:sldId id="373" r:id="rId15"/>
    <p:sldId id="388" r:id="rId16"/>
    <p:sldId id="3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4A996-3A7D-411C-8F40-B175378C6BFC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2DC27-771B-46DB-AC62-9A26B9D21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1DCBCADA-96E3-4F4E-9A7F-040B8EF658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A16A05-4583-4FA6-9C19-D3C65F91BC05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0CE418F9-9A00-4CC2-B501-10975F0F8A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69265330-9E9A-4312-8930-198E69C540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1DCBCADA-96E3-4F4E-9A7F-040B8EF658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A16A05-4583-4FA6-9C19-D3C65F91BC05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0CE418F9-9A00-4CC2-B501-10975F0F8A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69265330-9E9A-4312-8930-198E69C540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083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FEA13F32-0D5A-45CE-ACD5-75E08B81B1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379406-2B71-4D96-A6D5-18C43F794BF5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0C11864C-14FE-4036-A6C9-6F3F37948E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5F4E6ED5-5BFD-41DB-8C7C-979A712D94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1B6E02FA-DB9B-41B2-90CA-7646377BA0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D289D9-E1D3-434D-9887-0A1934E0922F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D49305E2-961F-4D87-9F54-1CF620E4A4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862F9812-8A8E-4037-814A-61084C04FF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07D412BB-F1F7-4D44-BE6E-2F4DC336BC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039E2B-8A3A-43E5-80AE-23F1ACBACCC8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781D2F72-839D-4311-BBCB-EFD943538C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E20F7DD2-7F4C-4E40-AE00-9C9196F95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3405F577-A59E-4EE1-BC49-4B85F5D1BF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CC27BB-A596-42A6-A610-54EA13944F76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D722810C-3951-414C-A830-1DCA431180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D0F6477C-0902-4D60-8AD7-D2899679B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B3CB8368-AE7F-4484-B172-189403C9D1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39ACCD-17BC-40C5-9CE7-5C729BE1BD10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44D498B8-3E45-4754-856A-14BD93A480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0BA982CD-3DF7-4F20-9564-B95D315CF8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692DA276-E4B4-438C-B17E-C514DF7D04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49FCCA7-E178-4A13-81D0-6F419C1D24EE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22D7B6EF-5245-461A-BABF-287D1994EC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993E6C15-CDFA-49FE-98A4-2ECDA6859D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FFABC78D-BF32-4493-A35A-5963B7DEB5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EDFECF-D40F-44FD-BFFC-D2E0A4F81B59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284D266A-914C-4E40-991D-83076EAB1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183335CA-E408-467A-A54B-1C57BDB613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1D3B3464-B02C-4F88-96BC-9BA9AC7116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7737315-0A1E-40FC-B664-0281A70EAA5E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8A35D638-2A96-408F-A760-15A6B5EF8E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AB6A15CA-E02F-43DD-B771-726C76C8A1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F56DD61-277E-4950-BBA4-42857DD08E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DD9291-8739-4E75-B812-575E83757360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B8422F08-62B2-4561-B16B-8F2187F648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F3EF8607-3D5F-48F8-B522-B0D6E6D2D9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F56DD61-277E-4950-BBA4-42857DD08E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DD9291-8739-4E75-B812-575E83757360}" type="slidenum">
              <a:rPr lang="en-US" altLang="en-US" smtClean="0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B8422F08-62B2-4561-B16B-8F2187F648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F3EF8607-3D5F-48F8-B522-B0D6E6D2D9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003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CE330E56-E467-4CB9-97A3-77F3369058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05E6AF-3B92-46EC-898E-342D5C573EF9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DE4C451A-0148-4F9F-A8DF-72F799DB57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F32B484-733E-4253-A426-C92AB2680A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69CCC-755D-4B06-B43E-91535514DC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3445F-63E2-4CC6-AD42-89A78C9D9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F17D-FE5F-45F1-879D-481E95C7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2DE08-59E0-4732-AB7E-029E2233E585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3E6C0-64BF-41F4-9F93-17891636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6DC4F-8B5C-4814-BAC2-C1EFFE5C6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8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BCA9E-A340-4912-981A-9FBFA3157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0E264-871D-4534-9F50-F65356B35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07E5-ABC5-44CC-B6DE-C8E182DD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02EF2-4151-4DE2-89FB-902F05610757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18BE7-B653-4D8A-A45F-0D143C18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E8E7-CD45-480C-8B57-68B9A3B4D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21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FDCB9-3BBF-4807-BB74-4AA0A8A4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094E-AA9A-4BB3-9C21-E24285184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EA305-0EEE-4538-9404-751F09BB6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77716-B46F-4B05-AD10-E0FB5FE79C53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0EE4C-9DBA-4465-80B4-A368243D8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4EFC9-E6A7-44D7-B00D-FC2ABF8C5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9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10263-7250-43CB-83DB-D8D0AF7D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F9493-292F-4D71-9948-6A93E6D79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3E37A-56B4-421E-BD46-CD124D395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BD736-0FD0-4BA1-AB38-BDBEF6344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F1E3F-F592-4A05-A165-402B22CB151E}" type="datetime1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BEF80-5AC5-4B7D-B317-B84BFDCA5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3FA19-882D-44F4-9F26-8497C44A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4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A3BC4-6268-4D8F-9DCE-8E28955C7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68AA2-F2D0-425D-821E-CE7A0099F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B0510-1E05-4828-B289-0695BD5C3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F09FD-0699-4F6A-8551-85EA47CDDA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D0496D-B337-4D88-A550-D6D56E653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0DB2C5-DD3D-4DBD-8891-197994C1C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791D2-CB22-4234-AB2D-11D6106F5C48}" type="datetime1">
              <a:rPr lang="en-US" smtClean="0"/>
              <a:t>3/21/2023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FDD4E4-F107-4FF9-806D-66E08F321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E94CB7-63A7-4EAE-A33A-818764F1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71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6619E-2ED2-49B3-BB70-E3709B5FD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52FDC-43D6-4B8F-B06C-30CC4C0BF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0D6FF-A101-42D6-A8EC-C46607385CF5}" type="datetime1">
              <a:rPr lang="en-US" smtClean="0"/>
              <a:t>3/21/2023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A7F932-81D4-4004-B69B-B7E2ECB16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D5033-6EE7-4265-AF43-26B3F1DD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8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62078A-1C1B-41A2-9711-AED78F858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DD2F4-E699-46D7-B85F-3236B4E540C6}" type="datetime1">
              <a:rPr lang="en-US" smtClean="0"/>
              <a:t>3/21/2023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8BDFF-ABF9-4390-BE2E-4911D561D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F783D-819D-4CBE-8D2F-1A6490CFB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84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FFC5-A955-4DCA-B3E2-57E58C86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47AE0-1C77-443E-92B9-AE1E2727C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9578F-EF8E-4380-8471-6B3B75C88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6A273-A7E9-459C-85D4-D7D9149D0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A301F-AE85-4E50-8597-F55C3C09E40F}" type="datetime1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8B4E3-8DCA-4AA7-B2D0-CEE160BF6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0387C-E537-4F0D-B00A-5E30D2F6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5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AAEC-AB50-4C92-A43C-C097678AB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7E010-A145-48BC-9A29-0F0553D29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946FF-4A28-4282-A2FE-FA6EA086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43105-CBC1-4271-AA2D-BF3E07790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A79B-627C-4FB2-AB18-A635EE5BB6B2}" type="datetime1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2B1B6-BBA3-4CC2-A302-064B6E796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11377-651A-4521-A44F-B200966D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3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4B35-BB76-407C-8E33-20186944D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BDABEE-E264-4D77-A45A-EA3581DD0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A2AA3-6A47-4101-87CE-5E1A89A51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F71F-1C88-4CE8-9E87-E34B2A141462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7B64-B817-4FD0-BF40-E967DAB1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9905C-28EE-4C49-9173-72FA89ED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86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140DED-F0E8-4593-8F62-81D56AF84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B0503-71DA-4F48-A63D-AAF4DF609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B17C0-0F04-46D3-8E72-B9A66B4C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06BD-FFCC-45BB-A3EB-C09DF20C7803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10E5E-8DA3-41B4-96FC-35C15A5FA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0E7F0-1522-497D-8A33-617F2F7B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1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20FC5F-EA61-42FC-950A-D40E3D6B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964F1-16B9-4DC5-BEA4-6A30E86F6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A0A68-CE59-489E-A2F2-1B959402A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AA710-804A-407A-BCD3-98A220BE58CE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DF12A-D09E-47E3-A220-726DDD87B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0155C-6DD2-44A0-B527-1C48D1FF9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CB2D4-E8AF-4C31-A7C3-B2233ACA8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9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A9D0-C27B-4756-8BCE-4B89E8B9DF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Deadlocks</a:t>
            </a:r>
            <a:br>
              <a:rPr lang="en-US" dirty="0"/>
            </a:br>
            <a:r>
              <a:rPr lang="en-US"/>
              <a:t>Lesson 3</a:t>
            </a:r>
            <a:br>
              <a:rPr lang="en-US" dirty="0"/>
            </a:br>
            <a:r>
              <a:rPr lang="en-US" dirty="0"/>
              <a:t>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8CE82-55FA-4052-AD41-DAD4DF4C7F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26133-2BC5-417E-B586-C42E6D2B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53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2A216171-1E5E-4015-9EEC-BD99B6F20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3269" y="420380"/>
            <a:ext cx="74215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Deadlock Detection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53EB87B8-A503-4767-9B06-D64F328EA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42118" y="1163637"/>
            <a:ext cx="8866697" cy="4846546"/>
          </a:xfrm>
        </p:spPr>
        <p:txBody>
          <a:bodyPr/>
          <a:lstStyle/>
          <a:p>
            <a:r>
              <a:rPr lang="en-US" altLang="en-US" dirty="0"/>
              <a:t>Allow system to enter deadlock state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Detection algorithm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Recovery scheme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840B73-61B7-41A7-B6CB-2F462814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2A216171-1E5E-4015-9EEC-BD99B6F20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3269" y="420380"/>
            <a:ext cx="74215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Deadlock Detection Approaches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53EB87B8-A503-4767-9B06-D64F328EA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42118" y="1163637"/>
            <a:ext cx="8866697" cy="484654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Single Instance of Each Resource Type</a:t>
            </a:r>
            <a:br>
              <a:rPr lang="en-US" altLang="en-US" dirty="0"/>
            </a:br>
            <a:endParaRPr lang="en-US" altLang="en-US" dirty="0"/>
          </a:p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Several Instances of a Resource Type</a:t>
            </a:r>
            <a:br>
              <a:rPr lang="en-US" altLang="en-US" dirty="0"/>
            </a:b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091A90-8AF1-4A0A-9A53-F378028B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6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40FE9492-9A21-4DFB-AE21-5E3732F6F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2647" y="196063"/>
            <a:ext cx="8186705" cy="844551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Single Instance of Each Resource Type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F793BECE-32EE-4616-BD95-AB01E2B44E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02647" y="1173162"/>
            <a:ext cx="7585075" cy="4511675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Maintain </a:t>
            </a:r>
            <a:r>
              <a:rPr lang="en-US" altLang="en-US" b="1" dirty="0">
                <a:solidFill>
                  <a:srgbClr val="3366FF"/>
                </a:solidFill>
              </a:rPr>
              <a:t>wait-for </a:t>
            </a:r>
            <a:r>
              <a:rPr lang="en-US" altLang="en-US" dirty="0"/>
              <a:t>graph of </a:t>
            </a:r>
            <a:r>
              <a:rPr lang="en-US" altLang="en-US" b="1" dirty="0"/>
              <a:t>Processes</a:t>
            </a:r>
          </a:p>
          <a:p>
            <a:pPr lvl="1"/>
            <a:r>
              <a:rPr lang="en-US" altLang="en-US" dirty="0"/>
              <a:t>Nodes are processes</a:t>
            </a:r>
          </a:p>
          <a:p>
            <a:pPr lvl="1"/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 </a:t>
            </a:r>
            <a:r>
              <a:rPr lang="en-US" altLang="en-US" b="1" i="1" dirty="0" err="1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b="1" i="1" baseline="-25000" dirty="0">
                <a:sym typeface="Symbol" panose="05050102010706020507" pitchFamily="18" charset="2"/>
              </a:rPr>
              <a:t>   </a:t>
            </a: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is waiting for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j</a:t>
            </a:r>
            <a:br>
              <a:rPr lang="en-US" altLang="en-US" b="1" i="1" dirty="0">
                <a:sym typeface="Symbol" panose="05050102010706020507" pitchFamily="18" charset="2"/>
              </a:rPr>
            </a:br>
            <a:endParaRPr lang="en-US" altLang="en-US" b="1" i="1" dirty="0">
              <a:sym typeface="Symbol" panose="05050102010706020507" pitchFamily="18" charset="2"/>
            </a:endParaRPr>
          </a:p>
          <a:p>
            <a:r>
              <a:rPr lang="en-US" altLang="en-US" dirty="0"/>
              <a:t>Periodically invoke an algorithm that searches for a cycle in the graph. If there is a cycle, there exists a deadlock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An algorithm to detect a cycle in a graph requires an order of</a:t>
            </a:r>
            <a:r>
              <a:rPr lang="en-US" altLang="en-US" i="1" dirty="0"/>
              <a:t> </a:t>
            </a:r>
            <a:r>
              <a:rPr lang="en-US" altLang="en-US" b="1" i="1" dirty="0"/>
              <a:t>n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</a:t>
            </a:r>
            <a:r>
              <a:rPr lang="en-US" altLang="en-US" dirty="0"/>
              <a:t>operations, where </a:t>
            </a:r>
            <a:r>
              <a:rPr lang="en-US" altLang="en-US" b="1" i="1" dirty="0"/>
              <a:t>n</a:t>
            </a:r>
            <a:r>
              <a:rPr lang="en-US" altLang="en-US" dirty="0"/>
              <a:t> is the number of vertices in the graph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9FF17C-C899-48E7-967C-6032156B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5683D86B-4356-48BB-BDC1-80C9359B1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37170" y="312613"/>
            <a:ext cx="9959413" cy="825253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Resource-Allocation Graph and  Wait-for Graph</a:t>
            </a:r>
          </a:p>
        </p:txBody>
      </p:sp>
      <p:sp>
        <p:nvSpPr>
          <p:cNvPr id="71683" name="Text Box 5">
            <a:extLst>
              <a:ext uri="{FF2B5EF4-FFF2-40B4-BE49-F238E27FC236}">
                <a16:creationId xmlns:a16="http://schemas.microsoft.com/office/drawing/2014/main" id="{818BD36D-C8A8-4F8C-B77C-C5D024E98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9169" y="5293003"/>
            <a:ext cx="31726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b="1" dirty="0"/>
              <a:t>Resource-Allocation Graph</a:t>
            </a:r>
          </a:p>
        </p:txBody>
      </p:sp>
      <p:sp>
        <p:nvSpPr>
          <p:cNvPr id="71684" name="Text Box 6">
            <a:extLst>
              <a:ext uri="{FF2B5EF4-FFF2-40B4-BE49-F238E27FC236}">
                <a16:creationId xmlns:a16="http://schemas.microsoft.com/office/drawing/2014/main" id="{0BCAC159-7AD8-407E-B967-07542960F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876" y="5286037"/>
            <a:ext cx="34419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b="1" dirty="0"/>
              <a:t>Corresponding wait-for graph</a:t>
            </a:r>
          </a:p>
        </p:txBody>
      </p:sp>
      <p:pic>
        <p:nvPicPr>
          <p:cNvPr id="71685" name="Picture 1">
            <a:extLst>
              <a:ext uri="{FF2B5EF4-FFF2-40B4-BE49-F238E27FC236}">
                <a16:creationId xmlns:a16="http://schemas.microsoft.com/office/drawing/2014/main" id="{E5E9CF72-5ACC-48F8-A7E1-C6A7429BB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388" y="1252539"/>
            <a:ext cx="574040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81F07A-0A7B-47B1-A09F-F80435236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3DF8DF6-ABC6-4848-B03C-38D3227DE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52750" y="161925"/>
            <a:ext cx="7772400" cy="6286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Several Instances of a Resource Type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406B877-2B40-4356-8DF5-8C418A2D4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5080" y="1270648"/>
            <a:ext cx="7500829" cy="4316704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A vector of length </a:t>
            </a:r>
            <a:r>
              <a:rPr lang="en-US" altLang="en-US" b="1" i="1" dirty="0"/>
              <a:t>m</a:t>
            </a:r>
            <a:r>
              <a:rPr lang="en-US" altLang="en-US" dirty="0"/>
              <a:t> indicates the number of available resources of each type</a:t>
            </a:r>
          </a:p>
          <a:p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defines the number of resources of each type currently allocated to each process</a:t>
            </a:r>
          </a:p>
          <a:p>
            <a:r>
              <a:rPr lang="en-US" altLang="en-US" b="1" dirty="0">
                <a:solidFill>
                  <a:srgbClr val="000000"/>
                </a:solidFill>
              </a:rPr>
              <a:t>Request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indicates the current request  of each process.  If </a:t>
            </a:r>
            <a:r>
              <a:rPr lang="en-US" altLang="en-US" b="1" i="1" dirty="0"/>
              <a:t>Request </a:t>
            </a:r>
            <a:r>
              <a:rPr lang="en-US" altLang="en-US" b="1" dirty="0"/>
              <a:t>[</a:t>
            </a:r>
            <a:r>
              <a:rPr lang="en-US" altLang="en-US" b="1" i="1" dirty="0" err="1"/>
              <a:t>i</a:t>
            </a:r>
            <a:r>
              <a:rPr lang="en-US" altLang="en-US" b="1" dirty="0"/>
              <a:t>][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dirty="0"/>
              <a:t>, then process</a:t>
            </a:r>
            <a:r>
              <a:rPr lang="en-US" altLang="en-US" i="1" dirty="0"/>
              <a:t>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is requesting</a:t>
            </a:r>
            <a:r>
              <a:rPr lang="en-US" altLang="en-US" i="1" dirty="0"/>
              <a:t> </a:t>
            </a:r>
            <a:r>
              <a:rPr lang="en-US" altLang="en-US" b="1" i="1" dirty="0"/>
              <a:t>k</a:t>
            </a:r>
            <a:r>
              <a:rPr lang="en-US" altLang="en-US" dirty="0"/>
              <a:t> more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r>
              <a:rPr lang="en-US" altLang="en-US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54DA5F-5B4D-4ADE-834A-0052668C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B540C904-2EC6-4F2A-9220-C31965448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11400" y="152401"/>
            <a:ext cx="78994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Detection Algorithm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953AEED0-085D-4B64-9E6D-796B43838B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9363" y="1233489"/>
            <a:ext cx="7753350" cy="453072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1.	Let </a:t>
            </a:r>
            <a:r>
              <a:rPr lang="en-US" altLang="en-US" b="1" i="1" dirty="0"/>
              <a:t>Work</a:t>
            </a:r>
            <a:r>
              <a:rPr lang="en-US" altLang="en-US" dirty="0"/>
              <a:t> and </a:t>
            </a:r>
            <a:r>
              <a:rPr lang="en-US" altLang="en-US" b="1" i="1" dirty="0"/>
              <a:t>Finish</a:t>
            </a:r>
            <a:r>
              <a:rPr lang="en-US" altLang="en-US" dirty="0"/>
              <a:t> be vectors of length </a:t>
            </a:r>
            <a:r>
              <a:rPr lang="en-US" altLang="en-US" b="1" i="1" dirty="0"/>
              <a:t>m</a:t>
            </a:r>
            <a:r>
              <a:rPr lang="en-US" altLang="en-US" dirty="0"/>
              <a:t> and </a:t>
            </a:r>
            <a:r>
              <a:rPr lang="en-US" altLang="en-US" b="1" i="1" dirty="0"/>
              <a:t>n</a:t>
            </a:r>
            <a:r>
              <a:rPr lang="en-US" altLang="en-US" dirty="0"/>
              <a:t>, respectively Initialize:</a:t>
            </a:r>
          </a:p>
          <a:p>
            <a:pPr marL="850900" lvl="1" indent="-393700">
              <a:buNone/>
            </a:pPr>
            <a:r>
              <a:rPr lang="en-US" altLang="en-US" dirty="0"/>
              <a:t>(a)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Available</a:t>
            </a:r>
            <a:endParaRPr lang="en-US" altLang="en-US" b="1" dirty="0"/>
          </a:p>
          <a:p>
            <a:pPr marL="850900" lvl="1" indent="-393700">
              <a:buNone/>
            </a:pPr>
            <a:r>
              <a:rPr lang="en-US" altLang="en-US" dirty="0"/>
              <a:t>(b)	For </a:t>
            </a:r>
            <a:r>
              <a:rPr lang="en-US" altLang="en-US" b="1" i="1" dirty="0" err="1"/>
              <a:t>i</a:t>
            </a:r>
            <a:r>
              <a:rPr lang="en-US" altLang="en-US" b="1" dirty="0"/>
              <a:t> = 1,2, …,</a:t>
            </a:r>
            <a:r>
              <a:rPr lang="en-US" altLang="en-US" b="1" i="1" dirty="0"/>
              <a:t> n</a:t>
            </a:r>
            <a:r>
              <a:rPr lang="en-US" altLang="en-US" dirty="0"/>
              <a:t>, if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 0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</a:t>
            </a:r>
            <a:r>
              <a:rPr lang="en-US" altLang="en-US" b="1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] </a:t>
            </a:r>
            <a:r>
              <a:rPr lang="en-US" altLang="en-US" b="1" i="1" dirty="0">
                <a:sym typeface="Symbol" panose="05050102010706020507" pitchFamily="18" charset="2"/>
              </a:rPr>
              <a:t>= false</a:t>
            </a:r>
            <a:r>
              <a:rPr lang="en-US" altLang="en-US" dirty="0">
                <a:sym typeface="Symbol" panose="05050102010706020507" pitchFamily="18" charset="2"/>
              </a:rPr>
              <a:t>; otherwise,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</a:t>
            </a:r>
            <a:r>
              <a:rPr lang="en-US" altLang="en-US" b="1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] = </a:t>
            </a:r>
            <a:r>
              <a:rPr lang="en-US" altLang="en-US" b="1" i="1" dirty="0">
                <a:sym typeface="Symbol" panose="05050102010706020507" pitchFamily="18" charset="2"/>
              </a:rPr>
              <a:t>true</a:t>
            </a:r>
          </a:p>
          <a:p>
            <a:pPr marL="850900" lvl="1" indent="-39370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2.	Find an index </a:t>
            </a:r>
            <a:r>
              <a:rPr lang="en-US" altLang="en-US" b="1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</a:t>
            </a:r>
          </a:p>
          <a:p>
            <a:pPr marL="850900" lvl="1" indent="-393700">
              <a:buNone/>
            </a:pPr>
            <a:r>
              <a:rPr lang="en-US" altLang="en-US" dirty="0"/>
              <a:t>(a)	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 err="1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50900" lvl="1" indent="-393700">
              <a:buNone/>
            </a:pPr>
            <a:r>
              <a:rPr lang="en-US" altLang="en-US" dirty="0"/>
              <a:t>(b)	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Work</a:t>
            </a:r>
            <a:br>
              <a:rPr lang="en-US" altLang="en-US" b="1" i="1" dirty="0">
                <a:sym typeface="Symbol" panose="05050102010706020507" pitchFamily="18" charset="2"/>
              </a:rPr>
            </a:br>
            <a:endParaRPr lang="en-US" altLang="en-US" b="1" dirty="0">
              <a:sym typeface="Symbol" panose="05050102010706020507" pitchFamily="18" charset="2"/>
            </a:endParaRPr>
          </a:p>
          <a:p>
            <a:pPr marL="850900" lvl="1" indent="-393700">
              <a:buNone/>
            </a:pPr>
            <a:r>
              <a:rPr lang="en-US" altLang="en-US" dirty="0">
                <a:sym typeface="Symbol" panose="05050102010706020507" pitchFamily="18" charset="2"/>
              </a:rPr>
              <a:t>If no such </a:t>
            </a:r>
            <a:r>
              <a:rPr lang="en-US" altLang="en-US" b="1" i="1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exists, go to step 4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1ECE53-D076-4C8A-9F21-307A2EDE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5D28D30A-43A1-42E9-8A59-546569088D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2714" y="214313"/>
            <a:ext cx="75580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Detection Algorithm (Cont.)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4686935-4472-4796-985E-C39AE13ECA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71738" y="1171576"/>
            <a:ext cx="7218362" cy="229711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3.	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</a:t>
            </a:r>
            <a:r>
              <a:rPr lang="en-US" altLang="en-US" b="1" dirty="0"/>
              <a:t> 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 err="1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true</a:t>
            </a:r>
            <a:br>
              <a:rPr lang="en-US" altLang="en-US" b="1" dirty="0"/>
            </a:br>
            <a:r>
              <a:rPr lang="en-US" altLang="en-US" dirty="0"/>
              <a:t>go to step 2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4.	If </a:t>
            </a:r>
            <a:r>
              <a:rPr lang="en-US" altLang="en-US" b="1" i="1" dirty="0"/>
              <a:t>Finish[</a:t>
            </a:r>
            <a:r>
              <a:rPr lang="en-US" altLang="en-US" b="1" i="1" dirty="0" err="1"/>
              <a:t>i</a:t>
            </a:r>
            <a:r>
              <a:rPr lang="en-US" altLang="en-US" b="1" i="1" dirty="0"/>
              <a:t>] == false</a:t>
            </a:r>
            <a:r>
              <a:rPr lang="en-US" altLang="en-US" dirty="0"/>
              <a:t>, for some </a:t>
            </a:r>
            <a:r>
              <a:rPr lang="en-US" altLang="en-US" b="1" i="1" dirty="0" err="1"/>
              <a:t>i</a:t>
            </a:r>
            <a:r>
              <a:rPr lang="en-US" altLang="en-US" dirty="0"/>
              <a:t>, 1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b="1" i="1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  </a:t>
            </a:r>
            <a:r>
              <a:rPr lang="en-US" altLang="en-US" b="1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, then the system is in deadlock state. Moreover, if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</a:t>
            </a:r>
            <a:r>
              <a:rPr lang="en-US" altLang="en-US" b="1" i="1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] == </a:t>
            </a:r>
            <a:r>
              <a:rPr lang="en-US" altLang="en-US" b="1" i="1" dirty="0">
                <a:sym typeface="Symbol" panose="05050102010706020507" pitchFamily="18" charset="2"/>
              </a:rPr>
              <a:t>false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is deadlocked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endParaRPr lang="en-US" altLang="en-US" dirty="0"/>
          </a:p>
        </p:txBody>
      </p:sp>
      <p:sp>
        <p:nvSpPr>
          <p:cNvPr id="77828" name="Text Box 4">
            <a:extLst>
              <a:ext uri="{FF2B5EF4-FFF2-40B4-BE49-F238E27FC236}">
                <a16:creationId xmlns:a16="http://schemas.microsoft.com/office/drawing/2014/main" id="{09C52C80-B2BF-48B8-B362-2ACE959D4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488" y="3824288"/>
            <a:ext cx="7694612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Algorithm requires an order of O(</a:t>
            </a:r>
            <a:r>
              <a:rPr kumimoji="0" lang="en-US" altLang="en-US" b="1" i="1">
                <a:solidFill>
                  <a:srgbClr val="FF0066"/>
                </a:solidFill>
                <a:sym typeface="Symbol" panose="05050102010706020507" pitchFamily="18" charset="2"/>
              </a:rPr>
              <a:t>m </a:t>
            </a: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x</a:t>
            </a:r>
            <a:r>
              <a:rPr kumimoji="0" lang="en-US" altLang="en-US" b="1" i="1">
                <a:solidFill>
                  <a:srgbClr val="FF0066"/>
                </a:solidFill>
                <a:sym typeface="Symbol" panose="05050102010706020507" pitchFamily="18" charset="2"/>
              </a:rPr>
              <a:t> n</a:t>
            </a:r>
            <a:r>
              <a:rPr kumimoji="0" lang="en-US" altLang="en-US" b="1" baseline="30000">
                <a:solidFill>
                  <a:srgbClr val="FF0066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en-US" b="1">
                <a:solidFill>
                  <a:srgbClr val="FF0066"/>
                </a:solidFill>
                <a:sym typeface="Symbol" panose="05050102010706020507" pitchFamily="18" charset="2"/>
              </a:rPr>
              <a:t>) operations to detect whether the system is in deadlocked state</a:t>
            </a:r>
            <a:endParaRPr kumimoji="0" lang="en-US" altLang="en-US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en-US">
              <a:solidFill>
                <a:srgbClr val="FF0066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52533E-C6F0-4598-A31F-07E2AB94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03258ED5-CC86-4963-A899-2B64CE2CA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E2E8C-17A7-4FD1-99AC-C2674B9E5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difference </a:t>
            </a:r>
          </a:p>
          <a:p>
            <a:pPr marL="0" indent="0">
              <a:buNone/>
              <a:defRPr/>
            </a:pPr>
            <a:r>
              <a:rPr lang="en-US" dirty="0"/>
              <a:t>     between </a:t>
            </a:r>
            <a:r>
              <a:rPr lang="en-US" dirty="0">
                <a:solidFill>
                  <a:srgbClr val="FF0000"/>
                </a:solidFill>
              </a:rPr>
              <a:t>Safety Algorithm 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     and </a:t>
            </a:r>
            <a:r>
              <a:rPr lang="en-US" dirty="0">
                <a:solidFill>
                  <a:srgbClr val="92D050"/>
                </a:solidFill>
              </a:rPr>
              <a:t>Detection Algorithm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E92F07-771B-43D5-8046-478A64294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CA691DC-42D0-4F23-9760-01953CAC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vs Detection Algorithms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CB64AB6-992B-48AA-8544-83F307D252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sz="1900" dirty="0"/>
              <a:t>1. Let Work and Finish be vectors of length m and n, respectively Initialize:</a:t>
            </a:r>
          </a:p>
          <a:p>
            <a:pPr marL="850900" lvl="1" indent="-393700">
              <a:buNone/>
            </a:pPr>
            <a:r>
              <a:rPr lang="en-US" altLang="en-US" sz="1900" dirty="0"/>
              <a:t>(a) </a:t>
            </a:r>
            <a:r>
              <a:rPr lang="en-US" altLang="en-US" sz="1900" b="1" dirty="0"/>
              <a:t>Work = Available</a:t>
            </a:r>
          </a:p>
          <a:p>
            <a:pPr marL="850900" lvl="1" indent="-393700">
              <a:buNone/>
            </a:pPr>
            <a:r>
              <a:rPr lang="en-US" altLang="en-US" sz="1900" dirty="0"/>
              <a:t>(b)	For </a:t>
            </a:r>
            <a:r>
              <a:rPr lang="en-US" altLang="en-US" sz="1900" b="1" dirty="0" err="1"/>
              <a:t>i</a:t>
            </a:r>
            <a:r>
              <a:rPr lang="en-US" altLang="en-US" sz="1900" b="1" dirty="0"/>
              <a:t> = 1,2, …, n</a:t>
            </a:r>
            <a:r>
              <a:rPr lang="en-US" altLang="en-US" sz="1900" dirty="0"/>
              <a:t>, if </a:t>
            </a:r>
            <a:r>
              <a:rPr lang="en-US" altLang="en-US" sz="1900" b="1" dirty="0" err="1"/>
              <a:t>Allocationi</a:t>
            </a:r>
            <a:r>
              <a:rPr lang="en-US" altLang="en-US" sz="1900" b="1" dirty="0"/>
              <a:t> </a:t>
            </a:r>
            <a:r>
              <a:rPr lang="en-US" altLang="en-US" sz="1900" b="1" dirty="0">
                <a:sym typeface="Symbol" panose="05050102010706020507" pitchFamily="18" charset="2"/>
              </a:rPr>
              <a:t> 0</a:t>
            </a:r>
            <a:r>
              <a:rPr lang="en-US" altLang="en-US" sz="1900" dirty="0">
                <a:sym typeface="Symbol" panose="05050102010706020507" pitchFamily="18" charset="2"/>
              </a:rPr>
              <a:t>, then </a:t>
            </a:r>
            <a:br>
              <a:rPr lang="en-US" altLang="en-US" sz="1900" dirty="0">
                <a:sym typeface="Symbol" panose="05050102010706020507" pitchFamily="18" charset="2"/>
              </a:rPr>
            </a:br>
            <a:r>
              <a:rPr lang="en-US" altLang="en-US" sz="1900" b="1" dirty="0">
                <a:sym typeface="Symbol" panose="05050102010706020507" pitchFamily="18" charset="2"/>
              </a:rPr>
              <a:t>Finish[</a:t>
            </a:r>
            <a:r>
              <a:rPr lang="en-US" altLang="en-US" sz="1900" b="1" dirty="0" err="1">
                <a:sym typeface="Symbol" panose="05050102010706020507" pitchFamily="18" charset="2"/>
              </a:rPr>
              <a:t>i</a:t>
            </a:r>
            <a:r>
              <a:rPr lang="en-US" altLang="en-US" sz="1900" b="1" dirty="0">
                <a:sym typeface="Symbol" panose="05050102010706020507" pitchFamily="18" charset="2"/>
              </a:rPr>
              <a:t>] = false</a:t>
            </a:r>
            <a:r>
              <a:rPr lang="en-US" altLang="en-US" sz="1900" dirty="0">
                <a:sym typeface="Symbol" panose="05050102010706020507" pitchFamily="18" charset="2"/>
              </a:rPr>
              <a:t>; otherwise, </a:t>
            </a:r>
            <a:r>
              <a:rPr lang="en-US" altLang="en-US" sz="1900" b="1" dirty="0">
                <a:sym typeface="Symbol" panose="05050102010706020507" pitchFamily="18" charset="2"/>
              </a:rPr>
              <a:t>Finish[</a:t>
            </a:r>
            <a:r>
              <a:rPr lang="en-US" altLang="en-US" sz="1900" b="1" dirty="0" err="1">
                <a:sym typeface="Symbol" panose="05050102010706020507" pitchFamily="18" charset="2"/>
              </a:rPr>
              <a:t>i</a:t>
            </a:r>
            <a:r>
              <a:rPr lang="en-US" altLang="en-US" sz="1900" b="1" dirty="0">
                <a:sym typeface="Symbol" panose="05050102010706020507" pitchFamily="18" charset="2"/>
              </a:rPr>
              <a:t>] = true</a:t>
            </a:r>
          </a:p>
          <a:p>
            <a:pPr marL="850900" lvl="1" indent="-393700">
              <a:buNone/>
            </a:pPr>
            <a:endParaRPr lang="en-US" altLang="en-US" sz="1900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900" dirty="0"/>
              <a:t>2.	Find an index </a:t>
            </a:r>
            <a:r>
              <a:rPr lang="en-US" altLang="en-US" sz="1900" b="1" dirty="0" err="1"/>
              <a:t>i</a:t>
            </a:r>
            <a:r>
              <a:rPr lang="en-US" altLang="en-US" sz="1900" dirty="0"/>
              <a:t> such that both:</a:t>
            </a:r>
          </a:p>
          <a:p>
            <a:pPr marL="850900" lvl="1" indent="-393700">
              <a:buNone/>
            </a:pPr>
            <a:r>
              <a:rPr lang="en-US" altLang="en-US" sz="1900" dirty="0"/>
              <a:t>(a)	</a:t>
            </a:r>
            <a:r>
              <a:rPr lang="en-US" altLang="en-US" sz="1900" b="1" dirty="0"/>
              <a:t>Finish[</a:t>
            </a:r>
            <a:r>
              <a:rPr lang="en-US" altLang="en-US" sz="1900" b="1" dirty="0" err="1"/>
              <a:t>i</a:t>
            </a:r>
            <a:r>
              <a:rPr lang="en-US" altLang="en-US" sz="1900" b="1" dirty="0"/>
              <a:t>] == false</a:t>
            </a:r>
          </a:p>
          <a:p>
            <a:pPr marL="850900" lvl="1" indent="-393700">
              <a:buNone/>
            </a:pPr>
            <a:r>
              <a:rPr lang="en-US" altLang="en-US" sz="1900" dirty="0"/>
              <a:t>(b)	</a:t>
            </a:r>
            <a:r>
              <a:rPr lang="en-US" altLang="en-US" sz="1900" b="1" dirty="0" err="1"/>
              <a:t>Request</a:t>
            </a:r>
            <a:r>
              <a:rPr lang="en-US" altLang="en-US" sz="1900" b="1" baseline="-25000" dirty="0" err="1"/>
              <a:t>i</a:t>
            </a:r>
            <a:r>
              <a:rPr lang="en-US" altLang="en-US" sz="1900" b="1" dirty="0"/>
              <a:t> </a:t>
            </a:r>
            <a:r>
              <a:rPr lang="en-US" altLang="en-US" sz="1900" b="1" dirty="0">
                <a:sym typeface="Symbol" panose="05050102010706020507" pitchFamily="18" charset="2"/>
              </a:rPr>
              <a:t> Work</a:t>
            </a:r>
            <a:br>
              <a:rPr lang="en-US" altLang="en-US" sz="1900" dirty="0">
                <a:sym typeface="Symbol" panose="05050102010706020507" pitchFamily="18" charset="2"/>
              </a:rPr>
            </a:br>
            <a:endParaRPr lang="en-US" altLang="en-US" sz="1900" dirty="0">
              <a:sym typeface="Symbol" panose="05050102010706020507" pitchFamily="18" charset="2"/>
            </a:endParaRPr>
          </a:p>
          <a:p>
            <a:pPr marL="850900" lvl="1" indent="-393700">
              <a:buNone/>
            </a:pPr>
            <a:r>
              <a:rPr lang="en-US" altLang="en-US" sz="1900" dirty="0">
                <a:sym typeface="Symbol" panose="05050102010706020507" pitchFamily="18" charset="2"/>
              </a:rPr>
              <a:t>If no such </a:t>
            </a:r>
            <a:r>
              <a:rPr lang="en-US" altLang="en-US" sz="1900" dirty="0" err="1">
                <a:sym typeface="Symbol" panose="05050102010706020507" pitchFamily="18" charset="2"/>
              </a:rPr>
              <a:t>i</a:t>
            </a:r>
            <a:r>
              <a:rPr lang="en-US" altLang="en-US" sz="1900" dirty="0">
                <a:sym typeface="Symbol" panose="05050102010706020507" pitchFamily="18" charset="2"/>
              </a:rPr>
              <a:t> exists, go to step 4</a:t>
            </a:r>
          </a:p>
          <a:p>
            <a:pPr marL="850900" lvl="1" indent="-393700">
              <a:buNone/>
            </a:pPr>
            <a:endParaRPr lang="en-US" sz="1900" dirty="0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en-US" sz="1900" dirty="0"/>
              <a:t>3.	</a:t>
            </a:r>
            <a:r>
              <a:rPr lang="en-US" altLang="en-US" sz="1900" b="1" i="1" dirty="0"/>
              <a:t>Work</a:t>
            </a:r>
            <a:r>
              <a:rPr lang="en-US" altLang="en-US" sz="1900" b="1" dirty="0"/>
              <a:t> = </a:t>
            </a:r>
            <a:r>
              <a:rPr lang="en-US" altLang="en-US" sz="1900" b="1" i="1" dirty="0"/>
              <a:t>Work</a:t>
            </a:r>
            <a:r>
              <a:rPr lang="en-US" altLang="en-US" sz="1900" b="1" dirty="0"/>
              <a:t> + </a:t>
            </a:r>
            <a:r>
              <a:rPr lang="en-US" altLang="en-US" sz="1900" b="1" i="1" dirty="0" err="1"/>
              <a:t>Allocation</a:t>
            </a:r>
            <a:r>
              <a:rPr lang="en-US" altLang="en-US" sz="1900" b="1" i="1" baseline="-25000" dirty="0" err="1"/>
              <a:t>i</a:t>
            </a:r>
            <a:br>
              <a:rPr lang="en-US" altLang="en-US" sz="1900" b="1" dirty="0"/>
            </a:br>
            <a:r>
              <a:rPr lang="en-US" altLang="en-US" sz="1900" b="1" i="1" dirty="0"/>
              <a:t>Finish</a:t>
            </a:r>
            <a:r>
              <a:rPr lang="en-US" altLang="en-US" sz="1900" b="1" dirty="0"/>
              <a:t>[</a:t>
            </a:r>
            <a:r>
              <a:rPr lang="en-US" altLang="en-US" sz="1900" b="1" i="1" dirty="0" err="1"/>
              <a:t>i</a:t>
            </a:r>
            <a:r>
              <a:rPr lang="en-US" altLang="en-US" sz="1900" b="1" dirty="0"/>
              <a:t>] = </a:t>
            </a:r>
            <a:r>
              <a:rPr lang="en-US" altLang="en-US" sz="1900" b="1" i="1" dirty="0"/>
              <a:t>true</a:t>
            </a:r>
            <a:br>
              <a:rPr lang="en-US" altLang="en-US" sz="1900" b="1" dirty="0"/>
            </a:br>
            <a:r>
              <a:rPr lang="en-US" altLang="en-US" sz="1900" dirty="0"/>
              <a:t>go to step 2</a:t>
            </a:r>
            <a:br>
              <a:rPr lang="en-US" altLang="en-US" sz="1900" dirty="0"/>
            </a:br>
            <a:endParaRPr lang="en-US" altLang="en-US" sz="1900" dirty="0"/>
          </a:p>
          <a:p>
            <a:pPr>
              <a:buNone/>
            </a:pPr>
            <a:r>
              <a:rPr lang="en-US" altLang="en-US" sz="1900" dirty="0"/>
              <a:t>4.	If </a:t>
            </a:r>
            <a:r>
              <a:rPr lang="en-US" altLang="en-US" sz="1900" b="1" i="1" dirty="0"/>
              <a:t>Finish[</a:t>
            </a:r>
            <a:r>
              <a:rPr lang="en-US" altLang="en-US" sz="1900" b="1" i="1" dirty="0" err="1"/>
              <a:t>i</a:t>
            </a:r>
            <a:r>
              <a:rPr lang="en-US" altLang="en-US" sz="1900" b="1" i="1" dirty="0"/>
              <a:t>] == false</a:t>
            </a:r>
            <a:r>
              <a:rPr lang="en-US" altLang="en-US" sz="1900" dirty="0"/>
              <a:t>, for some </a:t>
            </a:r>
            <a:r>
              <a:rPr lang="en-US" altLang="en-US" sz="1900" b="1" i="1" dirty="0" err="1"/>
              <a:t>i</a:t>
            </a:r>
            <a:r>
              <a:rPr lang="en-US" altLang="en-US" sz="1900" dirty="0"/>
              <a:t>, 1 </a:t>
            </a:r>
            <a:r>
              <a:rPr lang="en-US" altLang="en-US" sz="1900" dirty="0">
                <a:sym typeface="Symbol" panose="05050102010706020507" pitchFamily="18" charset="2"/>
              </a:rPr>
              <a:t> </a:t>
            </a:r>
            <a:r>
              <a:rPr lang="en-US" altLang="en-US" sz="1900" b="1" i="1" dirty="0" err="1">
                <a:sym typeface="Symbol" panose="05050102010706020507" pitchFamily="18" charset="2"/>
              </a:rPr>
              <a:t>i</a:t>
            </a:r>
            <a:r>
              <a:rPr lang="en-US" altLang="en-US" sz="1900" dirty="0">
                <a:sym typeface="Symbol" panose="05050102010706020507" pitchFamily="18" charset="2"/>
              </a:rPr>
              <a:t>   </a:t>
            </a:r>
            <a:r>
              <a:rPr lang="en-US" altLang="en-US" sz="1900" b="1" i="1" dirty="0">
                <a:sym typeface="Symbol" panose="05050102010706020507" pitchFamily="18" charset="2"/>
              </a:rPr>
              <a:t>n</a:t>
            </a:r>
            <a:r>
              <a:rPr lang="en-US" altLang="en-US" sz="1900" dirty="0">
                <a:sym typeface="Symbol" panose="05050102010706020507" pitchFamily="18" charset="2"/>
              </a:rPr>
              <a:t>, then the system is in deadlock state. Moreover, if </a:t>
            </a:r>
            <a:r>
              <a:rPr lang="en-US" altLang="en-US" sz="1900" b="1" i="1" dirty="0">
                <a:sym typeface="Symbol" panose="05050102010706020507" pitchFamily="18" charset="2"/>
              </a:rPr>
              <a:t>Finish</a:t>
            </a:r>
            <a:r>
              <a:rPr lang="en-US" altLang="en-US" sz="1900" b="1" dirty="0">
                <a:sym typeface="Symbol" panose="05050102010706020507" pitchFamily="18" charset="2"/>
              </a:rPr>
              <a:t>[</a:t>
            </a:r>
            <a:r>
              <a:rPr lang="en-US" altLang="en-US" sz="1900" b="1" i="1" dirty="0" err="1">
                <a:sym typeface="Symbol" panose="05050102010706020507" pitchFamily="18" charset="2"/>
              </a:rPr>
              <a:t>i</a:t>
            </a:r>
            <a:r>
              <a:rPr lang="en-US" altLang="en-US" sz="1900" b="1" dirty="0">
                <a:sym typeface="Symbol" panose="05050102010706020507" pitchFamily="18" charset="2"/>
              </a:rPr>
              <a:t>] == </a:t>
            </a:r>
            <a:r>
              <a:rPr lang="en-US" altLang="en-US" sz="1900" b="1" i="1" dirty="0">
                <a:sym typeface="Symbol" panose="05050102010706020507" pitchFamily="18" charset="2"/>
              </a:rPr>
              <a:t>false</a:t>
            </a:r>
            <a:r>
              <a:rPr lang="en-US" altLang="en-US" sz="1900" dirty="0">
                <a:sym typeface="Symbol" panose="05050102010706020507" pitchFamily="18" charset="2"/>
              </a:rPr>
              <a:t>, then </a:t>
            </a:r>
            <a:r>
              <a:rPr lang="en-US" altLang="en-US" sz="1900" b="1" i="1" dirty="0">
                <a:sym typeface="Symbol" panose="05050102010706020507" pitchFamily="18" charset="2"/>
              </a:rPr>
              <a:t>P</a:t>
            </a:r>
            <a:r>
              <a:rPr lang="en-US" altLang="en-US" sz="1900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1900" dirty="0">
                <a:sym typeface="Symbol" panose="05050102010706020507" pitchFamily="18" charset="2"/>
              </a:rPr>
              <a:t> is deadlocked</a:t>
            </a:r>
          </a:p>
          <a:p>
            <a:pPr marL="393700" indent="-393700">
              <a:buNone/>
            </a:pPr>
            <a:endParaRPr lang="en-US" sz="1800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231E499-B4EA-479C-A72A-57504350A33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900" dirty="0"/>
              <a:t>1. Let Work and Finish be vectors of length m and n, respectively.  Initialize:</a:t>
            </a:r>
          </a:p>
          <a:p>
            <a:pPr marL="1543050" lvl="3" indent="-342900">
              <a:buNone/>
            </a:pPr>
            <a:r>
              <a:rPr lang="en-US" altLang="en-US" sz="1900" b="1" i="1" dirty="0"/>
              <a:t>Work </a:t>
            </a:r>
            <a:r>
              <a:rPr lang="en-US" altLang="en-US" sz="1900" b="1" dirty="0"/>
              <a:t>= </a:t>
            </a:r>
            <a:r>
              <a:rPr lang="en-US" altLang="en-US" sz="1900" b="1" i="1" dirty="0"/>
              <a:t>Available</a:t>
            </a:r>
          </a:p>
          <a:p>
            <a:pPr marL="1543050" lvl="3" indent="-342900">
              <a:buNone/>
            </a:pPr>
            <a:r>
              <a:rPr lang="en-US" altLang="en-US" sz="1900" b="1" i="1" dirty="0"/>
              <a:t>Finish </a:t>
            </a:r>
            <a:r>
              <a:rPr lang="en-US" altLang="en-US" sz="1900" b="1" dirty="0"/>
              <a:t>[</a:t>
            </a:r>
            <a:r>
              <a:rPr lang="en-US" altLang="en-US" sz="1900" b="1" i="1" dirty="0" err="1"/>
              <a:t>i</a:t>
            </a:r>
            <a:r>
              <a:rPr lang="en-US" altLang="en-US" sz="1900" b="1" dirty="0"/>
              <a:t>] =</a:t>
            </a:r>
            <a:r>
              <a:rPr lang="en-US" altLang="en-US" sz="1900" b="1" i="1" dirty="0"/>
              <a:t> false </a:t>
            </a:r>
            <a:r>
              <a:rPr lang="en-US" altLang="en-US" sz="1900" b="1" dirty="0"/>
              <a:t>for</a:t>
            </a:r>
            <a:r>
              <a:rPr lang="en-US" altLang="en-US" sz="1900" b="1" i="1" dirty="0"/>
              <a:t> </a:t>
            </a:r>
            <a:r>
              <a:rPr lang="en-US" altLang="en-US" sz="1900" b="1" i="1" dirty="0" err="1"/>
              <a:t>i</a:t>
            </a:r>
            <a:r>
              <a:rPr lang="en-US" altLang="en-US" sz="1900" b="1" dirty="0"/>
              <a:t> = 0, 1, …, </a:t>
            </a:r>
            <a:r>
              <a:rPr lang="en-US" altLang="en-US" sz="1900" b="1" i="1" dirty="0"/>
              <a:t>n- </a:t>
            </a:r>
            <a:r>
              <a:rPr lang="en-US" altLang="en-US" sz="1900" b="1" dirty="0"/>
              <a:t>1</a:t>
            </a:r>
          </a:p>
          <a:p>
            <a:pPr marL="1543050" lvl="3" indent="-342900">
              <a:buNone/>
            </a:pPr>
            <a:endParaRPr lang="en-US" altLang="en-US" sz="19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900" dirty="0"/>
              <a:t>2. Find an </a:t>
            </a:r>
            <a:r>
              <a:rPr lang="en-US" altLang="en-US" sz="1900" b="1" i="1" dirty="0" err="1"/>
              <a:t>i</a:t>
            </a:r>
            <a:r>
              <a:rPr lang="en-US" altLang="en-US" sz="1900" i="1" dirty="0"/>
              <a:t> </a:t>
            </a:r>
            <a:r>
              <a:rPr lang="en-US" altLang="en-US" sz="1900" dirty="0"/>
              <a:t>such that both: </a:t>
            </a:r>
          </a:p>
          <a:p>
            <a:pPr marL="800100" lvl="1" indent="-342900">
              <a:buNone/>
            </a:pPr>
            <a:r>
              <a:rPr lang="en-US" altLang="en-US" sz="1900" dirty="0"/>
              <a:t>(a) </a:t>
            </a:r>
            <a:r>
              <a:rPr lang="en-US" altLang="en-US" sz="1900" b="1" i="1" dirty="0"/>
              <a:t>Finish</a:t>
            </a:r>
            <a:r>
              <a:rPr lang="en-US" altLang="en-US" sz="1900" b="1" dirty="0"/>
              <a:t> [</a:t>
            </a:r>
            <a:r>
              <a:rPr lang="en-US" altLang="en-US" sz="1900" b="1" i="1" dirty="0" err="1"/>
              <a:t>i</a:t>
            </a:r>
            <a:r>
              <a:rPr lang="en-US" altLang="en-US" sz="1900" b="1" dirty="0"/>
              <a:t>] = </a:t>
            </a:r>
            <a:r>
              <a:rPr lang="en-US" altLang="en-US" sz="1900" b="1" i="1" dirty="0"/>
              <a:t>false</a:t>
            </a:r>
            <a:endParaRPr lang="en-US" altLang="en-US" sz="1900" b="1" dirty="0"/>
          </a:p>
          <a:p>
            <a:pPr marL="800100" lvl="1" indent="-342900">
              <a:buNone/>
            </a:pPr>
            <a:r>
              <a:rPr lang="en-US" altLang="en-US" sz="1900" dirty="0"/>
              <a:t>(b) </a:t>
            </a:r>
            <a:r>
              <a:rPr lang="en-US" altLang="en-US" sz="1900" b="1" i="1" dirty="0" err="1"/>
              <a:t>Need</a:t>
            </a:r>
            <a:r>
              <a:rPr lang="en-US" altLang="en-US" sz="1900" b="1" i="1" baseline="-25000" dirty="0" err="1"/>
              <a:t>i</a:t>
            </a:r>
            <a:r>
              <a:rPr lang="en-US" altLang="en-US" sz="1900" b="1" dirty="0"/>
              <a:t> </a:t>
            </a:r>
            <a:r>
              <a:rPr lang="en-US" altLang="en-US" sz="1900" b="1" dirty="0">
                <a:sym typeface="Symbol" panose="05050102010706020507" pitchFamily="18" charset="2"/>
              </a:rPr>
              <a:t> </a:t>
            </a:r>
            <a:r>
              <a:rPr lang="en-US" altLang="en-US" sz="1900" b="1" i="1" dirty="0">
                <a:sym typeface="Symbol" panose="05050102010706020507" pitchFamily="18" charset="2"/>
              </a:rPr>
              <a:t>Work</a:t>
            </a:r>
          </a:p>
          <a:p>
            <a:pPr marL="800100" lvl="1" indent="-342900">
              <a:buNone/>
            </a:pPr>
            <a:r>
              <a:rPr lang="en-US" altLang="en-US" sz="1900" dirty="0">
                <a:sym typeface="Symbol" panose="05050102010706020507" pitchFamily="18" charset="2"/>
              </a:rPr>
              <a:t>If no such</a:t>
            </a:r>
            <a:r>
              <a:rPr lang="en-US" altLang="en-US" sz="1900" b="1" dirty="0">
                <a:sym typeface="Symbol" panose="05050102010706020507" pitchFamily="18" charset="2"/>
              </a:rPr>
              <a:t> </a:t>
            </a:r>
            <a:r>
              <a:rPr lang="en-US" altLang="en-US" sz="1900" b="1" i="1" dirty="0" err="1">
                <a:sym typeface="Symbol" panose="05050102010706020507" pitchFamily="18" charset="2"/>
              </a:rPr>
              <a:t>i</a:t>
            </a:r>
            <a:r>
              <a:rPr lang="en-US" altLang="en-US" sz="1900" b="1" i="1" dirty="0">
                <a:sym typeface="Symbol" panose="05050102010706020507" pitchFamily="18" charset="2"/>
              </a:rPr>
              <a:t> </a:t>
            </a:r>
            <a:r>
              <a:rPr lang="en-US" altLang="en-US" sz="1900" dirty="0">
                <a:sym typeface="Symbol" panose="05050102010706020507" pitchFamily="18" charset="2"/>
              </a:rPr>
              <a:t>exists, go to step 4</a:t>
            </a:r>
          </a:p>
          <a:p>
            <a:pPr marL="800100" lvl="1" indent="-342900">
              <a:buNone/>
            </a:pPr>
            <a:endParaRPr lang="en-US" altLang="en-US" sz="1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900" i="1" dirty="0"/>
              <a:t>3.  </a:t>
            </a:r>
            <a:r>
              <a:rPr lang="en-US" altLang="en-US" sz="1900" b="1" i="1" dirty="0"/>
              <a:t>Work</a:t>
            </a:r>
            <a:r>
              <a:rPr lang="en-US" altLang="en-US" sz="1900" b="1" dirty="0"/>
              <a:t> = </a:t>
            </a:r>
            <a:r>
              <a:rPr lang="en-US" altLang="en-US" sz="1900" b="1" i="1" dirty="0"/>
              <a:t>Work </a:t>
            </a:r>
            <a:r>
              <a:rPr lang="en-US" altLang="en-US" sz="1900" b="1" dirty="0"/>
              <a:t>+ </a:t>
            </a:r>
            <a:r>
              <a:rPr lang="en-US" altLang="en-US" sz="1900" b="1" i="1" dirty="0" err="1"/>
              <a:t>Allocation</a:t>
            </a:r>
            <a:r>
              <a:rPr lang="en-US" altLang="en-US" sz="1900" b="1" i="1" baseline="-25000" dirty="0" err="1"/>
              <a:t>i</a:t>
            </a:r>
            <a:br>
              <a:rPr lang="en-US" altLang="en-US" sz="1900" b="1" dirty="0"/>
            </a:br>
            <a:r>
              <a:rPr lang="en-US" altLang="en-US" sz="1900" b="1" i="1" dirty="0"/>
              <a:t>Finish</a:t>
            </a:r>
            <a:r>
              <a:rPr lang="en-US" altLang="en-US" sz="1900" b="1" dirty="0"/>
              <a:t>[</a:t>
            </a:r>
            <a:r>
              <a:rPr lang="en-US" altLang="en-US" sz="1900" b="1" i="1" dirty="0" err="1"/>
              <a:t>i</a:t>
            </a:r>
            <a:r>
              <a:rPr lang="en-US" altLang="en-US" sz="1900" b="1" dirty="0"/>
              <a:t>] =</a:t>
            </a:r>
            <a:r>
              <a:rPr lang="en-US" altLang="en-US" sz="1900" b="1" i="1" dirty="0"/>
              <a:t> true</a:t>
            </a:r>
            <a:br>
              <a:rPr lang="en-US" altLang="en-US" sz="1900" b="1" dirty="0"/>
            </a:br>
            <a:r>
              <a:rPr lang="en-US" altLang="en-US" sz="1900" dirty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19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900" dirty="0"/>
              <a:t>4. If </a:t>
            </a:r>
            <a:r>
              <a:rPr lang="en-US" altLang="en-US" sz="1900" b="1" i="1" dirty="0"/>
              <a:t>Finish</a:t>
            </a:r>
            <a:r>
              <a:rPr lang="en-US" altLang="en-US" sz="1900" b="1" dirty="0"/>
              <a:t> [</a:t>
            </a:r>
            <a:r>
              <a:rPr lang="en-US" altLang="en-US" sz="1900" b="1" i="1" dirty="0" err="1"/>
              <a:t>i</a:t>
            </a:r>
            <a:r>
              <a:rPr lang="en-US" altLang="en-US" sz="1900" b="1" dirty="0"/>
              <a:t>] == </a:t>
            </a:r>
            <a:r>
              <a:rPr lang="en-US" altLang="en-US" sz="1900" b="1" i="1" dirty="0"/>
              <a:t>true</a:t>
            </a:r>
            <a:r>
              <a:rPr lang="en-US" altLang="en-US" sz="1900" b="1" dirty="0"/>
              <a:t> </a:t>
            </a:r>
            <a:r>
              <a:rPr lang="en-US" altLang="en-US" sz="1900" dirty="0"/>
              <a:t>for all </a:t>
            </a:r>
            <a:r>
              <a:rPr lang="en-US" altLang="en-US" sz="1900" b="1" i="1" dirty="0" err="1"/>
              <a:t>i</a:t>
            </a:r>
            <a:r>
              <a:rPr lang="en-US" altLang="en-US" sz="1900" dirty="0"/>
              <a:t>, </a:t>
            </a:r>
          </a:p>
          <a:p>
            <a:pPr lvl="1">
              <a:buNone/>
            </a:pPr>
            <a:r>
              <a:rPr lang="en-US" altLang="en-US" sz="1900" dirty="0"/>
              <a:t>then the system is in a </a:t>
            </a:r>
            <a:r>
              <a:rPr lang="en-US" altLang="en-US" sz="1900" dirty="0">
                <a:solidFill>
                  <a:srgbClr val="00B050"/>
                </a:solidFill>
              </a:rPr>
              <a:t>safe state</a:t>
            </a:r>
          </a:p>
          <a:p>
            <a:pPr>
              <a:buNone/>
            </a:pPr>
            <a:r>
              <a:rPr lang="en-US" altLang="en-US" sz="1900" dirty="0">
                <a:solidFill>
                  <a:srgbClr val="FF0000"/>
                </a:solidFill>
              </a:rPr>
              <a:t>     </a:t>
            </a:r>
            <a:r>
              <a:rPr lang="en-US" altLang="en-US" sz="1900" dirty="0"/>
              <a:t>else</a:t>
            </a:r>
          </a:p>
          <a:p>
            <a:pPr>
              <a:buNone/>
            </a:pPr>
            <a:r>
              <a:rPr lang="en-US" altLang="en-US" sz="1900" dirty="0">
                <a:solidFill>
                  <a:srgbClr val="FF0000"/>
                </a:solidFill>
              </a:rPr>
              <a:t>        </a:t>
            </a:r>
            <a:r>
              <a:rPr lang="en-US" altLang="en-US" sz="1900" dirty="0"/>
              <a:t>the system is in a </a:t>
            </a:r>
            <a:r>
              <a:rPr lang="en-US" altLang="en-US" sz="1900" dirty="0">
                <a:solidFill>
                  <a:srgbClr val="FF0000"/>
                </a:solidFill>
              </a:rPr>
              <a:t>unsafe state</a:t>
            </a:r>
          </a:p>
          <a:p>
            <a:pPr>
              <a:buNone/>
            </a:pP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282629-0FE4-4EBF-ADF4-B4A621E3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72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55B430CC-0C20-4667-8EEE-5BDF65FA2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6350" y="214313"/>
            <a:ext cx="7664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of Detection Algorithm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2454CE16-B424-4100-9BAB-F22632378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5701" y="1108076"/>
            <a:ext cx="8037513" cy="5121275"/>
          </a:xfrm>
        </p:spPr>
        <p:txBody>
          <a:bodyPr>
            <a:normAutofit fontScale="85000" lnSpcReduction="20000"/>
          </a:bodyPr>
          <a:lstStyle/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Five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 through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dirty="0"/>
              <a:t>;</a:t>
            </a:r>
            <a:r>
              <a:rPr lang="en-US" altLang="en-US" baseline="-25000" dirty="0"/>
              <a:t> </a:t>
            </a:r>
            <a:r>
              <a:rPr lang="en-US" altLang="en-US" dirty="0"/>
              <a:t>three resource types </a:t>
            </a:r>
            <a:br>
              <a:rPr lang="en-US" altLang="en-US" dirty="0"/>
            </a:br>
            <a:r>
              <a:rPr lang="en-US" altLang="en-US" dirty="0"/>
              <a:t>A (7 instances), </a:t>
            </a:r>
            <a:r>
              <a:rPr lang="en-US" altLang="en-US" i="1" dirty="0"/>
              <a:t>B </a:t>
            </a:r>
            <a:r>
              <a:rPr lang="en-US" altLang="en-US" dirty="0"/>
              <a:t>(2 instances), and </a:t>
            </a:r>
            <a:r>
              <a:rPr lang="en-US" altLang="en-US" i="1" dirty="0"/>
              <a:t>C</a:t>
            </a:r>
            <a:r>
              <a:rPr lang="en-US" altLang="en-US" dirty="0"/>
              <a:t> (6 instances)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Snapshot at time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: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Request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 	  A B C 	A B C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          0 1 0             0 0 0 	0 0 0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P</a:t>
            </a:r>
            <a:r>
              <a:rPr lang="en-US" altLang="en-US" baseline="-25000" dirty="0"/>
              <a:t>1</a:t>
            </a:r>
            <a:r>
              <a:rPr lang="en-US" altLang="en-US" dirty="0"/>
              <a:t>	          	2 0 0 	       2 0 2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P</a:t>
            </a:r>
            <a:r>
              <a:rPr lang="en-US" altLang="en-US" baseline="-25000" dirty="0"/>
              <a:t>2</a:t>
            </a:r>
            <a:r>
              <a:rPr lang="en-US" altLang="en-US" dirty="0"/>
              <a:t>		          3 0 3             0 0 0 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P</a:t>
            </a:r>
            <a:r>
              <a:rPr lang="en-US" altLang="en-US" baseline="-25000" dirty="0"/>
              <a:t>3</a:t>
            </a:r>
            <a:r>
              <a:rPr lang="en-US" altLang="en-US" dirty="0"/>
              <a:t>		   2 1 1 	         1 0 0 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4	</a:t>
            </a:r>
            <a:r>
              <a:rPr lang="en-US" altLang="en-US" dirty="0"/>
              <a:t>	   0 0 2 	</a:t>
            </a:r>
            <a:r>
              <a:rPr lang="en-US" altLang="en-US"/>
              <a:t>           0 </a:t>
            </a:r>
            <a:r>
              <a:rPr lang="en-US" altLang="en-US" dirty="0"/>
              <a:t>0 2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Sequence &lt;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0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2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3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4</a:t>
            </a:r>
            <a:r>
              <a:rPr lang="en-US" altLang="en-US" dirty="0"/>
              <a:t>&gt; will result in </a:t>
            </a:r>
            <a:r>
              <a:rPr lang="en-US" altLang="en-US" b="1" i="1" dirty="0"/>
              <a:t>Finish[</a:t>
            </a:r>
            <a:r>
              <a:rPr lang="en-US" altLang="en-US" b="1" i="1" dirty="0" err="1"/>
              <a:t>i</a:t>
            </a:r>
            <a:r>
              <a:rPr lang="en-US" altLang="en-US" b="1" i="1" dirty="0"/>
              <a:t>] = true </a:t>
            </a:r>
            <a:r>
              <a:rPr lang="en-US" altLang="en-US" dirty="0"/>
              <a:t>for all </a:t>
            </a:r>
            <a:r>
              <a:rPr lang="en-US" altLang="en-US" b="1" i="1" dirty="0" err="1"/>
              <a:t>i</a:t>
            </a:r>
            <a:endParaRPr lang="en-US" altLang="en-US" b="1" dirty="0"/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298DCA-8E49-4C61-AAC5-BB1BA144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FB58CF9E-C45F-423C-A3F0-F351925CE1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143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(Cont.)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D0C1CD5B-3740-4EF4-909A-FB3E4365B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0451" y="1233489"/>
            <a:ext cx="7781925" cy="5037137"/>
          </a:xfrm>
        </p:spPr>
        <p:txBody>
          <a:bodyPr>
            <a:normAutofit fontScale="92500" lnSpcReduction="20000"/>
          </a:bodyPr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 requests an additional instance of type</a:t>
            </a:r>
            <a:r>
              <a:rPr lang="en-US" altLang="en-US" i="1" dirty="0"/>
              <a:t> </a:t>
            </a:r>
            <a:r>
              <a:rPr lang="en-US" altLang="en-US" b="1" i="1" dirty="0"/>
              <a:t>C</a:t>
            </a:r>
            <a:endParaRPr lang="en-US" altLang="en-US" b="1" dirty="0"/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Request</a:t>
            </a:r>
            <a:endParaRPr lang="en-US" altLang="en-US" i="1" dirty="0"/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i="1" dirty="0"/>
              <a:t>			A B C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0 0 0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	2 0 2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0 0 1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1 0 0 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endParaRPr lang="en-US" altLang="en-US" sz="800" dirty="0"/>
          </a:p>
          <a:p>
            <a:pPr>
              <a:tabLst>
                <a:tab pos="2800350" algn="l"/>
                <a:tab pos="3708400" algn="ctr"/>
              </a:tabLst>
            </a:pPr>
            <a:r>
              <a:rPr lang="en-US" altLang="en-US" dirty="0"/>
              <a:t>State of system?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Can reclaim resources held by process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, but insufficient resources to fulfill other processes; requests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Deadlock exists, consisting of processes </a:t>
            </a:r>
            <a:r>
              <a:rPr lang="en-US" altLang="en-US" b="1" i="1" dirty="0">
                <a:solidFill>
                  <a:srgbClr val="FF0000"/>
                </a:solidFill>
              </a:rPr>
              <a:t>P</a:t>
            </a:r>
            <a:r>
              <a:rPr lang="en-US" altLang="en-US" b="1" baseline="-25000" dirty="0">
                <a:solidFill>
                  <a:srgbClr val="FF0000"/>
                </a:solidFill>
              </a:rPr>
              <a:t>1</a:t>
            </a:r>
            <a:r>
              <a:rPr lang="en-US" altLang="en-US" b="1" dirty="0">
                <a:solidFill>
                  <a:srgbClr val="FF0000"/>
                </a:solidFill>
              </a:rPr>
              <a:t>, </a:t>
            </a:r>
            <a:r>
              <a:rPr lang="en-US" altLang="en-US" b="1" baseline="-25000" dirty="0">
                <a:solidFill>
                  <a:srgbClr val="FF0000"/>
                </a:solidFill>
              </a:rPr>
              <a:t> </a:t>
            </a:r>
            <a:r>
              <a:rPr lang="en-US" altLang="en-US" b="1" i="1" dirty="0">
                <a:solidFill>
                  <a:srgbClr val="FF0000"/>
                </a:solidFill>
              </a:rPr>
              <a:t>P</a:t>
            </a:r>
            <a:r>
              <a:rPr lang="en-US" altLang="en-US" b="1" baseline="-25000" dirty="0">
                <a:solidFill>
                  <a:srgbClr val="FF0000"/>
                </a:solidFill>
              </a:rPr>
              <a:t>2</a:t>
            </a:r>
            <a:r>
              <a:rPr lang="en-US" altLang="en-US" b="1" dirty="0">
                <a:solidFill>
                  <a:srgbClr val="FF0000"/>
                </a:solidFill>
              </a:rPr>
              <a:t>, </a:t>
            </a:r>
            <a:r>
              <a:rPr lang="en-US" altLang="en-US" b="1" i="1" dirty="0">
                <a:solidFill>
                  <a:srgbClr val="FF0000"/>
                </a:solidFill>
              </a:rPr>
              <a:t>P</a:t>
            </a:r>
            <a:r>
              <a:rPr lang="en-US" altLang="en-US" b="1" baseline="-25000" dirty="0">
                <a:solidFill>
                  <a:srgbClr val="FF0000"/>
                </a:solidFill>
              </a:rPr>
              <a:t>3</a:t>
            </a:r>
            <a:r>
              <a:rPr lang="en-US" altLang="en-US" dirty="0">
                <a:solidFill>
                  <a:srgbClr val="FF0000"/>
                </a:solidFill>
              </a:rPr>
              <a:t>, and </a:t>
            </a:r>
            <a:r>
              <a:rPr lang="en-US" altLang="en-US" b="1" i="1" dirty="0">
                <a:solidFill>
                  <a:srgbClr val="FF0000"/>
                </a:solidFill>
              </a:rPr>
              <a:t>P</a:t>
            </a:r>
            <a:r>
              <a:rPr lang="en-US" altLang="en-US" b="1" baseline="-25000" dirty="0">
                <a:solidFill>
                  <a:srgbClr val="FF0000"/>
                </a:solidFill>
              </a:rPr>
              <a:t>4</a:t>
            </a:r>
            <a:endParaRPr lang="en-US" altLang="en-US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C13FC5-40BA-4DDD-93CF-2578EBAD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0FD1794-4AEF-44F6-AF59-30C298082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4138" y="230188"/>
            <a:ext cx="7586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Detection-Algorithm Usage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637782C7-D5FC-42E0-BF17-30C89486F1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66373" y="1095731"/>
            <a:ext cx="8259254" cy="4816797"/>
          </a:xfrm>
        </p:spPr>
        <p:txBody>
          <a:bodyPr>
            <a:normAutofit/>
          </a:bodyPr>
          <a:lstStyle/>
          <a:p>
            <a:r>
              <a:rPr lang="en-US" altLang="en-US" dirty="0"/>
              <a:t>When, and how often, to invoke depends on:</a:t>
            </a:r>
          </a:p>
          <a:p>
            <a:pPr lvl="1"/>
            <a:r>
              <a:rPr lang="en-US" altLang="en-US" dirty="0"/>
              <a:t>How often a deadlock is likely to occur?</a:t>
            </a:r>
          </a:p>
          <a:p>
            <a:pPr lvl="1"/>
            <a:r>
              <a:rPr lang="en-US" altLang="en-US" dirty="0"/>
              <a:t>How many processes will need to be rolled back?</a:t>
            </a:r>
          </a:p>
          <a:p>
            <a:pPr lvl="2"/>
            <a:r>
              <a:rPr lang="en-US" altLang="en-US" dirty="0"/>
              <a:t>one for each disjoint cycle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Every time a request for allocation cannot be granted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If detection algorithm is invoked arbitrarily, there may be many cycles in the resource graph and so we would not be able to tell which of the many deadlocked processes </a:t>
            </a:r>
            <a:r>
              <a:rPr lang="ja-JP" altLang="en-US" dirty="0"/>
              <a:t>“</a:t>
            </a:r>
            <a:r>
              <a:rPr lang="en-US" altLang="ja-JP" dirty="0"/>
              <a:t>caused</a:t>
            </a:r>
            <a:r>
              <a:rPr lang="ja-JP" altLang="en-US" dirty="0"/>
              <a:t>”</a:t>
            </a:r>
            <a:r>
              <a:rPr lang="en-US" altLang="ja-JP" dirty="0"/>
              <a:t> the deadlock.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28E1C6-AAF6-4E06-8390-606D78B2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2AD2E2-E1AE-456A-B4BE-C58CE8AB1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86253" y="281866"/>
            <a:ext cx="5690587" cy="457200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Recovery from Deadlock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D5DC4771-0627-4948-A6D0-7BA6C4448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87613" y="1108076"/>
            <a:ext cx="7694612" cy="453072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Process Termination</a:t>
            </a:r>
            <a:br>
              <a:rPr lang="en-US" altLang="en-US" dirty="0"/>
            </a:br>
            <a:r>
              <a:rPr lang="en-US" altLang="en-US" dirty="0"/>
              <a:t>   or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Resource Preemption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E86BD-A070-41BF-BE6D-1523D7CCF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2AD2E2-E1AE-456A-B4BE-C58CE8AB1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6858" y="228600"/>
            <a:ext cx="9827581" cy="457200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Recovery from Deadlock:  Process Termination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D5DC4771-0627-4948-A6D0-7BA6C4448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0564" y="1019300"/>
            <a:ext cx="8609474" cy="5097415"/>
          </a:xfrm>
        </p:spPr>
        <p:txBody>
          <a:bodyPr>
            <a:normAutofit/>
          </a:bodyPr>
          <a:lstStyle/>
          <a:p>
            <a:r>
              <a:rPr lang="en-US" altLang="en-US" dirty="0"/>
              <a:t>Abort all deadlocked processes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Abort one process at a time until the deadlock cycle is eliminated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dirty="0"/>
              <a:t>In which order should we choose to abort?</a:t>
            </a:r>
          </a:p>
          <a:p>
            <a:pPr marL="1257300" lvl="2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Priority of the process</a:t>
            </a:r>
          </a:p>
          <a:p>
            <a:pPr marL="1257300" lvl="2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How long process has computed, and how much longer to completion</a:t>
            </a:r>
          </a:p>
          <a:p>
            <a:pPr marL="1257300" lvl="2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Resources the process has used</a:t>
            </a:r>
          </a:p>
          <a:p>
            <a:pPr marL="1257300" lvl="2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Resources process needs to complete</a:t>
            </a:r>
          </a:p>
          <a:p>
            <a:pPr marL="1257300" lvl="2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How many processes will need to be terminated</a:t>
            </a:r>
          </a:p>
          <a:p>
            <a:pPr marL="1257300" lvl="2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Is process interactive or batch?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13CC57-A820-4B8A-B3C4-D672D172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49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F7C3EA2B-23C6-43C4-AD60-A1C783E28F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7879" y="255588"/>
            <a:ext cx="10111667" cy="968374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Recovery from Deadlock:  Resource Preemption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38F6602D-9D7F-4653-8195-88C6F65CE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7879" y="1205050"/>
            <a:ext cx="8119445" cy="4803976"/>
          </a:xfrm>
        </p:spPr>
        <p:txBody>
          <a:bodyPr>
            <a:normAutofit/>
          </a:bodyPr>
          <a:lstStyle/>
          <a:p>
            <a:r>
              <a:rPr lang="en-US" altLang="en-US" b="1" dirty="0"/>
              <a:t>Goal: </a:t>
            </a:r>
            <a:r>
              <a:rPr lang="en-US" altLang="en-US" dirty="0"/>
              <a:t>Successively preempt some resources from processes and give these resources to other processes until the deadlock cycle is broken</a:t>
            </a:r>
          </a:p>
          <a:p>
            <a:r>
              <a:rPr lang="en-US" altLang="en-US" b="1" dirty="0"/>
              <a:t>Issues</a:t>
            </a:r>
          </a:p>
          <a:p>
            <a:pPr lvl="1"/>
            <a:r>
              <a:rPr lang="en-US" altLang="en-US" b="1" dirty="0"/>
              <a:t>Selecting a victim </a:t>
            </a:r>
            <a:r>
              <a:rPr lang="en-US" altLang="en-US" dirty="0"/>
              <a:t>– minimize cost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b="1" dirty="0"/>
              <a:t>Rollback</a:t>
            </a:r>
            <a:r>
              <a:rPr lang="en-US" altLang="en-US" dirty="0"/>
              <a:t> – return to some </a:t>
            </a:r>
            <a:r>
              <a:rPr lang="en-US" altLang="en-US" b="1" dirty="0"/>
              <a:t>safe state</a:t>
            </a:r>
            <a:r>
              <a:rPr lang="en-US" altLang="en-US" dirty="0"/>
              <a:t>, restart process for that state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b="1" dirty="0"/>
              <a:t>Starvation</a:t>
            </a:r>
            <a:r>
              <a:rPr lang="en-US" altLang="en-US" dirty="0"/>
              <a:t> –  same process may always be picked as victim, include </a:t>
            </a:r>
            <a:r>
              <a:rPr lang="en-US" altLang="en-US" b="1" dirty="0"/>
              <a:t>number of rollback </a:t>
            </a:r>
            <a:r>
              <a:rPr lang="en-US" altLang="en-US" dirty="0"/>
              <a:t>in cost factor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4D95E8-E1BC-44F6-A503-15C7C77C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CB2D4-E8AF-4C31-A7C3-B2233ACA8FB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1203</Words>
  <Application>Microsoft Office PowerPoint</Application>
  <PresentationFormat>Widescreen</PresentationFormat>
  <Paragraphs>152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MS PGothic</vt:lpstr>
      <vt:lpstr>游ゴシック</vt:lpstr>
      <vt:lpstr>Arial</vt:lpstr>
      <vt:lpstr>Calibri</vt:lpstr>
      <vt:lpstr>Calibri Light</vt:lpstr>
      <vt:lpstr>Helvetica</vt:lpstr>
      <vt:lpstr>Monotype Sorts</vt:lpstr>
      <vt:lpstr>Symbol</vt:lpstr>
      <vt:lpstr>Times New Roman</vt:lpstr>
      <vt:lpstr>Office Theme</vt:lpstr>
      <vt:lpstr>Deadlocks Lesson 3 Detection</vt:lpstr>
      <vt:lpstr>Deadlock Detection</vt:lpstr>
      <vt:lpstr>Deadlock Detection Approaches</vt:lpstr>
      <vt:lpstr>Single Instance of Each Resource Type</vt:lpstr>
      <vt:lpstr>Resource-Allocation Graph and  Wait-for Graph</vt:lpstr>
      <vt:lpstr>Several Instances of a Resource Type</vt:lpstr>
      <vt:lpstr>Detection Algorithm</vt:lpstr>
      <vt:lpstr>Detection Algorithm (Cont.)</vt:lpstr>
      <vt:lpstr>Question</vt:lpstr>
      <vt:lpstr>Safety vs Detection Algorithms</vt:lpstr>
      <vt:lpstr>Example of Detection Algorithm</vt:lpstr>
      <vt:lpstr>Example (Cont.)</vt:lpstr>
      <vt:lpstr>Detection-Algorithm Usage</vt:lpstr>
      <vt:lpstr>Recovery from Deadlock</vt:lpstr>
      <vt:lpstr>Recovery from Deadlock:  Process Termination</vt:lpstr>
      <vt:lpstr>Recovery from Deadlock:  Resource Preemption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Deadlocks Lesson 2 Detection</dc:title>
  <dc:creator>David Liu</dc:creator>
  <cp:lastModifiedBy>David Liu</cp:lastModifiedBy>
  <cp:revision>16</cp:revision>
  <dcterms:created xsi:type="dcterms:W3CDTF">2021-11-10T17:19:48Z</dcterms:created>
  <dcterms:modified xsi:type="dcterms:W3CDTF">2023-03-21T17:12:53Z</dcterms:modified>
</cp:coreProperties>
</file>