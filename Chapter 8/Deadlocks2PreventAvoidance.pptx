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343" r:id="rId4"/>
    <p:sldId id="344" r:id="rId5"/>
    <p:sldId id="383" r:id="rId6"/>
    <p:sldId id="348" r:id="rId7"/>
    <p:sldId id="349" r:id="rId8"/>
    <p:sldId id="350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88" r:id="rId22"/>
    <p:sldId id="389" r:id="rId23"/>
    <p:sldId id="385" r:id="rId24"/>
    <p:sldId id="386" r:id="rId25"/>
    <p:sldId id="38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A7F0-075E-4F20-A6AB-4CE647ACFEED}" type="datetimeFigureOut">
              <a:rPr lang="en-US" smtClean="0"/>
              <a:t>3/21/2023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352BE-B1F5-411E-BD7A-4DCE102AA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0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820E5C66-72F5-4BA6-82D3-4ED32A4C1C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5EB1155-E9B4-4283-AFCE-76C262A6BD33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30BE2E2F-3461-49DA-91C3-8522ED7C8B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1550FAD-6DE7-4515-913C-001883E473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5320247B-2851-4800-81D7-8706E004BE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F3B18C-1B7B-4D8E-B4CB-4CE5785B7813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C698949-6148-4C60-BD1B-7911DF7DC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BF127241-14AD-4286-BC84-95971D01C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F4DFE175-C8DD-499F-90BC-0C539AA6A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971EC31-837F-4C89-B96C-F8C8CD725CBA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1C00E69-82DE-4E5F-81DD-5BC90012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85E6052-734A-4727-959D-000AD1B1CD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CAE7439B-319E-4E98-8B15-9C2F35A7F1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010FF5-F7CA-44A3-83DE-8CE2A9795682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460942F7-A51C-483F-BEB0-56E04684A7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8813CD8E-806E-4EE3-B282-2A054BEEE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3B8C4F66-0E5A-4319-A707-410594954D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7C9E1C-DE79-4A9D-AD36-0CCEA1245565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1C32749E-05D7-4AC5-B79C-E80C487840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EE2F3680-0090-487E-A1F9-B0BD0E8B0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51AEB7E7-F5E9-412F-AF63-89D8A14DB9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096D178-C673-4C4C-B9A1-728242BC7316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DABD6108-64BF-4FF5-95A2-7821E618EB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0BB2C1B0-04C3-4869-A17C-0C1E32CF6A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07FB5C8-8F79-45D0-97DE-B7BFC02C9F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FA9F31F-053D-4006-B6CE-CF7FEC13027A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E6D46B3-37D5-4101-9A75-2C3E4F9132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F9814B8-5664-445D-ACCA-91497A7D6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D0597758-DFFF-4599-AF09-D3DEA5086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C9B75B8-5CBA-430A-8839-D21D51E48F35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7943B324-BEA9-4F41-B094-A93D836692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C0A3ACA-173C-4751-89A5-8C3CE3568B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91DFAB56-F069-4CB2-B58B-778AC4D713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D837B7E-C9AF-432F-8AA5-AD9EF69E4547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5AD7F96D-DAED-44B6-8C5F-A3DAF9CECB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06E6422-0A1F-4D06-AB3B-A33F6AD264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25AF9FAF-C69F-4B1D-AD67-C88840CE4D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F8502E-DC8C-4AFE-9560-DA929AC970FA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8ACCD4D2-5966-4047-9B96-3380057846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2E165100-A0FA-4CF4-95DD-47CFE7E3C4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C150512E-02EA-4CED-B826-ABD1A1185C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7BB1A9-A6FC-42EB-9CCE-C5BCEA32F938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1EF63641-33D5-4120-9952-2575D48913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D7D7388E-3439-4CFC-9E3B-1CF3EF55F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87098FBB-D868-428B-A7FD-19FFE94B82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3FE114-54BA-407B-9E57-DE489BD7B18C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2E487A67-AA45-43AA-9F44-96DE3B4001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9244A9BD-E918-444A-A65B-C4E1D9654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AE51AD4F-ECF2-4203-90BE-6099BD2508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5BF0EE6-3501-45B4-8BE6-469430E04130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5E15555B-AFFC-43FD-B92C-42CCB4C4C5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3E40CC9-38B1-4D58-88B7-B1DFAAC9E3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D4084E0B-BFFC-47C1-8AF6-A30F255CC9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1CB8EA2-74BE-49B5-86E6-B62C1ACE2B5B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053486C3-0BBF-4367-9335-C00FA5486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523D63F9-7E65-43C7-B4C3-21F5C81E7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DC58C733-A527-4470-A60E-33BDD9FF0E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2C8B931-6E4B-44AB-9E2D-9C4944DCA17F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2AB5D014-D842-46B2-A641-9B15C5E963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01B2E426-C04B-410E-BE54-70585ED15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8D8EA902-1242-4066-B17D-C5A76A8745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CA8305-C8F7-4F7D-ADD0-CAE4C040D0E5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D622427-7596-4069-86F0-92076E60D9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4360F0E-0190-485E-99DD-4D9D623EE3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E27BB77D-106B-48AB-AFFA-68C75E58FC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00F01-D641-43A3-A204-CAE9F0A39D2B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CAF7757D-0500-437D-8783-6E945FD824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6764587-83B6-47D1-B1E6-57E3BA5E0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E27BB77D-106B-48AB-AFFA-68C75E58FC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00F01-D641-43A3-A204-CAE9F0A39D2B}" type="slidenum">
              <a:rPr lang="en-US" altLang="en-US" smtClean="0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CAF7757D-0500-437D-8783-6E945FD824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6764587-83B6-47D1-B1E6-57E3BA5E0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8078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E27BB77D-106B-48AB-AFFA-68C75E58FC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00F01-D641-43A3-A204-CAE9F0A39D2B}" type="slidenum">
              <a:rPr lang="en-US" altLang="en-US" smtClean="0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CAF7757D-0500-437D-8783-6E945FD824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6764587-83B6-47D1-B1E6-57E3BA5E0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9629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E27BB77D-106B-48AB-AFFA-68C75E58FC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00F01-D641-43A3-A204-CAE9F0A39D2B}" type="slidenum">
              <a:rPr lang="en-US" altLang="en-US" smtClean="0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CAF7757D-0500-437D-8783-6E945FD824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26764587-83B6-47D1-B1E6-57E3BA5E0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9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AE2AB-7BC5-45FF-84AE-98D97920B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AF305-4273-4512-896C-E37E2C776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80FCC-8615-4BE0-AB91-36CF1A94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5D63E-B749-477E-BAB2-11055769FB64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AD9E8-F24D-47C0-8215-057CD9E9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6AE04-FDA2-44AF-AF21-0E61B778A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3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C2248-D807-44C7-8FB6-FA474124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EE0EB-280A-4551-8BD0-36BB0DE55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D2F16-43EA-4FAA-9D10-C877F5968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F5998-DBB6-48F7-A726-16693AA7AFBC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BF97B-7C87-4A8E-B650-0B849A78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A90B3-B72C-40C8-8448-E65D2B2D3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3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0A4B6-13EF-4C68-B7BF-3EAEF0DF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7DE2-087E-4594-AB42-281F7727C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A0492-858F-496B-8D43-94370F61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D8683-5A48-4E68-B248-04872263E81E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C321E-476F-4907-B23E-D27CDF76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F033-F723-42C1-A572-4AF637070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75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66161-0F57-40A7-A6BE-9B8B52E36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4F738-FBDC-4EAC-9F13-7CA1E1ED3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449E7-D09F-44CD-854E-6889B8856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6E562-0629-448F-BEA5-4CE5E9A1A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576C-68A1-4B81-87CB-7C6E142FB545}" type="datetime1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987DF-F92C-4CF9-9842-680E23D4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52C5C-DDD7-42BF-B063-F882C5565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048A-056A-44C4-BAB1-89B811CD8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525A7-62CF-4728-83CA-C8ACDEC1A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53288-9669-47DC-8D39-D21350BCD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4DB97-F1EF-4896-851D-45B87EE93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52714-CC91-4D78-B1B2-993035BDF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A5FDD-650F-48E8-AA98-27F01B4D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0A2E-E940-4952-8957-330C28DAB58D}" type="datetime1">
              <a:rPr lang="en-US" smtClean="0"/>
              <a:t>3/21/2023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53F45D-17BE-44C0-A7F1-FA985AE46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CBCBD-2491-4812-AD0D-5DC6C1D3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54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5823-9D6C-49E1-A0EE-EDDEA2165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033CD-93A6-46CB-8F7E-09BCA3055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27132-E0F8-42EB-BF07-58FBA185DAC8}" type="datetime1">
              <a:rPr lang="en-US" smtClean="0"/>
              <a:t>3/21/2023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CD12B8-09D4-438F-B8B9-FE945AB6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036EE-B0EB-44C3-8BBC-BF01795F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9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42CE4-09A1-4F78-A50D-E5F24EB65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DF7A-4E27-4F7D-A8B5-1D69B0AB60AC}" type="datetime1">
              <a:rPr lang="en-US" smtClean="0"/>
              <a:t>3/21/2023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E89EE-E25E-4BD3-AA04-0A71DFA5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A6AF8-1F06-4358-86A1-154FFA4C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28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96F1F-49B0-4529-9DD4-10E1C023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7A966-B102-4BE4-800F-5AD65EC65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D54AE-0F66-4C2F-9EC3-42DA14355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98F08-9AE1-4063-A80A-F5D301A94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A2090-AC33-442C-A789-E55EFAE0F7F6}" type="datetime1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5E2B8-349A-4F63-9B4B-32F4B2BCC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2371C-7AD3-4D66-B4B5-00C96BB8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84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2E751-7AF6-493C-A89C-0379DF60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37FAF-489C-41A1-9092-08133AE46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80BFF-9D43-44CD-87E5-E03119AEB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D4F64-8F02-448F-85C0-9C9FDAE5F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21F8E-ED33-4E0F-B297-736198871CB4}" type="datetime1">
              <a:rPr lang="en-US" smtClean="0"/>
              <a:t>3/21/2023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56685-A6CB-42AB-A60B-FECD10BCC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DBB3B-6C50-4E0E-B97D-247626F21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83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ACAA-1075-41C4-B0AB-AD755535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FC88F-4766-4657-87D1-77D0E280A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D3C14-7AE5-4C0F-BB5F-CE61E7DB4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05DB2-1394-4B60-A99A-8A8ADD55DD07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20889-AF68-45F6-9B2E-7D7CE7CA8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9BD24-82A5-4872-A827-0D66E7C0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2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19778-2989-494E-9D94-640E2B430A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99BF7-ED34-49F6-A643-BE12D00C69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C1C68-55E7-4212-8C3B-52D8C213C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3756D-1D70-437A-82AA-E03A867BF1A6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0BA38-F516-449F-9464-38672D70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AA1A4-3E8F-4684-8803-743F0985E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934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199AF-CFF7-44E7-B719-D328A068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54D-F0EA-48F3-ABAA-47158D035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19DD7-C4E2-47E1-A3B1-376FE1938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A0D2A-9D53-4359-90EE-3E9189295D19}" type="datetime1">
              <a:rPr lang="en-US" smtClean="0"/>
              <a:t>3/21/2023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0DDA6-63C2-421C-917B-84A8381B8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1BE65-2024-4BF2-84EC-C4C98CA24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9FBAE-4B4D-41A8-BCA7-323BD8290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3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E1D3A-859B-47D7-9EDF-2B46EF3F8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Deadlocks</a:t>
            </a:r>
            <a:br>
              <a:rPr lang="en-US" dirty="0"/>
            </a:br>
            <a:r>
              <a:rPr lang="en-US" dirty="0"/>
              <a:t>Lesson 1</a:t>
            </a:r>
            <a:br>
              <a:rPr lang="en-US" dirty="0"/>
            </a:br>
            <a:r>
              <a:rPr lang="en-US" dirty="0"/>
              <a:t>Prevention </a:t>
            </a:r>
            <a:r>
              <a:rPr lang="en-US"/>
              <a:t>&amp; Avoidance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889BD-55E7-467E-B448-DB24EC404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B11B4-339A-4032-9F0C-13630B34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8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BEB7-1DF1-4D73-8D2D-22C5ADEB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88DFF-4A9F-417F-9C79-2F1B6E767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Illustrate how deadlock can occur when mutex locks are used</a:t>
            </a:r>
          </a:p>
          <a:p>
            <a:r>
              <a:rPr lang="en-US" altLang="en-US" dirty="0"/>
              <a:t>Define the four necessary conditions that characterize deadlock</a:t>
            </a:r>
          </a:p>
          <a:p>
            <a:r>
              <a:rPr lang="en-US" altLang="en-US" dirty="0"/>
              <a:t>Identify a deadlock situation in a resource allocation graph</a:t>
            </a:r>
          </a:p>
          <a:p>
            <a:r>
              <a:rPr lang="en-US" altLang="en-US" dirty="0"/>
              <a:t>Evaluate the four different approaches for preventing deadlocks</a:t>
            </a:r>
          </a:p>
          <a:p>
            <a:r>
              <a:rPr lang="en-US" altLang="en-US" dirty="0"/>
              <a:t>Apply the banker’s algorithm for deadlock avoidance</a:t>
            </a:r>
          </a:p>
          <a:p>
            <a:r>
              <a:rPr lang="en-US" altLang="en-US" dirty="0"/>
              <a:t>Apply the deadlock detection algorithm</a:t>
            </a:r>
          </a:p>
          <a:p>
            <a:r>
              <a:rPr lang="en-US" altLang="en-US" dirty="0"/>
              <a:t>Evaluate approaches for recovering from deadlock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07F44-D002-4EA3-9A29-34831B682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5EBC6AB-61DC-49E6-85AC-81249A25E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3794" y="382989"/>
            <a:ext cx="9428086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FOUR (4) Methods for Handling Deadlocks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84C41AAA-6C09-45A3-8C31-E5C9FE3CBD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93794" y="1429382"/>
            <a:ext cx="8619417" cy="4909274"/>
          </a:xfrm>
        </p:spPr>
        <p:txBody>
          <a:bodyPr>
            <a:normAutofit/>
          </a:bodyPr>
          <a:lstStyle/>
          <a:p>
            <a:r>
              <a:rPr lang="en-US" altLang="en-US" dirty="0"/>
              <a:t>Ensure that the system will </a:t>
            </a:r>
            <a:r>
              <a:rPr lang="en-US" altLang="en-US" b="1" i="1" dirty="0">
                <a:solidFill>
                  <a:srgbClr val="FF0066"/>
                </a:solidFill>
              </a:rPr>
              <a:t>never</a:t>
            </a:r>
            <a:r>
              <a:rPr lang="en-US" altLang="en-US" dirty="0"/>
              <a:t> enter a deadlock state: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Deadlock prevention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/>
              <a:t>Deadlock avoidance</a:t>
            </a:r>
          </a:p>
          <a:p>
            <a:r>
              <a:rPr lang="en-US" altLang="en-US" dirty="0"/>
              <a:t>Allow the system to enter a deadlock state and then recover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altLang="en-US" dirty="0"/>
              <a:t>Deadlock detection and recovery</a:t>
            </a:r>
          </a:p>
          <a:p>
            <a:r>
              <a:rPr lang="en-US" altLang="en-US" dirty="0"/>
              <a:t>Ignore the problem and pretend that deadlocks never occur in the system.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-US" altLang="en-US" dirty="0"/>
              <a:t>Ignore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222527-0E43-4C2D-863E-5C73730F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>
            <a:extLst>
              <a:ext uri="{FF2B5EF4-FFF2-40B4-BE49-F238E27FC236}">
                <a16:creationId xmlns:a16="http://schemas.microsoft.com/office/drawing/2014/main" id="{D05405A1-98D8-4D98-8FE4-72D2AC5CD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09826" y="198438"/>
            <a:ext cx="78009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Deadlock </a:t>
            </a:r>
            <a:r>
              <a:rPr lang="en-US" altLang="en-US" b="1" dirty="0"/>
              <a:t>Prevention</a:t>
            </a:r>
          </a:p>
        </p:txBody>
      </p:sp>
      <p:sp>
        <p:nvSpPr>
          <p:cNvPr id="29699" name="Rectangle 1027">
            <a:extLst>
              <a:ext uri="{FF2B5EF4-FFF2-40B4-BE49-F238E27FC236}">
                <a16:creationId xmlns:a16="http://schemas.microsoft.com/office/drawing/2014/main" id="{9735C3D9-47C9-45B5-93CC-20F14F5E51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4204" y="1509249"/>
            <a:ext cx="4686622" cy="4731751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b="1" dirty="0"/>
              <a:t>Mutual Exclusion</a:t>
            </a:r>
            <a:r>
              <a:rPr lang="en-US" altLang="en-US" dirty="0"/>
              <a:t> – not required for sharable resources (e.g., read-only files); must hold for non-sharable resources</a:t>
            </a:r>
          </a:p>
          <a:p>
            <a:r>
              <a:rPr lang="en-US" altLang="en-US" b="1" dirty="0"/>
              <a:t>Hold and Wait</a:t>
            </a:r>
            <a:r>
              <a:rPr lang="en-US" altLang="en-US" dirty="0"/>
              <a:t> – must guarantee that whenever a process requests a resource, it does not hold any other resources</a:t>
            </a:r>
          </a:p>
          <a:p>
            <a:pPr lvl="1"/>
            <a:r>
              <a:rPr lang="en-US" altLang="en-US" dirty="0"/>
              <a:t>Require process to request and be allocated all its resources before it begins execution, or allow process to request resources only when the process has none allocated to it.</a:t>
            </a:r>
          </a:p>
          <a:p>
            <a:pPr lvl="1"/>
            <a:r>
              <a:rPr lang="en-US" altLang="en-US" dirty="0"/>
              <a:t>Low resource utilization; starvation possible</a:t>
            </a:r>
          </a:p>
        </p:txBody>
      </p:sp>
      <p:sp>
        <p:nvSpPr>
          <p:cNvPr id="29700" name="Text Box 1028">
            <a:extLst>
              <a:ext uri="{FF2B5EF4-FFF2-40B4-BE49-F238E27FC236}">
                <a16:creationId xmlns:a16="http://schemas.microsoft.com/office/drawing/2014/main" id="{52AB1B88-7C7C-43B3-A0DC-D25395A97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39" y="1019175"/>
            <a:ext cx="6327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Invalidate one of the four necessary conditions for deadlock:</a:t>
            </a:r>
          </a:p>
        </p:txBody>
      </p:sp>
      <p:sp>
        <p:nvSpPr>
          <p:cNvPr id="5" name="Rectangle 1027">
            <a:extLst>
              <a:ext uri="{FF2B5EF4-FFF2-40B4-BE49-F238E27FC236}">
                <a16:creationId xmlns:a16="http://schemas.microsoft.com/office/drawing/2014/main" id="{07643B03-786D-49AF-918A-F4D114D857C3}"/>
              </a:ext>
            </a:extLst>
          </p:cNvPr>
          <p:cNvSpPr txBox="1">
            <a:spLocks noChangeArrowheads="1"/>
          </p:cNvSpPr>
          <p:nvPr/>
        </p:nvSpPr>
        <p:spPr>
          <a:xfrm>
            <a:off x="6186025" y="1509296"/>
            <a:ext cx="5109314" cy="414758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 dirty="0"/>
              <a:t>No Preemption</a:t>
            </a:r>
            <a:r>
              <a:rPr lang="en-US" altLang="en-US" dirty="0"/>
              <a:t> –</a:t>
            </a:r>
          </a:p>
          <a:p>
            <a:pPr lvl="1"/>
            <a:r>
              <a:rPr lang="en-US" altLang="en-US" dirty="0"/>
              <a:t>If a process that is holding some resources requests another resource that cannot be immediately allocated to it, then all resources currently being held are released</a:t>
            </a:r>
          </a:p>
          <a:p>
            <a:pPr lvl="1"/>
            <a:r>
              <a:rPr lang="en-US" altLang="en-US" dirty="0"/>
              <a:t>Preempted resources are added to the list of resources for which the process is waiting</a:t>
            </a:r>
          </a:p>
          <a:p>
            <a:pPr lvl="1"/>
            <a:r>
              <a:rPr lang="en-US" altLang="en-US" dirty="0"/>
              <a:t>Process will be restarted only when it can regain its old resources, as well as the new ones that it is requesting</a:t>
            </a:r>
          </a:p>
          <a:p>
            <a:r>
              <a:rPr lang="en-US" altLang="en-US" b="1" dirty="0"/>
              <a:t>Circular Wait</a:t>
            </a:r>
            <a:r>
              <a:rPr lang="en-US" altLang="en-US" dirty="0"/>
              <a:t> – impose a total ordering of all resource types, and require that each process requests resources in an increasing order of enumeration</a:t>
            </a:r>
          </a:p>
          <a:p>
            <a:pPr lvl="1"/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41D530-DBC4-44A9-99DA-A2B3DBD6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54508CD1-2EA1-4E3F-87D2-DF2A1EA2A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24934"/>
            <a:ext cx="10515600" cy="876302"/>
          </a:xfrm>
        </p:spPr>
        <p:txBody>
          <a:bodyPr/>
          <a:lstStyle/>
          <a:p>
            <a:r>
              <a:rPr lang="en-US" altLang="en-US" sz="4000" dirty="0"/>
              <a:t>Circular</a:t>
            </a:r>
            <a:r>
              <a:rPr lang="en-US" altLang="en-US" dirty="0"/>
              <a:t> Wait  -- Practical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990BBC95-2196-4209-90EA-C493B351B9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6454" y="1224612"/>
            <a:ext cx="6174358" cy="433281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Invalidating the circular wait condition is most common.</a:t>
            </a:r>
          </a:p>
          <a:p>
            <a:r>
              <a:rPr lang="en-US" altLang="en-US" dirty="0"/>
              <a:t>Simply assign each resource (i.e. mutex locks) a unique number.</a:t>
            </a:r>
          </a:p>
          <a:p>
            <a:r>
              <a:rPr lang="en-US" altLang="en-US" dirty="0"/>
              <a:t>Resources must be acquired in order.</a:t>
            </a:r>
          </a:p>
          <a:p>
            <a:r>
              <a:rPr lang="en-US" altLang="en-US" dirty="0"/>
              <a:t>If: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first_mutex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second_mutex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/>
            </a:br>
            <a:r>
              <a:rPr lang="en-US" altLang="en-US" dirty="0"/>
              <a:t>code for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thread_two</a:t>
            </a:r>
            <a:r>
              <a:rPr lang="en-US" altLang="en-US" dirty="0"/>
              <a:t> could not be </a:t>
            </a:r>
            <a:br>
              <a:rPr lang="en-US" altLang="en-US" dirty="0"/>
            </a:br>
            <a:r>
              <a:rPr lang="en-US" altLang="en-US" dirty="0"/>
              <a:t>written as follows:</a:t>
            </a:r>
          </a:p>
        </p:txBody>
      </p:sp>
      <p:pic>
        <p:nvPicPr>
          <p:cNvPr id="33796" name="Content Placeholder 4">
            <a:extLst>
              <a:ext uri="{FF2B5EF4-FFF2-40B4-BE49-F238E27FC236}">
                <a16:creationId xmlns:a16="http://schemas.microsoft.com/office/drawing/2014/main" id="{2A885E38-B537-4F15-81D4-F0280866C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812" y="1090369"/>
            <a:ext cx="3590354" cy="453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797" name="Straight Arrow Connector 5">
            <a:extLst>
              <a:ext uri="{FF2B5EF4-FFF2-40B4-BE49-F238E27FC236}">
                <a16:creationId xmlns:a16="http://schemas.microsoft.com/office/drawing/2014/main" id="{F3086FB3-E0D3-46F5-BCF2-0F560F50051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687888" y="4083728"/>
            <a:ext cx="2582924" cy="771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3056EF-4BB1-49B8-9DE0-8C305D67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035545B-8AC2-4484-9FEC-33005F450A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7926" y="198438"/>
            <a:ext cx="7762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Deadlock </a:t>
            </a:r>
            <a:r>
              <a:rPr lang="en-US" altLang="en-US" b="1" dirty="0"/>
              <a:t>Avoidance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5E3F265-9E6E-499C-A0E9-F5389E7DCB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33737" y="1739900"/>
            <a:ext cx="8087311" cy="4234772"/>
          </a:xfrm>
        </p:spPr>
        <p:txBody>
          <a:bodyPr>
            <a:normAutofit/>
          </a:bodyPr>
          <a:lstStyle/>
          <a:p>
            <a:r>
              <a:rPr lang="en-US" altLang="en-US" dirty="0"/>
              <a:t>Simplest and most useful model requires that each process declare the </a:t>
            </a:r>
            <a:r>
              <a:rPr lang="en-US" altLang="en-US" b="1" i="1" dirty="0"/>
              <a:t>maximum number</a:t>
            </a:r>
            <a:r>
              <a:rPr lang="en-US" altLang="en-US" b="1" dirty="0"/>
              <a:t> </a:t>
            </a:r>
            <a:r>
              <a:rPr lang="en-US" altLang="en-US" dirty="0"/>
              <a:t>of resources of each type that it may need</a:t>
            </a:r>
          </a:p>
          <a:p>
            <a:r>
              <a:rPr lang="en-US" altLang="en-US" dirty="0"/>
              <a:t>The deadlock-avoidance algorithm dynamically examines the resource-allocation state to ensure that there can </a:t>
            </a:r>
            <a:r>
              <a:rPr lang="en-US" altLang="en-US" dirty="0">
                <a:solidFill>
                  <a:srgbClr val="FF0000"/>
                </a:solidFill>
              </a:rPr>
              <a:t>never be a circular-wait condition</a:t>
            </a:r>
          </a:p>
          <a:p>
            <a:r>
              <a:rPr lang="en-US" altLang="en-US" dirty="0"/>
              <a:t>Resource-allocation </a:t>
            </a:r>
            <a:r>
              <a:rPr lang="en-US" altLang="en-US" i="1" dirty="0"/>
              <a:t>state</a:t>
            </a:r>
            <a:r>
              <a:rPr lang="en-US" altLang="en-US" dirty="0"/>
              <a:t> is defined by </a:t>
            </a:r>
          </a:p>
          <a:p>
            <a:pPr lvl="1"/>
            <a:r>
              <a:rPr lang="en-US" altLang="en-US" dirty="0"/>
              <a:t>the number of available</a:t>
            </a:r>
          </a:p>
          <a:p>
            <a:pPr lvl="1"/>
            <a:r>
              <a:rPr lang="en-US" altLang="en-US" dirty="0"/>
              <a:t>allocated resources, </a:t>
            </a:r>
          </a:p>
          <a:p>
            <a:pPr lvl="1"/>
            <a:r>
              <a:rPr lang="en-US" altLang="en-US" dirty="0"/>
              <a:t>the maximum demands of the processes</a:t>
            </a:r>
          </a:p>
        </p:txBody>
      </p:sp>
      <p:sp>
        <p:nvSpPr>
          <p:cNvPr id="34820" name="Text Box 4">
            <a:extLst>
              <a:ext uri="{FF2B5EF4-FFF2-40B4-BE49-F238E27FC236}">
                <a16:creationId xmlns:a16="http://schemas.microsoft.com/office/drawing/2014/main" id="{83DE001D-610F-46EB-A2A4-D38FB30FA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5555" y="936625"/>
            <a:ext cx="7769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Requires that the system has some additional </a:t>
            </a:r>
            <a:r>
              <a:rPr kumimoji="0" lang="en-US" altLang="en-US" b="1" i="1" dirty="0"/>
              <a:t>a priori </a:t>
            </a:r>
            <a:r>
              <a:rPr kumimoji="0" lang="en-US" altLang="en-US" dirty="0"/>
              <a:t>information </a:t>
            </a:r>
            <a:br>
              <a:rPr kumimoji="0" lang="en-US" altLang="en-US" dirty="0"/>
            </a:br>
            <a:r>
              <a:rPr kumimoji="0" lang="en-US" altLang="en-US" dirty="0"/>
              <a:t>available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5A6082-967B-46E1-B083-D0FB6F2B5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AB2532C-EC02-4143-AB7A-74530F386E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652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Safe State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978D88F-86E1-4DB6-A958-BEB6691B84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37640" y="857974"/>
            <a:ext cx="7961466" cy="5142051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When a process requests an available resource, system must decide if immediate allocation leaves the system in a safe state</a:t>
            </a:r>
          </a:p>
          <a:p>
            <a:r>
              <a:rPr lang="en-US" altLang="en-US" dirty="0"/>
              <a:t>System is in </a:t>
            </a:r>
            <a:r>
              <a:rPr lang="en-US" altLang="en-US" b="1" dirty="0">
                <a:solidFill>
                  <a:srgbClr val="3366FF"/>
                </a:solidFill>
              </a:rPr>
              <a:t>safe state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if there </a:t>
            </a:r>
            <a:r>
              <a:rPr lang="en-US" altLang="en-US" b="1" dirty="0"/>
              <a:t>exists a sequence </a:t>
            </a:r>
            <a:r>
              <a:rPr lang="en-US" altLang="en-US" dirty="0"/>
              <a:t>&lt;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P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 …,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&gt; of ALL the  processes  in the systems such that  for each P</a:t>
            </a:r>
            <a:r>
              <a:rPr lang="en-US" altLang="en-US" baseline="-25000" dirty="0"/>
              <a:t>i</a:t>
            </a:r>
            <a:r>
              <a:rPr lang="en-US" altLang="en-US" dirty="0"/>
              <a:t>, the resources that P</a:t>
            </a:r>
            <a:r>
              <a:rPr lang="en-US" altLang="en-US" baseline="-25000" dirty="0"/>
              <a:t>i </a:t>
            </a:r>
            <a:r>
              <a:rPr lang="en-US" altLang="en-US" dirty="0"/>
              <a:t>can still request can be satisfied by currently available resources + resources held by all the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, with</a:t>
            </a:r>
            <a:r>
              <a:rPr lang="en-US" altLang="en-US" i="1" dirty="0"/>
              <a:t> j </a:t>
            </a:r>
            <a:r>
              <a:rPr lang="en-US" altLang="en-US" dirty="0"/>
              <a:t>&lt; </a:t>
            </a:r>
            <a:r>
              <a:rPr lang="en-US" altLang="en-US" i="1" dirty="0" err="1"/>
              <a:t>i</a:t>
            </a:r>
            <a:endParaRPr lang="en-US" altLang="en-US" dirty="0"/>
          </a:p>
          <a:p>
            <a:r>
              <a:rPr lang="en-US" altLang="en-US" dirty="0"/>
              <a:t>That is:</a:t>
            </a:r>
          </a:p>
          <a:p>
            <a:pPr lvl="1"/>
            <a:r>
              <a:rPr lang="en-US" altLang="en-US" dirty="0"/>
              <a:t>If P</a:t>
            </a:r>
            <a:r>
              <a:rPr lang="en-US" altLang="en-US" baseline="-25000" dirty="0"/>
              <a:t>i</a:t>
            </a:r>
            <a:r>
              <a:rPr lang="en-US" altLang="en-US" dirty="0"/>
              <a:t> resource needs are not immediately available, then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wait until all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with</a:t>
            </a:r>
            <a:r>
              <a:rPr lang="en-US" altLang="en-US" i="1" dirty="0"/>
              <a:t> j </a:t>
            </a:r>
            <a:r>
              <a:rPr lang="en-US" altLang="en-US" dirty="0"/>
              <a:t>&lt;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have finished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is finished,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can obtain needed resources, execute, return allocated resources, and terminate</a:t>
            </a:r>
          </a:p>
          <a:p>
            <a:pPr lvl="1"/>
            <a:r>
              <a:rPr lang="en-US" altLang="en-US" dirty="0"/>
              <a:t>When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terminates,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 </a:t>
            </a:r>
            <a:r>
              <a:rPr lang="en-US" altLang="en-US" baseline="-25000" dirty="0"/>
              <a:t>+1</a:t>
            </a:r>
            <a:r>
              <a:rPr lang="en-US" altLang="en-US" dirty="0"/>
              <a:t> can obtain its needed resources, and so on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81823A-98BB-41E5-9DAF-82A26E0B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0FBD715-B6B8-4C31-A2A9-7092F0055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/>
              <a:t>Basic Facts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BD43BB7-CA96-4355-A7D7-F4AEBADB93E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dirty="0"/>
              <a:t>If a system is in safe state </a:t>
            </a:r>
            <a:r>
              <a:rPr lang="en-US" altLang="en-US" dirty="0">
                <a:sym typeface="Symbol" panose="05050102010706020507" pitchFamily="18" charset="2"/>
              </a:rPr>
              <a:t>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no</a:t>
            </a:r>
            <a:r>
              <a:rPr lang="en-US" altLang="en-US" dirty="0">
                <a:sym typeface="Symbol" panose="05050102010706020507" pitchFamily="18" charset="2"/>
              </a:rPr>
              <a:t> deadlocks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If a system is in unsafe state 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possibility</a:t>
            </a:r>
            <a:r>
              <a:rPr lang="en-US" altLang="en-US" dirty="0">
                <a:sym typeface="Symbol" panose="05050102010706020507" pitchFamily="18" charset="2"/>
              </a:rPr>
              <a:t> of deadlock</a:t>
            </a:r>
            <a:br>
              <a:rPr lang="en-US" altLang="en-US" dirty="0">
                <a:sym typeface="Symbol" panose="05050102010706020507" pitchFamily="18" charset="2"/>
              </a:rPr>
            </a:b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Avoidance  ensure that a system will never enter an unsafe state.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919ED12B-352F-404C-B0F5-8079E67435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720" y="1908295"/>
            <a:ext cx="4054224" cy="4054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D398BB-E8B8-4F67-B600-752025C59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E9CEF23-EE0F-448E-9175-4AB88057F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6713" y="399888"/>
            <a:ext cx="7645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/>
              <a:t>Avoidance Algorithms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FEA013F-EE8F-4593-95E5-1E893BB1A1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8710" y="1331373"/>
            <a:ext cx="7512527" cy="4838608"/>
          </a:xfrm>
        </p:spPr>
        <p:txBody>
          <a:bodyPr/>
          <a:lstStyle/>
          <a:p>
            <a:r>
              <a:rPr lang="en-US" altLang="en-US" dirty="0"/>
              <a:t>Single instance of a resource type</a:t>
            </a:r>
          </a:p>
          <a:p>
            <a:pPr lvl="1"/>
            <a:r>
              <a:rPr lang="en-US" altLang="en-US" dirty="0"/>
              <a:t>Use a resource-allocation graph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Multiple instances of a resource type</a:t>
            </a:r>
          </a:p>
          <a:p>
            <a:pPr lvl="1"/>
            <a:r>
              <a:rPr lang="en-US" altLang="en-US" dirty="0"/>
              <a:t> Use the Banker</a:t>
            </a:r>
            <a:r>
              <a:rPr lang="ja-JP" altLang="en-US" dirty="0"/>
              <a:t>’</a:t>
            </a:r>
            <a:r>
              <a:rPr lang="en-US" altLang="ja-JP" dirty="0"/>
              <a:t>s Algorithm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D5CA9B-759D-4D30-BB1A-AD5D809F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6F9143A-B26F-4DB3-A553-339776608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47950" y="198438"/>
            <a:ext cx="7907600" cy="81361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Resource-Allocation Graph Scheme</a:t>
            </a:r>
            <a:br>
              <a:rPr lang="en-US" altLang="en-US" dirty="0"/>
            </a:br>
            <a:r>
              <a:rPr lang="en-US" altLang="en-US" dirty="0"/>
              <a:t>For Single Instance of Each Resource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BBCAAA1-F371-4B19-81BD-C658511B17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94060" y="1395398"/>
            <a:ext cx="7595663" cy="4472742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Claim edge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indicated that process 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 may request resource </a:t>
            </a:r>
            <a:r>
              <a:rPr lang="en-US" altLang="en-US" i="1" dirty="0" err="1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j</a:t>
            </a:r>
            <a:r>
              <a:rPr lang="en-US" altLang="en-US" dirty="0">
                <a:sym typeface="Symbol" panose="05050102010706020507" pitchFamily="18" charset="2"/>
              </a:rPr>
              <a:t>; represented by a dashed line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Claim edge converts to request edge when a process requests a resource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Request edge converted to an assignment edge when the  resource is allocated to the process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When a resource is released by a process, assignment edge reconverts to a claim edge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Resources must be claimed </a:t>
            </a:r>
            <a:r>
              <a:rPr lang="en-US" altLang="en-US" i="1" dirty="0">
                <a:sym typeface="Symbol" panose="05050102010706020507" pitchFamily="18" charset="2"/>
              </a:rPr>
              <a:t>a priori</a:t>
            </a:r>
            <a:r>
              <a:rPr lang="en-US" altLang="en-US" dirty="0">
                <a:sym typeface="Symbol" panose="05050102010706020507" pitchFamily="18" charset="2"/>
              </a:rPr>
              <a:t> in the system</a:t>
            </a: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9E2DF6-DA6E-46F8-9A9C-5FB89FD2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F1F07952-8E0C-41EF-96A6-4C3C7ED20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65364" y="280988"/>
            <a:ext cx="8224837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/>
              <a:t>Resource-Allocation Graph</a:t>
            </a:r>
          </a:p>
        </p:txBody>
      </p:sp>
      <p:pic>
        <p:nvPicPr>
          <p:cNvPr id="47107" name="Picture 1">
            <a:extLst>
              <a:ext uri="{FF2B5EF4-FFF2-40B4-BE49-F238E27FC236}">
                <a16:creationId xmlns:a16="http://schemas.microsoft.com/office/drawing/2014/main" id="{BA43FA80-8F11-48D4-894B-AF9AA78DE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1" y="1181101"/>
            <a:ext cx="3662363" cy="369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TextBox 1">
            <a:extLst>
              <a:ext uri="{FF2B5EF4-FFF2-40B4-BE49-F238E27FC236}">
                <a16:creationId xmlns:a16="http://schemas.microsoft.com/office/drawing/2014/main" id="{93C6A3E7-5543-4FD2-BBC7-B4EAB2E51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6439" y="5184775"/>
            <a:ext cx="3214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Can we allocate R</a:t>
            </a:r>
            <a:r>
              <a:rPr lang="en-US" altLang="en-US" baseline="-25000"/>
              <a:t>2</a:t>
            </a:r>
            <a:r>
              <a:rPr lang="en-US" altLang="en-US"/>
              <a:t> to T</a:t>
            </a:r>
            <a:r>
              <a:rPr lang="en-US" altLang="en-US" baseline="-25000"/>
              <a:t>2</a:t>
            </a:r>
            <a:r>
              <a:rPr lang="en-US" altLang="en-US"/>
              <a:t>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82DFEF-91BB-4477-8EB3-55049776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6871E986-9D29-4CB3-AADF-B0EF795AF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5889" y="260350"/>
            <a:ext cx="8243887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/>
              <a:t>Unsafe State In Resource-Allocation Graph</a:t>
            </a:r>
          </a:p>
        </p:txBody>
      </p:sp>
      <p:pic>
        <p:nvPicPr>
          <p:cNvPr id="49155" name="Picture 1">
            <a:extLst>
              <a:ext uri="{FF2B5EF4-FFF2-40B4-BE49-F238E27FC236}">
                <a16:creationId xmlns:a16="http://schemas.microsoft.com/office/drawing/2014/main" id="{81C2E6C3-E571-42EE-92A1-A58FA8C52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6" y="1438276"/>
            <a:ext cx="3902075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AF02C1-6C1E-4208-BC74-A23A5063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A813707-DD2F-42A4-BD53-3B349D732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7338" y="150813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Resource-Allocation Graph Algorithm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6F1EFB3-0B7A-434F-BB30-F7A153E194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57450" y="1187451"/>
            <a:ext cx="5962650" cy="4303713"/>
          </a:xfrm>
        </p:spPr>
        <p:txBody>
          <a:bodyPr/>
          <a:lstStyle/>
          <a:p>
            <a:r>
              <a:rPr lang="en-US" altLang="en-US"/>
              <a:t>Suppose that process</a:t>
            </a:r>
            <a:r>
              <a:rPr lang="en-US" altLang="en-US" i="1"/>
              <a:t> P</a:t>
            </a:r>
            <a:r>
              <a:rPr lang="en-US" altLang="en-US" i="1" baseline="-25000"/>
              <a:t>i</a:t>
            </a:r>
            <a:r>
              <a:rPr lang="en-US" altLang="en-US"/>
              <a:t> requests a resource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i="1" baseline="-25000">
                <a:sym typeface="Symbol" panose="05050102010706020507" pitchFamily="18" charset="2"/>
              </a:rPr>
              <a:t>j</a:t>
            </a:r>
          </a:p>
          <a:p>
            <a:r>
              <a:rPr lang="en-US" altLang="en-US">
                <a:sym typeface="Symbol" panose="05050102010706020507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E1340E-8F80-45B5-BA56-1A56BB7F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0B59140-917C-4B4C-BAF4-3060DD45E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38400" y="182563"/>
            <a:ext cx="7772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Banker’s Algorithm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737A893-52FA-4309-9990-29A90507C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4869" y="1013304"/>
            <a:ext cx="8048424" cy="4783814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Multiple instances of resources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Each process must a </a:t>
            </a:r>
            <a:r>
              <a:rPr lang="en-US" altLang="en-US" dirty="0">
                <a:solidFill>
                  <a:srgbClr val="FF0000"/>
                </a:solidFill>
              </a:rPr>
              <a:t>priori claim maximum </a:t>
            </a:r>
            <a:r>
              <a:rPr lang="en-US" altLang="en-US" dirty="0"/>
              <a:t>use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When a process requests a resource it may have to wait 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When a process gets all its resources it must return them in a finite amount of time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416BDA-F006-45B0-BFAB-9A6892D57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3214E205-FD0B-4D9C-988F-36E9F1E9C5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98788" y="327025"/>
            <a:ext cx="7586662" cy="431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/>
              <a:t>Data Structures for the Banker</a:t>
            </a:r>
            <a:r>
              <a:rPr lang="ja-JP" altLang="en-US" sz="2800" dirty="0"/>
              <a:t>’</a:t>
            </a:r>
            <a:r>
              <a:rPr lang="en-US" altLang="ja-JP" sz="2800" dirty="0"/>
              <a:t>s Algorithm </a:t>
            </a:r>
            <a:endParaRPr lang="en-US" altLang="en-US" sz="2800" dirty="0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6F737E4-5036-40AB-A085-93922FE8F9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16213" y="1654175"/>
            <a:ext cx="7370762" cy="438785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b="1" dirty="0"/>
              <a:t>Available</a:t>
            </a:r>
            <a:r>
              <a:rPr lang="en-US" altLang="en-US" i="1" dirty="0"/>
              <a:t>:</a:t>
            </a:r>
            <a:r>
              <a:rPr lang="en-US" altLang="en-US" dirty="0"/>
              <a:t>  Vector of length </a:t>
            </a:r>
            <a:r>
              <a:rPr lang="en-US" altLang="en-US" i="1" dirty="0"/>
              <a:t>m</a:t>
            </a:r>
            <a:r>
              <a:rPr lang="en-US" altLang="en-US" dirty="0"/>
              <a:t>. If available [</a:t>
            </a:r>
            <a:r>
              <a:rPr lang="en-US" altLang="en-US" i="1" dirty="0"/>
              <a:t>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there are</a:t>
            </a:r>
            <a:r>
              <a:rPr lang="en-US" altLang="en-US" i="1" dirty="0"/>
              <a:t> k</a:t>
            </a:r>
            <a:r>
              <a:rPr lang="en-US" altLang="en-US" dirty="0"/>
              <a:t> 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 </a:t>
            </a:r>
            <a:r>
              <a:rPr lang="en-US" altLang="en-US" dirty="0"/>
              <a:t>available</a:t>
            </a:r>
          </a:p>
          <a:p>
            <a:endParaRPr lang="en-US" altLang="en-US" sz="8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Max</a:t>
            </a:r>
            <a:r>
              <a:rPr lang="en-US" altLang="en-US" i="1" dirty="0"/>
              <a:t>: n x m</a:t>
            </a:r>
            <a:r>
              <a:rPr lang="en-US" altLang="en-US" dirty="0"/>
              <a:t> matrix.  If </a:t>
            </a:r>
            <a:r>
              <a:rPr lang="en-US" altLang="en-US" i="1" dirty="0"/>
              <a:t>Max 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, then process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may request at most</a:t>
            </a:r>
            <a:r>
              <a:rPr lang="en-US" altLang="en-US" i="1" dirty="0"/>
              <a:t> k </a:t>
            </a:r>
            <a:r>
              <a:rPr lang="en-US" altLang="en-US" dirty="0"/>
              <a:t>instances of resource type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Allocation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 If Allocation[</a:t>
            </a:r>
            <a:r>
              <a:rPr lang="en-US" altLang="en-US" i="1" dirty="0" err="1"/>
              <a:t>i,j</a:t>
            </a:r>
            <a:r>
              <a:rPr lang="en-US" altLang="en-US" dirty="0"/>
              <a:t>] = </a:t>
            </a:r>
            <a:r>
              <a:rPr lang="en-US" altLang="en-US" i="1" dirty="0"/>
              <a:t>k</a:t>
            </a:r>
            <a:r>
              <a:rPr lang="en-US" altLang="en-US" dirty="0"/>
              <a:t>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is currently allocated </a:t>
            </a:r>
            <a:r>
              <a:rPr lang="en-US" altLang="en-US" i="1" dirty="0"/>
              <a:t>k</a:t>
            </a:r>
            <a:r>
              <a:rPr lang="en-US" altLang="en-US" dirty="0"/>
              <a:t>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endParaRPr lang="en-US" altLang="en-US" sz="800" i="1" baseline="-25000" dirty="0"/>
          </a:p>
          <a:p>
            <a:r>
              <a:rPr lang="en-US" altLang="en-US" b="1" dirty="0">
                <a:solidFill>
                  <a:srgbClr val="000000"/>
                </a:solidFill>
              </a:rPr>
              <a:t>Need</a:t>
            </a:r>
            <a:r>
              <a:rPr lang="en-US" altLang="en-US" i="1" dirty="0"/>
              <a:t>:  n </a:t>
            </a:r>
            <a:r>
              <a:rPr lang="en-US" altLang="en-US" dirty="0"/>
              <a:t>x</a:t>
            </a:r>
            <a:r>
              <a:rPr lang="en-US" altLang="en-US" i="1" dirty="0"/>
              <a:t> m</a:t>
            </a:r>
            <a:r>
              <a:rPr lang="en-US" altLang="en-US" dirty="0"/>
              <a:t> matrix. If </a:t>
            </a:r>
            <a:r>
              <a:rPr lang="en-US" altLang="en-US" i="1" dirty="0"/>
              <a:t>Need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=</a:t>
            </a:r>
            <a:r>
              <a:rPr lang="en-US" altLang="en-US" i="1" dirty="0"/>
              <a:t> k</a:t>
            </a:r>
            <a:r>
              <a:rPr lang="en-US" altLang="en-US" dirty="0"/>
              <a:t>, then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i</a:t>
            </a:r>
            <a:r>
              <a:rPr lang="en-US" altLang="en-US" dirty="0"/>
              <a:t> may need </a:t>
            </a:r>
            <a:r>
              <a:rPr lang="en-US" altLang="en-US" i="1" dirty="0"/>
              <a:t>k</a:t>
            </a:r>
            <a:r>
              <a:rPr lang="en-US" altLang="en-US" dirty="0"/>
              <a:t> more instances of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j</a:t>
            </a:r>
            <a:r>
              <a:rPr lang="en-US" altLang="en-US" baseline="-25000" dirty="0"/>
              <a:t> </a:t>
            </a:r>
            <a:r>
              <a:rPr lang="en-US" altLang="en-US" dirty="0"/>
              <a:t>to complete its task</a:t>
            </a:r>
          </a:p>
          <a:p>
            <a:pPr lvl="2">
              <a:buFont typeface="Webdings" panose="05030102010509060703" pitchFamily="18" charset="2"/>
              <a:buNone/>
            </a:pPr>
            <a:br>
              <a:rPr lang="en-US" altLang="en-US" dirty="0"/>
            </a:br>
            <a:r>
              <a:rPr lang="en-US" altLang="en-US" i="1" dirty="0"/>
              <a:t>Need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i="1" dirty="0"/>
              <a:t>]</a:t>
            </a:r>
            <a:r>
              <a:rPr lang="en-US" altLang="en-US" dirty="0"/>
              <a:t> = </a:t>
            </a:r>
            <a:r>
              <a:rPr lang="en-US" altLang="en-US" i="1" dirty="0"/>
              <a:t>Max</a:t>
            </a:r>
            <a:r>
              <a:rPr lang="en-US" altLang="en-US" dirty="0"/>
              <a:t>[</a:t>
            </a:r>
            <a:r>
              <a:rPr lang="en-US" altLang="en-US" i="1" dirty="0" err="1"/>
              <a:t>i,j</a:t>
            </a:r>
            <a:r>
              <a:rPr lang="en-US" altLang="en-US" dirty="0"/>
              <a:t>] – </a:t>
            </a:r>
            <a:r>
              <a:rPr lang="en-US" altLang="en-US" i="1" dirty="0"/>
              <a:t>Allocation</a:t>
            </a:r>
            <a:r>
              <a:rPr lang="en-US" altLang="en-US" dirty="0"/>
              <a:t> [</a:t>
            </a:r>
            <a:r>
              <a:rPr lang="en-US" altLang="en-US" i="1" dirty="0" err="1"/>
              <a:t>i,j</a:t>
            </a:r>
            <a:r>
              <a:rPr lang="en-US" altLang="en-US" dirty="0"/>
              <a:t>]</a:t>
            </a:r>
          </a:p>
        </p:txBody>
      </p:sp>
      <p:sp>
        <p:nvSpPr>
          <p:cNvPr id="55300" name="Text Box 4">
            <a:extLst>
              <a:ext uri="{FF2B5EF4-FFF2-40B4-BE49-F238E27FC236}">
                <a16:creationId xmlns:a16="http://schemas.microsoft.com/office/drawing/2014/main" id="{1591B1B3-705E-4961-80D8-4C4A38B18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913" y="1106766"/>
            <a:ext cx="70070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Let </a:t>
            </a:r>
            <a:r>
              <a:rPr kumimoji="0" lang="en-US" altLang="en-US" i="1"/>
              <a:t>n</a:t>
            </a:r>
            <a:r>
              <a:rPr kumimoji="0" lang="en-US" altLang="en-US"/>
              <a:t> = number of processes, and </a:t>
            </a:r>
            <a:r>
              <a:rPr kumimoji="0" lang="en-US" altLang="en-US" i="1"/>
              <a:t>m </a:t>
            </a:r>
            <a:r>
              <a:rPr kumimoji="0" lang="en-US" altLang="en-US"/>
              <a:t>= number of resources types.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2FD5A1-0B2C-4D8B-AB01-E3CC56AB5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0CFD6A3E-3BCA-4627-B431-90C425F78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66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/>
              <a:t>Safety Algorithm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53FC98E7-FA82-43DC-B772-5A809645D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55002" y="957262"/>
            <a:ext cx="8229600" cy="535476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1. Let </a:t>
            </a:r>
            <a:r>
              <a:rPr lang="en-US" altLang="en-US" b="1" i="1" dirty="0">
                <a:solidFill>
                  <a:srgbClr val="000000"/>
                </a:solidFill>
              </a:rPr>
              <a:t>Work</a:t>
            </a:r>
            <a:r>
              <a:rPr lang="en-US" altLang="en-US" i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i="1" dirty="0">
                <a:solidFill>
                  <a:srgbClr val="000000"/>
                </a:solidFill>
              </a:rPr>
              <a:t>Finish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be vectors of length</a:t>
            </a:r>
            <a:r>
              <a:rPr lang="en-US" altLang="en-US" i="1" dirty="0"/>
              <a:t> m</a:t>
            </a:r>
            <a:r>
              <a:rPr lang="en-US" altLang="en-US" dirty="0"/>
              <a:t> and</a:t>
            </a:r>
            <a:r>
              <a:rPr lang="en-US" altLang="en-US" i="1" dirty="0"/>
              <a:t> n</a:t>
            </a:r>
            <a:r>
              <a:rPr lang="en-US" altLang="en-US" dirty="0"/>
              <a:t>, respectively.  Initialize:</a:t>
            </a:r>
          </a:p>
          <a:p>
            <a:pPr marL="1543050" lvl="3" indent="-342900">
              <a:buNone/>
            </a:pPr>
            <a:r>
              <a:rPr lang="en-US" altLang="en-US" b="1" i="1" dirty="0"/>
              <a:t>Work </a:t>
            </a:r>
            <a:r>
              <a:rPr lang="en-US" altLang="en-US" b="1" dirty="0"/>
              <a:t>= </a:t>
            </a:r>
            <a:r>
              <a:rPr lang="en-US" altLang="en-US" b="1" i="1" dirty="0"/>
              <a:t>Available</a:t>
            </a:r>
          </a:p>
          <a:p>
            <a:pPr marL="1543050" lvl="3" indent="-342900">
              <a:buNone/>
            </a:pPr>
            <a:r>
              <a:rPr lang="en-US" altLang="en-US" b="1" i="1" dirty="0"/>
              <a:t>Finish </a:t>
            </a:r>
            <a:r>
              <a:rPr lang="en-US" altLang="en-US" b="1" dirty="0"/>
              <a:t>[</a:t>
            </a:r>
            <a:r>
              <a:rPr lang="en-US" altLang="en-US" b="1" i="1" dirty="0" err="1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false </a:t>
            </a:r>
            <a:r>
              <a:rPr lang="en-US" altLang="en-US" b="1" dirty="0"/>
              <a:t>for</a:t>
            </a:r>
            <a:r>
              <a:rPr lang="en-US" altLang="en-US" b="1" i="1" dirty="0"/>
              <a:t> </a:t>
            </a:r>
            <a:r>
              <a:rPr lang="en-US" altLang="en-US" b="1" i="1" dirty="0" err="1"/>
              <a:t>i</a:t>
            </a:r>
            <a:r>
              <a:rPr lang="en-US" altLang="en-US" b="1" dirty="0"/>
              <a:t> = 0, 1, …, </a:t>
            </a:r>
            <a:r>
              <a:rPr lang="en-US" altLang="en-US" b="1" i="1" dirty="0"/>
              <a:t>n- </a:t>
            </a:r>
            <a:r>
              <a:rPr lang="en-US" altLang="en-US" b="1" dirty="0"/>
              <a:t>1</a:t>
            </a:r>
          </a:p>
          <a:p>
            <a:pPr marL="1543050" lvl="3" indent="-342900">
              <a:buNone/>
            </a:pPr>
            <a:endParaRPr lang="en-US" altLang="en-US" sz="8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2. Find an </a:t>
            </a:r>
            <a:r>
              <a:rPr lang="en-US" altLang="en-US" b="1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such that both: </a:t>
            </a:r>
          </a:p>
          <a:p>
            <a:pPr marL="800100" lvl="1" indent="-342900">
              <a:buNone/>
            </a:pPr>
            <a:r>
              <a:rPr lang="en-US" altLang="en-US" dirty="0"/>
              <a:t>(a)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 err="1"/>
              <a:t>i</a:t>
            </a:r>
            <a:r>
              <a:rPr lang="en-US" altLang="en-US" b="1" dirty="0"/>
              <a:t>] = </a:t>
            </a:r>
            <a:r>
              <a:rPr lang="en-US" altLang="en-US" b="1" i="1" dirty="0"/>
              <a:t>false</a:t>
            </a:r>
            <a:endParaRPr lang="en-US" altLang="en-US" b="1" dirty="0"/>
          </a:p>
          <a:p>
            <a:pPr marL="800100" lvl="1" indent="-342900">
              <a:buNone/>
            </a:pPr>
            <a:r>
              <a:rPr lang="en-US" altLang="en-US" dirty="0"/>
              <a:t>(b) </a:t>
            </a:r>
            <a:r>
              <a:rPr lang="en-US" altLang="en-US" b="1" i="1" dirty="0" err="1"/>
              <a:t>Need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Work</a:t>
            </a:r>
          </a:p>
          <a:p>
            <a:pPr marL="800100" lvl="1" indent="-342900">
              <a:buNone/>
            </a:pPr>
            <a:r>
              <a:rPr lang="en-US" altLang="en-US" dirty="0">
                <a:sym typeface="Symbol" panose="05050102010706020507" pitchFamily="18" charset="2"/>
              </a:rPr>
              <a:t>If no such</a:t>
            </a:r>
            <a:r>
              <a:rPr lang="en-US" altLang="en-US" b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exists, go to step 4</a:t>
            </a:r>
          </a:p>
          <a:p>
            <a:pPr marL="800100" lvl="1" indent="-342900">
              <a:buNone/>
            </a:pPr>
            <a:endParaRPr lang="en-US" altLang="en-US" sz="8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 dirty="0"/>
              <a:t>3.  </a:t>
            </a:r>
            <a:r>
              <a:rPr lang="en-US" altLang="en-US" b="1" i="1" dirty="0"/>
              <a:t>Work</a:t>
            </a:r>
            <a:r>
              <a:rPr lang="en-US" altLang="en-US" b="1" dirty="0"/>
              <a:t> = </a:t>
            </a:r>
            <a:r>
              <a:rPr lang="en-US" altLang="en-US" b="1" i="1" dirty="0"/>
              <a:t>Work </a:t>
            </a:r>
            <a:r>
              <a:rPr lang="en-US" altLang="en-US" b="1" dirty="0"/>
              <a:t>+ </a:t>
            </a:r>
            <a:r>
              <a:rPr lang="en-US" altLang="en-US" b="1" i="1" dirty="0" err="1"/>
              <a:t>Allocation</a:t>
            </a:r>
            <a:r>
              <a:rPr lang="en-US" altLang="en-US" b="1" i="1" baseline="-25000" dirty="0" err="1"/>
              <a:t>i</a:t>
            </a:r>
            <a:br>
              <a:rPr lang="en-US" altLang="en-US" b="1" dirty="0"/>
            </a:br>
            <a:r>
              <a:rPr lang="en-US" altLang="en-US" b="1" i="1" dirty="0"/>
              <a:t>Finish</a:t>
            </a:r>
            <a:r>
              <a:rPr lang="en-US" altLang="en-US" b="1" dirty="0"/>
              <a:t>[</a:t>
            </a:r>
            <a:r>
              <a:rPr lang="en-US" altLang="en-US" b="1" i="1" dirty="0" err="1"/>
              <a:t>i</a:t>
            </a:r>
            <a:r>
              <a:rPr lang="en-US" altLang="en-US" b="1" dirty="0"/>
              <a:t>] =</a:t>
            </a:r>
            <a:r>
              <a:rPr lang="en-US" altLang="en-US" b="1" i="1" dirty="0"/>
              <a:t> true</a:t>
            </a:r>
            <a:br>
              <a:rPr lang="en-US" altLang="en-US" b="1" dirty="0"/>
            </a:br>
            <a:r>
              <a:rPr lang="en-US" altLang="en-US" dirty="0"/>
              <a:t>go to step 2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4. If </a:t>
            </a:r>
            <a:r>
              <a:rPr lang="en-US" altLang="en-US" b="1" i="1" dirty="0"/>
              <a:t>Finish</a:t>
            </a:r>
            <a:r>
              <a:rPr lang="en-US" altLang="en-US" b="1" dirty="0"/>
              <a:t> [</a:t>
            </a:r>
            <a:r>
              <a:rPr lang="en-US" altLang="en-US" b="1" i="1" dirty="0" err="1"/>
              <a:t>i</a:t>
            </a:r>
            <a:r>
              <a:rPr lang="en-US" altLang="en-US" b="1" dirty="0"/>
              <a:t>] == </a:t>
            </a:r>
            <a:r>
              <a:rPr lang="en-US" altLang="en-US" b="1" i="1" dirty="0"/>
              <a:t>true</a:t>
            </a:r>
            <a:r>
              <a:rPr lang="en-US" altLang="en-US" b="1" dirty="0"/>
              <a:t> </a:t>
            </a:r>
            <a:r>
              <a:rPr lang="en-US" altLang="en-US" dirty="0"/>
              <a:t>for all </a:t>
            </a:r>
            <a:r>
              <a:rPr lang="en-US" altLang="en-US" b="1" i="1" dirty="0" err="1"/>
              <a:t>i</a:t>
            </a:r>
            <a:r>
              <a:rPr lang="en-US" altLang="en-US" dirty="0"/>
              <a:t>, </a:t>
            </a:r>
          </a:p>
          <a:p>
            <a:pPr lvl="1">
              <a:buNone/>
            </a:pPr>
            <a:r>
              <a:rPr lang="en-US" altLang="en-US" dirty="0"/>
              <a:t>then the system is in a </a:t>
            </a:r>
            <a:r>
              <a:rPr lang="en-US" altLang="en-US" dirty="0">
                <a:solidFill>
                  <a:srgbClr val="00B050"/>
                </a:solidFill>
              </a:rPr>
              <a:t>safe state</a:t>
            </a:r>
          </a:p>
          <a:p>
            <a:pPr>
              <a:buNone/>
            </a:pPr>
            <a:r>
              <a:rPr lang="en-US" altLang="en-US" dirty="0">
                <a:solidFill>
                  <a:srgbClr val="FF0000"/>
                </a:solidFill>
              </a:rPr>
              <a:t>     </a:t>
            </a:r>
            <a:r>
              <a:rPr lang="en-US" altLang="en-US" sz="2500" dirty="0"/>
              <a:t>else</a:t>
            </a:r>
          </a:p>
          <a:p>
            <a:pPr>
              <a:buNone/>
            </a:pPr>
            <a:r>
              <a:rPr lang="en-US" altLang="en-US" dirty="0">
                <a:solidFill>
                  <a:srgbClr val="FF0000"/>
                </a:solidFill>
              </a:rPr>
              <a:t>        </a:t>
            </a:r>
            <a:r>
              <a:rPr lang="en-US" altLang="en-US" sz="2500" dirty="0"/>
              <a:t>the system is in a </a:t>
            </a:r>
            <a:r>
              <a:rPr lang="en-US" altLang="en-US" dirty="0">
                <a:solidFill>
                  <a:srgbClr val="FF0000"/>
                </a:solidFill>
              </a:rPr>
              <a:t>unsafe state</a:t>
            </a:r>
          </a:p>
          <a:p>
            <a:pPr>
              <a:buNone/>
            </a:pP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47370D-46F3-4B12-AF08-171D0C9D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68B697E7-D5CC-4C87-BD65-98E405AACB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97175" y="231775"/>
            <a:ext cx="7924800" cy="457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b="1" dirty="0"/>
              <a:t>Resource-Request Algorithm for Process </a:t>
            </a:r>
            <a:r>
              <a:rPr lang="en-US" altLang="en-US" sz="2800" b="1" i="1" dirty="0"/>
              <a:t>P</a:t>
            </a:r>
            <a:r>
              <a:rPr lang="en-US" altLang="en-US" sz="2800" b="1" i="1" baseline="-25000" dirty="0"/>
              <a:t>i</a:t>
            </a:r>
            <a:endParaRPr lang="en-US" altLang="en-US" sz="2800" b="1" dirty="0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525CFF3C-AE5D-4DB0-AF0B-83ED35658A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1308" y="839216"/>
            <a:ext cx="9780572" cy="54195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 dirty="0"/>
              <a:t> 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dirty="0"/>
              <a:t> = request vector for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.  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baseline="-25000" dirty="0"/>
              <a:t> </a:t>
            </a:r>
            <a:r>
              <a:rPr lang="en-US" altLang="en-US" b="1" dirty="0"/>
              <a:t>[</a:t>
            </a:r>
            <a:r>
              <a:rPr lang="en-US" altLang="en-US" b="1" i="1" dirty="0"/>
              <a:t>j</a:t>
            </a:r>
            <a:r>
              <a:rPr lang="en-US" altLang="en-US" b="1" dirty="0"/>
              <a:t>] = </a:t>
            </a:r>
            <a:r>
              <a:rPr lang="en-US" altLang="en-US" b="1" i="1" dirty="0"/>
              <a:t>k</a:t>
            </a:r>
            <a:r>
              <a:rPr lang="en-US" altLang="en-US" b="1" dirty="0"/>
              <a:t> </a:t>
            </a:r>
            <a:r>
              <a:rPr lang="en-US" altLang="en-US" dirty="0"/>
              <a:t>then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wants </a:t>
            </a:r>
            <a:r>
              <a:rPr lang="en-US" altLang="en-US" b="1" i="1" dirty="0"/>
              <a:t>k</a:t>
            </a:r>
            <a:r>
              <a:rPr lang="en-US" altLang="en-US" dirty="0"/>
              <a:t> instances of resource type </a:t>
            </a:r>
            <a:r>
              <a:rPr lang="en-US" altLang="en-US" b="1" i="1" dirty="0" err="1"/>
              <a:t>R</a:t>
            </a:r>
            <a:r>
              <a:rPr lang="en-US" altLang="en-US" b="1" i="1" baseline="-25000" dirty="0" err="1"/>
              <a:t>j</a:t>
            </a:r>
            <a:endParaRPr lang="en-US" altLang="en-US" b="1" baseline="-250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/>
              <a:t>1.	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i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go to step 2.  Otherwise, raise error condition, since process has exceeded its maximum claim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2.	If </a:t>
            </a:r>
            <a:r>
              <a:rPr lang="en-US" altLang="en-US" b="1" i="1" dirty="0" err="1"/>
              <a:t>Request</a:t>
            </a:r>
            <a:r>
              <a:rPr lang="en-US" altLang="en-US" b="1" i="1" baseline="-25000" dirty="0" err="1"/>
              <a:t>i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 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dirty="0">
                <a:sym typeface="Symbol" panose="05050102010706020507" pitchFamily="18" charset="2"/>
              </a:rPr>
              <a:t>, go to step 3.  Otherwise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 must wait, since resources are not available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3.	Pretend to allocate requested resources to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by modifying the state as follows: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b="1" i="1" dirty="0">
                <a:sym typeface="Symbol" panose="05050102010706020507" pitchFamily="18" charset="2"/>
              </a:rPr>
              <a:t>Available</a:t>
            </a:r>
            <a:r>
              <a:rPr lang="en-US" altLang="en-US" b="1" dirty="0">
                <a:sym typeface="Symbol" panose="05050102010706020507" pitchFamily="18" charset="2"/>
              </a:rPr>
              <a:t> = </a:t>
            </a:r>
            <a:r>
              <a:rPr lang="en-US" altLang="en-US" b="1" i="1" dirty="0">
                <a:sym typeface="Symbol" panose="05050102010706020507" pitchFamily="18" charset="2"/>
              </a:rPr>
              <a:t>Available  </a:t>
            </a:r>
            <a:r>
              <a:rPr lang="en-US" altLang="en-US" b="1" dirty="0">
                <a:sym typeface="Symbol" panose="05050102010706020507" pitchFamily="18" charset="2"/>
              </a:rPr>
              <a:t>–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baseline="-25000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 </a:t>
            </a:r>
            <a:r>
              <a:rPr lang="en-US" altLang="en-US" b="1" i="1" dirty="0" err="1">
                <a:sym typeface="Symbol" panose="05050102010706020507" pitchFamily="18" charset="2"/>
              </a:rPr>
              <a:t>Allocation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+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b="1" dirty="0">
                <a:sym typeface="Symbol" panose="05050102010706020507" pitchFamily="18" charset="2"/>
              </a:rPr>
              <a:t>		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dirty="0">
                <a:sym typeface="Symbol" panose="05050102010706020507" pitchFamily="18" charset="2"/>
              </a:rPr>
              <a:t>=</a:t>
            </a:r>
            <a:r>
              <a:rPr lang="en-US" altLang="en-US" b="1" i="1" dirty="0">
                <a:sym typeface="Symbol" panose="05050102010706020507" pitchFamily="18" charset="2"/>
              </a:rPr>
              <a:t> </a:t>
            </a:r>
            <a:r>
              <a:rPr lang="en-US" altLang="en-US" b="1" i="1" dirty="0" err="1">
                <a:sym typeface="Symbol" panose="05050102010706020507" pitchFamily="18" charset="2"/>
              </a:rPr>
              <a:t>Need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dirty="0">
                <a:sym typeface="Symbol" panose="05050102010706020507" pitchFamily="18" charset="2"/>
              </a:rPr>
              <a:t> – </a:t>
            </a:r>
            <a:r>
              <a:rPr lang="en-US" altLang="en-US" b="1" i="1" dirty="0" err="1">
                <a:sym typeface="Symbol" panose="05050102010706020507" pitchFamily="18" charset="2"/>
              </a:rPr>
              <a:t>Request</a:t>
            </a:r>
            <a:r>
              <a:rPr lang="en-US" altLang="en-US" b="1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b="1" i="1" dirty="0">
                <a:sym typeface="Symbol" panose="05050102010706020507" pitchFamily="18" charset="2"/>
              </a:rPr>
              <a:t>;</a:t>
            </a:r>
          </a:p>
          <a:p>
            <a:pPr lvl="2">
              <a:buNone/>
            </a:pPr>
            <a:r>
              <a:rPr lang="en-US" altLang="en-US" b="1" i="1" dirty="0">
                <a:solidFill>
                  <a:srgbClr val="FF0000"/>
                </a:solidFill>
                <a:sym typeface="Symbol" panose="05050102010706020507" pitchFamily="18" charset="2"/>
              </a:rPr>
              <a:t>Applying Safety Algorithm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>
                <a:sym typeface="Symbol" panose="05050102010706020507" pitchFamily="18" charset="2"/>
              </a:rPr>
              <a:t>If safe  the resources are allocated to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dirty="0">
                <a:sym typeface="Symbol" panose="05050102010706020507" pitchFamily="18" charset="2"/>
              </a:rPr>
              <a:t>If unsafe  </a:t>
            </a:r>
            <a:r>
              <a:rPr lang="en-US" altLang="en-US" b="1" i="1" dirty="0">
                <a:sym typeface="Symbol" panose="05050102010706020507" pitchFamily="18" charset="2"/>
              </a:rPr>
              <a:t>P</a:t>
            </a:r>
            <a:r>
              <a:rPr lang="en-US" altLang="en-US" b="1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must wait, and the old resource-allocation state is restored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A5075C-F66A-458B-B776-8178C654B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54BA0F03-4AC9-4D2F-A633-6F329D8DF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6350" y="152401"/>
            <a:ext cx="766445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 of Banker</a:t>
            </a:r>
            <a:r>
              <a:rPr lang="ja-JP" altLang="en-US"/>
              <a:t>’</a:t>
            </a:r>
            <a:r>
              <a:rPr lang="en-US" altLang="ja-JP"/>
              <a:t>s Algorithm</a:t>
            </a:r>
            <a:endParaRPr lang="en-US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BC742C4-E0EA-4470-86BA-B3303FE91A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49269" y="969870"/>
            <a:ext cx="9093462" cy="5164599"/>
          </a:xfrm>
        </p:spPr>
        <p:txBody>
          <a:bodyPr>
            <a:normAutofit fontScale="92500" lnSpcReduction="10000"/>
          </a:bodyPr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5 processes </a:t>
            </a:r>
            <a:r>
              <a:rPr lang="en-US" altLang="en-US" i="1" dirty="0"/>
              <a:t>P</a:t>
            </a:r>
            <a:r>
              <a:rPr lang="en-US" altLang="en-US" baseline="-25000" dirty="0"/>
              <a:t>0  </a:t>
            </a:r>
            <a:r>
              <a:rPr lang="en-US" altLang="en-US" dirty="0"/>
              <a:t>through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; 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3 resource types: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              </a:t>
            </a:r>
            <a:r>
              <a:rPr lang="en-US" altLang="en-US" i="1" dirty="0"/>
              <a:t>A</a:t>
            </a:r>
            <a:r>
              <a:rPr lang="en-US" altLang="en-US" dirty="0"/>
              <a:t> (10 instances),  </a:t>
            </a:r>
            <a:r>
              <a:rPr lang="en-US" altLang="en-US" i="1" dirty="0"/>
              <a:t>B</a:t>
            </a:r>
            <a:r>
              <a:rPr lang="en-US" altLang="en-US" dirty="0"/>
              <a:t> (5instances), and </a:t>
            </a:r>
            <a:r>
              <a:rPr lang="en-US" altLang="en-US" i="1" dirty="0"/>
              <a:t>C</a:t>
            </a:r>
            <a:r>
              <a:rPr lang="en-US" altLang="en-US" dirty="0"/>
              <a:t> (7 instances)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Snapshot at time </a:t>
            </a:r>
            <a:r>
              <a:rPr lang="en-US" altLang="en-US" i="1" dirty="0"/>
              <a:t>T</a:t>
            </a:r>
            <a:r>
              <a:rPr lang="en-US" altLang="en-US" baseline="-25000" dirty="0"/>
              <a:t>0</a:t>
            </a:r>
            <a:r>
              <a:rPr lang="en-US" altLang="en-US" dirty="0"/>
              <a:t>: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</a:t>
            </a:r>
            <a:r>
              <a:rPr lang="en-US" altLang="en-US" i="1" u="sng" dirty="0"/>
              <a:t>Max</a:t>
            </a:r>
            <a:r>
              <a:rPr lang="en-US" altLang="en-US" i="1" dirty="0"/>
              <a:t>	       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 dirty="0"/>
              <a:t>			A B C	       A B C 	                  A B C    3   3  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0 1 0	         7 5 3 	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2 0 0 	        3 2 2  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3 0 2 	        9 0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2 1 1 	        2 2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0 0 2	         4 3 3  	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FE0402-6EC5-4A1E-B97E-99006C83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4C97722-A363-4334-B5D6-35EBD255E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5936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(Cont.)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A7EFA04E-1516-4324-9E63-302002F3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3709" y="1108868"/>
            <a:ext cx="8836532" cy="5105501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content of the matrix </a:t>
            </a:r>
            <a:r>
              <a:rPr lang="en-US" altLang="en-US" b="1" i="1" dirty="0"/>
              <a:t>Need</a:t>
            </a:r>
            <a:r>
              <a:rPr lang="en-US" altLang="en-US" dirty="0"/>
              <a:t> is defined to be </a:t>
            </a:r>
            <a:r>
              <a:rPr lang="en-US" altLang="en-US" b="1" i="1" dirty="0"/>
              <a:t>Max</a:t>
            </a:r>
            <a:r>
              <a:rPr lang="en-US" altLang="en-US" b="1" dirty="0"/>
              <a:t> – </a:t>
            </a:r>
            <a:r>
              <a:rPr lang="en-US" altLang="en-US" b="1" i="1" dirty="0"/>
              <a:t>Allocation</a:t>
            </a:r>
            <a:endParaRPr lang="en-US" altLang="en-US" b="1" dirty="0"/>
          </a:p>
          <a:p>
            <a:pPr>
              <a:buNone/>
              <a:tabLst>
                <a:tab pos="2452688" algn="l"/>
                <a:tab pos="3492500" algn="ctr"/>
              </a:tabLst>
            </a:pPr>
            <a:endParaRPr lang="en-US" altLang="en-US" dirty="0"/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u="sng" dirty="0"/>
              <a:t>Need</a:t>
            </a:r>
            <a:endParaRPr lang="en-US" altLang="en-US" u="sng" dirty="0"/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	</a:t>
            </a:r>
            <a:r>
              <a:rPr lang="en-US" altLang="en-US" i="1" dirty="0"/>
              <a:t>A B C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0	</a:t>
            </a:r>
            <a:r>
              <a:rPr lang="en-US" altLang="en-US" dirty="0"/>
              <a:t>7 4 3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1	</a:t>
            </a:r>
            <a:r>
              <a:rPr lang="en-US" altLang="en-US" dirty="0"/>
              <a:t>1 2 2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	6 0 0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	0 1 1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	4 3 1 </a:t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/>
              <a:t>The system is in a safe state since the sequence &lt;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3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4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2</a:t>
            </a:r>
            <a:r>
              <a:rPr lang="en-US" altLang="en-US" dirty="0"/>
              <a:t>, </a:t>
            </a:r>
            <a:r>
              <a:rPr lang="en-US" altLang="en-US" i="1" dirty="0"/>
              <a:t>P</a:t>
            </a:r>
            <a:r>
              <a:rPr lang="en-US" altLang="en-US" baseline="-25000" dirty="0"/>
              <a:t>0</a:t>
            </a:r>
            <a:r>
              <a:rPr lang="en-US" altLang="en-US" dirty="0"/>
              <a:t>&gt; satisfies safety criteria</a:t>
            </a:r>
            <a:endParaRPr lang="en-US" altLang="en-US" baseline="-25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926DC-4A70-451F-AF10-812EB50EC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3E60714-4D3A-4BED-B6C5-B67267EEE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4" y="214313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Example:  </a:t>
            </a:r>
            <a:r>
              <a:rPr lang="en-US" altLang="en-US" i="1"/>
              <a:t>P</a:t>
            </a:r>
            <a:r>
              <a:rPr lang="en-US" altLang="en-US" baseline="-25000"/>
              <a:t>1</a:t>
            </a:r>
            <a:r>
              <a:rPr lang="en-US" altLang="en-US"/>
              <a:t> Request (1,0,2)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43A587D9-0140-4E78-BDAE-5BE6BA3BE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3284" y="961270"/>
            <a:ext cx="8365431" cy="5235343"/>
          </a:xfrm>
        </p:spPr>
        <p:txBody>
          <a:bodyPr>
            <a:normAutofit/>
          </a:bodyPr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Check that Request </a:t>
            </a:r>
            <a:r>
              <a:rPr lang="en-US" altLang="en-US" dirty="0">
                <a:sym typeface="Symbol" panose="05050102010706020507" pitchFamily="18" charset="2"/>
              </a:rPr>
              <a:t> Available (that is, (1,0,2)  (3,3,2)  true</a:t>
            </a:r>
            <a:endParaRPr lang="en-US" altLang="en-US" i="1" dirty="0">
              <a:sym typeface="Symbol" panose="05050102010706020507" pitchFamily="18" charset="2"/>
            </a:endParaRP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&gt; satisfies safety requirement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025B0-0001-4980-A761-19049361F44C}"/>
              </a:ext>
            </a:extLst>
          </p:cNvPr>
          <p:cNvSpPr txBox="1"/>
          <p:nvPr/>
        </p:nvSpPr>
        <p:spPr>
          <a:xfrm>
            <a:off x="6500388" y="1765425"/>
            <a:ext cx="47078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  </a:t>
            </a:r>
            <a:r>
              <a:rPr lang="en-US" altLang="en-US" i="1" u="sng" dirty="0"/>
              <a:t>Need</a:t>
            </a:r>
            <a:r>
              <a:rPr lang="en-US" altLang="en-US" i="1" dirty="0"/>
              <a:t>	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       A B C	   A B C	                 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0     </a:t>
            </a:r>
            <a:r>
              <a:rPr lang="en-US" altLang="en-US" dirty="0"/>
              <a:t>0 1 0 	    7 4 3                  2 3 0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1    </a:t>
            </a:r>
            <a:r>
              <a:rPr lang="en-US" altLang="en-US" dirty="0"/>
              <a:t>3 0 2                  0 2 0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2    </a:t>
            </a:r>
            <a:r>
              <a:rPr lang="en-US" altLang="en-US" dirty="0"/>
              <a:t>3 0 2 	  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3    </a:t>
            </a:r>
            <a:r>
              <a:rPr lang="en-US" altLang="en-US" dirty="0"/>
              <a:t>2 1 1 	   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4    </a:t>
            </a:r>
            <a:r>
              <a:rPr lang="en-US" altLang="en-US" dirty="0"/>
              <a:t>0 0 2 	   4 3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62527-9B44-4569-9DBA-20C2B964E576}"/>
              </a:ext>
            </a:extLst>
          </p:cNvPr>
          <p:cNvSpPr txBox="1"/>
          <p:nvPr/>
        </p:nvSpPr>
        <p:spPr>
          <a:xfrm>
            <a:off x="1568382" y="1828799"/>
            <a:ext cx="43435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  </a:t>
            </a:r>
            <a:r>
              <a:rPr lang="en-US" altLang="en-US" i="1" u="sng" dirty="0"/>
              <a:t>Need</a:t>
            </a:r>
            <a:r>
              <a:rPr lang="en-US" altLang="en-US" i="1" dirty="0"/>
              <a:t>	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       A B C	   A B C	                 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0     </a:t>
            </a:r>
            <a:r>
              <a:rPr lang="en-US" altLang="en-US" dirty="0"/>
              <a:t>0 1 0 	    7 4 3                  3 3 2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1    </a:t>
            </a:r>
            <a:r>
              <a:rPr lang="en-US" altLang="en-US" dirty="0"/>
              <a:t>2 0  0                 1 2 2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2    </a:t>
            </a:r>
            <a:r>
              <a:rPr lang="en-US" altLang="en-US" dirty="0"/>
              <a:t>3 0 2 	  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3    </a:t>
            </a:r>
            <a:r>
              <a:rPr lang="en-US" altLang="en-US" dirty="0"/>
              <a:t>2 1 1 	   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4    </a:t>
            </a:r>
            <a:r>
              <a:rPr lang="en-US" altLang="en-US" dirty="0"/>
              <a:t>0 0 2 	   4 3 1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8B6E66C-2695-49B9-B334-16D8A3AD935D}"/>
              </a:ext>
            </a:extLst>
          </p:cNvPr>
          <p:cNvSpPr/>
          <p:nvPr/>
        </p:nvSpPr>
        <p:spPr>
          <a:xfrm>
            <a:off x="5809301" y="2602145"/>
            <a:ext cx="56735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818D71-5B40-4EF4-99FD-B0AB346B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249E-0F1F-4599-A93B-2C4B601DA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69743-5EFE-4E1B-B88E-651DB1785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sequence &lt;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r>
              <a:rPr lang="en-US" altLang="en-US" dirty="0"/>
              <a:t>&gt; satisfies safety requirement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05C18-F2D2-457E-A964-18C0FF7CA111}"/>
              </a:ext>
            </a:extLst>
          </p:cNvPr>
          <p:cNvSpPr txBox="1"/>
          <p:nvPr/>
        </p:nvSpPr>
        <p:spPr>
          <a:xfrm>
            <a:off x="3375448" y="2741969"/>
            <a:ext cx="47078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  </a:t>
            </a:r>
            <a:r>
              <a:rPr lang="en-US" altLang="en-US" i="1" u="sng" dirty="0"/>
              <a:t>Need</a:t>
            </a:r>
            <a:r>
              <a:rPr lang="en-US" altLang="en-US" i="1" dirty="0"/>
              <a:t>	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       A B C	   A B C	                 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0     </a:t>
            </a:r>
            <a:r>
              <a:rPr lang="en-US" altLang="en-US" dirty="0"/>
              <a:t>0 1 0 	    7 4 3                  2 3 0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1    </a:t>
            </a:r>
            <a:r>
              <a:rPr lang="en-US" altLang="en-US" dirty="0"/>
              <a:t>3 0 2                  0 2 0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2    </a:t>
            </a:r>
            <a:r>
              <a:rPr lang="en-US" altLang="en-US" dirty="0"/>
              <a:t>3 0 2 	  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3    </a:t>
            </a:r>
            <a:r>
              <a:rPr lang="en-US" altLang="en-US" dirty="0"/>
              <a:t>2 1 1 	   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4    </a:t>
            </a:r>
            <a:r>
              <a:rPr lang="en-US" altLang="en-US" dirty="0"/>
              <a:t>0 0 2 	   4 3 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3B93E-FBF4-420F-BA9C-3421835DDE33}"/>
              </a:ext>
            </a:extLst>
          </p:cNvPr>
          <p:cNvSpPr txBox="1"/>
          <p:nvPr/>
        </p:nvSpPr>
        <p:spPr>
          <a:xfrm>
            <a:off x="710213" y="3105834"/>
            <a:ext cx="2423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Safe state??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7A08E-5F54-4298-9162-E02432A03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24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249E-0F1F-4599-A93B-2C4B601DA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69743-5EFE-4E1B-B88E-651DB1785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6057"/>
            <a:ext cx="10515600" cy="5412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sz="4400" b="1" i="1" dirty="0"/>
              <a:t>P</a:t>
            </a:r>
            <a:r>
              <a:rPr lang="en-US" altLang="en-US" sz="4400" b="1" baseline="-25000" dirty="0"/>
              <a:t>1</a:t>
            </a:r>
            <a:r>
              <a:rPr lang="en-US" altLang="en-US" sz="4400" b="1" dirty="0"/>
              <a:t>,</a:t>
            </a:r>
            <a:r>
              <a:rPr lang="en-US" altLang="en-US" b="1" dirty="0"/>
              <a:t>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3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4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0</a:t>
            </a:r>
            <a:r>
              <a:rPr lang="en-US" altLang="en-US" b="1" dirty="0"/>
              <a:t>,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2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05C18-F2D2-457E-A964-18C0FF7CA111}"/>
              </a:ext>
            </a:extLst>
          </p:cNvPr>
          <p:cNvSpPr txBox="1"/>
          <p:nvPr/>
        </p:nvSpPr>
        <p:spPr>
          <a:xfrm>
            <a:off x="965206" y="2192550"/>
            <a:ext cx="42491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  </a:t>
            </a:r>
            <a:r>
              <a:rPr lang="en-US" altLang="en-US" i="1" u="sng" dirty="0"/>
              <a:t>Need</a:t>
            </a:r>
            <a:r>
              <a:rPr lang="en-US" altLang="en-US" i="1" dirty="0"/>
              <a:t>	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       A B C	   A B C	                 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0     </a:t>
            </a:r>
            <a:r>
              <a:rPr lang="en-US" altLang="en-US" dirty="0"/>
              <a:t>0 1 0 	    7 4 3                  2 3 0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1    </a:t>
            </a:r>
            <a:r>
              <a:rPr lang="en-US" altLang="en-US" dirty="0">
                <a:solidFill>
                  <a:srgbClr val="00B0F0"/>
                </a:solidFill>
              </a:rPr>
              <a:t>3 0 2                  </a:t>
            </a:r>
            <a:r>
              <a:rPr lang="en-US" altLang="en-US" dirty="0">
                <a:solidFill>
                  <a:srgbClr val="FF0000"/>
                </a:solidFill>
              </a:rPr>
              <a:t>0 2 0 </a:t>
            </a:r>
            <a:r>
              <a:rPr lang="en-US" altLang="en-US" dirty="0"/>
              <a:t>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2    </a:t>
            </a:r>
            <a:r>
              <a:rPr lang="en-US" altLang="en-US" dirty="0"/>
              <a:t>3 0 2 	  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3    </a:t>
            </a:r>
            <a:r>
              <a:rPr lang="en-US" altLang="en-US" dirty="0"/>
              <a:t>2 1 1 	   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4    </a:t>
            </a:r>
            <a:r>
              <a:rPr lang="en-US" altLang="en-US" dirty="0"/>
              <a:t>0 0 2 	   4 3 1 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70F367D-F0BA-499B-8EDC-9D66394B411D}"/>
              </a:ext>
            </a:extLst>
          </p:cNvPr>
          <p:cNvSpPr/>
          <p:nvPr/>
        </p:nvSpPr>
        <p:spPr>
          <a:xfrm>
            <a:off x="5440237" y="2965896"/>
            <a:ext cx="56735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DCE7C-3A16-4DF1-800C-E9BDDB108DEC}"/>
              </a:ext>
            </a:extLst>
          </p:cNvPr>
          <p:cNvSpPr txBox="1"/>
          <p:nvPr/>
        </p:nvSpPr>
        <p:spPr>
          <a:xfrm rot="20111872">
            <a:off x="3564385" y="2918320"/>
            <a:ext cx="448322" cy="375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F33397-BF45-46A9-BDC4-8662C1BCB8F7}"/>
              </a:ext>
            </a:extLst>
          </p:cNvPr>
          <p:cNvSpPr txBox="1"/>
          <p:nvPr/>
        </p:nvSpPr>
        <p:spPr>
          <a:xfrm>
            <a:off x="6611886" y="2192550"/>
            <a:ext cx="42491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  </a:t>
            </a:r>
            <a:r>
              <a:rPr lang="en-US" altLang="en-US" i="1" u="sng" dirty="0"/>
              <a:t>Need</a:t>
            </a:r>
            <a:r>
              <a:rPr lang="en-US" altLang="en-US" i="1" dirty="0"/>
              <a:t>	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       A B C	   A B C	                 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0     </a:t>
            </a:r>
            <a:r>
              <a:rPr lang="en-US" altLang="en-US" dirty="0"/>
              <a:t>0 1 0 	    7 4 3                  </a:t>
            </a:r>
            <a:r>
              <a:rPr lang="en-US" altLang="en-US" dirty="0">
                <a:solidFill>
                  <a:srgbClr val="00B0F0"/>
                </a:solidFill>
              </a:rPr>
              <a:t>5 3 2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strike="sngStrike" dirty="0"/>
              <a:t>P</a:t>
            </a:r>
            <a:r>
              <a:rPr lang="en-US" altLang="en-US" strike="sngStrike" baseline="-25000" dirty="0"/>
              <a:t>1    </a:t>
            </a:r>
            <a:r>
              <a:rPr lang="en-US" altLang="en-US" strike="sngStrike" dirty="0"/>
              <a:t>3 0 2                  </a:t>
            </a:r>
            <a:r>
              <a:rPr lang="en-US" altLang="en-US" strike="sngStrike" dirty="0">
                <a:solidFill>
                  <a:srgbClr val="FF0000"/>
                </a:solidFill>
              </a:rPr>
              <a:t>0 2 0 </a:t>
            </a:r>
            <a:r>
              <a:rPr lang="en-US" altLang="en-US" dirty="0"/>
              <a:t>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2    </a:t>
            </a:r>
            <a:r>
              <a:rPr lang="en-US" altLang="en-US" dirty="0"/>
              <a:t>3 0 2 	  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3    </a:t>
            </a:r>
            <a:r>
              <a:rPr lang="en-US" altLang="en-US" dirty="0"/>
              <a:t>2 1 1 	   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4    </a:t>
            </a:r>
            <a:r>
              <a:rPr lang="en-US" altLang="en-US" dirty="0"/>
              <a:t>0 0 2 	   4 3 1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9A01A05-4EAC-4927-B242-A09B7D7983EB}"/>
              </a:ext>
            </a:extLst>
          </p:cNvPr>
          <p:cNvCxnSpPr/>
          <p:nvPr/>
        </p:nvCxnSpPr>
        <p:spPr>
          <a:xfrm flipV="1">
            <a:off x="1988598" y="2965896"/>
            <a:ext cx="2082262" cy="242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8736715-05C3-4A85-A553-5CBAA2F279FD}"/>
              </a:ext>
            </a:extLst>
          </p:cNvPr>
          <p:cNvSpPr txBox="1"/>
          <p:nvPr/>
        </p:nvSpPr>
        <p:spPr>
          <a:xfrm>
            <a:off x="2297292" y="28423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7002B0-2C20-4BE7-A8BF-5293289853AC}"/>
              </a:ext>
            </a:extLst>
          </p:cNvPr>
          <p:cNvSpPr txBox="1"/>
          <p:nvPr/>
        </p:nvSpPr>
        <p:spPr>
          <a:xfrm>
            <a:off x="3506232" y="3694019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possibility besides </a:t>
            </a:r>
            <a:r>
              <a:rPr lang="en-US" altLang="en-US" b="1" i="1" dirty="0"/>
              <a:t>P</a:t>
            </a:r>
            <a:r>
              <a:rPr lang="en-US" altLang="en-US" b="1" baseline="-25000" dirty="0"/>
              <a:t>1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E093C-73B9-400B-8020-7F63EEF55B2D}"/>
              </a:ext>
            </a:extLst>
          </p:cNvPr>
          <p:cNvSpPr txBox="1"/>
          <p:nvPr/>
        </p:nvSpPr>
        <p:spPr>
          <a:xfrm>
            <a:off x="8291743" y="4359144"/>
            <a:ext cx="3270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Which processes can finish next?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A78AB-575F-4620-B984-68D31B33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30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3E60714-4D3A-4BED-B6C5-B67267EEE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4" y="214313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Example: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 Request (3,3,0)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43A587D9-0140-4E78-BDAE-5BE6BA3BE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3284" y="961270"/>
            <a:ext cx="8365431" cy="5235343"/>
          </a:xfrm>
        </p:spPr>
        <p:txBody>
          <a:bodyPr>
            <a:normAutofit/>
          </a:bodyPr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Check that Request </a:t>
            </a:r>
            <a:r>
              <a:rPr lang="en-US" altLang="en-US" dirty="0">
                <a:sym typeface="Symbol" panose="05050102010706020507" pitchFamily="18" charset="2"/>
              </a:rPr>
              <a:t> Available (that is, (3,3,0)  (3,3,2)  true</a:t>
            </a:r>
            <a:endParaRPr lang="en-US" altLang="en-US" i="1" dirty="0">
              <a:sym typeface="Symbol" panose="05050102010706020507" pitchFamily="18" charset="2"/>
            </a:endParaRP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…..</a:t>
            </a:r>
            <a:r>
              <a:rPr lang="en-US" altLang="en-US" dirty="0"/>
              <a:t>&gt; satisfies safety requirement?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025B0-0001-4980-A761-19049361F44C}"/>
              </a:ext>
            </a:extLst>
          </p:cNvPr>
          <p:cNvSpPr txBox="1"/>
          <p:nvPr/>
        </p:nvSpPr>
        <p:spPr>
          <a:xfrm>
            <a:off x="6500388" y="1765425"/>
            <a:ext cx="47078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  </a:t>
            </a:r>
            <a:r>
              <a:rPr lang="en-US" altLang="en-US" i="1" u="sng" dirty="0"/>
              <a:t>Need</a:t>
            </a:r>
            <a:r>
              <a:rPr lang="en-US" altLang="en-US" i="1" dirty="0"/>
              <a:t>	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       A B C	   A B C	                 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0     </a:t>
            </a:r>
            <a:r>
              <a:rPr lang="en-US" altLang="en-US" dirty="0"/>
              <a:t>0 1 0 	    7 4 3                  0 0 2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1    </a:t>
            </a:r>
            <a:r>
              <a:rPr lang="en-US" altLang="en-US" dirty="0"/>
              <a:t>3 0 2                  0 2 0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2    </a:t>
            </a:r>
            <a:r>
              <a:rPr lang="en-US" altLang="en-US" dirty="0"/>
              <a:t>3 0 2 	  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3    </a:t>
            </a:r>
            <a:r>
              <a:rPr lang="en-US" altLang="en-US" dirty="0"/>
              <a:t>2 1 1 	   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4  </a:t>
            </a:r>
            <a:r>
              <a:rPr lang="en-US" altLang="en-US" dirty="0"/>
              <a:t> 3  3 2 	   1 0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62527-9B44-4569-9DBA-20C2B964E576}"/>
              </a:ext>
            </a:extLst>
          </p:cNvPr>
          <p:cNvSpPr txBox="1"/>
          <p:nvPr/>
        </p:nvSpPr>
        <p:spPr>
          <a:xfrm>
            <a:off x="1568382" y="1828799"/>
            <a:ext cx="43435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  </a:t>
            </a:r>
            <a:r>
              <a:rPr lang="en-US" altLang="en-US" i="1" u="sng" dirty="0"/>
              <a:t>Need</a:t>
            </a:r>
            <a:r>
              <a:rPr lang="en-US" altLang="en-US" i="1" dirty="0"/>
              <a:t>	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       A B C	   A B C	                 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0     </a:t>
            </a:r>
            <a:r>
              <a:rPr lang="en-US" altLang="en-US" dirty="0"/>
              <a:t>0 1 0 	    7 4 3                  3 3 2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1    </a:t>
            </a:r>
            <a:r>
              <a:rPr lang="en-US" altLang="en-US" dirty="0"/>
              <a:t>2 0  0                 1 2 2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2    </a:t>
            </a:r>
            <a:r>
              <a:rPr lang="en-US" altLang="en-US" dirty="0"/>
              <a:t>3 0 2 	  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3    </a:t>
            </a:r>
            <a:r>
              <a:rPr lang="en-US" altLang="en-US" dirty="0"/>
              <a:t>2 1 1 	   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4    </a:t>
            </a:r>
            <a:r>
              <a:rPr lang="en-US" altLang="en-US" dirty="0"/>
              <a:t>0 0 2 	   4 3 1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8B6E66C-2695-49B9-B334-16D8A3AD935D}"/>
              </a:ext>
            </a:extLst>
          </p:cNvPr>
          <p:cNvSpPr/>
          <p:nvPr/>
        </p:nvSpPr>
        <p:spPr>
          <a:xfrm>
            <a:off x="5809301" y="2602145"/>
            <a:ext cx="56735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ction Button: Help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12C7666-FDFC-4AD6-9F26-4AB6FF88D64F}"/>
              </a:ext>
            </a:extLst>
          </p:cNvPr>
          <p:cNvSpPr/>
          <p:nvPr/>
        </p:nvSpPr>
        <p:spPr>
          <a:xfrm>
            <a:off x="5754974" y="1389034"/>
            <a:ext cx="1042416" cy="1042416"/>
          </a:xfrm>
          <a:prstGeom prst="actionButtonHel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C1567-3BC8-4986-9711-29F7F620ACE8}"/>
              </a:ext>
            </a:extLst>
          </p:cNvPr>
          <p:cNvSpPr txBox="1"/>
          <p:nvPr/>
        </p:nvSpPr>
        <p:spPr>
          <a:xfrm>
            <a:off x="8208822" y="4016130"/>
            <a:ext cx="12909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unsafe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729A34-55DC-4DB0-8385-DB7CCA96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57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3E60714-4D3A-4BED-B6C5-B67267EEE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4" y="214313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Example: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0</a:t>
            </a:r>
            <a:r>
              <a:rPr lang="en-US" altLang="en-US" dirty="0"/>
              <a:t> Request (0,2,0)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43A587D9-0140-4E78-BDAE-5BE6BA3BE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3284" y="961270"/>
            <a:ext cx="8365431" cy="5235343"/>
          </a:xfrm>
        </p:spPr>
        <p:txBody>
          <a:bodyPr>
            <a:normAutofit/>
          </a:bodyPr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Check that Request </a:t>
            </a:r>
            <a:r>
              <a:rPr lang="en-US" altLang="en-US" dirty="0">
                <a:sym typeface="Symbol" panose="05050102010706020507" pitchFamily="18" charset="2"/>
              </a:rPr>
              <a:t> Available (that is, (0,2,0)  (3,3,2)  true</a:t>
            </a:r>
            <a:endParaRPr lang="en-US" altLang="en-US" i="1" dirty="0">
              <a:sym typeface="Symbol" panose="05050102010706020507" pitchFamily="18" charset="2"/>
            </a:endParaRP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…..</a:t>
            </a:r>
            <a:r>
              <a:rPr lang="en-US" altLang="en-US" dirty="0"/>
              <a:t>&gt; satisfies safety requirement?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025B0-0001-4980-A761-19049361F44C}"/>
              </a:ext>
            </a:extLst>
          </p:cNvPr>
          <p:cNvSpPr txBox="1"/>
          <p:nvPr/>
        </p:nvSpPr>
        <p:spPr>
          <a:xfrm>
            <a:off x="6500388" y="1765425"/>
            <a:ext cx="47078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  </a:t>
            </a:r>
            <a:r>
              <a:rPr lang="en-US" altLang="en-US" i="1" u="sng" dirty="0"/>
              <a:t>Need</a:t>
            </a:r>
            <a:r>
              <a:rPr lang="en-US" altLang="en-US" i="1" dirty="0"/>
              <a:t>	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       A B C	   A B C	                 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0     </a:t>
            </a:r>
            <a:r>
              <a:rPr lang="en-US" altLang="en-US" dirty="0"/>
              <a:t>0 3 0 	    7 2 3                  3 1 2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1    </a:t>
            </a:r>
            <a:r>
              <a:rPr lang="en-US" altLang="en-US" dirty="0"/>
              <a:t> 2 0 0                  1 2 2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2    </a:t>
            </a:r>
            <a:r>
              <a:rPr lang="en-US" altLang="en-US" dirty="0"/>
              <a:t>3 0 2 	   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3    </a:t>
            </a:r>
            <a:r>
              <a:rPr lang="en-US" altLang="en-US" dirty="0"/>
              <a:t>2 1 1 	    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4    </a:t>
            </a:r>
            <a:r>
              <a:rPr lang="en-US" altLang="en-US" dirty="0"/>
              <a:t>0 0 2 	    4 3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62527-9B44-4569-9DBA-20C2B964E576}"/>
              </a:ext>
            </a:extLst>
          </p:cNvPr>
          <p:cNvSpPr txBox="1"/>
          <p:nvPr/>
        </p:nvSpPr>
        <p:spPr>
          <a:xfrm>
            <a:off x="1568382" y="1828799"/>
            <a:ext cx="43435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  </a:t>
            </a:r>
            <a:r>
              <a:rPr lang="en-US" altLang="en-US" i="1" u="sng" dirty="0"/>
              <a:t>Need</a:t>
            </a:r>
            <a:r>
              <a:rPr lang="en-US" altLang="en-US" i="1" dirty="0"/>
              <a:t>	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       A B C	   A B C	                 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0     </a:t>
            </a:r>
            <a:r>
              <a:rPr lang="en-US" altLang="en-US" dirty="0"/>
              <a:t>0 1 0 	    7 4 3                  3 3 2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1    </a:t>
            </a:r>
            <a:r>
              <a:rPr lang="en-US" altLang="en-US" dirty="0"/>
              <a:t>2 0  0                 1 2 2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2    </a:t>
            </a:r>
            <a:r>
              <a:rPr lang="en-US" altLang="en-US" dirty="0"/>
              <a:t>3 0 2 	  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3    </a:t>
            </a:r>
            <a:r>
              <a:rPr lang="en-US" altLang="en-US" dirty="0"/>
              <a:t>2 1 1 	   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4    </a:t>
            </a:r>
            <a:r>
              <a:rPr lang="en-US" altLang="en-US" dirty="0"/>
              <a:t>0 0 2 	   4 3 1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8B6E66C-2695-49B9-B334-16D8A3AD935D}"/>
              </a:ext>
            </a:extLst>
          </p:cNvPr>
          <p:cNvSpPr/>
          <p:nvPr/>
        </p:nvSpPr>
        <p:spPr>
          <a:xfrm>
            <a:off x="5809301" y="2602145"/>
            <a:ext cx="56735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ction Button: Help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12C7666-FDFC-4AD6-9F26-4AB6FF88D64F}"/>
              </a:ext>
            </a:extLst>
          </p:cNvPr>
          <p:cNvSpPr/>
          <p:nvPr/>
        </p:nvSpPr>
        <p:spPr>
          <a:xfrm>
            <a:off x="5754974" y="1389034"/>
            <a:ext cx="1042416" cy="1042416"/>
          </a:xfrm>
          <a:prstGeom prst="actionButtonHel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F05B96-8C76-4BF8-BA26-C9FECF6D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33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3E60714-4D3A-4BED-B6C5-B67267EEE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1564" y="214313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Example: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 Request (0,1,0)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43A587D9-0140-4E78-BDAE-5BE6BA3BE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13284" y="961270"/>
            <a:ext cx="8365431" cy="5235343"/>
          </a:xfrm>
        </p:spPr>
        <p:txBody>
          <a:bodyPr>
            <a:normAutofit/>
          </a:bodyPr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Check that Request </a:t>
            </a:r>
            <a:r>
              <a:rPr lang="en-US" altLang="en-US" dirty="0">
                <a:sym typeface="Symbol" panose="05050102010706020507" pitchFamily="18" charset="2"/>
              </a:rPr>
              <a:t> Available (that is, (0,1,0)  (3,3,2)  true</a:t>
            </a:r>
            <a:endParaRPr lang="en-US" altLang="en-US" i="1" dirty="0">
              <a:sym typeface="Symbol" panose="05050102010706020507" pitchFamily="18" charset="2"/>
            </a:endParaRP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		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/>
              <a:t>Executing safety algorithm shows that sequence &lt; </a:t>
            </a:r>
            <a:r>
              <a:rPr lang="en-US" altLang="en-US" b="1" i="1" dirty="0"/>
              <a:t>…..</a:t>
            </a:r>
            <a:r>
              <a:rPr lang="en-US" altLang="en-US" dirty="0"/>
              <a:t>&gt; satisfies safety requirement?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sz="800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025B0-0001-4980-A761-19049361F44C}"/>
              </a:ext>
            </a:extLst>
          </p:cNvPr>
          <p:cNvSpPr txBox="1"/>
          <p:nvPr/>
        </p:nvSpPr>
        <p:spPr>
          <a:xfrm>
            <a:off x="6500388" y="1765425"/>
            <a:ext cx="47078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  </a:t>
            </a:r>
            <a:r>
              <a:rPr lang="en-US" altLang="en-US" i="1" u="sng" dirty="0"/>
              <a:t>Need</a:t>
            </a:r>
            <a:r>
              <a:rPr lang="en-US" altLang="en-US" i="1" dirty="0"/>
              <a:t>	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       A B C	   A B C	                 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0     </a:t>
            </a:r>
            <a:r>
              <a:rPr lang="en-US" altLang="en-US" dirty="0"/>
              <a:t>0 1 0 	    7 4 3                  3 2  2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1     </a:t>
            </a:r>
            <a:r>
              <a:rPr lang="en-US" altLang="en-US" dirty="0"/>
              <a:t>2 0 0                  1 2  2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2    </a:t>
            </a:r>
            <a:r>
              <a:rPr lang="en-US" altLang="en-US" dirty="0"/>
              <a:t>3 0 2 	   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3    </a:t>
            </a:r>
            <a:r>
              <a:rPr lang="en-US" altLang="en-US" dirty="0"/>
              <a:t>2 2 1 	    0 0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4    </a:t>
            </a:r>
            <a:r>
              <a:rPr lang="en-US" altLang="en-US" dirty="0"/>
              <a:t>0 0 2 	</a:t>
            </a:r>
            <a:r>
              <a:rPr lang="en-US" altLang="en-US"/>
              <a:t>    4 </a:t>
            </a:r>
            <a:r>
              <a:rPr lang="en-US" altLang="en-US" dirty="0"/>
              <a:t>3 1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262527-9B44-4569-9DBA-20C2B964E576}"/>
              </a:ext>
            </a:extLst>
          </p:cNvPr>
          <p:cNvSpPr txBox="1"/>
          <p:nvPr/>
        </p:nvSpPr>
        <p:spPr>
          <a:xfrm>
            <a:off x="1568382" y="1828799"/>
            <a:ext cx="43435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en-US" altLang="en-US" i="1" u="sng" dirty="0"/>
              <a:t>Allocation</a:t>
            </a:r>
            <a:r>
              <a:rPr lang="en-US" altLang="en-US" i="1" dirty="0"/>
              <a:t>	    </a:t>
            </a:r>
            <a:r>
              <a:rPr lang="en-US" altLang="en-US" i="1" u="sng" dirty="0"/>
              <a:t>Need</a:t>
            </a:r>
            <a:r>
              <a:rPr lang="en-US" altLang="en-US" i="1" dirty="0"/>
              <a:t>	              </a:t>
            </a:r>
            <a:r>
              <a:rPr lang="en-US" altLang="en-US" i="1" u="sng" dirty="0"/>
              <a:t>Available</a:t>
            </a:r>
            <a:endParaRPr lang="en-US" altLang="en-US" i="1" dirty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       A B C	   A B C	                  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0     </a:t>
            </a:r>
            <a:r>
              <a:rPr lang="en-US" altLang="en-US" dirty="0"/>
              <a:t>0 1 0 	    7 4 3                  3 3 2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1    </a:t>
            </a:r>
            <a:r>
              <a:rPr lang="en-US" altLang="en-US" dirty="0"/>
              <a:t>2 0  0                 1 2 2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2    </a:t>
            </a:r>
            <a:r>
              <a:rPr lang="en-US" altLang="en-US" dirty="0"/>
              <a:t>3 0 2 	   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3    </a:t>
            </a:r>
            <a:r>
              <a:rPr lang="en-US" altLang="en-US" dirty="0"/>
              <a:t>2 1 1 	   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/>
              <a:t>P</a:t>
            </a:r>
            <a:r>
              <a:rPr lang="en-US" altLang="en-US" baseline="-25000" dirty="0"/>
              <a:t>4    </a:t>
            </a:r>
            <a:r>
              <a:rPr lang="en-US" altLang="en-US" dirty="0"/>
              <a:t>0 0 2 	   4 3 1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8B6E66C-2695-49B9-B334-16D8A3AD935D}"/>
              </a:ext>
            </a:extLst>
          </p:cNvPr>
          <p:cNvSpPr/>
          <p:nvPr/>
        </p:nvSpPr>
        <p:spPr>
          <a:xfrm>
            <a:off x="5809301" y="2602145"/>
            <a:ext cx="56735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ction Button: Help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912C7666-FDFC-4AD6-9F26-4AB6FF88D64F}"/>
              </a:ext>
            </a:extLst>
          </p:cNvPr>
          <p:cNvSpPr/>
          <p:nvPr/>
        </p:nvSpPr>
        <p:spPr>
          <a:xfrm>
            <a:off x="5754974" y="1389034"/>
            <a:ext cx="1042416" cy="1042416"/>
          </a:xfrm>
          <a:prstGeom prst="actionButtonHelp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AE4B0-0BBE-4C50-BD09-7454C3D0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9FBAE-4B4D-41A8-BCA7-323BD8290A0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32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2491</Words>
  <Application>Microsoft Office PowerPoint</Application>
  <PresentationFormat>Widescreen</PresentationFormat>
  <Paragraphs>313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9" baseType="lpstr">
      <vt:lpstr>MS PGothic</vt:lpstr>
      <vt:lpstr>游ゴシック</vt:lpstr>
      <vt:lpstr>游ゴシック Light</vt:lpstr>
      <vt:lpstr>Arial</vt:lpstr>
      <vt:lpstr>Calibri</vt:lpstr>
      <vt:lpstr>Calibri Light</vt:lpstr>
      <vt:lpstr>Courier New</vt:lpstr>
      <vt:lpstr>Helvetica</vt:lpstr>
      <vt:lpstr>Monotype Sorts</vt:lpstr>
      <vt:lpstr>Symbol</vt:lpstr>
      <vt:lpstr>Times New Roman</vt:lpstr>
      <vt:lpstr>Verdana</vt:lpstr>
      <vt:lpstr>Webdings</vt:lpstr>
      <vt:lpstr>Office Theme</vt:lpstr>
      <vt:lpstr>Deadlocks Lesson 1 Prevention &amp; Avoidance</vt:lpstr>
      <vt:lpstr>Learning Outcomes</vt:lpstr>
      <vt:lpstr>FOUR (4) Methods for Handling Deadlocks</vt:lpstr>
      <vt:lpstr>Deadlock Prevention</vt:lpstr>
      <vt:lpstr>Circular Wait  -- Practical</vt:lpstr>
      <vt:lpstr>Deadlock Avoidance</vt:lpstr>
      <vt:lpstr>Safe State</vt:lpstr>
      <vt:lpstr>Basic Facts</vt:lpstr>
      <vt:lpstr>Avoidance Algorithms</vt:lpstr>
      <vt:lpstr>Resource-Allocation Graph Scheme For Single Instance of Each Resource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(Cont.)</vt:lpstr>
      <vt:lpstr>Example:  P1 Request (1,0,2)</vt:lpstr>
      <vt:lpstr>Safety Algorithm</vt:lpstr>
      <vt:lpstr>Safety Algorithm</vt:lpstr>
      <vt:lpstr>Example:  P4 Request (3,3,0)</vt:lpstr>
      <vt:lpstr>Example:  P0 Request (0,2,0)</vt:lpstr>
      <vt:lpstr>Example:  P3 Request (0,1,0)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Deadlocks Lesson 1 Introduction</dc:title>
  <dc:creator>David Liu</dc:creator>
  <cp:lastModifiedBy>David Liu</cp:lastModifiedBy>
  <cp:revision>43</cp:revision>
  <dcterms:created xsi:type="dcterms:W3CDTF">2021-11-07T22:07:40Z</dcterms:created>
  <dcterms:modified xsi:type="dcterms:W3CDTF">2023-03-21T16:42:46Z</dcterms:modified>
</cp:coreProperties>
</file>