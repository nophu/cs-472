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337" r:id="rId6"/>
    <p:sldId id="381" r:id="rId7"/>
    <p:sldId id="340" r:id="rId8"/>
    <p:sldId id="341" r:id="rId9"/>
    <p:sldId id="34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A7F0-075E-4F20-A6AB-4CE647ACFEE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352BE-B1F5-411E-BD7A-4DCE102AA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505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9A753E00-63D8-4FE1-B1D7-6BDD0CA38A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C351BE7-F89B-448B-9372-D4546B66058D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1B97F8CB-239C-4B15-9C09-FE09521E5B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1749F8AF-E5A6-428D-8289-A7D859702B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2DA161C9-DDCA-48B4-A01C-49C452F554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C81A9DE-F342-403B-ADAF-52AE0EA6A18F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C955E52F-ADFF-4261-8096-6FC075241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13865826-5B57-45ED-B73D-092270489F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DC1E7552-E70D-4CB9-904B-50B0C28F72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ABB1B1-13B2-444F-9887-E63EF3E93C35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2CD3FBC1-7BAB-4259-89C4-0E306AB57C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546E8DEE-7EAA-4BCC-B7F1-F941FF3A20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84E5F07B-7417-41B9-8E3B-B39E972BB6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76F84FE-CCA7-49E8-A42C-A4DC75A96C65}" type="slidenum">
              <a:rPr lang="en-US" altLang="en-US" smtClean="0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5908DC8E-949E-4F1D-9C8F-F735FD0333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ED722BD9-3CD7-411F-A4BD-67DB43B72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AE2AB-7BC5-45FF-84AE-98D97920B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DAF305-4273-4512-896C-E37E2C776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80FCC-8615-4BE0-AB91-36CF1A948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D63E-B749-477E-BAB2-11055769FB64}" type="datetime1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AD9E8-F24D-47C0-8215-057CD9E9D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6AE04-FDA2-44AF-AF21-0E61B778A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33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C2248-D807-44C7-8FB6-FA4741246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EE0EB-280A-4551-8BD0-36BB0DE55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D2F16-43EA-4FAA-9D10-C877F5968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F5998-DBB6-48F7-A726-16693AA7AFBC}" type="datetime1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BF97B-7C87-4A8E-B650-0B849A788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A90B3-B72C-40C8-8448-E65D2B2D3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33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0A4B6-13EF-4C68-B7BF-3EAEF0DF4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37DE2-087E-4594-AB42-281F7727C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A0492-858F-496B-8D43-94370F61E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8683-5A48-4E68-B248-04872263E81E}" type="datetime1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C321E-476F-4907-B23E-D27CDF76D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6F033-F723-42C1-A572-4AF637070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275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66161-0F57-40A7-A6BE-9B8B52E36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4F738-FBDC-4EAC-9F13-7CA1E1ED3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449E7-D09F-44CD-854E-6889B8856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6E562-0629-448F-BEA5-4CE5E9A1A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576C-68A1-4B81-87CB-7C6E142FB545}" type="datetime1">
              <a:rPr lang="en-US" smtClean="0"/>
              <a:t>3/22/2022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987DF-F92C-4CF9-9842-680E23D4A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52C5C-DDD7-42BF-B063-F882C5565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21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B048A-056A-44C4-BAB1-89B811CD8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525A7-62CF-4728-83CA-C8ACDEC1A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53288-9669-47DC-8D39-D21350BCD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B4DB97-F1EF-4896-851D-45B87EE936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52714-CC91-4D78-B1B2-993035BDF3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FA5FDD-650F-48E8-AA98-27F01B4DB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0A2E-E940-4952-8957-330C28DAB58D}" type="datetime1">
              <a:rPr lang="en-US" smtClean="0"/>
              <a:t>3/22/2022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53F45D-17BE-44C0-A7F1-FA985AE46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FCBCBD-2491-4812-AD0D-5DC6C1D31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154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15823-9D6C-49E1-A0EE-EDDEA2165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033CD-93A6-46CB-8F7E-09BCA3055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7132-E0F8-42EB-BF07-58FBA185DAC8}" type="datetime1">
              <a:rPr lang="en-US" smtClean="0"/>
              <a:t>3/22/2022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CD12B8-09D4-438F-B8B9-FE945AB65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3036EE-B0EB-44C3-8BBC-BF01795F4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94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142CE4-09A1-4F78-A50D-E5F24EB65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3DF7A-4E27-4F7D-A8B5-1D69B0AB60AC}" type="datetime1">
              <a:rPr lang="en-US" smtClean="0"/>
              <a:t>3/22/2022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E89EE-E25E-4BD3-AA04-0A71DFA50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A6AF8-1F06-4358-86A1-154FFA4C9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28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96F1F-49B0-4529-9DD4-10E1C0237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7A966-B102-4BE4-800F-5AD65EC65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CD54AE-0F66-4C2F-9EC3-42DA14355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98F08-9AE1-4063-A80A-F5D301A94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A2090-AC33-442C-A789-E55EFAE0F7F6}" type="datetime1">
              <a:rPr lang="en-US" smtClean="0"/>
              <a:t>3/22/2022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5E2B8-349A-4F63-9B4B-32F4B2BCC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2371C-7AD3-4D66-B4B5-00C96BB8D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84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2E751-7AF6-493C-A89C-0379DF604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37FAF-489C-41A1-9092-08133AE46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80BFF-9D43-44CD-87E5-E03119AEB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D4F64-8F02-448F-85C0-9C9FDAE5F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21F8E-ED33-4E0F-B297-736198871CB4}" type="datetime1">
              <a:rPr lang="en-US" smtClean="0"/>
              <a:t>3/22/2022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56685-A6CB-42AB-A60B-FECD10BCC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DBB3B-6C50-4E0E-B97D-247626F21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683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0ACAA-1075-41C4-B0AB-AD7555353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4FC88F-4766-4657-87D1-77D0E280A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D3C14-7AE5-4C0F-BB5F-CE61E7DB4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05DB2-1394-4B60-A99A-8A8ADD55DD07}" type="datetime1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20889-AF68-45F6-9B2E-7D7CE7CA8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9BD24-82A5-4872-A827-0D66E7C0C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25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F19778-2989-494E-9D94-640E2B430A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E99BF7-ED34-49F6-A643-BE12D00C6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C1C68-55E7-4212-8C3B-52D8C213C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756D-1D70-437A-82AA-E03A867BF1A6}" type="datetime1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0BA38-F516-449F-9464-38672D70C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AA1A4-3E8F-4684-8803-743F0985E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934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2199AF-CFF7-44E7-B719-D328A068A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7954D-F0EA-48F3-ABAA-47158D035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19DD7-C4E2-47E1-A3B1-376FE19384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A0D2A-9D53-4359-90EE-3E9189295D19}" type="datetime1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0DDA6-63C2-421C-917B-84A8381B8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1BE65-2024-4BF2-84EC-C4C98CA24F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9FBAE-4B4D-41A8-BCA7-323BD8290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430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E1D3A-859B-47D7-9EDF-2B46EF3F80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Deadlocks</a:t>
            </a:r>
            <a:br>
              <a:rPr lang="en-US" dirty="0"/>
            </a:br>
            <a:r>
              <a:rPr lang="en-US" dirty="0"/>
              <a:t>Lesson 1</a:t>
            </a:r>
            <a:br>
              <a:rPr lang="en-US" dirty="0"/>
            </a:br>
            <a:r>
              <a:rPr lang="en-US" dirty="0"/>
              <a:t>Prevention </a:t>
            </a:r>
            <a:r>
              <a:rPr lang="en-US"/>
              <a:t>&amp; Avoidance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A889BD-55E7-467E-B448-DB24EC4048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B11B4-339A-4032-9F0C-13630B349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081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4BEB7-1DF1-4D73-8D2D-22C5ADEB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88DFF-4A9F-417F-9C79-2F1B6E767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Illustrate how deadlock can occur when mutex locks are used</a:t>
            </a:r>
          </a:p>
          <a:p>
            <a:r>
              <a:rPr lang="en-US" altLang="en-US" dirty="0"/>
              <a:t>Define the four necessary conditions that characterize deadlock</a:t>
            </a:r>
          </a:p>
          <a:p>
            <a:r>
              <a:rPr lang="en-US" altLang="en-US" dirty="0"/>
              <a:t>Identify a deadlock situation in a resource allocation graph</a:t>
            </a:r>
          </a:p>
          <a:p>
            <a:r>
              <a:rPr lang="en-US" altLang="en-US" dirty="0"/>
              <a:t>Evaluate the four different approaches for preventing deadlocks</a:t>
            </a:r>
          </a:p>
          <a:p>
            <a:r>
              <a:rPr lang="en-US" altLang="en-US" dirty="0"/>
              <a:t>Apply the banker’s algorithm for deadlock avoidance</a:t>
            </a:r>
          </a:p>
          <a:p>
            <a:r>
              <a:rPr lang="en-US" altLang="en-US" dirty="0"/>
              <a:t>Apply the deadlock detection algorithm</a:t>
            </a:r>
          </a:p>
          <a:p>
            <a:r>
              <a:rPr lang="en-US" altLang="en-US" dirty="0"/>
              <a:t>Evaluate approaches for recovering from deadlock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07F44-D002-4EA3-9A29-34831B682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0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34DD0-1B1E-4598-9991-F3FFCF07A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217" y="155805"/>
            <a:ext cx="8603255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Deadlock in Multithreaded Application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D9D6A8C2-8CBD-41BA-98DB-97E837FE25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5111" y="705080"/>
            <a:ext cx="4712813" cy="596171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29ECD0-0276-48EE-AB07-FE5022C12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267" y="2328047"/>
            <a:ext cx="5755123" cy="25544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342E10-369F-4568-824A-3B46B4DF840B}"/>
              </a:ext>
            </a:extLst>
          </p:cNvPr>
          <p:cNvSpPr txBox="1"/>
          <p:nvPr/>
        </p:nvSpPr>
        <p:spPr>
          <a:xfrm>
            <a:off x="7645706" y="1254355"/>
            <a:ext cx="2605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Resource allocation graph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E91726A-B950-426D-808A-D2E77BD0305F}"/>
              </a:ext>
            </a:extLst>
          </p:cNvPr>
          <p:cNvSpPr/>
          <p:nvPr/>
        </p:nvSpPr>
        <p:spPr>
          <a:xfrm>
            <a:off x="785706" y="1623687"/>
            <a:ext cx="794520" cy="2840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353BEE5-1C51-4168-84D1-8F1444EFE7D0}"/>
              </a:ext>
            </a:extLst>
          </p:cNvPr>
          <p:cNvSpPr/>
          <p:nvPr/>
        </p:nvSpPr>
        <p:spPr>
          <a:xfrm>
            <a:off x="785706" y="4588602"/>
            <a:ext cx="794520" cy="2840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41EB85-0803-4D6E-A55D-9F11B158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580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436A-E573-49FB-8A16-DAD2D4DB1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D9E17-4714-430B-8DF9-6A291007D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065" y="2034945"/>
            <a:ext cx="10515600" cy="4351338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Mutual exclusion</a:t>
            </a:r>
            <a:r>
              <a:rPr lang="en-US" altLang="en-US" b="1" dirty="0"/>
              <a:t>:</a:t>
            </a:r>
            <a:r>
              <a:rPr lang="en-US" altLang="en-US" dirty="0"/>
              <a:t>  only one process at a time can use a resource</a:t>
            </a:r>
            <a:endParaRPr lang="en-US" altLang="en-US" sz="1050" dirty="0"/>
          </a:p>
          <a:p>
            <a:r>
              <a:rPr lang="en-US" altLang="en-US" b="1" dirty="0">
                <a:solidFill>
                  <a:srgbClr val="3366FF"/>
                </a:solidFill>
              </a:rPr>
              <a:t>Hold and wait</a:t>
            </a:r>
            <a:r>
              <a:rPr lang="en-US" altLang="en-US" b="1" dirty="0"/>
              <a:t>:</a:t>
            </a:r>
            <a:r>
              <a:rPr lang="en-US" altLang="en-US" dirty="0"/>
              <a:t>  a process holding at least one resource is waiting to acquire additional resources held by other processes</a:t>
            </a:r>
            <a:endParaRPr lang="en-US" altLang="en-US" sz="1050" dirty="0"/>
          </a:p>
          <a:p>
            <a:r>
              <a:rPr lang="en-US" altLang="en-US" b="1" dirty="0">
                <a:solidFill>
                  <a:srgbClr val="3366FF"/>
                </a:solidFill>
              </a:rPr>
              <a:t>No preemption</a:t>
            </a:r>
            <a:r>
              <a:rPr lang="en-US" altLang="en-US" b="1" dirty="0"/>
              <a:t>:</a:t>
            </a:r>
            <a:r>
              <a:rPr lang="en-US" altLang="en-US" dirty="0"/>
              <a:t>  a resource can be released only voluntarily by the process holding it, after that process has completed its task</a:t>
            </a:r>
            <a:endParaRPr lang="en-US" altLang="en-US" sz="1050" dirty="0"/>
          </a:p>
          <a:p>
            <a:r>
              <a:rPr lang="en-US" altLang="en-US" b="1" dirty="0">
                <a:solidFill>
                  <a:srgbClr val="3366FF"/>
                </a:solidFill>
              </a:rPr>
              <a:t>Circular wait</a:t>
            </a:r>
            <a:r>
              <a:rPr lang="en-US" altLang="en-US" b="1" dirty="0"/>
              <a:t>:</a:t>
            </a:r>
            <a:r>
              <a:rPr lang="en-US" altLang="en-US" dirty="0"/>
              <a:t>  there exists a set {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…, </a:t>
            </a:r>
            <a:r>
              <a:rPr lang="en-US" altLang="en-US" i="1" dirty="0" err="1"/>
              <a:t>P</a:t>
            </a:r>
            <a:r>
              <a:rPr lang="en-US" altLang="en-US" baseline="-25000" dirty="0" err="1"/>
              <a:t>n</a:t>
            </a:r>
            <a:r>
              <a:rPr lang="en-US" altLang="en-US" dirty="0"/>
              <a:t>} of waiting processes such that </a:t>
            </a:r>
            <a:r>
              <a:rPr lang="en-US" altLang="en-US" i="1" dirty="0"/>
              <a:t>P</a:t>
            </a:r>
            <a:r>
              <a:rPr lang="en-US" altLang="en-US" baseline="-25000" dirty="0"/>
              <a:t>0 </a:t>
            </a:r>
            <a:r>
              <a:rPr lang="en-US" altLang="en-US" dirty="0"/>
              <a:t>is waiting for a resource that is held by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 is waiting for a resource that is held by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baseline="-25000" dirty="0"/>
              <a:t>–1</a:t>
            </a:r>
            <a:r>
              <a:rPr lang="en-US" altLang="en-US" dirty="0"/>
              <a:t> is waiting for a resource that is held by </a:t>
            </a:r>
            <a:r>
              <a:rPr lang="en-US" altLang="en-US" i="1" dirty="0" err="1"/>
              <a:t>P</a:t>
            </a:r>
            <a:r>
              <a:rPr lang="en-US" altLang="en-US" baseline="-25000" dirty="0" err="1"/>
              <a:t>n</a:t>
            </a:r>
            <a:r>
              <a:rPr lang="en-US" altLang="en-US" dirty="0"/>
              <a:t>, and </a:t>
            </a:r>
            <a:r>
              <a:rPr lang="en-US" altLang="en-US" i="1" dirty="0" err="1"/>
              <a:t>P</a:t>
            </a:r>
            <a:r>
              <a:rPr lang="en-US" altLang="en-US" baseline="-25000" dirty="0" err="1"/>
              <a:t>n</a:t>
            </a:r>
            <a:r>
              <a:rPr lang="en-US" altLang="en-US" dirty="0"/>
              <a:t> is waiting for a resource that is held by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.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C68CE9B6-4715-4EE5-AF45-44F17248D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374746"/>
            <a:ext cx="63531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Deadlock can arise if </a:t>
            </a:r>
            <a:r>
              <a:rPr kumimoji="0" lang="en-US" altLang="en-US" dirty="0">
                <a:solidFill>
                  <a:srgbClr val="FF0000"/>
                </a:solidFill>
              </a:rPr>
              <a:t>four</a:t>
            </a:r>
            <a:r>
              <a:rPr kumimoji="0" lang="en-US" altLang="en-US" dirty="0"/>
              <a:t> conditions hold </a:t>
            </a:r>
            <a:r>
              <a:rPr kumimoji="0" lang="en-US" altLang="en-US" sz="2000" dirty="0">
                <a:solidFill>
                  <a:srgbClr val="FF0000"/>
                </a:solidFill>
              </a:rPr>
              <a:t>simultaneously</a:t>
            </a:r>
            <a:r>
              <a:rPr kumimoji="0" lang="en-US" alt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E74FB4-631D-48F0-9389-053685DD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83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E760E19-9D36-4E42-A183-0C25821B76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27300" y="166688"/>
            <a:ext cx="7683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Resource-Allocation Graph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9878F9C-2906-46C4-AABA-3BA38BAAFF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44058" y="1724026"/>
            <a:ext cx="9683826" cy="4786943"/>
          </a:xfrm>
        </p:spPr>
        <p:txBody>
          <a:bodyPr/>
          <a:lstStyle/>
          <a:p>
            <a:r>
              <a:rPr lang="en-US" altLang="en-US" dirty="0"/>
              <a:t>V is partitioned into two types:</a:t>
            </a:r>
          </a:p>
          <a:p>
            <a:pPr lvl="1"/>
            <a:r>
              <a:rPr lang="en-US" altLang="en-US" i="1" dirty="0"/>
              <a:t>P</a:t>
            </a:r>
            <a:r>
              <a:rPr lang="en-US" altLang="en-US" dirty="0"/>
              <a:t> = {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dirty="0"/>
              <a:t>}, the set consisting of all the processes in the system</a:t>
            </a:r>
            <a:br>
              <a:rPr lang="en-US" altLang="en-US" dirty="0"/>
            </a:br>
            <a:endParaRPr lang="en-US" altLang="en-US" dirty="0"/>
          </a:p>
          <a:p>
            <a:pPr lvl="1"/>
            <a:r>
              <a:rPr lang="en-US" altLang="en-US" i="1" dirty="0"/>
              <a:t>R</a:t>
            </a:r>
            <a:r>
              <a:rPr lang="en-US" altLang="en-US" dirty="0"/>
              <a:t> = {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m</a:t>
            </a:r>
            <a:r>
              <a:rPr lang="en-US" altLang="en-US" dirty="0"/>
              <a:t>}, the set consisting of all resource types in the system</a:t>
            </a:r>
          </a:p>
          <a:p>
            <a:pPr lvl="1"/>
            <a:endParaRPr lang="en-US" altLang="en-US" sz="900" dirty="0"/>
          </a:p>
          <a:p>
            <a:pPr lvl="1"/>
            <a:endParaRPr lang="en-US" altLang="en-US" sz="900" dirty="0"/>
          </a:p>
          <a:p>
            <a:r>
              <a:rPr lang="en-US" altLang="en-US" b="1" dirty="0">
                <a:solidFill>
                  <a:srgbClr val="3366FF"/>
                </a:solidFill>
              </a:rPr>
              <a:t>request edge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directed edge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endParaRPr lang="en-US" altLang="en-US" i="1" baseline="-25000" dirty="0">
              <a:sym typeface="Symbol" panose="05050102010706020507" pitchFamily="18" charset="2"/>
            </a:endParaRPr>
          </a:p>
          <a:p>
            <a:endParaRPr lang="en-US" altLang="en-US" sz="800" i="1" baseline="-25000" dirty="0">
              <a:sym typeface="Symbol" panose="05050102010706020507" pitchFamily="18" charset="2"/>
            </a:endParaRPr>
          </a:p>
          <a:p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assignment edge</a:t>
            </a:r>
            <a:r>
              <a:rPr lang="en-US" altLang="en-US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/>
              <a:t>– directed edge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45626AE0-CB58-4BE4-B8BE-70941D6FA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058" y="1079060"/>
            <a:ext cx="4692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A set of vertices </a:t>
            </a:r>
            <a:r>
              <a:rPr kumimoji="0" lang="en-US" altLang="en-US" sz="2000" i="1" dirty="0"/>
              <a:t>V</a:t>
            </a:r>
            <a:r>
              <a:rPr kumimoji="0" lang="en-US" altLang="en-US" sz="2000" dirty="0"/>
              <a:t> and a set of edges </a:t>
            </a:r>
            <a:r>
              <a:rPr kumimoji="0" lang="en-US" altLang="en-US" sz="2000" i="1" dirty="0"/>
              <a:t>E</a:t>
            </a:r>
            <a:r>
              <a:rPr kumimoji="0" lang="en-US" altLang="en-US" sz="2000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E3B56F-6374-4795-9B06-B02CADC3D66C}"/>
              </a:ext>
            </a:extLst>
          </p:cNvPr>
          <p:cNvSpPr txBox="1"/>
          <p:nvPr/>
        </p:nvSpPr>
        <p:spPr>
          <a:xfrm>
            <a:off x="4186409" y="3244334"/>
            <a:ext cx="4708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2">
              <a:buFont typeface="Webdings" panose="05030102010509060703" pitchFamily="18" charset="2"/>
              <a:buNone/>
            </a:pPr>
            <a:r>
              <a:rPr lang="en-US" altLang="en-US" i="1" dirty="0"/>
              <a:t>CPU cycles, memory space, I/O devices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D67514-654F-4433-ABAD-64E93BF8E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86666131-BF30-4CC4-8855-904BBEF14E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Resource Allocation Graph Example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BA6C8322-3859-4CC3-9783-395A9CFF24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11290" y="1366654"/>
            <a:ext cx="4524375" cy="4530725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One instance of R1</a:t>
            </a:r>
          </a:p>
          <a:p>
            <a:r>
              <a:rPr lang="en-US" altLang="en-US" dirty="0"/>
              <a:t>Two instances of R2</a:t>
            </a:r>
          </a:p>
          <a:p>
            <a:r>
              <a:rPr lang="en-US" altLang="en-US" dirty="0"/>
              <a:t>One instance of R3</a:t>
            </a:r>
          </a:p>
          <a:p>
            <a:r>
              <a:rPr lang="en-US" altLang="en-US" dirty="0"/>
              <a:t>Three instance of R4</a:t>
            </a:r>
          </a:p>
          <a:p>
            <a:r>
              <a:rPr lang="en-US" altLang="en-US" dirty="0"/>
              <a:t>T1 holds one instance of R2 and is waiting for an instance of R1</a:t>
            </a:r>
          </a:p>
          <a:p>
            <a:r>
              <a:rPr lang="en-US" altLang="en-US" dirty="0"/>
              <a:t>T2 holds one instance of R1, one instance of R2, and is waiting for an instance of R3</a:t>
            </a:r>
          </a:p>
          <a:p>
            <a:r>
              <a:rPr lang="en-US" altLang="en-US" dirty="0"/>
              <a:t>T3 is holds one instance of R3</a:t>
            </a:r>
          </a:p>
        </p:txBody>
      </p:sp>
      <p:pic>
        <p:nvPicPr>
          <p:cNvPr id="20484" name="Picture 3">
            <a:extLst>
              <a:ext uri="{FF2B5EF4-FFF2-40B4-BE49-F238E27FC236}">
                <a16:creationId xmlns:a16="http://schemas.microsoft.com/office/drawing/2014/main" id="{DCF3A8DB-8F9C-40F0-B11A-3BABDC354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6207" y="2188438"/>
            <a:ext cx="2747345" cy="4064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F337666-0C27-48C7-B5F7-D10CD390A47F}"/>
              </a:ext>
            </a:extLst>
          </p:cNvPr>
          <p:cNvSpPr/>
          <p:nvPr/>
        </p:nvSpPr>
        <p:spPr>
          <a:xfrm>
            <a:off x="5781972" y="1401658"/>
            <a:ext cx="49244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request edge – directed edge Pi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</a:t>
            </a:r>
            <a:r>
              <a:rPr lang="en-US" dirty="0" err="1"/>
              <a:t>Rj</a:t>
            </a:r>
            <a:endParaRPr lang="en-US" dirty="0"/>
          </a:p>
          <a:p>
            <a:r>
              <a:rPr lang="en-US" dirty="0"/>
              <a:t>assignment edge – directed edge </a:t>
            </a:r>
            <a:r>
              <a:rPr lang="en-US" dirty="0" err="1"/>
              <a:t>Rj</a:t>
            </a:r>
            <a:r>
              <a:rPr 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Pi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94FD9B-8F3F-4213-8758-52D886E42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5EC87CB-C9E7-41AF-841F-C988556017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7464" y="273050"/>
            <a:ext cx="8378825" cy="4699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/>
              <a:t>Resource Allocation Graph With A Deadlock</a:t>
            </a:r>
          </a:p>
        </p:txBody>
      </p:sp>
      <p:pic>
        <p:nvPicPr>
          <p:cNvPr id="21507" name="Picture 1">
            <a:extLst>
              <a:ext uri="{FF2B5EF4-FFF2-40B4-BE49-F238E27FC236}">
                <a16:creationId xmlns:a16="http://schemas.microsoft.com/office/drawing/2014/main" id="{E6C658FA-0B5B-42B2-9DA5-FFF67BC849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346" y="1106780"/>
            <a:ext cx="3354388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DBFC31F-A461-4816-8227-CE04EEF3D1F8}"/>
              </a:ext>
            </a:extLst>
          </p:cNvPr>
          <p:cNvSpPr/>
          <p:nvPr/>
        </p:nvSpPr>
        <p:spPr>
          <a:xfrm>
            <a:off x="6270244" y="783614"/>
            <a:ext cx="49244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request edge – directed edge Pi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</a:t>
            </a:r>
            <a:r>
              <a:rPr lang="en-US" dirty="0" err="1"/>
              <a:t>Rj</a:t>
            </a:r>
            <a:endParaRPr lang="en-US" dirty="0"/>
          </a:p>
          <a:p>
            <a:r>
              <a:rPr lang="en-US" dirty="0"/>
              <a:t>assignment edge – directed edge </a:t>
            </a:r>
            <a:r>
              <a:rPr lang="en-US" dirty="0" err="1"/>
              <a:t>Rj</a:t>
            </a:r>
            <a:r>
              <a:rPr 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Pi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E21D56-D173-4C34-B6F3-88BC4E949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7F9E56E-4426-43DC-BEA7-D971BF3CA1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65426" y="304800"/>
            <a:ext cx="7954963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Graph With A Cycle But No Deadlock</a:t>
            </a:r>
          </a:p>
        </p:txBody>
      </p:sp>
      <p:pic>
        <p:nvPicPr>
          <p:cNvPr id="23555" name="Picture 1">
            <a:extLst>
              <a:ext uri="{FF2B5EF4-FFF2-40B4-BE49-F238E27FC236}">
                <a16:creationId xmlns:a16="http://schemas.microsoft.com/office/drawing/2014/main" id="{6FAE9019-3CCD-47FC-B247-3288860553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980" y="1330935"/>
            <a:ext cx="3494087" cy="446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175CCC-2CB1-4380-AD9C-79692E980092}"/>
              </a:ext>
            </a:extLst>
          </p:cNvPr>
          <p:cNvSpPr/>
          <p:nvPr/>
        </p:nvSpPr>
        <p:spPr>
          <a:xfrm>
            <a:off x="6625351" y="1126451"/>
            <a:ext cx="49244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request edge – directed edge Pi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</a:t>
            </a:r>
            <a:r>
              <a:rPr lang="en-US" dirty="0" err="1"/>
              <a:t>Rj</a:t>
            </a:r>
            <a:endParaRPr lang="en-US" dirty="0"/>
          </a:p>
          <a:p>
            <a:r>
              <a:rPr lang="en-US" dirty="0"/>
              <a:t>assignment edge – directed edge </a:t>
            </a:r>
            <a:r>
              <a:rPr lang="en-US" dirty="0" err="1"/>
              <a:t>Rj</a:t>
            </a:r>
            <a:r>
              <a:rPr 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Pi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9995E5-884F-48CA-9BD0-5631F81FF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A1FB81F-D6E9-4BF8-8A9C-5CC7DB9DE1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1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Basic Facts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0768B154-92DE-477D-BCB3-F2C3C92324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63564" y="1164347"/>
            <a:ext cx="7837888" cy="4668282"/>
          </a:xfrm>
        </p:spPr>
        <p:txBody>
          <a:bodyPr/>
          <a:lstStyle/>
          <a:p>
            <a:r>
              <a:rPr lang="en-US" altLang="en-US" dirty="0"/>
              <a:t>If graph contains no cycles </a:t>
            </a:r>
            <a:r>
              <a:rPr lang="en-US" altLang="en-US" dirty="0">
                <a:sym typeface="Symbol" panose="05050102010706020507" pitchFamily="18" charset="2"/>
              </a:rPr>
              <a:t> no deadlock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If graph contains a cycle 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only one instance per resource type, then deadlock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several instances per resource type, possibility of deadlock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B928FB-AB39-423E-AE2A-3813C273C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476</Words>
  <Application>Microsoft Office PowerPoint</Application>
  <PresentationFormat>Widescreen</PresentationFormat>
  <Paragraphs>64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MS PGothic</vt:lpstr>
      <vt:lpstr>Arial</vt:lpstr>
      <vt:lpstr>Calibri</vt:lpstr>
      <vt:lpstr>Calibri Light</vt:lpstr>
      <vt:lpstr>Helvetica</vt:lpstr>
      <vt:lpstr>Symbol</vt:lpstr>
      <vt:lpstr>Times New Roman</vt:lpstr>
      <vt:lpstr>Webdings</vt:lpstr>
      <vt:lpstr>Office Theme</vt:lpstr>
      <vt:lpstr>Deadlocks Lesson 1 Prevention &amp; Avoidance</vt:lpstr>
      <vt:lpstr>Learning Outcomes</vt:lpstr>
      <vt:lpstr>Deadlock in Multithreaded Application</vt:lpstr>
      <vt:lpstr>Deadlock Conditions</vt:lpstr>
      <vt:lpstr>Resource-Allocation Graph</vt:lpstr>
      <vt:lpstr>Resource Allocation Graph Example</vt:lpstr>
      <vt:lpstr>Resource Allocation Graph With A Deadlock</vt:lpstr>
      <vt:lpstr>Graph With A Cycle But No Deadlock</vt:lpstr>
      <vt:lpstr>Basic Facts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Deadlocks Lesson 1 Introduction</dc:title>
  <dc:creator>David Liu</dc:creator>
  <cp:lastModifiedBy>David Liu</cp:lastModifiedBy>
  <cp:revision>35</cp:revision>
  <dcterms:created xsi:type="dcterms:W3CDTF">2021-11-07T22:07:40Z</dcterms:created>
  <dcterms:modified xsi:type="dcterms:W3CDTF">2022-03-22T15:19:10Z</dcterms:modified>
</cp:coreProperties>
</file>