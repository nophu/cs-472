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872" autoAdjust="0"/>
  </p:normalViewPr>
  <p:slideViewPr>
    <p:cSldViewPr snapToGrid="0">
      <p:cViewPr varScale="1">
        <p:scale>
          <a:sx n="102" d="100"/>
          <a:sy n="102" d="100"/>
        </p:scale>
        <p:origin x="9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D6037-1683-4293-8175-1DE01ED3814C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8F6A7-1494-49BC-B42D-3F7947E151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98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59857-4DB2-44E4-910E-F68AA9AB1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D221C-DCD3-429B-91B1-EA1341626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8A42A-D239-4DD3-9B05-DC770DC62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F410B-9BA5-457D-9A70-4D73520A71F8}" type="datetime1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259CC-CCB0-4424-A1F1-3F80F9E1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9D5E6-995C-4CB9-830A-8BA9083F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9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78EE-B97B-44A6-896D-AC81C43C6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34F43-6DF7-48B3-8334-589211BCB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5E3EE-F0F1-42C0-924E-6A7838ED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3876-9A35-40E9-9628-59FFDA43EF41}" type="datetime1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B51A7-AB48-4358-B9F0-09D5F8A4A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59F2C-67CE-4FE1-B1BA-ACF8DC18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7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50AA6-B1DC-4DC6-9869-EDD8B5AD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D0419-D5EE-4C10-BB1F-50D958967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1189-735F-40E1-AC26-2D254752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9297-7D73-4274-BA5D-5590C908771E}" type="datetime1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F4ADC-51EB-4FE9-9701-1036E7F8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10C56-24A2-493C-8E23-7EAB87886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3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8E48-AE8B-41A1-868D-BCE6DF100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14E91-E73F-4CB2-B560-8CBB9DBCE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9C32F-4C63-448E-8F7C-0E83BCE42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9A00E-4234-4CC3-83C7-1F111DDE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6BB5E-C869-4698-921F-2D66AD16ECBB}" type="datetime1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ABAAD-A476-438C-AD72-37EC762EF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B0C20-DE45-43CA-9CCF-44F36FB7C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3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29BF1-F50F-4DF2-B48D-3211D8E8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E3D92-AE13-4651-8D76-C941D8366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751E6-518C-409B-AA6F-3833E717F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C8F3C-8D56-488F-8BCF-996103FD3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2A80F-5890-41F5-BCD3-DCF87E0D2E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8FFF2-B8F4-4D95-8904-1411E0ABF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EDF4C-5053-465D-BE19-42AABDAA9D4D}" type="datetime1">
              <a:rPr lang="en-US" smtClean="0"/>
              <a:t>2/15/2022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4D6006-4A8B-47F3-B453-22898C404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95FF55-443B-4DC6-B63B-ABDDF6DD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97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7FB3-88AA-4FDC-A73B-7807DD54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B679B-3362-4340-A428-83628BFE2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88BD-0234-47D1-BEA2-6DA0D8C6D31A}" type="datetime1">
              <a:rPr lang="en-US" smtClean="0"/>
              <a:t>2/15/2022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609DB-6B33-4A55-82FA-93D7DEB4F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AFBF81-3657-45EB-B809-7A3662089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82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12F351-A8F5-49C6-8A8A-14368F139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8C635-906A-4A80-98DC-CEDB936E60DF}" type="datetime1">
              <a:rPr lang="en-US" smtClean="0"/>
              <a:t>2/15/2022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5CAF84-A64D-4ADF-89A9-5B4D0EBFA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0344A-B417-4E57-8124-1E33962BE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052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E5604-82F1-4D11-92AF-736260834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E547C-1CA2-487B-BEB5-1D4851723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2B6D8-675F-475B-8596-952FCAEBA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E6DD6-7F9C-4BFF-B051-666B9BE2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5902A-E7E9-43D3-AF7D-02D162568A97}" type="datetime1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D3774-96E6-4C94-89B4-D6705BF86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C455E-5BAE-4D10-B133-5EDA7AF3C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11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150C-4761-450D-9DC8-46737D15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094A20-CAC0-45B2-A2E8-868857EC9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8ADDE-0E6D-4403-AA8D-172B452C3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22845-A71A-4FD8-8436-BE04F5CC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BD2D8-2326-4247-9E30-859A54B1E7E8}" type="datetime1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0C2F7-D8EA-4B67-9B9F-59065BC41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CBAEA-A71E-4E52-A5FD-715D0BD8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2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7942-D995-48DD-8166-08ECF74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EA5C1-DFEF-4A6D-AE3D-C4C53A476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93E25-F867-41E1-9C2B-DABE9E5A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48E56-C299-4B83-AB79-D197E90091AF}" type="datetime1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78C71-4EC6-414D-B8D2-16CE12220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2627E-EE31-4673-AEA2-15AA1CE5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08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AB627B-5664-4F07-9CEF-811A6B181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8BBA-D5CE-41D3-B3DF-7994FD787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0D1D2-C187-477A-9EC2-AD096CF47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CCDCA-7C1E-4A4E-B024-F474851918F1}" type="datetime1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69B6D-1CB5-43E3-A45C-2A0ECEB3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1E860-9548-4C15-B01E-F25367E3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28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9E5C9-4E40-4A0A-B0A8-8604233FE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ACE95-E50E-4C8F-AAEE-9A830DBF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6140-7860-4183-89FC-1F4AAAD484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1128CC-5724-46F1-A21A-C0EFC6C39583}" type="datetime1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67128-71C1-4D73-B412-0BAFD083D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68CD3-5FB4-413E-AAE2-F7B7A1A77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87E43-59DA-478D-922A-0CBF4E83E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2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A4B6-D650-4555-B6D3-7FA7EB1F40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CPU Scheduling</a:t>
            </a:r>
            <a:br>
              <a:rPr lang="en-US" dirty="0"/>
            </a:br>
            <a:r>
              <a:rPr lang="en-US" dirty="0"/>
              <a:t>Module 1</a:t>
            </a:r>
            <a:br>
              <a:rPr lang="en-US" dirty="0"/>
            </a:br>
            <a:r>
              <a:rPr lang="en-US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C2C9B-381C-4AD9-938C-5D416990F5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</a:t>
            </a:r>
            <a:r>
              <a:rPr lang="en-US"/>
              <a:t>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76406-8BDD-423D-A5B2-D84B118C4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3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05349-C89C-47D5-AE53-1122D7A99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0C9C9-40DB-46E1-AEAB-479ADAE44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Understand importance of CPU scheduling</a:t>
            </a:r>
          </a:p>
          <a:p>
            <a:r>
              <a:rPr lang="en-US" altLang="en-US" dirty="0"/>
              <a:t>Describe various CPU scheduling algorithms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49BDF-B9A9-4825-A09D-8AB000D7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46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F2BE-EE27-484B-BADF-23F69A3A0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or Thread, CPU or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EC19D-FD9E-4DF1-9B5A-0BB200E52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OS schedules kernel-level threads</a:t>
            </a:r>
          </a:p>
          <a:p>
            <a:r>
              <a:rPr lang="en-US" dirty="0"/>
              <a:t>Core is the basic computation unit</a:t>
            </a:r>
          </a:p>
          <a:p>
            <a:r>
              <a:rPr lang="en-US" dirty="0">
                <a:solidFill>
                  <a:schemeClr val="accent1"/>
                </a:solidFill>
              </a:rPr>
              <a:t>OS schedules a kernel-level thread in a core.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9F13C-2FDD-4626-A70B-5EB181A4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00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9195-4D0A-439D-BD96-0F4F4CF6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threads concurrently in One 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C9BD1-3ACD-4F0B-B5A6-DB0E49176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7431" cy="4351338"/>
          </a:xfrm>
        </p:spPr>
        <p:txBody>
          <a:bodyPr/>
          <a:lstStyle/>
          <a:p>
            <a:r>
              <a:rPr lang="en-US" dirty="0"/>
              <a:t>Maximum CPU utilization obtained with multiprogramming</a:t>
            </a:r>
          </a:p>
          <a:p>
            <a:r>
              <a:rPr lang="en-US" dirty="0"/>
              <a:t>CPU–I/O Burst Cycle – </a:t>
            </a:r>
          </a:p>
          <a:p>
            <a:pPr lvl="1"/>
            <a:r>
              <a:rPr lang="en-US" dirty="0"/>
              <a:t>Process execution consists of a cycle of CPU execution and I/O wait</a:t>
            </a:r>
          </a:p>
          <a:p>
            <a:pPr lvl="1"/>
            <a:r>
              <a:rPr lang="en-US" dirty="0"/>
              <a:t>CPU burst followed by I/O burst</a:t>
            </a:r>
          </a:p>
          <a:p>
            <a:r>
              <a:rPr lang="en-US" dirty="0"/>
              <a:t>CPU burst distribution is of main concern or opportunity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AD0715-E84B-4638-AA5F-F990C4254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2391" y="1451106"/>
            <a:ext cx="2603218" cy="48467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80250-1ABE-42ED-BDE6-91F3CD3EB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64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92513-6D98-4A4A-84F2-EB193CA4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CPU-burst Times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E9999C-6537-4384-943B-BC3EE49CD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0652" y="1690688"/>
            <a:ext cx="3804234" cy="1042506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A549738F-C00D-49DD-9739-CEF5407DE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163" y="3016251"/>
            <a:ext cx="4922837" cy="294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2BA556-ECB0-4298-A690-642DE1331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1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B784D-092F-4B44-8C9B-9DD750698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Laundry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29CC30-1E59-4121-B172-B9977C5CC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6388" y="78940"/>
            <a:ext cx="5171392" cy="6700119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F8FE65-D743-41C8-99DE-71B69681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98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F9018-5061-491C-9EE3-1B9F35A85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Laundry Resources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36C8FE-7965-465D-89AC-51775595F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604" y="3300428"/>
            <a:ext cx="790476" cy="4857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E82A15-6CDB-49DA-93F1-AD2CFD8C2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468" y="3124238"/>
            <a:ext cx="761905" cy="8380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105D3F-6C86-4910-8489-19486AE506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202" y="3009951"/>
            <a:ext cx="819048" cy="10666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59E567-F732-4668-BC0D-1453E746D8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533" y="3016090"/>
            <a:ext cx="800000" cy="106666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C2B797-8273-48BA-A0E6-B88E0254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64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2276-0DAC-4DBE-B49B-8954D62E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Scheduler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480B2-4C6C-4EC4-B300-C324022F2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050518" cy="4351338"/>
          </a:xfrm>
        </p:spPr>
        <p:txBody>
          <a:bodyPr/>
          <a:lstStyle/>
          <a:p>
            <a:r>
              <a:rPr lang="en-US" sz="1800" dirty="0"/>
              <a:t>Short term</a:t>
            </a:r>
          </a:p>
          <a:p>
            <a:pPr lvl="1"/>
            <a:r>
              <a:rPr lang="en-US" sz="1800" dirty="0"/>
              <a:t>CPU scheduler</a:t>
            </a:r>
          </a:p>
          <a:p>
            <a:pPr lvl="1"/>
            <a:r>
              <a:rPr lang="en-US" sz="1800" dirty="0"/>
              <a:t>Selects from a processes from </a:t>
            </a:r>
            <a:r>
              <a:rPr lang="en-US" sz="1800" dirty="0">
                <a:solidFill>
                  <a:srgbClr val="FF0000"/>
                </a:solidFill>
              </a:rPr>
              <a:t>ready queue</a:t>
            </a:r>
          </a:p>
          <a:p>
            <a:pPr lvl="1"/>
            <a:r>
              <a:rPr lang="en-US" sz="1800" dirty="0"/>
              <a:t>Allocates a CPU core</a:t>
            </a:r>
          </a:p>
          <a:p>
            <a:r>
              <a:rPr lang="en-US" sz="1800" dirty="0"/>
              <a:t>Intermediate</a:t>
            </a:r>
          </a:p>
          <a:p>
            <a:pPr lvl="1"/>
            <a:r>
              <a:rPr lang="en-US" sz="1800" dirty="0"/>
              <a:t>Swapping</a:t>
            </a:r>
          </a:p>
          <a:p>
            <a:pPr lvl="1"/>
            <a:r>
              <a:rPr lang="en-US" sz="1800" dirty="0"/>
              <a:t>Remove a process from memory</a:t>
            </a:r>
          </a:p>
          <a:p>
            <a:pPr lvl="1"/>
            <a:r>
              <a:rPr lang="en-US" sz="1800" dirty="0"/>
              <a:t>Reduce the </a:t>
            </a:r>
            <a:r>
              <a:rPr lang="en-US" sz="1800" dirty="0">
                <a:solidFill>
                  <a:srgbClr val="FF0000"/>
                </a:solidFill>
              </a:rPr>
              <a:t>degree of multiprogramming</a:t>
            </a:r>
          </a:p>
          <a:p>
            <a:r>
              <a:rPr lang="en-US" sz="1800" dirty="0"/>
              <a:t>long term</a:t>
            </a:r>
          </a:p>
          <a:p>
            <a:pPr lvl="1"/>
            <a:r>
              <a:rPr lang="en-US" sz="1800" dirty="0"/>
              <a:t>Job scheduler</a:t>
            </a:r>
          </a:p>
          <a:p>
            <a:pPr lvl="1"/>
            <a:r>
              <a:rPr lang="en-US" sz="1800" dirty="0"/>
              <a:t>Bring a job to the memory and ready queue</a:t>
            </a:r>
            <a:endParaRPr lang="en-US" sz="2200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4F9E3-A29C-4AF6-9FEC-748F41D8D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61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4E98-CA9F-4E13-B825-317F8F5B4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Scheduling Happens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CF3D98-3265-40DF-8758-2FC9B2BDB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2687" y="2590419"/>
            <a:ext cx="5596613" cy="218255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9D87E7B-BCC4-4D36-98AC-BA534912F8EB}"/>
              </a:ext>
            </a:extLst>
          </p:cNvPr>
          <p:cNvCxnSpPr>
            <a:cxnSpLocks/>
          </p:cNvCxnSpPr>
          <p:nvPr/>
        </p:nvCxnSpPr>
        <p:spPr>
          <a:xfrm flipH="1" flipV="1">
            <a:off x="6347534" y="4332304"/>
            <a:ext cx="142043" cy="1198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B8E648-5FB9-4FA2-A8FE-E66E756111BB}"/>
              </a:ext>
            </a:extLst>
          </p:cNvPr>
          <p:cNvCxnSpPr>
            <a:cxnSpLocks/>
          </p:cNvCxnSpPr>
          <p:nvPr/>
        </p:nvCxnSpPr>
        <p:spPr>
          <a:xfrm flipH="1">
            <a:off x="4938945" y="2548196"/>
            <a:ext cx="204186" cy="548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D30910-F583-4138-B050-3DD17BD19EE5}"/>
              </a:ext>
            </a:extLst>
          </p:cNvPr>
          <p:cNvCxnSpPr/>
          <p:nvPr/>
        </p:nvCxnSpPr>
        <p:spPr>
          <a:xfrm flipH="1">
            <a:off x="7048870" y="1917577"/>
            <a:ext cx="568171" cy="905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9A0CA0-70F9-46AB-8909-AFC5B33C00E4}"/>
              </a:ext>
            </a:extLst>
          </p:cNvPr>
          <p:cNvCxnSpPr>
            <a:cxnSpLocks/>
          </p:cNvCxnSpPr>
          <p:nvPr/>
        </p:nvCxnSpPr>
        <p:spPr>
          <a:xfrm flipV="1">
            <a:off x="3392950" y="3951441"/>
            <a:ext cx="1212161" cy="752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60897AF-54FD-4024-BFB5-05E4FAF03C36}"/>
              </a:ext>
            </a:extLst>
          </p:cNvPr>
          <p:cNvSpPr txBox="1"/>
          <p:nvPr/>
        </p:nvSpPr>
        <p:spPr>
          <a:xfrm>
            <a:off x="7617041" y="2178864"/>
            <a:ext cx="3185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4. Nonpreemptive, volunteering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440FA6-25F8-42C5-AA8C-79E1C1294834}"/>
              </a:ext>
            </a:extLst>
          </p:cNvPr>
          <p:cNvSpPr txBox="1"/>
          <p:nvPr/>
        </p:nvSpPr>
        <p:spPr>
          <a:xfrm>
            <a:off x="6486492" y="4653220"/>
            <a:ext cx="3185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Nonpreemptive, volunteering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059DF-A3F9-4356-8CED-06C29C6756C2}"/>
              </a:ext>
            </a:extLst>
          </p:cNvPr>
          <p:cNvSpPr txBox="1"/>
          <p:nvPr/>
        </p:nvSpPr>
        <p:spPr>
          <a:xfrm>
            <a:off x="964610" y="4713098"/>
            <a:ext cx="5538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 Preemptive, OS may remove </a:t>
            </a:r>
            <a:r>
              <a:rPr lang="en-US" dirty="0">
                <a:solidFill>
                  <a:srgbClr val="FF0000"/>
                </a:solidFill>
              </a:rPr>
              <a:t>another</a:t>
            </a:r>
            <a:r>
              <a:rPr lang="en-US" dirty="0"/>
              <a:t> process from CPU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FCA0EC-5FF5-42F3-83A8-0E01A22C0002}"/>
              </a:ext>
            </a:extLst>
          </p:cNvPr>
          <p:cNvSpPr txBox="1"/>
          <p:nvPr/>
        </p:nvSpPr>
        <p:spPr>
          <a:xfrm>
            <a:off x="1441076" y="2070904"/>
            <a:ext cx="5903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Preemptive, OS removes this interrupted process from CPU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856C52-D332-4090-9FD2-C98530C41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21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1DB0-4EBD-4898-AC8E-E2F6154AD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Dispatcher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FED735D-808C-4712-8285-912330B22D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814" y="1338524"/>
            <a:ext cx="3076190" cy="4180952"/>
          </a:xfr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C9038BC-D566-48AB-8B1A-4B4A0306E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2387" y="1532662"/>
            <a:ext cx="5181600" cy="4351338"/>
          </a:xfrm>
        </p:spPr>
        <p:txBody>
          <a:bodyPr/>
          <a:lstStyle/>
          <a:p>
            <a:r>
              <a:rPr lang="en-US" dirty="0"/>
              <a:t>Steps</a:t>
            </a:r>
          </a:p>
          <a:p>
            <a:pPr lvl="1"/>
            <a:r>
              <a:rPr lang="en-US" dirty="0"/>
              <a:t>Switch context from one process to another</a:t>
            </a:r>
          </a:p>
          <a:p>
            <a:pPr lvl="1"/>
            <a:r>
              <a:rPr lang="en-US" dirty="0"/>
              <a:t>Switching to user mode</a:t>
            </a:r>
          </a:p>
          <a:p>
            <a:pPr lvl="1"/>
            <a:r>
              <a:rPr lang="en-US" dirty="0"/>
              <a:t>Jumping to the proper location in the user program</a:t>
            </a:r>
          </a:p>
          <a:p>
            <a:pPr lvl="1"/>
            <a:endParaRPr lang="en-US" dirty="0"/>
          </a:p>
          <a:p>
            <a:r>
              <a:rPr lang="en-US" dirty="0"/>
              <a:t>Dispatch Latency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1E4A3F-429F-4F52-BF57-258FE9EF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56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CCE3-6BEC-4250-96D5-48B12DF6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Criteria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40086D-90F9-4CDF-8544-91F056FF9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CPU utilization</a:t>
            </a:r>
          </a:p>
          <a:p>
            <a:r>
              <a:rPr lang="en-US" dirty="0"/>
              <a:t>Throughput: # of completed processes/sec</a:t>
            </a:r>
          </a:p>
          <a:p>
            <a:r>
              <a:rPr lang="en-US" dirty="0"/>
              <a:t>Turnaround time: a process from start to finish</a:t>
            </a:r>
          </a:p>
          <a:p>
            <a:r>
              <a:rPr lang="en-US" dirty="0"/>
              <a:t>Waiting time: amount of time a process has been waiting in the ready queue (</a:t>
            </a:r>
            <a:r>
              <a:rPr lang="en-US"/>
              <a:t>adds up)</a:t>
            </a:r>
            <a:endParaRPr lang="en-US" dirty="0"/>
          </a:p>
          <a:p>
            <a:r>
              <a:rPr lang="en-US" dirty="0"/>
              <a:t>Response time: from a request to the first response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992AEA-31E9-4C61-8A05-2E06430A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A87E43-59DA-478D-922A-0CBF4E83E6B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1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272</Words>
  <Application>Microsoft Office PowerPoint</Application>
  <PresentationFormat>Widescreen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CPU Scheduling Module 1 Introduction</vt:lpstr>
      <vt:lpstr>Learning Objectives</vt:lpstr>
      <vt:lpstr>Process or Thread, CPU or Core</vt:lpstr>
      <vt:lpstr>Multiple threads concurrently in One Core</vt:lpstr>
      <vt:lpstr>CPU-burst Times</vt:lpstr>
      <vt:lpstr>Laundry</vt:lpstr>
      <vt:lpstr>Laundry Resources</vt:lpstr>
      <vt:lpstr>OS Scheduler</vt:lpstr>
      <vt:lpstr>When Scheduling Happens</vt:lpstr>
      <vt:lpstr>CPU Dispatcher</vt:lpstr>
      <vt:lpstr>Scheduling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 Lesson 1 </dc:title>
  <dc:creator>David Liu</dc:creator>
  <cp:lastModifiedBy>David Liu</cp:lastModifiedBy>
  <cp:revision>37</cp:revision>
  <dcterms:created xsi:type="dcterms:W3CDTF">2021-09-28T16:58:38Z</dcterms:created>
  <dcterms:modified xsi:type="dcterms:W3CDTF">2022-02-15T15:30:42Z</dcterms:modified>
</cp:coreProperties>
</file>