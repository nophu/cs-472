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69" autoAdjust="0"/>
    <p:restoredTop sz="94660"/>
  </p:normalViewPr>
  <p:slideViewPr>
    <p:cSldViewPr snapToGrid="0">
      <p:cViewPr varScale="1">
        <p:scale>
          <a:sx n="66" d="100"/>
          <a:sy n="66" d="100"/>
        </p:scale>
        <p:origin x="592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0C0BD2-7F46-43AD-9A0A-38383BC7AE1C}" type="datetimeFigureOut">
              <a:rPr lang="en-US" smtClean="0"/>
              <a:t>9/26/2024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4C968B-CBD3-46DC-8A8C-7D020DC81C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84716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A7AECF-4CC3-4FDD-A03C-C44EEF2BF2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A37667E-9145-4097-AF36-5E3D67EB00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22DA64-3D0D-4012-9A15-AD8870E890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3A0D4-BB40-4FEC-91DA-2174AD4335B4}" type="datetime1">
              <a:rPr lang="en-US" smtClean="0"/>
              <a:t>9/26/2024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94A7EC-F946-4FD9-BB1A-BE859484E5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642621-F115-4E77-B603-D8E12546E4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C58A85-A4C6-46F5-928C-98DBA783A1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55058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8B47F5-65A1-4689-B4DF-355B146E4B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BBC643-2AF5-46DA-9D5D-B9F8071052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F1613D-0A0C-4E59-91F7-70B8E7EF9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31C04F-7546-4DE2-8196-BD995CC4E0A9}" type="datetime1">
              <a:rPr lang="en-US" smtClean="0"/>
              <a:t>9/26/2024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0D9464-E407-4C55-AA97-FBB3994EE2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22D62E-2B01-438B-BA80-F924D0B31D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C58A85-A4C6-46F5-928C-98DBA783A1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31408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85FFD5-0EF0-4FFF-801E-E9484D4217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6BF918-5BBD-4CA6-8D54-E1CC510FF6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DDF246-ED7C-4059-BDBC-1A95D80AE6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E8962-98D0-41AF-BC96-CE67BCAA9932}" type="datetime1">
              <a:rPr lang="en-US" smtClean="0"/>
              <a:t>9/26/2024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7175E3-CF2C-4069-A0AF-AB168B795B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3FCE11-260C-495F-99A6-E069C34E3D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C58A85-A4C6-46F5-928C-98DBA783A1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96911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FC0273-A9FB-4B35-A9B7-CD32671C90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3724D0-1A38-490E-B7B2-44C0C29865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193928-F9A8-48A8-9881-0BDF19A3DC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EC4345-363A-4586-A6A9-6E262446FA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8A488-F41F-4A81-8BA1-0B81AF96975F}" type="datetime1">
              <a:rPr lang="en-US" smtClean="0"/>
              <a:t>9/26/2024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D141C6-E73F-4D38-9943-F93944B443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2DC3FB-4246-46DD-BFED-C33FAC769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C58A85-A4C6-46F5-928C-98DBA783A1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90104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DA2EB4-1822-4A94-A7AE-902E8B0C61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72A100-EB68-471B-BF5D-625CE45397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4882EB-38C4-4501-AAE4-F9468ADB47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E6432AC-FDDB-4EEA-ACDC-7AB69E1B451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AE78A9E-B425-45F3-AB9B-4D49E9A7825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FF87ECA-1E03-4C6F-A46F-1839A966DA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C5A0B1-3922-420C-AECD-B965FAD9B009}" type="datetime1">
              <a:rPr lang="en-US" smtClean="0"/>
              <a:t>9/26/2024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5F39DEE-4C66-4B71-B485-BCEDA9D5AE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51A666D-5EB9-43A1-9D0C-3DDD40A989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C58A85-A4C6-46F5-928C-98DBA783A1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40322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634CAF-A89C-407A-8629-F0B499468A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8FD267-8835-4DD4-8794-C59159844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FC90A-3E2D-404E-8194-FF1FC7F53432}" type="datetime1">
              <a:rPr lang="en-US" smtClean="0"/>
              <a:t>9/26/2024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8DAA3DC-4C53-4B46-B1F8-10C6650094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61234F-ED02-430A-BEBD-D9BAEE972D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C58A85-A4C6-46F5-928C-98DBA783A1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39162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D7B91C-D3DA-4919-8FFB-7776AC293A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0CDF3-1370-4DAE-973E-9173D4019C79}" type="datetime1">
              <a:rPr lang="en-US" smtClean="0"/>
              <a:t>9/26/2024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AD232E0-A074-480F-A116-1A9662B123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F6DE73-D00C-489B-925C-5DAC1504D9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C58A85-A4C6-46F5-928C-98DBA783A1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56475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4BB742-EB27-4278-8029-87DAFE4AEA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8B452F-92D2-4504-98C7-6F082451C5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2C29EE-E8A3-42FC-8CEC-33C3F57D0B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4E94F4-2522-454C-A3E4-B3E2AF0177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0D8FBE-3278-4EFB-8F42-E34FE1C21863}" type="datetime1">
              <a:rPr lang="en-US" smtClean="0"/>
              <a:t>9/26/2024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0D61AC-ECF1-4394-9878-90289E4246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2690FD-C68C-495A-B79C-E3B2C86854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C58A85-A4C6-46F5-928C-98DBA783A1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80868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BB580A-F4CB-4E70-80EB-30288D622D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B1A0D2F-40CC-409A-89C3-DB36F95ADFE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FC57C0-DF3E-4AB9-84B7-7FF0F4688B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DDF05C-432C-4B1E-968C-21E9E9CA9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C4A1D-6F43-4DCC-97ED-FCB51D5E03B7}" type="datetime1">
              <a:rPr lang="en-US" smtClean="0"/>
              <a:t>9/26/2024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56249A-E236-4DFB-8078-18BAB3E910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37A40A-20F5-4535-8E0B-AC7C9AE31B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C58A85-A4C6-46F5-928C-98DBA783A1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50158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80B63F-80D4-40C1-A93C-EBDBF640B7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A031CB-FC91-4CDC-BC0E-5CE7AF1270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F92259-B02E-406D-B89C-3228EF7B81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174623-D8FB-432C-812F-D7D308426714}" type="datetime1">
              <a:rPr lang="en-US" smtClean="0"/>
              <a:t>9/26/2024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27BA44-26AA-47A1-8EA6-E36E4C30A6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53EBB6-5866-432C-B834-02CA1885B1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C58A85-A4C6-46F5-928C-98DBA783A1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45032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7C96799-AB2A-4F80-A61F-D2C723B1490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B612DB-4BF5-45F3-ADF5-E3254D377C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DE7904-EDB1-4ACF-A59C-39E4F44E72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7255B-D855-4AB7-84E8-355605B65DB7}" type="datetime1">
              <a:rPr lang="en-US" smtClean="0"/>
              <a:t>9/26/2024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A4FF2C-E66C-4EEF-939D-15D7E3200A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FDC3E5-6B95-421F-84C1-66E2A52D55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C58A85-A4C6-46F5-928C-98DBA783A1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57040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30B2323-884B-44E7-8C30-8228C7AE9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C04303-24F1-4FDF-B13B-A969A50C72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820D8C-FBFB-4ADE-A70F-7E4DD6996FE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18A24C-362C-437F-8144-D7CB6DC66C34}" type="datetime1">
              <a:rPr lang="en-US" smtClean="0"/>
              <a:t>9/26/2024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522D71-554C-42D5-B3FB-BD5EED767E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CA4E59-0022-4C04-BA29-DAFB44DCBE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C58A85-A4C6-46F5-928C-98DBA783A1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88578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8DDF71-7576-4B14-8F9E-C4804EC3C97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CPU Scheduling</a:t>
            </a:r>
            <a:br>
              <a:rPr lang="en-US" dirty="0"/>
            </a:br>
            <a:r>
              <a:rPr lang="en-US" dirty="0"/>
              <a:t>Lesson 3</a:t>
            </a:r>
            <a:br>
              <a:rPr lang="en-US" dirty="0"/>
            </a:br>
            <a:r>
              <a:rPr lang="en-US" dirty="0"/>
              <a:t>Multi-Processor Scheduling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5C10195-225F-47F1-AC8D-2BC0114D071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David Liu</a:t>
            </a:r>
          </a:p>
          <a:p>
            <a:r>
              <a:rPr lang="en-US" dirty="0"/>
              <a:t>Fall 2021, Spring 2022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54047E-9D63-4479-B900-F7582C534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C58A85-A4C6-46F5-928C-98DBA783A17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1277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677EEB-4F55-488D-A03A-974DF59B8C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define a multiprocessor?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99A17C-9564-4FBA-BB49-2CDC13610B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Various system architectures</a:t>
            </a:r>
          </a:p>
          <a:p>
            <a:pPr lvl="1"/>
            <a:r>
              <a:rPr lang="en-US" dirty="0"/>
              <a:t>Multicore CPUs</a:t>
            </a:r>
          </a:p>
          <a:p>
            <a:pPr lvl="1"/>
            <a:r>
              <a:rPr lang="en-US" dirty="0"/>
              <a:t>Multithreaded cores</a:t>
            </a:r>
          </a:p>
          <a:p>
            <a:pPr lvl="1"/>
            <a:r>
              <a:rPr lang="en-US" dirty="0"/>
              <a:t>NUMA systems</a:t>
            </a:r>
          </a:p>
          <a:p>
            <a:pPr lvl="1"/>
            <a:r>
              <a:rPr lang="en-US" dirty="0"/>
              <a:t>Heterogeneous multiprocessing</a:t>
            </a:r>
          </a:p>
          <a:p>
            <a:r>
              <a:rPr lang="en-US" dirty="0"/>
              <a:t>Homogeneity</a:t>
            </a:r>
          </a:p>
          <a:p>
            <a:pPr lvl="1"/>
            <a:r>
              <a:rPr lang="en-US" dirty="0"/>
              <a:t>Identical functionality</a:t>
            </a:r>
          </a:p>
          <a:p>
            <a:pPr lvl="1"/>
            <a:r>
              <a:rPr lang="en-US" dirty="0"/>
              <a:t>Various </a:t>
            </a:r>
            <a:r>
              <a:rPr lang="en-US" dirty="0" err="1"/>
              <a:t>funcitionalities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5ACF5F-7361-4FA6-8CBB-C741AF1C25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C58A85-A4C6-46F5-928C-98DBA783A17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27523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460380-5EC7-4842-99A9-13886D02E9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Homogenous Processors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5BF11B-0419-4D33-AB33-8799892AF5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master server (asymmetric multiprocessing)</a:t>
            </a:r>
          </a:p>
          <a:p>
            <a:r>
              <a:rPr lang="en-US" dirty="0"/>
              <a:t>Symmetric multiprocessing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AAFD14-1926-4F38-B58C-5938553824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C58A85-A4C6-46F5-928C-98DBA783A17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52324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17AFF-06DF-47CB-BB98-2A9E8506E2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Asymmetric Multiprocessing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743649-FB6C-4FAB-B579-F6F380997C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Master server</a:t>
            </a:r>
          </a:p>
          <a:p>
            <a:pPr lvl="1"/>
            <a:r>
              <a:rPr lang="en-US" dirty="0"/>
              <a:t>Scheduling</a:t>
            </a:r>
          </a:p>
          <a:p>
            <a:pPr lvl="1"/>
            <a:r>
              <a:rPr lang="en-US" dirty="0"/>
              <a:t>I/O processing</a:t>
            </a:r>
          </a:p>
          <a:p>
            <a:pPr lvl="1"/>
            <a:r>
              <a:rPr lang="en-US" dirty="0"/>
              <a:t>System activities</a:t>
            </a:r>
          </a:p>
          <a:p>
            <a:r>
              <a:rPr lang="en-US" dirty="0"/>
              <a:t>Other processors</a:t>
            </a:r>
          </a:p>
          <a:p>
            <a:pPr lvl="1"/>
            <a:r>
              <a:rPr lang="en-US" dirty="0"/>
              <a:t>Run user code</a:t>
            </a:r>
          </a:p>
          <a:p>
            <a:r>
              <a:rPr lang="en-US" dirty="0"/>
              <a:t>Advantage</a:t>
            </a:r>
          </a:p>
          <a:p>
            <a:pPr lvl="1"/>
            <a:r>
              <a:rPr lang="en-US" dirty="0"/>
              <a:t>Simple</a:t>
            </a:r>
          </a:p>
          <a:p>
            <a:r>
              <a:rPr lang="en-US" dirty="0"/>
              <a:t>Disadvantage</a:t>
            </a:r>
          </a:p>
          <a:p>
            <a:pPr lvl="1"/>
            <a:r>
              <a:rPr lang="en-US" dirty="0"/>
              <a:t>Potential bottleneck &amp; performance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2357DE-C64E-4602-AC00-BBE417E922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C58A85-A4C6-46F5-928C-98DBA783A17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06575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13CDBB-2B1C-4B0C-A92F-D4A827558E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Symmetric Multiprocessing (SMP)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98F5C8-3BBD-4418-A4D1-03FE1C926C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7629" y="1825625"/>
            <a:ext cx="5519854" cy="4351338"/>
          </a:xfrm>
        </p:spPr>
        <p:txBody>
          <a:bodyPr/>
          <a:lstStyle/>
          <a:p>
            <a:r>
              <a:rPr lang="en-US" dirty="0"/>
              <a:t>Each processor runs own scheduling</a:t>
            </a:r>
          </a:p>
          <a:p>
            <a:r>
              <a:rPr lang="en-US"/>
              <a:t>Common Ready </a:t>
            </a:r>
            <a:r>
              <a:rPr lang="en-US" dirty="0"/>
              <a:t>Queue?</a:t>
            </a:r>
          </a:p>
          <a:p>
            <a:pPr lvl="1"/>
            <a:r>
              <a:rPr lang="en-US" dirty="0"/>
              <a:t>A common ready queue for all threads</a:t>
            </a:r>
          </a:p>
          <a:p>
            <a:pPr lvl="2"/>
            <a:r>
              <a:rPr lang="en-US" dirty="0"/>
              <a:t>Race condition by two processors</a:t>
            </a:r>
          </a:p>
          <a:p>
            <a:pPr lvl="1"/>
            <a:r>
              <a:rPr lang="en-US" dirty="0"/>
              <a:t>Private ready queue per processor</a:t>
            </a:r>
          </a:p>
          <a:p>
            <a:pPr lvl="2"/>
            <a:r>
              <a:rPr lang="en-US" dirty="0"/>
              <a:t>Most common</a:t>
            </a:r>
          </a:p>
          <a:p>
            <a:pPr lvl="2"/>
            <a:r>
              <a:rPr lang="en-US" dirty="0"/>
              <a:t>Load balancing?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C7CC6A8-396E-4148-91DB-B6DCF38966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9448" y="2809778"/>
            <a:ext cx="5381625" cy="278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0C45FE-BDB9-46FB-B5EA-5C26215D31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C58A85-A4C6-46F5-928C-98DBA783A172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24954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955FCB-2A77-473D-9E24-D0AA3B7F9C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Multithread Multicore System (MMS)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C15CAD-9EE1-4898-9305-64EBB7B389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204200" cy="4351338"/>
          </a:xfrm>
        </p:spPr>
        <p:txBody>
          <a:bodyPr>
            <a:normAutofit/>
          </a:bodyPr>
          <a:lstStyle/>
          <a:p>
            <a:r>
              <a:rPr lang="en-US" dirty="0"/>
              <a:t>A core is not fully utilized: 50% time waiting due to memory stall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Solution: two or more hardware threads per core (CMT)</a:t>
            </a:r>
          </a:p>
          <a:p>
            <a:pPr lvl="1"/>
            <a:r>
              <a:rPr lang="en-US" dirty="0"/>
              <a:t>Instruction pointer</a:t>
            </a:r>
          </a:p>
          <a:p>
            <a:pPr lvl="1"/>
            <a:r>
              <a:rPr lang="en-US" dirty="0"/>
              <a:t>Register set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A73143B-9D10-4D01-ACD5-ED663D91DB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7321" y="1929254"/>
            <a:ext cx="6102625" cy="1499746"/>
          </a:xfrm>
          <a:prstGeom prst="rect">
            <a:avLst/>
          </a:prstGeom>
        </p:spPr>
      </p:pic>
      <p:pic>
        <p:nvPicPr>
          <p:cNvPr id="5" name="Picture 2">
            <a:extLst>
              <a:ext uri="{FF2B5EF4-FFF2-40B4-BE49-F238E27FC236}">
                <a16:creationId xmlns:a16="http://schemas.microsoft.com/office/drawing/2014/main" id="{A602D2FC-8524-4CEB-8495-63D4DDD30C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2400" y="4130145"/>
            <a:ext cx="6969125" cy="170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6F2A78-4A65-4BF1-9EFD-73C4A35226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C58A85-A4C6-46F5-928C-98DBA783A172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8936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F1AD0C-0DD1-4D8F-8417-E69832E867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Logical CPUs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5AE708E-2A64-4DB4-9476-F313B1F1C1FB}"/>
              </a:ext>
            </a:extLst>
          </p:cNvPr>
          <p:cNvSpPr txBox="1">
            <a:spLocks noChangeArrowheads="1"/>
          </p:cNvSpPr>
          <p:nvPr/>
        </p:nvSpPr>
        <p:spPr>
          <a:xfrm>
            <a:off x="838200" y="1779897"/>
            <a:ext cx="3775075" cy="453072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b="1" dirty="0"/>
              <a:t>Chip-multithreading</a:t>
            </a:r>
            <a:r>
              <a:rPr lang="en-US" altLang="en-US" dirty="0"/>
              <a:t> (CMT) assigns each core multiple hardware threads. (Intel refers to this as </a:t>
            </a:r>
            <a:r>
              <a:rPr lang="en-US" altLang="en-US" b="1" dirty="0"/>
              <a:t>hyperthreading</a:t>
            </a:r>
            <a:r>
              <a:rPr lang="en-US" altLang="en-US" dirty="0"/>
              <a:t>.)</a:t>
            </a:r>
            <a:br>
              <a:rPr lang="en-US" altLang="en-US" dirty="0"/>
            </a:br>
            <a:br>
              <a:rPr lang="en-US" altLang="en-US" dirty="0"/>
            </a:br>
            <a:br>
              <a:rPr lang="en-US" altLang="en-US" dirty="0"/>
            </a:br>
            <a:br>
              <a:rPr lang="en-US" altLang="en-US" dirty="0"/>
            </a:br>
            <a:endParaRPr lang="en-US" altLang="en-US" dirty="0"/>
          </a:p>
          <a:p>
            <a:r>
              <a:rPr lang="en-US" altLang="en-US" dirty="0"/>
              <a:t>On a quad-core system with 2 hardware threads per core, the operating system sees 8 logical processors.</a:t>
            </a:r>
          </a:p>
          <a:p>
            <a:endParaRPr lang="en-US" altLang="en-US" dirty="0"/>
          </a:p>
        </p:txBody>
      </p:sp>
      <p:pic>
        <p:nvPicPr>
          <p:cNvPr id="6" name="Picture 3">
            <a:extLst>
              <a:ext uri="{FF2B5EF4-FFF2-40B4-BE49-F238E27FC236}">
                <a16:creationId xmlns:a16="http://schemas.microsoft.com/office/drawing/2014/main" id="{BA15B682-14C9-40D5-BD2A-999676E24D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05975" y="1779897"/>
            <a:ext cx="3284537" cy="4749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A6854A8-D3BD-42DB-B7D3-56A349517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C58A85-A4C6-46F5-928C-98DBA783A172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85099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0C0630-F37D-4AB7-8920-FA2EC9960F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MMS Two Level Scheduling 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756E57D-32C6-42DF-A233-C578BAE3ADC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8200" y="1825625"/>
            <a:ext cx="4090639" cy="4351338"/>
          </a:xfrm>
        </p:spPr>
        <p:txBody>
          <a:bodyPr>
            <a:normAutofit fontScale="92500" lnSpcReduction="20000"/>
          </a:bodyPr>
          <a:lstStyle/>
          <a:p>
            <a:r>
              <a:rPr lang="en-US" altLang="en-US" dirty="0"/>
              <a:t>Two levels of scheduling:</a:t>
            </a:r>
            <a:br>
              <a:rPr lang="en-US" altLang="en-US" dirty="0"/>
            </a:br>
            <a:endParaRPr lang="en-US" altLang="en-US" dirty="0"/>
          </a:p>
          <a:p>
            <a:pPr>
              <a:buFont typeface="Arial" panose="020B0604020202020204" pitchFamily="34" charset="0"/>
              <a:buAutoNum type="arabicPeriod"/>
            </a:pPr>
            <a:r>
              <a:rPr lang="en-US" altLang="en-US" dirty="0"/>
              <a:t>The operating system decides which software thread to run on a logical CPU</a:t>
            </a:r>
            <a:br>
              <a:rPr lang="en-US" altLang="en-US" dirty="0"/>
            </a:br>
            <a:br>
              <a:rPr lang="en-US" altLang="en-US" dirty="0"/>
            </a:br>
            <a:endParaRPr lang="en-US" altLang="en-US" dirty="0"/>
          </a:p>
          <a:p>
            <a:pPr>
              <a:buFont typeface="Arial" panose="020B0604020202020204" pitchFamily="34" charset="0"/>
              <a:buAutoNum type="arabicPeriod"/>
            </a:pPr>
            <a:r>
              <a:rPr lang="en-US" altLang="en-US" dirty="0"/>
              <a:t>Each core decides which hardware thread to run on the physical core.</a:t>
            </a:r>
            <a:br>
              <a:rPr lang="en-US" altLang="en-US" dirty="0"/>
            </a:br>
            <a:br>
              <a:rPr lang="en-US" altLang="en-US" dirty="0"/>
            </a:br>
            <a:br>
              <a:rPr lang="en-US" altLang="en-US" dirty="0"/>
            </a:br>
            <a:endParaRPr lang="en-US" alt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428CC09-0A9E-4A48-B44D-E80AF5B1D2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76913" y="2224088"/>
            <a:ext cx="5087937" cy="3952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53AA116-48A5-47B5-BC07-1FBBCEB24E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C58A85-A4C6-46F5-928C-98DBA783A172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47942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E8E444-D207-4FF1-B615-21F3ADCCB2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SMP Load Balancing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522F8D-43A7-4B9D-BB07-AC44330866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9298259" cy="4351338"/>
          </a:xfrm>
        </p:spPr>
        <p:txBody>
          <a:bodyPr/>
          <a:lstStyle/>
          <a:p>
            <a:r>
              <a:rPr lang="en-US" dirty="0"/>
              <a:t>Private ready queue/core</a:t>
            </a:r>
          </a:p>
          <a:p>
            <a:r>
              <a:rPr lang="en-US" dirty="0"/>
              <a:t>Balancing Acts</a:t>
            </a:r>
          </a:p>
          <a:p>
            <a:pPr lvl="1"/>
            <a:r>
              <a:rPr lang="en-US" dirty="0"/>
              <a:t>Push migration</a:t>
            </a:r>
          </a:p>
          <a:p>
            <a:pPr lvl="2"/>
            <a:r>
              <a:rPr lang="en-US" dirty="0"/>
              <a:t>periodic checks load on each processor, and if found pushes task from overloaded CPU to other CPUs</a:t>
            </a:r>
          </a:p>
          <a:p>
            <a:pPr marL="914400" lvl="2" indent="0">
              <a:buNone/>
            </a:pPr>
            <a:endParaRPr lang="en-US" dirty="0"/>
          </a:p>
          <a:p>
            <a:pPr lvl="1"/>
            <a:r>
              <a:rPr lang="en-US" dirty="0"/>
              <a:t>Pull migration</a:t>
            </a:r>
          </a:p>
          <a:p>
            <a:pPr lvl="2"/>
            <a:r>
              <a:rPr lang="en-US" dirty="0"/>
              <a:t>idle processors pulls waiting task from busy processor</a:t>
            </a:r>
          </a:p>
          <a:p>
            <a:pPr lvl="2"/>
            <a:endParaRPr lang="en-US" dirty="0"/>
          </a:p>
          <a:p>
            <a:pPr lvl="1"/>
            <a:r>
              <a:rPr lang="en-US" dirty="0"/>
              <a:t>Doing both?</a:t>
            </a:r>
          </a:p>
          <a:p>
            <a:pPr lvl="2"/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F28CDC-CF04-4407-8B3C-BE8B4FC06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C58A85-A4C6-46F5-928C-98DBA783A172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46418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3B3964-442A-409D-A9C8-A25D0EE912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Migrate or Not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9D9A6D-A619-4CB7-8B64-9737882B6D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952893" cy="4351338"/>
          </a:xfrm>
        </p:spPr>
        <p:txBody>
          <a:bodyPr/>
          <a:lstStyle/>
          <a:p>
            <a:r>
              <a:rPr lang="en-US" dirty="0"/>
              <a:t>A thread may have large cache contents within a processor</a:t>
            </a:r>
          </a:p>
          <a:p>
            <a:pPr lvl="1"/>
            <a:r>
              <a:rPr lang="en-US" dirty="0"/>
              <a:t>Know as: </a:t>
            </a:r>
            <a:r>
              <a:rPr lang="en-US" dirty="0">
                <a:solidFill>
                  <a:srgbClr val="FF0000"/>
                </a:solidFill>
              </a:rPr>
              <a:t>processor affinity</a:t>
            </a:r>
          </a:p>
          <a:p>
            <a:r>
              <a:rPr lang="en-US" dirty="0">
                <a:solidFill>
                  <a:srgbClr val="FF0000"/>
                </a:solidFill>
              </a:rPr>
              <a:t>Migration: </a:t>
            </a:r>
          </a:p>
          <a:p>
            <a:pPr lvl="1"/>
            <a:r>
              <a:rPr lang="en-US" dirty="0"/>
              <a:t>Thread’s cache contents invalidated in 1</a:t>
            </a:r>
            <a:r>
              <a:rPr lang="en-US" baseline="30000" dirty="0"/>
              <a:t>st</a:t>
            </a:r>
            <a:r>
              <a:rPr lang="en-US" dirty="0"/>
              <a:t> processor</a:t>
            </a:r>
          </a:p>
          <a:p>
            <a:pPr lvl="1"/>
            <a:r>
              <a:rPr lang="en-US" dirty="0"/>
              <a:t>Thread’s cache repopulated in 2</a:t>
            </a:r>
            <a:r>
              <a:rPr lang="en-US" baseline="30000" dirty="0"/>
              <a:t>nd</a:t>
            </a:r>
            <a:r>
              <a:rPr lang="en-US" dirty="0"/>
              <a:t> processor</a:t>
            </a:r>
          </a:p>
          <a:p>
            <a:endParaRPr lang="en-US" dirty="0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F3A30C24-EC14-4C72-B731-2EA9E50D37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68830" y="1928488"/>
            <a:ext cx="5051425" cy="3824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BD24F9-E167-459F-A9E6-88CD923842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C58A85-A4C6-46F5-928C-98DBA783A172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79418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BCB5B-690E-4F10-91CD-6DC1DFE20E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Load Balancing vs Processor Affinity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CF6587-5B42-470E-AE73-AA58ACE713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b="1" dirty="0"/>
              <a:t>Soft affinity </a:t>
            </a:r>
            <a:r>
              <a:rPr lang="en-US" altLang="en-US" dirty="0"/>
              <a:t>– the operating system attempts to keep a thread running on the same processor, but no guarantees.</a:t>
            </a:r>
          </a:p>
          <a:p>
            <a:r>
              <a:rPr lang="en-US" altLang="en-US" b="1" dirty="0"/>
              <a:t>Hard affinity </a:t>
            </a:r>
            <a:r>
              <a:rPr lang="en-US" altLang="en-US" dirty="0"/>
              <a:t>– allows a process to specify a set of processors it may run on.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A5FC02-BC3E-4C7F-B53A-FF04CF577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C58A85-A4C6-46F5-928C-98DBA783A172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46924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2FF046-5F8E-4BD8-A062-41C8E5F888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NUMA and Processor Affinity </a:t>
            </a:r>
          </a:p>
        </p:txBody>
      </p:sp>
      <p:sp>
        <p:nvSpPr>
          <p:cNvPr id="5" name="TextBox 1">
            <a:extLst>
              <a:ext uri="{FF2B5EF4-FFF2-40B4-BE49-F238E27FC236}">
                <a16:creationId xmlns:a16="http://schemas.microsoft.com/office/drawing/2014/main" id="{2E835DD6-E69E-4C72-B95E-E1F1C97BC9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66319" y="1690688"/>
            <a:ext cx="663575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dirty="0">
                <a:solidFill>
                  <a:srgbClr val="000000"/>
                </a:solidFill>
                <a:latin typeface="Verdana" panose="020B0604030504040204" pitchFamily="34" charset="0"/>
              </a:rPr>
              <a:t>If the operating system is </a:t>
            </a:r>
            <a:r>
              <a:rPr kumimoji="0" lang="en-US" altLang="en-US" b="1" dirty="0">
                <a:solidFill>
                  <a:srgbClr val="000000"/>
                </a:solidFill>
                <a:latin typeface="Verdana" panose="020B0604030504040204" pitchFamily="34" charset="0"/>
              </a:rPr>
              <a:t>NUMA-aware</a:t>
            </a:r>
            <a:r>
              <a:rPr kumimoji="0" lang="en-US" altLang="en-US" dirty="0">
                <a:solidFill>
                  <a:srgbClr val="000000"/>
                </a:solidFill>
                <a:latin typeface="Verdana" panose="020B0604030504040204" pitchFamily="34" charset="0"/>
              </a:rPr>
              <a:t>, it will assign </a:t>
            </a:r>
            <a:br>
              <a:rPr kumimoji="0" lang="en-US" altLang="en-US" dirty="0">
                <a:solidFill>
                  <a:srgbClr val="000000"/>
                </a:solidFill>
                <a:latin typeface="Verdana" panose="020B0604030504040204" pitchFamily="34" charset="0"/>
              </a:rPr>
            </a:br>
            <a:r>
              <a:rPr kumimoji="0" lang="en-US" altLang="en-US" dirty="0">
                <a:solidFill>
                  <a:srgbClr val="000000"/>
                </a:solidFill>
                <a:latin typeface="Verdana" panose="020B0604030504040204" pitchFamily="34" charset="0"/>
              </a:rPr>
              <a:t>memory closes to the CPU the thread is running on. </a:t>
            </a:r>
          </a:p>
        </p:txBody>
      </p:sp>
      <p:pic>
        <p:nvPicPr>
          <p:cNvPr id="6" name="Picture 1" descr="6_09.pdf">
            <a:extLst>
              <a:ext uri="{FF2B5EF4-FFF2-40B4-BE49-F238E27FC236}">
                <a16:creationId xmlns:a16="http://schemas.microsoft.com/office/drawing/2014/main" id="{D817E1BD-4DE1-49F7-A030-9D32C658DE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6319" y="2732088"/>
            <a:ext cx="6262687" cy="3760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6BA1474-E745-411A-8F3F-EF66B33B44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C58A85-A4C6-46F5-928C-98DBA783A172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1395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</TotalTime>
  <Words>386</Words>
  <Application>Microsoft Office PowerPoint</Application>
  <PresentationFormat>Widescreen</PresentationFormat>
  <Paragraphs>80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Verdana</vt:lpstr>
      <vt:lpstr>Office Theme</vt:lpstr>
      <vt:lpstr>CPU Scheduling Lesson 3 Multi-Processor Scheduling</vt:lpstr>
      <vt:lpstr>How to define a multiprocessor?</vt:lpstr>
      <vt:lpstr>Homogenous Processors</vt:lpstr>
      <vt:lpstr>Asymmetric Multiprocessing</vt:lpstr>
      <vt:lpstr>Symmetric Multiprocessing (SMP)</vt:lpstr>
      <vt:lpstr>Multithread Multicore System (MMS)</vt:lpstr>
      <vt:lpstr>Logical CPUs</vt:lpstr>
      <vt:lpstr>MMS Two Level Scheduling </vt:lpstr>
      <vt:lpstr>SMP Load Balancing</vt:lpstr>
      <vt:lpstr>Migrate or Not</vt:lpstr>
      <vt:lpstr>Load Balancing vs Processor Affinity</vt:lpstr>
      <vt:lpstr>NUMA and Processor Affinity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David Liu</dc:creator>
  <cp:lastModifiedBy>David Liu</cp:lastModifiedBy>
  <cp:revision>24</cp:revision>
  <dcterms:created xsi:type="dcterms:W3CDTF">2021-10-04T16:09:19Z</dcterms:created>
  <dcterms:modified xsi:type="dcterms:W3CDTF">2024-09-26T15:10:11Z</dcterms:modified>
</cp:coreProperties>
</file>