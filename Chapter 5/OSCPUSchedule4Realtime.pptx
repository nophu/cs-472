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0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183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0C71F-9DF1-4840-B881-5CE2F44696D1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80BD6-7895-4359-8549-6203AB90B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96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80BD6-7895-4359-8549-6203AB90B9B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7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4B70-DE23-4390-9DC7-E735406A8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024F9-B5D5-41AA-AF5D-0F39E1DCE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BDF1A-59DB-4764-9AD1-92A9272FC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41684-E75B-4158-B982-683E7552B505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197F7-4A16-47BD-8381-88040077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26DFF-47A2-448B-B76F-225FC5C6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03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101D-128E-4714-9A9E-32D2A817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2BB93-BAEA-4065-BF6C-D5A5C56ED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2A0F5-89F3-4A72-8EF1-A32447C3F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E005-6372-43D0-BD7E-0D13C58588F0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C2177-FEAA-43F6-BA52-37ADB612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23836-FD6B-4A36-B79C-E99BF983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9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75AD4-7B5C-4C50-BC07-AC76981C1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E336A-6441-4F6E-A1BD-027C50D90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756C0-043F-48A5-9A76-6EE16B94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92C8A-2DA7-404A-8D81-4FB342ACAC75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F815D-5285-4766-9027-446E5F37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6BAF1-9DEF-4979-8EF1-A4D80FBA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7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13ACE-F59D-42EF-9151-96DC2F45D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8EAD0-D524-4257-95C0-9275383E5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CE405-C63D-4435-94CA-255D04F55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B9934-4CD7-4C5C-B610-3FDDE4276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1DB59-8860-426A-9863-68FE4E67D76E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5BEFE-C8B6-451C-977F-19142E50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EC9A0-CC0A-4681-984A-1FCF328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BF9E8-BBDE-4D21-A15B-B0721B05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D2191-4D94-4107-BA24-80860A929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65025-A897-4569-8885-29A123570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7A497-3604-4B34-8B4E-C5F7715C8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79CC7-044C-4BF3-880A-B3B45D0199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497940-AD14-4807-B2CE-5B5E6E6A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46C0-FF8D-4A56-A6C5-846BC6EE6943}" type="datetime1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481CC1-A14A-4D43-9B78-A91248215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9BA7D-287F-494C-BCD4-273FFA8A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9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6E1C-2554-4DA7-8A58-7277D7CD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8973F-F061-485F-B8C7-00FE9618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FAAD-6ABD-4766-9858-4A0A584123BC}" type="datetime1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36C14-2803-4E6D-A915-03F0A318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AAABC-EA5B-4C44-888D-4F8A9F48A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05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BA57F3-560E-4CA0-A6CD-79B76A505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70A9-20E3-43C2-BC4C-203F2A46FE64}" type="datetime1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AAB87C-136D-4B4B-93D5-AFED4472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682BA-5CEB-4154-BC41-80C6DEA1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55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7760-B933-494F-93D6-7368EEB76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9ECF6-8AE8-46E6-821B-AE0E5B152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9A839-F787-4E43-BFAB-AB2F00CA0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11D38-2363-43F7-8BC6-555090DEC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309C-BAFA-4C4C-9614-26B22C0B8C48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375F1-63FD-4836-9E53-E52E9342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DF652-8F92-4D07-9A49-CC1850BC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53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48BF-3B0C-4A22-9C53-456B61499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65B05D-1723-4F5C-977C-A445BA9E5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3CD24-78EF-4A53-AE4D-9C2F5FE7E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0A6F9-56A9-464F-8B70-DDC6E774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BB4C6-D3AE-4E0F-81EB-3224C9FEA7F3}" type="datetime1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FB82D-83C8-48E9-924A-74E18203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29281-4619-46B6-92F5-ADE508D5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6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F7A4-44F2-4193-8EC9-44CAA262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5A8B5-DDD7-4075-95A7-AC0126E03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7535F-8A66-4525-93F0-68BAA11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4968-4669-4F05-AB06-512DAA9EBA4B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94E31-0773-4441-A7C8-A43BE0FE7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7B5F9-88C6-4191-9DCC-D26A93CC7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82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B17DFA-284A-4A2F-AFDB-E7DA54470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C2688-9399-4E2F-9DE1-E4E83751C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1E5E6-76A9-43E1-87C0-FB6A5534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86BDF-8E21-4C17-9091-E450074E4E37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223E5-C350-4E6C-8388-AFB4E3075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62D13-89ED-41E1-923E-CB3DC8D1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7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F6BC9-1F19-4341-B601-BB7E7030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C744A-86D0-4D03-93D7-6E51EB98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1A7C7-2A26-43B2-860C-8AE7904B9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4DB7B-67EC-4908-A71B-525A773F6452}" type="datetime1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0A537-C421-4445-B65C-87772AEF2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C8161-6F3C-4337-971A-29074D81A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71283-EADC-49EF-9891-931E8963A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2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D0B1-28D6-4FAB-A397-0C5BE2CFDC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CPU Scheduling</a:t>
            </a:r>
            <a:br>
              <a:rPr lang="en-US" dirty="0"/>
            </a:br>
            <a:r>
              <a:rPr lang="en-US" dirty="0"/>
              <a:t>Lesson 4</a:t>
            </a:r>
            <a:br>
              <a:rPr lang="en-US" dirty="0"/>
            </a:br>
            <a:r>
              <a:rPr lang="en-US" dirty="0"/>
              <a:t>Read-time Scheduling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53854-3BC4-4462-8CFE-FE33B745D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02E22-FF4A-4E8C-B8B6-950A127F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0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D3733-44F2-4C31-A362-E297D9EA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C5043-913D-4432-A1EB-B8FA2C1E1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34883" cy="4351338"/>
          </a:xfrm>
        </p:spPr>
        <p:txBody>
          <a:bodyPr/>
          <a:lstStyle/>
          <a:p>
            <a:r>
              <a:rPr lang="en-US" dirty="0"/>
              <a:t>Minimize event latency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4616AD-082D-46E8-B23B-CE3DDE8AA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249" y="3028865"/>
            <a:ext cx="3578662" cy="238374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AA2C9-4630-4D12-9540-B5F0E53E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8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2634-52DA-40B9-86DA-32A5D5E69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vs Dispatch Latencies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2BA065-F8BE-473F-B8AE-C15649BE63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38034" y="2202818"/>
            <a:ext cx="3804234" cy="3596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3E18CE-93B7-4B23-8EE5-3C6363707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695" y="2202818"/>
            <a:ext cx="4462659" cy="32799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E84A77-6F60-44C1-B7C9-E65F3D0E2615}"/>
              </a:ext>
            </a:extLst>
          </p:cNvPr>
          <p:cNvSpPr txBox="1"/>
          <p:nvPr/>
        </p:nvSpPr>
        <p:spPr>
          <a:xfrm>
            <a:off x="2687444" y="1690688"/>
            <a:ext cx="1804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 Latency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433E9F-C248-4DDC-991B-8A34F08E6FEE}"/>
              </a:ext>
            </a:extLst>
          </p:cNvPr>
          <p:cNvSpPr txBox="1"/>
          <p:nvPr/>
        </p:nvSpPr>
        <p:spPr>
          <a:xfrm>
            <a:off x="7311483" y="1690688"/>
            <a:ext cx="1766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Dispatch Latency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F41C93-407F-43ED-B1F4-CB1EBD74A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938" y="5482750"/>
            <a:ext cx="2658086" cy="118882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247BA8-B920-41F0-8340-6729C653FEC6}"/>
              </a:ext>
            </a:extLst>
          </p:cNvPr>
          <p:cNvCxnSpPr/>
          <p:nvPr/>
        </p:nvCxnSpPr>
        <p:spPr>
          <a:xfrm flipH="1">
            <a:off x="7593980" y="4560849"/>
            <a:ext cx="312235" cy="921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8AB12B-0E24-403D-99F8-8DCAB4DCA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67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4AFF-57EF-4468-B355-D4B935A2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vs Hard Real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BC067-89BA-49B8-92F1-643D1897B5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Soft real-time</a:t>
            </a:r>
          </a:p>
          <a:p>
            <a:pPr lvl="1"/>
            <a:r>
              <a:rPr lang="en-US" dirty="0"/>
              <a:t>Support preemptive</a:t>
            </a:r>
          </a:p>
          <a:p>
            <a:pPr lvl="1"/>
            <a:r>
              <a:rPr lang="en-US" dirty="0"/>
              <a:t>Priority-based scheduling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154E1-BBC6-4511-AFC7-E22EDA5CB8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Hard real-time</a:t>
            </a:r>
          </a:p>
          <a:p>
            <a:pPr lvl="1"/>
            <a:r>
              <a:rPr lang="en-US" dirty="0"/>
              <a:t>Support preemptive</a:t>
            </a:r>
          </a:p>
          <a:p>
            <a:pPr lvl="1"/>
            <a:r>
              <a:rPr lang="en-US" dirty="0"/>
              <a:t>Priority-based scheduling will not guarantee the hard deadline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10BAA-2F8A-42B2-8A3B-B13E3871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8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3052-7255-425D-9135-76981EAA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Model and Hard Real-Time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8556A1-CB35-4663-A887-AFFDC4C3B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77663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Processes have new characteristics: </a:t>
            </a:r>
            <a:r>
              <a:rPr lang="en-US" altLang="en-US" b="1" dirty="0">
                <a:solidFill>
                  <a:srgbClr val="3366FF"/>
                </a:solidFill>
              </a:rPr>
              <a:t>periodic</a:t>
            </a:r>
            <a:r>
              <a:rPr lang="en-US" altLang="en-US" dirty="0"/>
              <a:t> ones require CPU at constant intervals</a:t>
            </a:r>
          </a:p>
          <a:p>
            <a:pPr lvl="1"/>
            <a:r>
              <a:rPr lang="en-US" altLang="en-US" sz="2000" dirty="0"/>
              <a:t>Has processing time </a:t>
            </a:r>
            <a:r>
              <a:rPr lang="en-US" altLang="en-US" sz="2000" i="1" dirty="0"/>
              <a:t>t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FF0000"/>
                </a:solidFill>
              </a:rPr>
              <a:t>deadline</a:t>
            </a:r>
            <a:r>
              <a:rPr lang="en-US" altLang="en-US" sz="2000" dirty="0"/>
              <a:t> </a:t>
            </a:r>
            <a:r>
              <a:rPr lang="en-US" altLang="en-US" sz="2000" i="1" dirty="0"/>
              <a:t>d, </a:t>
            </a:r>
            <a:r>
              <a:rPr lang="en-US" altLang="en-US" sz="2000" dirty="0">
                <a:solidFill>
                  <a:schemeClr val="accent1"/>
                </a:solidFill>
              </a:rPr>
              <a:t>period</a:t>
            </a:r>
            <a:r>
              <a:rPr lang="en-US" altLang="en-US" sz="2000" dirty="0"/>
              <a:t> </a:t>
            </a:r>
            <a:r>
              <a:rPr lang="en-US" altLang="en-US" sz="2000" i="1" dirty="0"/>
              <a:t>p</a:t>
            </a:r>
          </a:p>
          <a:p>
            <a:pPr lvl="1"/>
            <a:r>
              <a:rPr lang="en-US" altLang="en-US" sz="2000" dirty="0"/>
              <a:t>0 ≤ </a:t>
            </a:r>
            <a:r>
              <a:rPr lang="en-US" altLang="en-US" sz="2000" i="1" dirty="0"/>
              <a:t>t</a:t>
            </a:r>
            <a:r>
              <a:rPr lang="en-US" altLang="en-US" sz="2000" dirty="0"/>
              <a:t> ≤ </a:t>
            </a:r>
            <a:r>
              <a:rPr lang="en-US" altLang="en-US" sz="2000" i="1" dirty="0"/>
              <a:t>d</a:t>
            </a:r>
            <a:r>
              <a:rPr lang="en-US" altLang="en-US" sz="2000" dirty="0"/>
              <a:t> ≤ </a:t>
            </a:r>
            <a:r>
              <a:rPr lang="en-US" altLang="en-US" sz="2000" i="1" dirty="0"/>
              <a:t>p</a:t>
            </a:r>
          </a:p>
          <a:p>
            <a:pPr lvl="1"/>
            <a:r>
              <a:rPr lang="en-US" altLang="en-US" sz="2000" dirty="0">
                <a:solidFill>
                  <a:schemeClr val="accent1"/>
                </a:solidFill>
              </a:rPr>
              <a:t>Rate</a:t>
            </a:r>
            <a:r>
              <a:rPr lang="en-US" altLang="en-US" sz="2000" dirty="0"/>
              <a:t> of periodic task is 1/p</a:t>
            </a:r>
          </a:p>
          <a:p>
            <a:pPr lvl="1"/>
            <a:r>
              <a:rPr lang="en-US" altLang="en-US" sz="2000" dirty="0"/>
              <a:t>Note: processing time t does not have to start at the beginning of each period.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BDB7FC-EF36-45EE-B241-D1A187769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069" y="4287489"/>
            <a:ext cx="6810741" cy="20283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79C952-2D0A-412F-B028-D89222B2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3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93CA-4676-49DA-A135-7F7EAF2A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Real-time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6B2CE-3F83-41D9-A690-07CFE46BC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Rate monotonic scheduling</a:t>
            </a:r>
          </a:p>
          <a:p>
            <a:r>
              <a:rPr lang="en-US" dirty="0"/>
              <a:t>Earliest Deadline First Scheduling (EDF)</a:t>
            </a:r>
          </a:p>
          <a:p>
            <a:r>
              <a:rPr lang="en-US" dirty="0"/>
              <a:t>Proportional Share Scheduling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F7B7D-1102-49CF-B23C-54BCA444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5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3E49-8548-4FBE-9E9F-A1A12547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Monotonic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66459-AE78-45E8-8224-A30875E87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Shorter period -&gt; higher priority</a:t>
            </a:r>
          </a:p>
          <a:p>
            <a:pPr lvl="1"/>
            <a:r>
              <a:rPr lang="en-US" altLang="en-US"/>
              <a:t>p</a:t>
            </a:r>
            <a:r>
              <a:rPr lang="en-US" altLang="en-US" baseline="-25000"/>
              <a:t>1</a:t>
            </a:r>
            <a:r>
              <a:rPr lang="en-US" altLang="en-US"/>
              <a:t> = d</a:t>
            </a:r>
            <a:r>
              <a:rPr lang="en-US" altLang="en-US" baseline="-25000"/>
              <a:t>1</a:t>
            </a:r>
            <a:r>
              <a:rPr lang="en-US" altLang="en-US"/>
              <a:t> = 50, t</a:t>
            </a:r>
            <a:r>
              <a:rPr lang="en-US" altLang="en-US" baseline="-25000"/>
              <a:t>1</a:t>
            </a:r>
            <a:r>
              <a:rPr lang="en-US" altLang="en-US"/>
              <a:t> = 20, </a:t>
            </a:r>
          </a:p>
          <a:p>
            <a:pPr lvl="1"/>
            <a:r>
              <a:rPr lang="en-US" altLang="en-US"/>
              <a:t>p</a:t>
            </a:r>
            <a:r>
              <a:rPr lang="en-US" altLang="en-US" baseline="-25000"/>
              <a:t>2</a:t>
            </a:r>
            <a:r>
              <a:rPr lang="en-US" altLang="en-US"/>
              <a:t> = d</a:t>
            </a:r>
            <a:r>
              <a:rPr lang="en-US" altLang="en-US" baseline="-25000"/>
              <a:t>2</a:t>
            </a:r>
            <a:r>
              <a:rPr lang="en-US" altLang="en-US"/>
              <a:t> = 100, t</a:t>
            </a:r>
            <a:r>
              <a:rPr lang="en-US" altLang="en-US" baseline="-25000"/>
              <a:t>2</a:t>
            </a:r>
            <a:r>
              <a:rPr lang="en-US" altLang="en-US"/>
              <a:t> = 35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CPU utilization: 20/50 + 35/100 = 0.75 &lt; 1.0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B5E88-FFF0-4C44-B4CA-6750B89AAEDC}"/>
              </a:ext>
            </a:extLst>
          </p:cNvPr>
          <p:cNvSpPr txBox="1"/>
          <p:nvPr/>
        </p:nvSpPr>
        <p:spPr>
          <a:xfrm>
            <a:off x="5681546" y="2469995"/>
            <a:ext cx="223582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dirty="0"/>
              <a:t>p</a:t>
            </a:r>
            <a:r>
              <a:rPr lang="en-US" altLang="en-US" baseline="-25000" dirty="0"/>
              <a:t>1</a:t>
            </a:r>
            <a:r>
              <a:rPr lang="en-US" dirty="0"/>
              <a:t> has higher priority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473C0326-5F5F-41FA-8D4C-77D1B4895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77" y="3468996"/>
            <a:ext cx="10515600" cy="1587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303AD2-31E7-4801-A760-7FE2E9520306}"/>
              </a:ext>
            </a:extLst>
          </p:cNvPr>
          <p:cNvSpPr/>
          <p:nvPr/>
        </p:nvSpPr>
        <p:spPr>
          <a:xfrm>
            <a:off x="7917366" y="17561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en-US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= d</a:t>
            </a:r>
            <a:r>
              <a:rPr lang="en-US" altLang="en-US" baseline="-25000" dirty="0"/>
              <a:t>1</a:t>
            </a:r>
            <a:r>
              <a:rPr lang="en-US" altLang="en-US" dirty="0"/>
              <a:t> = 50, t</a:t>
            </a:r>
            <a:r>
              <a:rPr lang="en-US" altLang="en-US" baseline="-25000" dirty="0"/>
              <a:t>1</a:t>
            </a:r>
            <a:r>
              <a:rPr lang="en-US" altLang="en-US" dirty="0"/>
              <a:t> = </a:t>
            </a:r>
            <a:r>
              <a:rPr lang="en-US" altLang="en-US" strike="sngStrike" dirty="0">
                <a:solidFill>
                  <a:srgbClr val="FF0000"/>
                </a:solidFill>
              </a:rPr>
              <a:t>20 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25, </a:t>
            </a:r>
          </a:p>
          <a:p>
            <a:pPr lvl="1"/>
            <a:r>
              <a:rPr lang="en-US" altLang="en-US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 = d</a:t>
            </a:r>
            <a:r>
              <a:rPr lang="en-US" altLang="en-US" baseline="-25000" dirty="0"/>
              <a:t>2</a:t>
            </a:r>
            <a:r>
              <a:rPr lang="en-US" altLang="en-US" dirty="0"/>
              <a:t> = </a:t>
            </a:r>
            <a:r>
              <a:rPr lang="en-US" altLang="en-US" strike="sngStrike" dirty="0">
                <a:solidFill>
                  <a:srgbClr val="FF0000"/>
                </a:solidFill>
              </a:rPr>
              <a:t>100</a:t>
            </a:r>
            <a:r>
              <a:rPr lang="en-US" altLang="en-US" dirty="0"/>
              <a:t> 80, t</a:t>
            </a:r>
            <a:r>
              <a:rPr lang="en-US" altLang="en-US" baseline="-25000" dirty="0"/>
              <a:t>2</a:t>
            </a:r>
            <a:r>
              <a:rPr lang="en-US" altLang="en-US" dirty="0"/>
              <a:t> = 35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188E1-DAD4-428F-A125-81942DE0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7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A4B7-828E-4398-B74A-229E011BB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Monotonic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DFEE0-D350-43C4-A656-BCF9EAF57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= d</a:t>
            </a:r>
            <a:r>
              <a:rPr lang="en-US" altLang="en-US" baseline="-25000" dirty="0"/>
              <a:t>1</a:t>
            </a:r>
            <a:r>
              <a:rPr lang="en-US" altLang="en-US" dirty="0"/>
              <a:t> = 50, t</a:t>
            </a:r>
            <a:r>
              <a:rPr lang="en-US" altLang="en-US" baseline="-25000" dirty="0"/>
              <a:t>1</a:t>
            </a:r>
            <a:r>
              <a:rPr lang="en-US" altLang="en-US" dirty="0"/>
              <a:t> = </a:t>
            </a:r>
            <a:r>
              <a:rPr lang="en-US" altLang="en-US" strike="sngStrike" dirty="0">
                <a:solidFill>
                  <a:srgbClr val="FF0000"/>
                </a:solidFill>
              </a:rPr>
              <a:t>20 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25, </a:t>
            </a:r>
          </a:p>
          <a:p>
            <a:pPr lvl="1"/>
            <a:r>
              <a:rPr lang="en-US" altLang="en-US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 = d</a:t>
            </a:r>
            <a:r>
              <a:rPr lang="en-US" altLang="en-US" baseline="-25000" dirty="0"/>
              <a:t>2</a:t>
            </a:r>
            <a:r>
              <a:rPr lang="en-US" altLang="en-US" dirty="0"/>
              <a:t> = </a:t>
            </a:r>
            <a:r>
              <a:rPr lang="en-US" altLang="en-US" strike="sngStrike" dirty="0">
                <a:solidFill>
                  <a:srgbClr val="FF0000"/>
                </a:solidFill>
              </a:rPr>
              <a:t>100</a:t>
            </a:r>
            <a:r>
              <a:rPr lang="en-US" altLang="en-US" dirty="0"/>
              <a:t> 80, t</a:t>
            </a:r>
            <a:r>
              <a:rPr lang="en-US" altLang="en-US" baseline="-25000" dirty="0"/>
              <a:t>2</a:t>
            </a:r>
            <a:r>
              <a:rPr lang="en-US" altLang="en-US" dirty="0"/>
              <a:t> = 35</a:t>
            </a:r>
          </a:p>
          <a:p>
            <a:r>
              <a:rPr lang="en-US" dirty="0"/>
              <a:t>CPU utilization: 25/50 + 35/80 = 0.94 </a:t>
            </a:r>
            <a:r>
              <a:rPr lang="en-US" dirty="0">
                <a:solidFill>
                  <a:srgbClr val="FF0000"/>
                </a:solidFill>
              </a:rPr>
              <a:t>&lt; 1.0</a:t>
            </a:r>
          </a:p>
          <a:p>
            <a:r>
              <a:rPr lang="en-US" dirty="0"/>
              <a:t>Can RM schedules this meeting deadlines?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893C9-23FF-4943-B409-2F92B36AA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92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A4B7-828E-4398-B74A-229E011BB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Monotonic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DFEE0-D350-43C4-A656-BCF9EAF57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= d</a:t>
            </a:r>
            <a:r>
              <a:rPr lang="en-US" altLang="en-US" baseline="-25000" dirty="0"/>
              <a:t>1</a:t>
            </a:r>
            <a:r>
              <a:rPr lang="en-US" altLang="en-US" dirty="0"/>
              <a:t> = 50, t</a:t>
            </a:r>
            <a:r>
              <a:rPr lang="en-US" altLang="en-US" baseline="-25000" dirty="0"/>
              <a:t>1</a:t>
            </a:r>
            <a:r>
              <a:rPr lang="en-US" altLang="en-US" dirty="0"/>
              <a:t> = </a:t>
            </a:r>
            <a:r>
              <a:rPr lang="en-US" altLang="en-US" strike="sngStrike" dirty="0">
                <a:solidFill>
                  <a:srgbClr val="FF0000"/>
                </a:solidFill>
              </a:rPr>
              <a:t>20 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25, </a:t>
            </a:r>
          </a:p>
          <a:p>
            <a:pPr lvl="1"/>
            <a:r>
              <a:rPr lang="en-US" altLang="en-US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 = d</a:t>
            </a:r>
            <a:r>
              <a:rPr lang="en-US" altLang="en-US" baseline="-25000" dirty="0"/>
              <a:t>2</a:t>
            </a:r>
            <a:r>
              <a:rPr lang="en-US" altLang="en-US" dirty="0"/>
              <a:t> = </a:t>
            </a:r>
            <a:r>
              <a:rPr lang="en-US" altLang="en-US" strike="sngStrike" dirty="0">
                <a:solidFill>
                  <a:srgbClr val="FF0000"/>
                </a:solidFill>
              </a:rPr>
              <a:t>100</a:t>
            </a:r>
            <a:r>
              <a:rPr lang="en-US" altLang="en-US" dirty="0"/>
              <a:t> 80, t</a:t>
            </a:r>
            <a:r>
              <a:rPr lang="en-US" altLang="en-US" baseline="-25000" dirty="0"/>
              <a:t>2</a:t>
            </a:r>
            <a:r>
              <a:rPr lang="en-US" altLang="en-US" dirty="0"/>
              <a:t> = 35</a:t>
            </a:r>
          </a:p>
          <a:p>
            <a:r>
              <a:rPr lang="en-US" dirty="0"/>
              <a:t>CPU utilization: 25/50 + 35/100 = 0.94 </a:t>
            </a:r>
            <a:r>
              <a:rPr lang="en-US" dirty="0">
                <a:solidFill>
                  <a:srgbClr val="FF0000"/>
                </a:solidFill>
              </a:rPr>
              <a:t>&lt; 1.0</a:t>
            </a:r>
          </a:p>
          <a:p>
            <a:r>
              <a:rPr lang="en-US" dirty="0"/>
              <a:t>Can RM schedules this meeting deadlines?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6239B475-11E8-49BA-BDAC-C2CF458B6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255647"/>
            <a:ext cx="10251281" cy="1568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B70DD-9897-4607-8ADC-FA123B116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98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823D4-0B62-4A35-9DD3-A97FA546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Monotonic Scheduling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8AC005-367C-44B8-8466-1124653B8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Optimal</a:t>
                </a:r>
              </a:p>
              <a:p>
                <a:pPr lvl="1"/>
                <a:r>
                  <a:rPr lang="en-US" dirty="0"/>
                  <a:t>If a set of processes cannot be scheduled by this algorithm, it cannot be scheduled by any other algorithms that assigns </a:t>
                </a:r>
                <a:r>
                  <a:rPr lang="en-US" dirty="0">
                    <a:solidFill>
                      <a:srgbClr val="FF0000"/>
                    </a:solidFill>
                  </a:rPr>
                  <a:t>static priorities</a:t>
                </a:r>
              </a:p>
              <a:p>
                <a:r>
                  <a:rPr lang="en-US" dirty="0"/>
                  <a:t>Worst-case CPU utilization scheduling is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 = 1, 100%</a:t>
                </a:r>
              </a:p>
              <a:p>
                <a:pPr lvl="1"/>
                <a:r>
                  <a:rPr lang="en-US" dirty="0"/>
                  <a:t>N = 2, 83%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8AC005-367C-44B8-8466-1124653B8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42B86-3741-4F8C-A51B-30807165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47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184A-C652-4AC2-A4B2-383185AE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Earliest Deadline First Scheduling (EDF)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F120A-98E4-49E3-9FC2-814015BDD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rgbClr val="FF0000"/>
                </a:solidFill>
              </a:rPr>
              <a:t>Priorities are assigned according to deadlines</a:t>
            </a:r>
          </a:p>
          <a:p>
            <a:pPr lvl="1"/>
            <a:r>
              <a:rPr lang="en-US" altLang="en-US" sz="2800" dirty="0"/>
              <a:t>the earlier the deadline, the higher the priority;</a:t>
            </a:r>
          </a:p>
          <a:p>
            <a:pPr lvl="1"/>
            <a:r>
              <a:rPr lang="en-US" altLang="en-US" sz="2800" dirty="0"/>
              <a:t>p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= d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= 50, t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= 20, </a:t>
            </a:r>
          </a:p>
          <a:p>
            <a:pPr lvl="1"/>
            <a:r>
              <a:rPr lang="en-US" altLang="en-US" sz="2800" dirty="0"/>
              <a:t>p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= d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= 100, t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= 35</a:t>
            </a:r>
          </a:p>
          <a:p>
            <a:pPr lvl="1"/>
            <a:endParaRPr lang="en-US" altLang="en-US" sz="2800" dirty="0"/>
          </a:p>
          <a:p>
            <a:r>
              <a:rPr lang="en-US" altLang="en-US" sz="3200" dirty="0"/>
              <a:t>Please how two process are scheduled?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8B9EC-8F65-4E8A-872C-B26BB197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15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184A-C652-4AC2-A4B2-383185AE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Earliest Deadline First Scheduling (EDF)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F120A-98E4-49E3-9FC2-814015BDD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rgbClr val="FF0000"/>
                </a:solidFill>
              </a:rPr>
              <a:t>Priorities are assigned according to deadlines</a:t>
            </a:r>
          </a:p>
          <a:p>
            <a:pPr lvl="1"/>
            <a:r>
              <a:rPr lang="en-US" altLang="en-US" sz="2800" dirty="0"/>
              <a:t>the earlier the deadline, the higher the priority;</a:t>
            </a:r>
          </a:p>
          <a:p>
            <a:pPr marL="457200" lvl="1" indent="0">
              <a:buNone/>
            </a:pPr>
            <a:endParaRPr lang="en-US" altLang="en-US" sz="2800" dirty="0"/>
          </a:p>
          <a:p>
            <a:pPr lvl="1"/>
            <a:r>
              <a:rPr lang="en-US" altLang="en-US" sz="2800" dirty="0"/>
              <a:t>p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= d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= 50, t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= </a:t>
            </a:r>
            <a:r>
              <a:rPr lang="en-US" altLang="en-US" sz="2800" strike="sngStrike" dirty="0">
                <a:solidFill>
                  <a:srgbClr val="FF0000"/>
                </a:solidFill>
              </a:rPr>
              <a:t>20 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/>
              <a:t>25, </a:t>
            </a:r>
          </a:p>
          <a:p>
            <a:pPr lvl="1"/>
            <a:r>
              <a:rPr lang="en-US" altLang="en-US" sz="2800" dirty="0"/>
              <a:t>p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= d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= </a:t>
            </a:r>
            <a:r>
              <a:rPr lang="en-US" altLang="en-US" sz="2800" strike="sngStrike" dirty="0">
                <a:solidFill>
                  <a:srgbClr val="FF0000"/>
                </a:solidFill>
              </a:rPr>
              <a:t>100</a:t>
            </a:r>
            <a:r>
              <a:rPr lang="en-US" altLang="en-US" sz="2800" dirty="0"/>
              <a:t> 80, t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= 35</a:t>
            </a:r>
          </a:p>
          <a:p>
            <a:pPr lvl="1"/>
            <a:endParaRPr lang="en-US" altLang="en-US" sz="2800" dirty="0"/>
          </a:p>
          <a:p>
            <a:r>
              <a:rPr lang="en-US" altLang="en-US" sz="3200" dirty="0"/>
              <a:t>Can EDF schedules and meet both processes’ deadlines??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63FD2-A503-406A-9740-01DDCC25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5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184A-C652-4AC2-A4B2-383185AE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Earliest </a:t>
            </a:r>
            <a:r>
              <a:rPr lang="en-US" dirty="0"/>
              <a:t>Deadline First Scheduling (EDF)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F120A-98E4-49E3-9FC2-814015BDD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rgbClr val="FF0000"/>
                </a:solidFill>
              </a:rPr>
              <a:t>Priorities are assigned according to deadlines</a:t>
            </a:r>
          </a:p>
          <a:p>
            <a:pPr lvl="1"/>
            <a:r>
              <a:rPr lang="en-US" altLang="en-US" sz="2800" dirty="0"/>
              <a:t>the earlier the deadline, the higher the priority;</a:t>
            </a:r>
          </a:p>
          <a:p>
            <a:pPr lvl="1"/>
            <a:r>
              <a:rPr lang="en-US" altLang="en-US" sz="2800" dirty="0"/>
              <a:t>p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= d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= 50, t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= </a:t>
            </a:r>
            <a:r>
              <a:rPr lang="en-US" altLang="en-US" sz="2800" strike="sngStrike" dirty="0">
                <a:solidFill>
                  <a:srgbClr val="FF0000"/>
                </a:solidFill>
              </a:rPr>
              <a:t>20 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/>
              <a:t>25, </a:t>
            </a:r>
          </a:p>
          <a:p>
            <a:pPr lvl="1"/>
            <a:r>
              <a:rPr lang="en-US" altLang="en-US" sz="2800" dirty="0"/>
              <a:t>p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= d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= </a:t>
            </a:r>
            <a:r>
              <a:rPr lang="en-US" altLang="en-US" sz="2800" strike="sngStrike" dirty="0">
                <a:solidFill>
                  <a:srgbClr val="FF0000"/>
                </a:solidFill>
              </a:rPr>
              <a:t>100</a:t>
            </a:r>
            <a:r>
              <a:rPr lang="en-US" altLang="en-US" sz="2800" dirty="0"/>
              <a:t> 80, t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= 35</a:t>
            </a:r>
          </a:p>
          <a:p>
            <a:r>
              <a:rPr lang="en-US" altLang="en-US" sz="3200" dirty="0"/>
              <a:t>Yes. We can.</a:t>
            </a:r>
          </a:p>
          <a:p>
            <a:endParaRPr lang="en-US" altLang="en-US" sz="32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7CB07-22D7-4837-BADB-5DEAE5D3E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157" y="4545111"/>
            <a:ext cx="8423805" cy="128646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31DB9-A4CC-4A15-87A3-3825A7C3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80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D555-61B5-4186-9775-25EF608F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Proportional Share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CF3-4DE2-4C6B-8BDE-92AB25C19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/>
              <a:t>T</a:t>
            </a:r>
            <a:r>
              <a:rPr lang="en-US" altLang="en-US" dirty="0"/>
              <a:t> shares are allocated among all processes in the system</a:t>
            </a:r>
          </a:p>
          <a:p>
            <a:r>
              <a:rPr lang="en-US" altLang="en-US" dirty="0"/>
              <a:t>An application receives </a:t>
            </a:r>
            <a:r>
              <a:rPr lang="en-US" altLang="en-US" i="1" dirty="0"/>
              <a:t>N</a:t>
            </a:r>
            <a:r>
              <a:rPr lang="en-US" altLang="en-US" dirty="0"/>
              <a:t> shares where </a:t>
            </a:r>
            <a:r>
              <a:rPr lang="en-US" altLang="en-US" i="1" dirty="0"/>
              <a:t>N &lt; T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This ensures each application will receive </a:t>
            </a:r>
            <a:r>
              <a:rPr lang="en-US" altLang="en-US" b="1" i="1" dirty="0"/>
              <a:t>N</a:t>
            </a:r>
            <a:r>
              <a:rPr lang="en-US" altLang="en-US" i="1" dirty="0"/>
              <a:t> / T</a:t>
            </a:r>
            <a:r>
              <a:rPr lang="en-US" altLang="en-US" dirty="0"/>
              <a:t> of the total processor time</a:t>
            </a:r>
          </a:p>
          <a:p>
            <a:r>
              <a:rPr lang="en-US" altLang="en-US" dirty="0"/>
              <a:t>T = 100</a:t>
            </a:r>
          </a:p>
          <a:p>
            <a:r>
              <a:rPr lang="en-US" altLang="en-US" dirty="0"/>
              <a:t>Applications: A = 50, B = 15, C = 20</a:t>
            </a:r>
          </a:p>
          <a:p>
            <a:r>
              <a:rPr lang="en-US" altLang="en-US" dirty="0"/>
              <a:t>Essentially </a:t>
            </a:r>
            <a:r>
              <a:rPr lang="en-US" altLang="en-US" dirty="0">
                <a:solidFill>
                  <a:srgbClr val="FF0000"/>
                </a:solidFill>
              </a:rPr>
              <a:t>admission-controlled policy </a:t>
            </a:r>
            <a:r>
              <a:rPr lang="en-US" altLang="en-US" dirty="0"/>
              <a:t>only admit a new process if sufficient shares are available.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2EF32-E147-4D56-8E7B-E488EE0C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283-EADC-49EF-9891-931E8963A8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29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555</Words>
  <Application>Microsoft Office PowerPoint</Application>
  <PresentationFormat>Widescreen</PresentationFormat>
  <Paragraphs>99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CPU Scheduling Lesson 4 Read-time Scheduling</vt:lpstr>
      <vt:lpstr>Real-Time Scheduling</vt:lpstr>
      <vt:lpstr>Interrupt vs Dispatch Latencies</vt:lpstr>
      <vt:lpstr>Soft vs Hard Real time</vt:lpstr>
      <vt:lpstr>Process Model and Hard Real-Time</vt:lpstr>
      <vt:lpstr>Hard Real-time Scheduling</vt:lpstr>
      <vt:lpstr>Rate Monotonic Scheduling</vt:lpstr>
      <vt:lpstr>Rate Monotonic Scheduling</vt:lpstr>
      <vt:lpstr>Rate Monotonic Scheduling</vt:lpstr>
      <vt:lpstr>Rate Monotonic Scheduling Properties</vt:lpstr>
      <vt:lpstr>Earliest Deadline First Scheduling (EDF)</vt:lpstr>
      <vt:lpstr>Earliest Deadline First Scheduling (EDF)</vt:lpstr>
      <vt:lpstr>Earliest Deadline First Scheduling (EDF)</vt:lpstr>
      <vt:lpstr>Proportional Share Scheduling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Lesson 3 Read-time Scheduling</dc:title>
  <dc:creator>David Liu</dc:creator>
  <cp:lastModifiedBy>David Liu</cp:lastModifiedBy>
  <cp:revision>18</cp:revision>
  <dcterms:created xsi:type="dcterms:W3CDTF">2021-10-06T15:28:19Z</dcterms:created>
  <dcterms:modified xsi:type="dcterms:W3CDTF">2024-09-26T15:08:06Z</dcterms:modified>
</cp:coreProperties>
</file>