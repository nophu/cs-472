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266" r:id="rId3"/>
    <p:sldId id="267" r:id="rId4"/>
    <p:sldId id="268" r:id="rId5"/>
    <p:sldId id="340" r:id="rId6"/>
    <p:sldId id="341" r:id="rId7"/>
    <p:sldId id="342" r:id="rId8"/>
    <p:sldId id="343" r:id="rId9"/>
    <p:sldId id="412" r:id="rId10"/>
    <p:sldId id="347" r:id="rId11"/>
    <p:sldId id="411" r:id="rId12"/>
    <p:sldId id="344" r:id="rId13"/>
    <p:sldId id="352" r:id="rId14"/>
    <p:sldId id="353" r:id="rId15"/>
    <p:sldId id="348" r:id="rId16"/>
    <p:sldId id="349" r:id="rId17"/>
    <p:sldId id="399" r:id="rId18"/>
    <p:sldId id="354" r:id="rId19"/>
    <p:sldId id="400" r:id="rId20"/>
    <p:sldId id="356" r:id="rId21"/>
    <p:sldId id="357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8872" autoAdjust="0"/>
  </p:normalViewPr>
  <p:slideViewPr>
    <p:cSldViewPr snapToGrid="0">
      <p:cViewPr varScale="1">
        <p:scale>
          <a:sx n="58" d="100"/>
          <a:sy n="58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6D6037-1683-4293-8175-1DE01ED3814C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28F6A7-1494-49BC-B42D-3F7947E151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06985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>
            <a:extLst>
              <a:ext uri="{FF2B5EF4-FFF2-40B4-BE49-F238E27FC236}">
                <a16:creationId xmlns:a16="http://schemas.microsoft.com/office/drawing/2014/main" id="{031A9021-5CE6-45AE-BF8F-3D2217ACB49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DF86818-002E-414C-A73F-7FF0D792F782}" type="slidenum">
              <a:rPr lang="en-US" altLang="en-US">
                <a:latin typeface="Times New Roman" panose="02020603050405020304" pitchFamily="18" charset="0"/>
              </a:rPr>
              <a:pPr/>
              <a:t>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73A4ADED-20BB-40DE-BE96-A636742C3C7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>
            <a:extLst>
              <a:ext uri="{FF2B5EF4-FFF2-40B4-BE49-F238E27FC236}">
                <a16:creationId xmlns:a16="http://schemas.microsoft.com/office/drawing/2014/main" id="{37FA9227-A311-4945-8957-336E488E20D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>
            <a:extLst>
              <a:ext uri="{FF2B5EF4-FFF2-40B4-BE49-F238E27FC236}">
                <a16:creationId xmlns:a16="http://schemas.microsoft.com/office/drawing/2014/main" id="{733359FD-4E7E-434F-9FCC-567932F684A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F3BE7A4-F35F-4839-95C2-32FD539BF9E9}" type="slidenum">
              <a:rPr lang="en-US" altLang="en-US">
                <a:latin typeface="Times New Roman" panose="02020603050405020304" pitchFamily="18" charset="0"/>
              </a:rPr>
              <a:pPr/>
              <a:t>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6627" name="Rectangle 2">
            <a:extLst>
              <a:ext uri="{FF2B5EF4-FFF2-40B4-BE49-F238E27FC236}">
                <a16:creationId xmlns:a16="http://schemas.microsoft.com/office/drawing/2014/main" id="{7083DF89-66F9-489D-971F-DA201AC15BA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>
            <a:extLst>
              <a:ext uri="{FF2B5EF4-FFF2-40B4-BE49-F238E27FC236}">
                <a16:creationId xmlns:a16="http://schemas.microsoft.com/office/drawing/2014/main" id="{CF17E48C-44B9-42C1-8F4F-49B10EA17AF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>
            <a:extLst>
              <a:ext uri="{FF2B5EF4-FFF2-40B4-BE49-F238E27FC236}">
                <a16:creationId xmlns:a16="http://schemas.microsoft.com/office/drawing/2014/main" id="{3FCEAF34-393B-4388-91A6-49894AB66C7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19D9415-A4D0-4D4B-BF73-41D35F3D8697}" type="slidenum">
              <a:rPr lang="en-US" altLang="en-US">
                <a:latin typeface="Times New Roman" panose="02020603050405020304" pitchFamily="18" charset="0"/>
              </a:rPr>
              <a:pPr/>
              <a:t>7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8675" name="Rectangle 2">
            <a:extLst>
              <a:ext uri="{FF2B5EF4-FFF2-40B4-BE49-F238E27FC236}">
                <a16:creationId xmlns:a16="http://schemas.microsoft.com/office/drawing/2014/main" id="{3D553B92-4AD1-477A-A9C1-7EFA71B7B0B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6" name="Rectangle 3">
            <a:extLst>
              <a:ext uri="{FF2B5EF4-FFF2-40B4-BE49-F238E27FC236}">
                <a16:creationId xmlns:a16="http://schemas.microsoft.com/office/drawing/2014/main" id="{902A066B-C0DA-47E3-B019-CCE3AF4323E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>
            <a:extLst>
              <a:ext uri="{FF2B5EF4-FFF2-40B4-BE49-F238E27FC236}">
                <a16:creationId xmlns:a16="http://schemas.microsoft.com/office/drawing/2014/main" id="{C5937E2D-29BE-4069-BFAC-3C5E3DA422A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DD8163DF-A284-4EA5-9262-8EED27C47071}" type="slidenum">
              <a:rPr lang="en-US" altLang="en-US">
                <a:latin typeface="Times New Roman" panose="02020603050405020304" pitchFamily="18" charset="0"/>
              </a:rPr>
              <a:pPr/>
              <a:t>8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CFF49B41-A9A5-443F-9E35-9485A126185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>
            <a:extLst>
              <a:ext uri="{FF2B5EF4-FFF2-40B4-BE49-F238E27FC236}">
                <a16:creationId xmlns:a16="http://schemas.microsoft.com/office/drawing/2014/main" id="{7B3EE7EA-9898-4C32-BE7B-C34C19BBE0F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>
            <a:extLst>
              <a:ext uri="{FF2B5EF4-FFF2-40B4-BE49-F238E27FC236}">
                <a16:creationId xmlns:a16="http://schemas.microsoft.com/office/drawing/2014/main" id="{FD107841-AE5F-4775-A584-24076CB2ACD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7A524DA-BD09-4868-9F37-D36EC5049421}" type="slidenum">
              <a:rPr lang="en-US" altLang="en-US">
                <a:latin typeface="Times New Roman" panose="02020603050405020304" pitchFamily="18" charset="0"/>
              </a:rPr>
              <a:pPr/>
              <a:t>10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8915" name="Rectangle 2">
            <a:extLst>
              <a:ext uri="{FF2B5EF4-FFF2-40B4-BE49-F238E27FC236}">
                <a16:creationId xmlns:a16="http://schemas.microsoft.com/office/drawing/2014/main" id="{EFCFA52B-222E-468C-B94C-A9AC825FB4D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6" name="Rectangle 3">
            <a:extLst>
              <a:ext uri="{FF2B5EF4-FFF2-40B4-BE49-F238E27FC236}">
                <a16:creationId xmlns:a16="http://schemas.microsoft.com/office/drawing/2014/main" id="{7EF506E0-4840-4535-A203-F289B2A392B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>
            <a:extLst>
              <a:ext uri="{FF2B5EF4-FFF2-40B4-BE49-F238E27FC236}">
                <a16:creationId xmlns:a16="http://schemas.microsoft.com/office/drawing/2014/main" id="{4697D46C-82E2-44D0-96F3-77E90FBB35E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D62F0E6E-53DB-429D-94F9-595495DF10D8}" type="slidenum">
              <a:rPr lang="en-US" altLang="en-US">
                <a:latin typeface="Times New Roman" panose="02020603050405020304" pitchFamily="18" charset="0"/>
              </a:rPr>
              <a:pPr/>
              <a:t>11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3011" name="Rectangle 2">
            <a:extLst>
              <a:ext uri="{FF2B5EF4-FFF2-40B4-BE49-F238E27FC236}">
                <a16:creationId xmlns:a16="http://schemas.microsoft.com/office/drawing/2014/main" id="{79665A49-A1AF-4E1C-82B0-40012456895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2" name="Rectangle 3">
            <a:extLst>
              <a:ext uri="{FF2B5EF4-FFF2-40B4-BE49-F238E27FC236}">
                <a16:creationId xmlns:a16="http://schemas.microsoft.com/office/drawing/2014/main" id="{0BD9C3DA-1991-4977-B32C-2F20F6D4891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>
            <a:extLst>
              <a:ext uri="{FF2B5EF4-FFF2-40B4-BE49-F238E27FC236}">
                <a16:creationId xmlns:a16="http://schemas.microsoft.com/office/drawing/2014/main" id="{5FA8F0AE-5281-4CBB-9502-56FA5C5C079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BD625793-121A-4533-9798-C198E497DAA0}" type="slidenum">
              <a:rPr lang="en-US" altLang="en-US">
                <a:latin typeface="Times New Roman" panose="02020603050405020304" pitchFamily="18" charset="0"/>
              </a:rPr>
              <a:pPr/>
              <a:t>13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7107" name="Rectangle 2">
            <a:extLst>
              <a:ext uri="{FF2B5EF4-FFF2-40B4-BE49-F238E27FC236}">
                <a16:creationId xmlns:a16="http://schemas.microsoft.com/office/drawing/2014/main" id="{F47745CF-829D-4AC1-BB9D-0AD1F7A4927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8" name="Rectangle 3">
            <a:extLst>
              <a:ext uri="{FF2B5EF4-FFF2-40B4-BE49-F238E27FC236}">
                <a16:creationId xmlns:a16="http://schemas.microsoft.com/office/drawing/2014/main" id="{542DF94F-8252-48F5-B0EA-92CFED2AB3F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>
            <a:extLst>
              <a:ext uri="{FF2B5EF4-FFF2-40B4-BE49-F238E27FC236}">
                <a16:creationId xmlns:a16="http://schemas.microsoft.com/office/drawing/2014/main" id="{AA29E484-8F07-4E04-900C-813B9D32050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EA1794B-338E-47BF-A98B-4DD40F874226}" type="slidenum">
              <a:rPr lang="en-US" altLang="en-US">
                <a:latin typeface="Times New Roman" panose="02020603050405020304" pitchFamily="18" charset="0"/>
              </a:rPr>
              <a:pPr/>
              <a:t>14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9155" name="Rectangle 2">
            <a:extLst>
              <a:ext uri="{FF2B5EF4-FFF2-40B4-BE49-F238E27FC236}">
                <a16:creationId xmlns:a16="http://schemas.microsoft.com/office/drawing/2014/main" id="{197BA403-E5B6-4EE6-B8E8-799FCBEB1B8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6" name="Rectangle 3">
            <a:extLst>
              <a:ext uri="{FF2B5EF4-FFF2-40B4-BE49-F238E27FC236}">
                <a16:creationId xmlns:a16="http://schemas.microsoft.com/office/drawing/2014/main" id="{5FD45305-A9BC-4BBD-9FA4-6AB6A036E2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>
            <a:extLst>
              <a:ext uri="{FF2B5EF4-FFF2-40B4-BE49-F238E27FC236}">
                <a16:creationId xmlns:a16="http://schemas.microsoft.com/office/drawing/2014/main" id="{563E2E92-3C28-47CF-94B9-A8521BEC470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D114DAA9-646A-4BD4-8772-DC34858EEC6D}" type="slidenum">
              <a:rPr lang="en-US" altLang="en-US">
                <a:latin typeface="Times New Roman" panose="02020603050405020304" pitchFamily="18" charset="0"/>
              </a:rPr>
              <a:pPr/>
              <a:t>15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1203" name="Rectangle 2">
            <a:extLst>
              <a:ext uri="{FF2B5EF4-FFF2-40B4-BE49-F238E27FC236}">
                <a16:creationId xmlns:a16="http://schemas.microsoft.com/office/drawing/2014/main" id="{C07E8ACC-9A35-49AF-9ADA-E3E8BC29C9B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4" name="Rectangle 3">
            <a:extLst>
              <a:ext uri="{FF2B5EF4-FFF2-40B4-BE49-F238E27FC236}">
                <a16:creationId xmlns:a16="http://schemas.microsoft.com/office/drawing/2014/main" id="{185F1B32-2AC3-419D-9B53-49C84821EB5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>
            <a:extLst>
              <a:ext uri="{FF2B5EF4-FFF2-40B4-BE49-F238E27FC236}">
                <a16:creationId xmlns:a16="http://schemas.microsoft.com/office/drawing/2014/main" id="{4B83DD37-C856-4032-B520-D6E72C68870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E27A3A8-7251-423A-91EB-D10621205784}" type="slidenum">
              <a:rPr lang="en-US" altLang="en-US">
                <a:latin typeface="Times New Roman" panose="02020603050405020304" pitchFamily="18" charset="0"/>
              </a:rPr>
              <a:pPr/>
              <a:t>16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3251" name="Rectangle 2">
            <a:extLst>
              <a:ext uri="{FF2B5EF4-FFF2-40B4-BE49-F238E27FC236}">
                <a16:creationId xmlns:a16="http://schemas.microsoft.com/office/drawing/2014/main" id="{C5B88133-7DD7-4C2F-B169-59521D6685B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2" name="Rectangle 3">
            <a:extLst>
              <a:ext uri="{FF2B5EF4-FFF2-40B4-BE49-F238E27FC236}">
                <a16:creationId xmlns:a16="http://schemas.microsoft.com/office/drawing/2014/main" id="{D329DEFB-171F-4FBC-BB05-1546BE0603D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>
            <a:extLst>
              <a:ext uri="{FF2B5EF4-FFF2-40B4-BE49-F238E27FC236}">
                <a16:creationId xmlns:a16="http://schemas.microsoft.com/office/drawing/2014/main" id="{22D408FB-926A-4EA1-BFFA-FCE089E16C8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7EA3193-E660-49F0-99B8-4320637EAC51}" type="slidenum">
              <a:rPr lang="en-US" altLang="en-US">
                <a:latin typeface="Times New Roman" panose="02020603050405020304" pitchFamily="18" charset="0"/>
              </a:rPr>
              <a:pPr/>
              <a:t>17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5299" name="Rectangle 2">
            <a:extLst>
              <a:ext uri="{FF2B5EF4-FFF2-40B4-BE49-F238E27FC236}">
                <a16:creationId xmlns:a16="http://schemas.microsoft.com/office/drawing/2014/main" id="{212FBCFD-C0C4-4694-A71C-287AD31143E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300" name="Rectangle 3">
            <a:extLst>
              <a:ext uri="{FF2B5EF4-FFF2-40B4-BE49-F238E27FC236}">
                <a16:creationId xmlns:a16="http://schemas.microsoft.com/office/drawing/2014/main" id="{9B3F76E7-4273-4BDA-B62D-2272ABAE859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>
            <a:extLst>
              <a:ext uri="{FF2B5EF4-FFF2-40B4-BE49-F238E27FC236}">
                <a16:creationId xmlns:a16="http://schemas.microsoft.com/office/drawing/2014/main" id="{33F4753B-731B-4ADF-A914-840B21DEE3B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79AD561-182E-42D0-AF68-3E1C9255C176}" type="slidenum">
              <a:rPr lang="en-US" altLang="en-US">
                <a:latin typeface="Times New Roman" panose="02020603050405020304" pitchFamily="18" charset="0"/>
              </a:rPr>
              <a:pPr/>
              <a:t>18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9395" name="Rectangle 2">
            <a:extLst>
              <a:ext uri="{FF2B5EF4-FFF2-40B4-BE49-F238E27FC236}">
                <a16:creationId xmlns:a16="http://schemas.microsoft.com/office/drawing/2014/main" id="{8C7770C0-68BE-4829-A04C-69F86857086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>
            <a:extLst>
              <a:ext uri="{FF2B5EF4-FFF2-40B4-BE49-F238E27FC236}">
                <a16:creationId xmlns:a16="http://schemas.microsoft.com/office/drawing/2014/main" id="{FECA1BF4-495F-4671-8B16-7F36BFCCE10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>
            <a:extLst>
              <a:ext uri="{FF2B5EF4-FFF2-40B4-BE49-F238E27FC236}">
                <a16:creationId xmlns:a16="http://schemas.microsoft.com/office/drawing/2014/main" id="{7C5984FD-7A8F-4B3C-8465-9F0D9320396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BAC40C40-D42A-47D5-A5A4-F005C34D4666}" type="slidenum">
              <a:rPr lang="en-US" altLang="en-US">
                <a:latin typeface="Times New Roman" panose="02020603050405020304" pitchFamily="18" charset="0"/>
              </a:rPr>
              <a:pPr/>
              <a:t>20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2467" name="Rectangle 2">
            <a:extLst>
              <a:ext uri="{FF2B5EF4-FFF2-40B4-BE49-F238E27FC236}">
                <a16:creationId xmlns:a16="http://schemas.microsoft.com/office/drawing/2014/main" id="{7E450B1A-FCC8-411E-A00B-8A8BF0C8734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8" name="Rectangle 3">
            <a:extLst>
              <a:ext uri="{FF2B5EF4-FFF2-40B4-BE49-F238E27FC236}">
                <a16:creationId xmlns:a16="http://schemas.microsoft.com/office/drawing/2014/main" id="{F0210DAA-9C59-4E43-BBBA-69A6C6019FD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>
            <a:extLst>
              <a:ext uri="{FF2B5EF4-FFF2-40B4-BE49-F238E27FC236}">
                <a16:creationId xmlns:a16="http://schemas.microsoft.com/office/drawing/2014/main" id="{07A2A34D-02E0-492A-99F8-5BD319CFD7E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A15F818-8B45-47B7-9B56-455760045071}" type="slidenum">
              <a:rPr lang="en-US" altLang="en-US">
                <a:latin typeface="Times New Roman" panose="02020603050405020304" pitchFamily="18" charset="0"/>
              </a:rPr>
              <a:pPr/>
              <a:t>21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4515" name="Rectangle 2">
            <a:extLst>
              <a:ext uri="{FF2B5EF4-FFF2-40B4-BE49-F238E27FC236}">
                <a16:creationId xmlns:a16="http://schemas.microsoft.com/office/drawing/2014/main" id="{0611E2A9-A053-4A90-B63E-70DAB5C29BC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6" name="Rectangle 3">
            <a:extLst>
              <a:ext uri="{FF2B5EF4-FFF2-40B4-BE49-F238E27FC236}">
                <a16:creationId xmlns:a16="http://schemas.microsoft.com/office/drawing/2014/main" id="{EA77E3B7-9D6B-4FEC-929E-AC785A58FB0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D59857-4DB2-44E4-910E-F68AA9AB17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1D221C-DCD3-429B-91B1-EA1341626D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B8A42A-D239-4DD3-9B05-DC770DC626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2A5CA-1C54-4183-B031-2CEA2D3ECC8B}" type="datetime1">
              <a:rPr lang="en-US" smtClean="0"/>
              <a:t>9/11/2025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1259CC-CCB0-4424-A1F1-3F80F9E18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19D5E6-995C-4CB9-830A-8BA9083F2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87E43-59DA-478D-922A-0CBF4E83E6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1925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6378EE-B97B-44A6-896D-AC81C43C69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334F43-6DF7-48B3-8334-589211BCB0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25E3EE-F0F1-42C0-924E-6A7838ED9E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848B65-8703-4237-ABAD-07F7AB48858D}" type="datetime1">
              <a:rPr lang="en-US" smtClean="0"/>
              <a:t>9/11/2025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DB51A7-AB48-4358-B9F0-09D5F8A4A9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859F2C-67CE-4FE1-B1BA-ACF8DC18E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87E43-59DA-478D-922A-0CBF4E83E6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1758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950AA6-B1DC-4DC6-9869-EDD8B5AD5F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8D0419-D5EE-4C10-BB1F-50D958967B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DB1189-735F-40E1-AC26-2D25475283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C172FB-AAB3-4720-BF3B-52AF04195175}" type="datetime1">
              <a:rPr lang="en-US" smtClean="0"/>
              <a:t>9/11/2025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3F4ADC-51EB-4FE9-9701-1036E7F8B2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B10C56-24A2-493C-8E23-7EAB87886A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87E43-59DA-478D-922A-0CBF4E83E6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13300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A8E48-AE8B-41A1-868D-BCE6DF1008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914E91-E73F-4CB2-B560-8CBB9DBCE0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39C32F-4C63-448E-8F7C-0E83BCE424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B9A00E-4234-4CC3-83C7-1F111DDE15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EF210-3E81-4E5D-960B-13D4BB672167}" type="datetime1">
              <a:rPr lang="en-US" smtClean="0"/>
              <a:t>9/11/2025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3ABAAD-A476-438C-AD72-37EC762EFA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7B0C20-DE45-43CA-9CCF-44F36FB7C7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87E43-59DA-478D-922A-0CBF4E83E6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18311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029BF1-F50F-4DF2-B48D-3211D8E841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BE3D92-AE13-4651-8D76-C941D83664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A751E6-518C-409B-AA6F-3833E717FA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5CC8F3C-8D56-488F-8BCF-996103FD3A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A42A80F-5890-41F5-BCD3-DCF87E0D2E2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58FFF2-B8F4-4D95-8904-1411E0ABF1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5FF85-A5E8-488D-BEA7-4F860577D8ED}" type="datetime1">
              <a:rPr lang="en-US" smtClean="0"/>
              <a:t>9/11/2025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34D6006-4A8B-47F3-B453-22898C4047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495FF55-443B-4DC6-B63B-ABDDF6DDE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87E43-59DA-478D-922A-0CBF4E83E6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897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AE7FB3-88AA-4FDC-A73B-7807DD5463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C9B679B-3362-4340-A428-83628BFE28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4648AB-2622-4203-B2B6-BDB6D4022645}" type="datetime1">
              <a:rPr lang="en-US" smtClean="0"/>
              <a:t>9/11/2025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0609DB-6B33-4A55-82FA-93D7DEB4F6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AFBF81-3657-45EB-B809-7A3662089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87E43-59DA-478D-922A-0CBF4E83E6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18268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612F351-A8F5-49C6-8A8A-14368F1392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D74B5-72DD-44BB-B6F1-FB96512E7DB9}" type="datetime1">
              <a:rPr lang="en-US" smtClean="0"/>
              <a:t>9/11/2025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5CAF84-A64D-4ADF-89A9-5B4D0EBFA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00344A-B417-4E57-8124-1E33962BEF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87E43-59DA-478D-922A-0CBF4E83E6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0521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CE5604-82F1-4D11-92AF-7362608344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5E547C-1CA2-487B-BEB5-1D48517232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D2B6D8-675F-475B-8596-952FCAEBA3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9E6DD6-7F9C-4BFF-B051-666B9BE2E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3A20B-ED87-425F-BD7D-ECFB04719312}" type="datetime1">
              <a:rPr lang="en-US" smtClean="0"/>
              <a:t>9/11/2025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AD3774-96E6-4C94-89B4-D6705BF86F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DC455E-5BAE-4D10-B133-5EDA7AF3C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87E43-59DA-478D-922A-0CBF4E83E6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96113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3150C-4761-450D-9DC8-46737D150E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F094A20-CAC0-45B2-A2E8-868857EC9D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E8ADDE-0E6D-4403-AA8D-172B452C3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A22845-A71A-4FD8-8436-BE04F5CC81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5ACA5-99A9-4B16-BAAA-0200C78E0D88}" type="datetime1">
              <a:rPr lang="en-US" smtClean="0"/>
              <a:t>9/11/2025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90C2F7-D8EA-4B67-9B9F-59065BC418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2CBAEA-A71E-4E52-A5FD-715D0BD82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87E43-59DA-478D-922A-0CBF4E83E6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255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57942-D995-48DD-8166-08ECF74687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7EA5C1-DFEF-4A6D-AE3D-C4C53A4763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D93E25-F867-41E1-9C2B-DABE9E5A0D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90AA0-BC83-453B-8799-F2AFDF328880}" type="datetime1">
              <a:rPr lang="en-US" smtClean="0"/>
              <a:t>9/11/2025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178C71-4EC6-414D-B8D2-16CE122206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12627E-EE31-4673-AEA2-15AA1CE580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87E43-59DA-478D-922A-0CBF4E83E6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3089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6AB627B-5664-4F07-9CEF-811A6B181F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3B8BBA-D5CE-41D3-B3DF-7994FD7878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20D1D2-C187-477A-9EC2-AD096CF47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B7C3BE-5ED0-4FE8-A918-51E75CE95838}" type="datetime1">
              <a:rPr lang="en-US" smtClean="0"/>
              <a:t>9/11/2025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869B6D-1CB5-43E3-A45C-2A0ECEB36A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B1E860-9548-4C15-B01E-F25367E33C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87E43-59DA-478D-922A-0CBF4E83E6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03289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09E5C9-4E40-4A0A-B0A8-8604233FE1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9ACE95-E50E-4C8F-AAEE-9A830DBFF8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FD6140-7860-4183-89FC-1F4AAAD484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1CCE8D-F286-4DB0-83FD-2F9060DE4CD3}" type="datetime1">
              <a:rPr lang="en-US" smtClean="0"/>
              <a:t>9/11/2025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667128-71C1-4D73-B412-0BAFD083D1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A68CD3-5FB4-413E-AAE2-F7B7A1A77C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A87E43-59DA-478D-922A-0CBF4E83E6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1241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0A4B6-D650-4555-B6D3-7FA7EB1F402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CPU Scheduling</a:t>
            </a:r>
            <a:br>
              <a:rPr lang="en-US" dirty="0"/>
            </a:br>
            <a:r>
              <a:rPr lang="en-US" dirty="0"/>
              <a:t>Module 2</a:t>
            </a:r>
            <a:br>
              <a:rPr lang="en-US" dirty="0"/>
            </a:br>
            <a:r>
              <a:rPr lang="en-US" dirty="0"/>
              <a:t>Scheduling Algorithms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6C2C9B-381C-4AD9-938C-5D416990F55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David Liu</a:t>
            </a:r>
          </a:p>
          <a:p>
            <a:r>
              <a:rPr lang="en-US" dirty="0"/>
              <a:t>Fall 2021, Spring 2022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92F4D2-1AF3-4E3A-9C82-CEB93F006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87E43-59DA-478D-922A-0CBF4E83E6B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04354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EFCCE3-6BEC-4250-96D5-48B12DF64C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Scheduling Criteria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040086D-90F9-4CDF-8544-91F056FF9C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CPU utilization</a:t>
            </a:r>
          </a:p>
          <a:p>
            <a:r>
              <a:rPr lang="en-US" dirty="0"/>
              <a:t>Through: # of completed processes/sec</a:t>
            </a:r>
          </a:p>
          <a:p>
            <a:r>
              <a:rPr lang="en-US" dirty="0"/>
              <a:t>Turnaround time: a process from start to finish</a:t>
            </a:r>
          </a:p>
          <a:p>
            <a:r>
              <a:rPr lang="en-US" dirty="0"/>
              <a:t>Waiting time: amount of time a process has been </a:t>
            </a:r>
            <a:r>
              <a:rPr lang="en-US" dirty="0" err="1"/>
              <a:t>wiaiting</a:t>
            </a:r>
            <a:r>
              <a:rPr lang="en-US" dirty="0"/>
              <a:t> in the ready queue (summation)</a:t>
            </a:r>
          </a:p>
          <a:p>
            <a:r>
              <a:rPr lang="en-US" dirty="0"/>
              <a:t>Response time: from a request to the first response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C3B14D9-D335-4282-A85B-B1551F99E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87E43-59DA-478D-922A-0CBF4E83E6B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6188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FB077C-D608-4D8C-B9FE-119FA12B73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Scheduling Algorithms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897A28-2E58-4E44-8161-94DBF3A85A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First-Come First-Server (FCFS)</a:t>
            </a:r>
          </a:p>
          <a:p>
            <a:r>
              <a:rPr lang="en-US" dirty="0"/>
              <a:t>Shortest-job-first (SJF)</a:t>
            </a:r>
          </a:p>
          <a:p>
            <a:r>
              <a:rPr lang="en-US" dirty="0"/>
              <a:t>Shortest-remaining-time-first (SRTF)</a:t>
            </a:r>
          </a:p>
          <a:p>
            <a:r>
              <a:rPr lang="en-US" dirty="0"/>
              <a:t>Round Robin</a:t>
            </a:r>
          </a:p>
          <a:p>
            <a:r>
              <a:rPr lang="en-US" dirty="0"/>
              <a:t>Priority Scheduling</a:t>
            </a:r>
          </a:p>
          <a:p>
            <a:r>
              <a:rPr lang="en-US" dirty="0"/>
              <a:t>Priority Scheduling with Round Robin</a:t>
            </a:r>
          </a:p>
          <a:p>
            <a:r>
              <a:rPr lang="en-US" dirty="0"/>
              <a:t>Multilevel Feedback Queue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C622B1-498A-4021-AB3C-D8864D488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87E43-59DA-478D-922A-0CBF4E83E6B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96660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A1A76F-638D-40C7-A93D-7A85063361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Assumption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C0AEE0-BC02-474D-BFFC-6CEA23943F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Only schedule current ready processes </a:t>
            </a:r>
            <a:r>
              <a:rPr lang="en-US" dirty="0">
                <a:solidFill>
                  <a:srgbClr val="FF0000"/>
                </a:solidFill>
              </a:rPr>
              <a:t>ordered in ready queue</a:t>
            </a:r>
          </a:p>
          <a:p>
            <a:r>
              <a:rPr lang="en-US" dirty="0"/>
              <a:t>No new processes coming</a:t>
            </a:r>
          </a:p>
          <a:p>
            <a:r>
              <a:rPr lang="en-US" dirty="0"/>
              <a:t>Parameters</a:t>
            </a:r>
          </a:p>
          <a:p>
            <a:pPr lvl="1"/>
            <a:r>
              <a:rPr lang="en-US" dirty="0"/>
              <a:t>Process Burst time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63CC2F-ED7A-4AE4-8979-2A4916118E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87E43-59DA-478D-922A-0CBF4E83E6B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90239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C6D585F9-1BE9-4D13-A7B7-F706417DE89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First- Come, First-Served (FCFS) Scheduling</a:t>
            </a:r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626A67C8-5244-4237-945A-D79DD0EE6FD0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buNone/>
              <a:tabLst>
                <a:tab pos="3028950" algn="ctr"/>
                <a:tab pos="4633913" algn="ctr"/>
              </a:tabLst>
            </a:pPr>
            <a:r>
              <a:rPr lang="en-US" altLang="en-US" sz="1600" dirty="0"/>
              <a:t>		</a:t>
            </a:r>
            <a:r>
              <a:rPr lang="en-US" altLang="en-US" u="sng" dirty="0"/>
              <a:t>Process</a:t>
            </a:r>
            <a:r>
              <a:rPr lang="en-US" altLang="en-US" dirty="0"/>
              <a:t>	</a:t>
            </a:r>
            <a:r>
              <a:rPr lang="en-US" altLang="en-US" u="sng" dirty="0"/>
              <a:t>Burst Time	</a:t>
            </a:r>
          </a:p>
          <a:p>
            <a:pPr>
              <a:buNone/>
              <a:tabLst>
                <a:tab pos="3028950" algn="ctr"/>
                <a:tab pos="4633913" algn="ctr"/>
              </a:tabLst>
            </a:pPr>
            <a:r>
              <a:rPr lang="en-US" altLang="en-US" dirty="0"/>
              <a:t>		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1</a:t>
            </a:r>
            <a:r>
              <a:rPr lang="en-US" altLang="en-US" dirty="0"/>
              <a:t>	24</a:t>
            </a:r>
          </a:p>
          <a:p>
            <a:pPr>
              <a:buNone/>
              <a:tabLst>
                <a:tab pos="3028950" algn="ctr"/>
                <a:tab pos="4633913" algn="ctr"/>
              </a:tabLst>
            </a:pPr>
            <a:r>
              <a:rPr lang="en-US" altLang="en-US" dirty="0"/>
              <a:t>		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2</a:t>
            </a:r>
            <a:r>
              <a:rPr lang="en-US" altLang="en-US" dirty="0"/>
              <a:t> 	3</a:t>
            </a:r>
          </a:p>
          <a:p>
            <a:pPr>
              <a:buNone/>
              <a:tabLst>
                <a:tab pos="3028950" algn="ctr"/>
                <a:tab pos="4633913" algn="ctr"/>
              </a:tabLst>
            </a:pPr>
            <a:r>
              <a:rPr lang="en-US" altLang="en-US" dirty="0"/>
              <a:t>		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3	 </a:t>
            </a:r>
            <a:r>
              <a:rPr lang="en-US" altLang="en-US" dirty="0"/>
              <a:t>3</a:t>
            </a:r>
            <a:r>
              <a:rPr lang="en-US" altLang="en-US" i="1" baseline="-25000" dirty="0"/>
              <a:t> </a:t>
            </a:r>
          </a:p>
          <a:p>
            <a:pPr>
              <a:tabLst>
                <a:tab pos="3028950" algn="ctr"/>
                <a:tab pos="4633913" algn="ctr"/>
              </a:tabLst>
            </a:pPr>
            <a:r>
              <a:rPr lang="en-US" altLang="en-US" dirty="0"/>
              <a:t>Suppose that the processes arrive in the </a:t>
            </a:r>
            <a:r>
              <a:rPr lang="en-US" altLang="en-US" dirty="0">
                <a:solidFill>
                  <a:srgbClr val="FF0000"/>
                </a:solidFill>
              </a:rPr>
              <a:t>order</a:t>
            </a:r>
            <a:r>
              <a:rPr lang="en-US" altLang="en-US" dirty="0"/>
              <a:t>: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1</a:t>
            </a:r>
            <a:r>
              <a:rPr lang="en-US" altLang="en-US" dirty="0"/>
              <a:t> ,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2</a:t>
            </a:r>
            <a:r>
              <a:rPr lang="en-US" altLang="en-US" dirty="0"/>
              <a:t> ,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3  </a:t>
            </a:r>
            <a:br>
              <a:rPr lang="en-US" altLang="en-US" i="1" baseline="-25000" dirty="0"/>
            </a:br>
            <a:r>
              <a:rPr lang="en-US" altLang="en-US" dirty="0"/>
              <a:t>The Gantt Chart for the schedule is:</a:t>
            </a:r>
            <a:br>
              <a:rPr lang="en-US" altLang="en-US" dirty="0"/>
            </a:br>
            <a:br>
              <a:rPr lang="en-US" altLang="en-US" sz="1600" dirty="0"/>
            </a:br>
            <a:br>
              <a:rPr lang="en-US" altLang="en-US" sz="1600" dirty="0"/>
            </a:br>
            <a:br>
              <a:rPr lang="en-US" altLang="en-US" sz="1600" dirty="0"/>
            </a:br>
            <a:br>
              <a:rPr lang="en-US" altLang="en-US" sz="1600" dirty="0"/>
            </a:br>
            <a:endParaRPr lang="en-US" altLang="en-US" sz="1600" dirty="0"/>
          </a:p>
          <a:p>
            <a:pPr>
              <a:buNone/>
              <a:tabLst>
                <a:tab pos="3028950" algn="ctr"/>
                <a:tab pos="4633913" algn="ctr"/>
              </a:tabLst>
            </a:pPr>
            <a:endParaRPr lang="en-US" altLang="en-US" sz="1600" dirty="0"/>
          </a:p>
          <a:p>
            <a:pPr>
              <a:tabLst>
                <a:tab pos="3028950" algn="ctr"/>
                <a:tab pos="4633913" algn="ctr"/>
              </a:tabLst>
            </a:pPr>
            <a:r>
              <a:rPr lang="en-US" altLang="en-US" dirty="0"/>
              <a:t>Waiting time for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1</a:t>
            </a:r>
            <a:r>
              <a:rPr lang="en-US" altLang="en-US" dirty="0"/>
              <a:t>  = 0;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2</a:t>
            </a:r>
            <a:r>
              <a:rPr lang="en-US" altLang="en-US" dirty="0"/>
              <a:t>  = 24;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3 </a:t>
            </a:r>
            <a:r>
              <a:rPr lang="en-US" altLang="en-US" dirty="0"/>
              <a:t>= 27</a:t>
            </a:r>
          </a:p>
          <a:p>
            <a:pPr>
              <a:tabLst>
                <a:tab pos="3028950" algn="ctr"/>
                <a:tab pos="4633913" algn="ctr"/>
              </a:tabLst>
            </a:pPr>
            <a:r>
              <a:rPr lang="en-US" altLang="en-US" dirty="0"/>
              <a:t>Average waiting time:  (0 + 24 + 27)/3 = 17</a:t>
            </a:r>
          </a:p>
        </p:txBody>
      </p:sp>
      <p:pic>
        <p:nvPicPr>
          <p:cNvPr id="23556" name="Picture 1">
            <a:extLst>
              <a:ext uri="{FF2B5EF4-FFF2-40B4-BE49-F238E27FC236}">
                <a16:creationId xmlns:a16="http://schemas.microsoft.com/office/drawing/2014/main" id="{C3D961AB-004A-4D65-A6EC-2F1775BA76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591" y="4001294"/>
            <a:ext cx="6954838" cy="801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D0EBF1C-5E6D-4E5D-A853-37BE0E6E11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87E43-59DA-478D-922A-0CBF4E83E6B1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8F89FE76-D666-4C55-8A94-D916F204AA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06664" y="277813"/>
            <a:ext cx="7704137" cy="576262"/>
          </a:xfrm>
        </p:spPr>
        <p:txBody>
          <a:bodyPr>
            <a:noAutofit/>
          </a:bodyPr>
          <a:lstStyle/>
          <a:p>
            <a:r>
              <a:rPr lang="en-US" altLang="en-US" dirty="0"/>
              <a:t>FCFS Scheduling (Cont.)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4552E690-98D0-4665-814D-99F6CECC7C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401416" y="1033072"/>
            <a:ext cx="9396020" cy="5547115"/>
          </a:xfrm>
        </p:spPr>
        <p:txBody>
          <a:bodyPr>
            <a:normAutofit lnSpcReduction="10000"/>
          </a:bodyPr>
          <a:lstStyle/>
          <a:p>
            <a:pPr>
              <a:buNone/>
              <a:tabLst>
                <a:tab pos="3649345" algn="ctr"/>
              </a:tabLst>
              <a:defRPr/>
            </a:pPr>
            <a:r>
              <a:rPr lang="en-US" altLang="en-US" dirty="0">
                <a:cs typeface="ＭＳ Ｐゴシック" charset="-128"/>
              </a:rPr>
              <a:t>Suppose that the processes arrive in the order:</a:t>
            </a:r>
          </a:p>
          <a:p>
            <a:pPr>
              <a:buNone/>
              <a:tabLst>
                <a:tab pos="3649345" algn="ctr"/>
              </a:tabLst>
              <a:defRPr/>
            </a:pPr>
            <a:r>
              <a:rPr lang="en-US" altLang="en-US" dirty="0">
                <a:cs typeface="ＭＳ Ｐゴシック" charset="-128"/>
              </a:rPr>
              <a:t>		 </a:t>
            </a:r>
            <a:r>
              <a:rPr lang="en-US" altLang="en-US" i="1" dirty="0">
                <a:cs typeface="ＭＳ Ｐゴシック" charset="-128"/>
              </a:rPr>
              <a:t>P</a:t>
            </a:r>
            <a:r>
              <a:rPr lang="en-US" altLang="en-US" i="1" baseline="-25000" dirty="0">
                <a:cs typeface="ＭＳ Ｐゴシック" charset="-128"/>
              </a:rPr>
              <a:t>2</a:t>
            </a:r>
            <a:r>
              <a:rPr lang="en-US" altLang="en-US" dirty="0">
                <a:cs typeface="ＭＳ Ｐゴシック" charset="-128"/>
              </a:rPr>
              <a:t> , </a:t>
            </a:r>
            <a:r>
              <a:rPr lang="en-US" altLang="en-US" i="1" dirty="0">
                <a:cs typeface="ＭＳ Ｐゴシック" charset="-128"/>
              </a:rPr>
              <a:t>P</a:t>
            </a:r>
            <a:r>
              <a:rPr lang="en-US" altLang="en-US" i="1" baseline="-25000" dirty="0">
                <a:cs typeface="ＭＳ Ｐゴシック" charset="-128"/>
              </a:rPr>
              <a:t>3</a:t>
            </a:r>
            <a:r>
              <a:rPr lang="en-US" altLang="en-US" dirty="0">
                <a:cs typeface="ＭＳ Ｐゴシック" charset="-128"/>
              </a:rPr>
              <a:t> , </a:t>
            </a:r>
            <a:r>
              <a:rPr lang="en-US" altLang="en-US" i="1" dirty="0">
                <a:cs typeface="ＭＳ Ｐゴシック" charset="-128"/>
              </a:rPr>
              <a:t>P</a:t>
            </a:r>
            <a:r>
              <a:rPr lang="en-US" altLang="en-US" i="1" baseline="-25000" dirty="0">
                <a:cs typeface="ＭＳ Ｐゴシック" charset="-128"/>
              </a:rPr>
              <a:t>1</a:t>
            </a:r>
            <a:r>
              <a:rPr lang="en-US" altLang="en-US" dirty="0">
                <a:cs typeface="ＭＳ Ｐゴシック" charset="-128"/>
              </a:rPr>
              <a:t> </a:t>
            </a:r>
          </a:p>
          <a:p>
            <a:pPr>
              <a:tabLst>
                <a:tab pos="3649345" algn="ctr"/>
              </a:tabLst>
              <a:defRPr/>
            </a:pPr>
            <a:r>
              <a:rPr lang="en-US" altLang="en-US" dirty="0">
                <a:cs typeface="ＭＳ Ｐゴシック" charset="-128"/>
              </a:rPr>
              <a:t>The Gantt chart for the schedule is:</a:t>
            </a:r>
            <a:br>
              <a:rPr lang="en-US" altLang="en-US" dirty="0">
                <a:cs typeface="ＭＳ Ｐゴシック" charset="-128"/>
              </a:rPr>
            </a:br>
            <a:endParaRPr lang="en-US" altLang="en-US" dirty="0">
              <a:cs typeface="ＭＳ Ｐゴシック" charset="-128"/>
            </a:endParaRPr>
          </a:p>
          <a:p>
            <a:pPr>
              <a:tabLst>
                <a:tab pos="3649345" algn="ctr"/>
              </a:tabLst>
              <a:defRPr/>
            </a:pPr>
            <a:endParaRPr lang="en-US" altLang="en-US" dirty="0">
              <a:cs typeface="ＭＳ Ｐゴシック" charset="-128"/>
            </a:endParaRPr>
          </a:p>
          <a:p>
            <a:pPr>
              <a:tabLst>
                <a:tab pos="3649345" algn="ctr"/>
              </a:tabLst>
              <a:defRPr/>
            </a:pPr>
            <a:endParaRPr lang="en-US" altLang="en-US" dirty="0">
              <a:cs typeface="ＭＳ Ｐゴシック" charset="-128"/>
            </a:endParaRPr>
          </a:p>
          <a:p>
            <a:pPr marL="0" indent="0">
              <a:buNone/>
              <a:tabLst>
                <a:tab pos="3649345" algn="ctr"/>
              </a:tabLst>
              <a:defRPr/>
            </a:pPr>
            <a:endParaRPr lang="en-US" altLang="en-US" dirty="0">
              <a:cs typeface="ＭＳ Ｐゴシック" charset="-128"/>
            </a:endParaRPr>
          </a:p>
          <a:p>
            <a:pPr>
              <a:tabLst>
                <a:tab pos="3649345" algn="ctr"/>
              </a:tabLst>
              <a:defRPr/>
            </a:pPr>
            <a:r>
              <a:rPr lang="en-US" altLang="en-US" dirty="0">
                <a:cs typeface="ＭＳ Ｐゴシック" charset="-128"/>
              </a:rPr>
              <a:t>Waiting time for </a:t>
            </a:r>
            <a:r>
              <a:rPr lang="en-US" altLang="en-US" i="1" dirty="0">
                <a:cs typeface="ＭＳ Ｐゴシック" charset="-128"/>
              </a:rPr>
              <a:t>P</a:t>
            </a:r>
            <a:r>
              <a:rPr lang="en-US" altLang="en-US" i="1" baseline="-25000" dirty="0">
                <a:cs typeface="ＭＳ Ｐゴシック" charset="-128"/>
              </a:rPr>
              <a:t>1 </a:t>
            </a:r>
            <a:r>
              <a:rPr lang="en-US" altLang="en-US" i="1" dirty="0">
                <a:cs typeface="ＭＳ Ｐゴシック" charset="-128"/>
              </a:rPr>
              <a:t>=</a:t>
            </a:r>
            <a:r>
              <a:rPr lang="en-US" altLang="en-US" dirty="0">
                <a:cs typeface="ＭＳ Ｐゴシック" charset="-128"/>
              </a:rPr>
              <a:t> 6</a:t>
            </a:r>
            <a:r>
              <a:rPr lang="en-US" altLang="en-US" i="1" dirty="0">
                <a:cs typeface="ＭＳ Ｐゴシック" charset="-128"/>
              </a:rPr>
              <a:t>;</a:t>
            </a:r>
            <a:r>
              <a:rPr lang="en-US" altLang="en-US" i="1" baseline="-25000" dirty="0">
                <a:cs typeface="ＭＳ Ｐゴシック" charset="-128"/>
              </a:rPr>
              <a:t> </a:t>
            </a:r>
            <a:r>
              <a:rPr lang="en-US" altLang="en-US" i="1" dirty="0">
                <a:cs typeface="ＭＳ Ｐゴシック" charset="-128"/>
              </a:rPr>
              <a:t>P</a:t>
            </a:r>
            <a:r>
              <a:rPr lang="en-US" altLang="en-US" i="1" baseline="-25000" dirty="0">
                <a:cs typeface="ＭＳ Ｐゴシック" charset="-128"/>
              </a:rPr>
              <a:t>2</a:t>
            </a:r>
            <a:r>
              <a:rPr lang="en-US" altLang="en-US" dirty="0">
                <a:cs typeface="ＭＳ Ｐゴシック" charset="-128"/>
              </a:rPr>
              <a:t> = 0</a:t>
            </a:r>
            <a:r>
              <a:rPr lang="en-US" altLang="en-US" i="1" baseline="-25000" dirty="0">
                <a:cs typeface="ＭＳ Ｐゴシック" charset="-128"/>
              </a:rPr>
              <a:t>; </a:t>
            </a:r>
            <a:r>
              <a:rPr lang="en-US" altLang="en-US" i="1" dirty="0">
                <a:cs typeface="ＭＳ Ｐゴシック" charset="-128"/>
              </a:rPr>
              <a:t>P</a:t>
            </a:r>
            <a:r>
              <a:rPr lang="en-US" altLang="en-US" i="1" baseline="-25000" dirty="0">
                <a:cs typeface="ＭＳ Ｐゴシック" charset="-128"/>
              </a:rPr>
              <a:t>3 </a:t>
            </a:r>
            <a:r>
              <a:rPr lang="en-US" altLang="en-US" i="1" dirty="0">
                <a:cs typeface="ＭＳ Ｐゴシック" charset="-128"/>
              </a:rPr>
              <a:t>= </a:t>
            </a:r>
            <a:r>
              <a:rPr lang="en-US" altLang="en-US" dirty="0">
                <a:cs typeface="ＭＳ Ｐゴシック" charset="-128"/>
              </a:rPr>
              <a:t>3</a:t>
            </a:r>
            <a:endParaRPr lang="en-US" altLang="en-US" i="1" dirty="0">
              <a:cs typeface="ＭＳ Ｐゴシック" charset="-128"/>
            </a:endParaRPr>
          </a:p>
          <a:p>
            <a:pPr>
              <a:tabLst>
                <a:tab pos="3649345" algn="ctr"/>
              </a:tabLst>
              <a:defRPr/>
            </a:pPr>
            <a:r>
              <a:rPr lang="en-US" altLang="en-US" dirty="0">
                <a:cs typeface="ＭＳ Ｐゴシック" charset="-128"/>
              </a:rPr>
              <a:t>Average waiting time:   (6 + 0 + 3)/3 = 3</a:t>
            </a:r>
          </a:p>
          <a:p>
            <a:pPr>
              <a:tabLst>
                <a:tab pos="3649345" algn="ctr"/>
              </a:tabLst>
              <a:defRPr/>
            </a:pPr>
            <a:r>
              <a:rPr lang="en-US" altLang="en-US" dirty="0">
                <a:cs typeface="ＭＳ Ｐゴシック" charset="-128"/>
              </a:rPr>
              <a:t>Much better than previous case</a:t>
            </a:r>
          </a:p>
          <a:p>
            <a:pPr>
              <a:tabLst>
                <a:tab pos="3649345" algn="ctr"/>
              </a:tabLst>
              <a:defRPr/>
            </a:pPr>
            <a:r>
              <a:rPr lang="en-US" altLang="en-US" b="1" dirty="0">
                <a:solidFill>
                  <a:srgbClr val="3366FF"/>
                </a:solidFill>
                <a:cs typeface="ＭＳ Ｐゴシック" charset="-128"/>
              </a:rPr>
              <a:t>Convoy effect </a:t>
            </a:r>
            <a:r>
              <a:rPr lang="en-US" altLang="en-US" dirty="0">
                <a:cs typeface="ＭＳ Ｐゴシック" charset="-128"/>
              </a:rPr>
              <a:t>- short process behind long process</a:t>
            </a:r>
          </a:p>
          <a:p>
            <a:pPr lvl="1">
              <a:tabLst>
                <a:tab pos="3649345" algn="ctr"/>
              </a:tabLst>
              <a:defRPr/>
            </a:pPr>
            <a:r>
              <a:rPr lang="en-US" altLang="en-US" dirty="0"/>
              <a:t>Consider one CPU-bound and many I/O-bound processes</a:t>
            </a:r>
          </a:p>
        </p:txBody>
      </p:sp>
      <p:pic>
        <p:nvPicPr>
          <p:cNvPr id="25604" name="Picture 1">
            <a:extLst>
              <a:ext uri="{FF2B5EF4-FFF2-40B4-BE49-F238E27FC236}">
                <a16:creationId xmlns:a16="http://schemas.microsoft.com/office/drawing/2014/main" id="{E50E405E-5202-4CBE-BE05-DEB0222222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4443" y="3030751"/>
            <a:ext cx="7123113" cy="804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43CD61DF-4991-4DB7-96C5-FFB973A7245A}"/>
              </a:ext>
            </a:extLst>
          </p:cNvPr>
          <p:cNvSpPr/>
          <p:nvPr/>
        </p:nvSpPr>
        <p:spPr>
          <a:xfrm>
            <a:off x="6981173" y="1431747"/>
            <a:ext cx="432852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Process	Burst Time	</a:t>
            </a:r>
          </a:p>
          <a:p>
            <a:r>
              <a:rPr lang="en-US" dirty="0"/>
              <a:t>		 P2	3</a:t>
            </a:r>
          </a:p>
          <a:p>
            <a:r>
              <a:rPr lang="en-US" dirty="0"/>
              <a:t>		 P3	3</a:t>
            </a:r>
          </a:p>
          <a:p>
            <a:r>
              <a:rPr lang="en-US" dirty="0"/>
              <a:t>		 P1	24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84D14CF-E7CD-4ABD-8095-AFCFF0D2D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87E43-59DA-478D-922A-0CBF4E83E6B1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D2862503-5657-4666-A970-9AD736A077E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68256" y="239018"/>
            <a:ext cx="8014155" cy="1044576"/>
          </a:xfrm>
        </p:spPr>
        <p:txBody>
          <a:bodyPr>
            <a:noAutofit/>
          </a:bodyPr>
          <a:lstStyle/>
          <a:p>
            <a:r>
              <a:rPr lang="en-US" altLang="en-US" dirty="0"/>
              <a:t>Shortest-Job-First (SJF) Scheduling</a:t>
            </a:r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EF901B09-6362-45E0-9BF3-D81BA5EB24D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480072" y="1408853"/>
            <a:ext cx="9705670" cy="4941843"/>
          </a:xfrm>
        </p:spPr>
        <p:txBody>
          <a:bodyPr/>
          <a:lstStyle/>
          <a:p>
            <a:r>
              <a:rPr lang="en-US" altLang="en-US" dirty="0"/>
              <a:t>Associate with each process the length of its next CPU burst</a:t>
            </a:r>
          </a:p>
          <a:p>
            <a:pPr lvl="1"/>
            <a:r>
              <a:rPr lang="en-US" altLang="en-US" dirty="0"/>
              <a:t> Use these lengths to schedule the process with the shortest time</a:t>
            </a:r>
          </a:p>
          <a:p>
            <a:r>
              <a:rPr lang="en-US" altLang="en-US" dirty="0"/>
              <a:t>SJF is optimal – gives minimum average waiting time for a given set of processes</a:t>
            </a:r>
          </a:p>
          <a:p>
            <a:pPr lvl="1"/>
            <a:r>
              <a:rPr lang="en-US" altLang="en-US" dirty="0"/>
              <a:t>The difficulty is knowing the length of the next CPU request</a:t>
            </a:r>
          </a:p>
          <a:p>
            <a:pPr lvl="1"/>
            <a:r>
              <a:rPr lang="en-US" altLang="en-US" dirty="0"/>
              <a:t>Could ask the user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68CCDA8-7EC4-4764-B8BB-416813CBA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87E43-59DA-478D-922A-0CBF4E83E6B1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EC1C8B60-32CC-42EB-B737-52B8FA7A8BE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818361" y="232341"/>
            <a:ext cx="8753605" cy="1380342"/>
          </a:xfrm>
        </p:spPr>
        <p:txBody>
          <a:bodyPr>
            <a:noAutofit/>
          </a:bodyPr>
          <a:lstStyle/>
          <a:p>
            <a:r>
              <a:rPr lang="en-US" altLang="en-US" dirty="0"/>
              <a:t>Example of SJF</a:t>
            </a:r>
          </a:p>
        </p:txBody>
      </p:sp>
      <p:sp>
        <p:nvSpPr>
          <p:cNvPr id="29699" name="Rectangle 36">
            <a:extLst>
              <a:ext uri="{FF2B5EF4-FFF2-40B4-BE49-F238E27FC236}">
                <a16:creationId xmlns:a16="http://schemas.microsoft.com/office/drawing/2014/main" id="{480CF221-E481-4502-9CC7-093C3558AAB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>
            <a:normAutofit fontScale="77500" lnSpcReduction="20000"/>
          </a:bodyPr>
          <a:lstStyle/>
          <a:p>
            <a:pPr>
              <a:buNone/>
              <a:tabLst>
                <a:tab pos="1600200" algn="ctr"/>
                <a:tab pos="3251200" algn="ctr"/>
                <a:tab pos="5140325" algn="ctr"/>
              </a:tabLst>
            </a:pPr>
            <a:r>
              <a:rPr lang="en-US" altLang="en-US"/>
              <a:t>	      	                </a:t>
            </a:r>
            <a:r>
              <a:rPr lang="en-US" altLang="en-US" u="sng"/>
              <a:t>Process</a:t>
            </a:r>
            <a:r>
              <a:rPr lang="en-US" altLang="en-US" u="sng">
                <a:solidFill>
                  <a:schemeClr val="bg1"/>
                </a:solidFill>
              </a:rPr>
              <a:t>Arriva	l Time</a:t>
            </a:r>
            <a:r>
              <a:rPr lang="en-US" altLang="en-US"/>
              <a:t>	</a:t>
            </a:r>
            <a:r>
              <a:rPr lang="en-US" altLang="en-US" u="sng"/>
              <a:t>Burst Time</a:t>
            </a:r>
            <a:endParaRPr lang="en-US" altLang="en-US"/>
          </a:p>
          <a:p>
            <a:pPr>
              <a:buNone/>
              <a:tabLst>
                <a:tab pos="1600200" algn="ctr"/>
                <a:tab pos="3251200" algn="ctr"/>
                <a:tab pos="5140325" algn="ctr"/>
              </a:tabLst>
            </a:pPr>
            <a:r>
              <a:rPr lang="en-US" altLang="en-US"/>
              <a:t>		             </a:t>
            </a:r>
            <a:r>
              <a:rPr lang="en-US" altLang="en-US" i="1"/>
              <a:t>P</a:t>
            </a:r>
            <a:r>
              <a:rPr lang="en-US" altLang="en-US" i="1" baseline="-25000"/>
              <a:t>1</a:t>
            </a:r>
            <a:r>
              <a:rPr lang="en-US" altLang="en-US"/>
              <a:t>	</a:t>
            </a:r>
            <a:r>
              <a:rPr lang="en-US" altLang="en-US">
                <a:solidFill>
                  <a:schemeClr val="bg1"/>
                </a:solidFill>
              </a:rPr>
              <a:t>0.0</a:t>
            </a:r>
            <a:r>
              <a:rPr lang="en-US" altLang="en-US"/>
              <a:t>	6</a:t>
            </a:r>
          </a:p>
          <a:p>
            <a:pPr>
              <a:buNone/>
              <a:tabLst>
                <a:tab pos="1600200" algn="ctr"/>
                <a:tab pos="3251200" algn="ctr"/>
                <a:tab pos="5140325" algn="ctr"/>
              </a:tabLst>
            </a:pPr>
            <a:r>
              <a:rPr lang="en-US" altLang="en-US"/>
              <a:t>		            </a:t>
            </a:r>
            <a:r>
              <a:rPr lang="en-US" altLang="en-US" i="1"/>
              <a:t>P</a:t>
            </a:r>
            <a:r>
              <a:rPr lang="en-US" altLang="en-US" i="1" baseline="-25000"/>
              <a:t>2 	</a:t>
            </a:r>
            <a:r>
              <a:rPr lang="en-US" altLang="en-US">
                <a:solidFill>
                  <a:schemeClr val="bg1"/>
                </a:solidFill>
              </a:rPr>
              <a:t>2.0</a:t>
            </a:r>
            <a:r>
              <a:rPr lang="en-US" altLang="en-US"/>
              <a:t>	8</a:t>
            </a:r>
          </a:p>
          <a:p>
            <a:pPr>
              <a:buNone/>
              <a:tabLst>
                <a:tab pos="1600200" algn="ctr"/>
                <a:tab pos="3251200" algn="ctr"/>
                <a:tab pos="5140325" algn="ctr"/>
              </a:tabLst>
            </a:pPr>
            <a:r>
              <a:rPr lang="en-US" altLang="en-US"/>
              <a:t>		            </a:t>
            </a:r>
            <a:r>
              <a:rPr lang="en-US" altLang="en-US" i="1"/>
              <a:t>P</a:t>
            </a:r>
            <a:r>
              <a:rPr lang="en-US" altLang="en-US" i="1" baseline="-25000"/>
              <a:t>3</a:t>
            </a:r>
            <a:r>
              <a:rPr lang="en-US" altLang="en-US"/>
              <a:t>	</a:t>
            </a:r>
            <a:r>
              <a:rPr lang="en-US" altLang="en-US">
                <a:solidFill>
                  <a:schemeClr val="bg1"/>
                </a:solidFill>
              </a:rPr>
              <a:t>4.0</a:t>
            </a:r>
            <a:r>
              <a:rPr lang="en-US" altLang="en-US"/>
              <a:t>	7</a:t>
            </a:r>
          </a:p>
          <a:p>
            <a:pPr>
              <a:buNone/>
              <a:tabLst>
                <a:tab pos="1600200" algn="ctr"/>
                <a:tab pos="3251200" algn="ctr"/>
                <a:tab pos="5140325" algn="ctr"/>
              </a:tabLst>
            </a:pPr>
            <a:r>
              <a:rPr lang="en-US" altLang="en-US"/>
              <a:t>		            </a:t>
            </a:r>
            <a:r>
              <a:rPr lang="en-US" altLang="en-US" i="1"/>
              <a:t>P</a:t>
            </a:r>
            <a:r>
              <a:rPr lang="en-US" altLang="en-US" i="1" baseline="-25000"/>
              <a:t>4</a:t>
            </a:r>
            <a:r>
              <a:rPr lang="en-US" altLang="en-US"/>
              <a:t>	</a:t>
            </a:r>
            <a:r>
              <a:rPr lang="en-US" altLang="en-US">
                <a:solidFill>
                  <a:schemeClr val="bg1"/>
                </a:solidFill>
              </a:rPr>
              <a:t>5.0</a:t>
            </a:r>
            <a:r>
              <a:rPr lang="en-US" altLang="en-US"/>
              <a:t>	3</a:t>
            </a:r>
          </a:p>
          <a:p>
            <a:pPr>
              <a:buNone/>
              <a:tabLst>
                <a:tab pos="1600200" algn="ctr"/>
                <a:tab pos="3251200" algn="ctr"/>
                <a:tab pos="5140325" algn="ctr"/>
              </a:tabLst>
            </a:pPr>
            <a:endParaRPr lang="en-US" altLang="en-US"/>
          </a:p>
          <a:p>
            <a:pPr>
              <a:tabLst>
                <a:tab pos="1600200" algn="ctr"/>
                <a:tab pos="3251200" algn="ctr"/>
                <a:tab pos="5140325" algn="ctr"/>
              </a:tabLst>
            </a:pPr>
            <a:r>
              <a:rPr lang="en-US" altLang="en-US"/>
              <a:t>SJF scheduling chart</a:t>
            </a:r>
          </a:p>
          <a:p>
            <a:pPr>
              <a:tabLst>
                <a:tab pos="1600200" algn="ctr"/>
                <a:tab pos="3251200" algn="ctr"/>
                <a:tab pos="5140325" algn="ctr"/>
              </a:tabLst>
            </a:pPr>
            <a:endParaRPr lang="en-US" altLang="en-US"/>
          </a:p>
          <a:p>
            <a:pPr>
              <a:tabLst>
                <a:tab pos="1600200" algn="ctr"/>
                <a:tab pos="3251200" algn="ctr"/>
                <a:tab pos="5140325" algn="ctr"/>
              </a:tabLst>
            </a:pPr>
            <a:endParaRPr lang="en-US" altLang="en-US"/>
          </a:p>
          <a:p>
            <a:pPr>
              <a:tabLst>
                <a:tab pos="1600200" algn="ctr"/>
                <a:tab pos="3251200" algn="ctr"/>
                <a:tab pos="5140325" algn="ctr"/>
              </a:tabLst>
            </a:pPr>
            <a:endParaRPr lang="en-US" altLang="en-US"/>
          </a:p>
          <a:p>
            <a:pPr>
              <a:buNone/>
              <a:tabLst>
                <a:tab pos="1600200" algn="ctr"/>
                <a:tab pos="3251200" algn="ctr"/>
                <a:tab pos="5140325" algn="ctr"/>
              </a:tabLst>
            </a:pPr>
            <a:endParaRPr lang="en-US" altLang="en-US"/>
          </a:p>
          <a:p>
            <a:pPr>
              <a:tabLst>
                <a:tab pos="1600200" algn="ctr"/>
                <a:tab pos="3251200" algn="ctr"/>
                <a:tab pos="5140325" algn="ctr"/>
              </a:tabLst>
            </a:pPr>
            <a:r>
              <a:rPr lang="en-US" altLang="en-US"/>
              <a:t>Average waiting time = (3 + 16 + 9 + 0) / 4 = 7</a:t>
            </a:r>
            <a:endParaRPr lang="en-US" altLang="en-US" i="1" baseline="-25000"/>
          </a:p>
        </p:txBody>
      </p:sp>
      <p:pic>
        <p:nvPicPr>
          <p:cNvPr id="29700" name="Picture 1">
            <a:extLst>
              <a:ext uri="{FF2B5EF4-FFF2-40B4-BE49-F238E27FC236}">
                <a16:creationId xmlns:a16="http://schemas.microsoft.com/office/drawing/2014/main" id="{F80D4D94-A827-4F48-9332-FBB14C8CCB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8105" y="4477533"/>
            <a:ext cx="6796087" cy="895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AF1F6ED-BEB6-4F65-932B-5D6342C09E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87E43-59DA-478D-922A-0CBF4E83E6B1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877FA5-AECB-4918-BDD7-FE0D81BE75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Assumption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C6E20D-2B4C-4890-ACC9-4EA493A2AB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Processes arrive dynamically</a:t>
            </a:r>
          </a:p>
          <a:p>
            <a:r>
              <a:rPr lang="en-US" dirty="0"/>
              <a:t>Parameters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Arrival Time</a:t>
            </a:r>
          </a:p>
          <a:p>
            <a:pPr lvl="1"/>
            <a:r>
              <a:rPr lang="en-US" dirty="0"/>
              <a:t>Burst Time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8D52A3-82F2-403C-B5E7-E171D96A4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87E43-59DA-478D-922A-0CBF4E83E6B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82042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3ACB1E9B-55B1-4A8D-BA1A-F71727BB24E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616199" y="277812"/>
            <a:ext cx="8619647" cy="840793"/>
          </a:xfrm>
        </p:spPr>
        <p:txBody>
          <a:bodyPr>
            <a:normAutofit fontScale="90000"/>
          </a:bodyPr>
          <a:lstStyle/>
          <a:p>
            <a:r>
              <a:rPr lang="en-US" altLang="en-US" dirty="0"/>
              <a:t>Example of Shortest-remaining-time-first</a:t>
            </a:r>
          </a:p>
        </p:txBody>
      </p:sp>
      <p:sp>
        <p:nvSpPr>
          <p:cNvPr id="19459" name="Rectangle 36">
            <a:extLst>
              <a:ext uri="{FF2B5EF4-FFF2-40B4-BE49-F238E27FC236}">
                <a16:creationId xmlns:a16="http://schemas.microsoft.com/office/drawing/2014/main" id="{DB6652D6-A993-480C-ADBD-438044C328E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49201" y="1303931"/>
            <a:ext cx="9239946" cy="5355202"/>
          </a:xfrm>
        </p:spPr>
        <p:txBody>
          <a:bodyPr>
            <a:normAutofit fontScale="92500" lnSpcReduction="10000"/>
          </a:bodyPr>
          <a:lstStyle/>
          <a:p>
            <a:pPr>
              <a:tabLst>
                <a:tab pos="1601312" algn="ctr"/>
                <a:tab pos="3252629" algn="ctr"/>
                <a:tab pos="5141754" algn="ctr"/>
              </a:tabLst>
              <a:defRPr/>
            </a:pPr>
            <a:r>
              <a:rPr lang="en-US" altLang="en-US" dirty="0">
                <a:cs typeface="ＭＳ Ｐゴシック" charset="-128"/>
              </a:rPr>
              <a:t>Now we add the concepts of varying arrival times and preemption to the analysis</a:t>
            </a:r>
          </a:p>
          <a:p>
            <a:pPr>
              <a:buNone/>
              <a:tabLst>
                <a:tab pos="1601312" algn="ctr"/>
                <a:tab pos="3252629" algn="ctr"/>
                <a:tab pos="5141754" algn="ctr"/>
              </a:tabLst>
              <a:defRPr/>
            </a:pPr>
            <a:r>
              <a:rPr lang="en-US" altLang="en-US" dirty="0">
                <a:cs typeface="ＭＳ Ｐゴシック" charset="-128"/>
              </a:rPr>
              <a:t>		         </a:t>
            </a:r>
            <a:r>
              <a:rPr lang="en-US" altLang="en-US" u="sng" dirty="0">
                <a:cs typeface="ＭＳ Ｐゴシック" charset="-128"/>
              </a:rPr>
              <a:t>Process</a:t>
            </a:r>
            <a:r>
              <a:rPr lang="en-US" altLang="en-US" u="sng" dirty="0">
                <a:solidFill>
                  <a:schemeClr val="bg1"/>
                </a:solidFill>
                <a:cs typeface="ＭＳ Ｐゴシック" charset="-128"/>
              </a:rPr>
              <a:t>A	arri </a:t>
            </a:r>
            <a:r>
              <a:rPr lang="en-US" altLang="en-US" sz="2000" i="1" u="sng" dirty="0">
                <a:solidFill>
                  <a:srgbClr val="FF0000"/>
                </a:solidFill>
                <a:cs typeface="ＭＳ Ｐゴシック" charset="-128"/>
              </a:rPr>
              <a:t>Arrival </a:t>
            </a:r>
            <a:r>
              <a:rPr lang="en-US" altLang="en-US" sz="2000" u="sng" dirty="0">
                <a:solidFill>
                  <a:srgbClr val="FF0000"/>
                </a:solidFill>
                <a:cs typeface="ＭＳ Ｐゴシック" charset="-128"/>
              </a:rPr>
              <a:t>Time</a:t>
            </a:r>
            <a:r>
              <a:rPr lang="en-US" altLang="en-US" dirty="0">
                <a:cs typeface="ＭＳ Ｐゴシック" charset="-128"/>
              </a:rPr>
              <a:t>	</a:t>
            </a:r>
            <a:r>
              <a:rPr lang="en-US" altLang="en-US" u="sng" dirty="0">
                <a:cs typeface="ＭＳ Ｐゴシック" charset="-128"/>
              </a:rPr>
              <a:t>Burst Time</a:t>
            </a:r>
            <a:endParaRPr lang="en-US" altLang="en-US" dirty="0">
              <a:cs typeface="ＭＳ Ｐゴシック" charset="-128"/>
            </a:endParaRPr>
          </a:p>
          <a:p>
            <a:pPr>
              <a:buNone/>
              <a:tabLst>
                <a:tab pos="1601312" algn="ctr"/>
                <a:tab pos="3252629" algn="ctr"/>
                <a:tab pos="5141754" algn="ctr"/>
              </a:tabLst>
              <a:defRPr/>
            </a:pPr>
            <a:r>
              <a:rPr lang="en-US" altLang="en-US" dirty="0">
                <a:cs typeface="ＭＳ Ｐゴシック" charset="-128"/>
              </a:rPr>
              <a:t>		 </a:t>
            </a:r>
            <a:r>
              <a:rPr lang="en-US" altLang="en-US" i="1" dirty="0">
                <a:cs typeface="ＭＳ Ｐゴシック" charset="-128"/>
              </a:rPr>
              <a:t>P</a:t>
            </a:r>
            <a:r>
              <a:rPr lang="en-US" altLang="en-US" i="1" baseline="-25000" dirty="0">
                <a:cs typeface="ＭＳ Ｐゴシック" charset="-128"/>
              </a:rPr>
              <a:t>1</a:t>
            </a:r>
            <a:r>
              <a:rPr lang="en-US" altLang="en-US" dirty="0">
                <a:cs typeface="ＭＳ Ｐゴシック" charset="-128"/>
              </a:rPr>
              <a:t>	</a:t>
            </a:r>
            <a:r>
              <a:rPr lang="en-US" altLang="en-US" dirty="0">
                <a:solidFill>
                  <a:srgbClr val="000000"/>
                </a:solidFill>
                <a:cs typeface="ＭＳ Ｐゴシック" charset="-128"/>
              </a:rPr>
              <a:t>0</a:t>
            </a:r>
            <a:r>
              <a:rPr lang="en-US" altLang="en-US" dirty="0">
                <a:cs typeface="ＭＳ Ｐゴシック" charset="-128"/>
              </a:rPr>
              <a:t>	8</a:t>
            </a:r>
          </a:p>
          <a:p>
            <a:pPr>
              <a:buNone/>
              <a:tabLst>
                <a:tab pos="1601312" algn="ctr"/>
                <a:tab pos="3252629" algn="ctr"/>
                <a:tab pos="5141754" algn="ctr"/>
              </a:tabLst>
              <a:defRPr/>
            </a:pPr>
            <a:r>
              <a:rPr lang="en-US" altLang="en-US" dirty="0">
                <a:cs typeface="ＭＳ Ｐゴシック" charset="-128"/>
              </a:rPr>
              <a:t>		 </a:t>
            </a:r>
            <a:r>
              <a:rPr lang="en-US" altLang="en-US" i="1" dirty="0">
                <a:cs typeface="ＭＳ Ｐゴシック" charset="-128"/>
              </a:rPr>
              <a:t>P</a:t>
            </a:r>
            <a:r>
              <a:rPr lang="en-US" altLang="en-US" i="1" baseline="-25000" dirty="0">
                <a:cs typeface="ＭＳ Ｐゴシック" charset="-128"/>
              </a:rPr>
              <a:t>2 	</a:t>
            </a:r>
            <a:r>
              <a:rPr lang="en-US" altLang="en-US" dirty="0">
                <a:solidFill>
                  <a:srgbClr val="000000"/>
                </a:solidFill>
                <a:cs typeface="ＭＳ Ｐゴシック" charset="-128"/>
              </a:rPr>
              <a:t>1</a:t>
            </a:r>
            <a:r>
              <a:rPr lang="en-US" altLang="en-US" dirty="0">
                <a:cs typeface="ＭＳ Ｐゴシック" charset="-128"/>
              </a:rPr>
              <a:t>	4</a:t>
            </a:r>
          </a:p>
          <a:p>
            <a:pPr>
              <a:buNone/>
              <a:tabLst>
                <a:tab pos="1601312" algn="ctr"/>
                <a:tab pos="3252629" algn="ctr"/>
                <a:tab pos="5141754" algn="ctr"/>
              </a:tabLst>
              <a:defRPr/>
            </a:pPr>
            <a:r>
              <a:rPr lang="en-US" altLang="en-US" dirty="0">
                <a:cs typeface="ＭＳ Ｐゴシック" charset="-128"/>
              </a:rPr>
              <a:t>		 </a:t>
            </a:r>
            <a:r>
              <a:rPr lang="en-US" altLang="en-US" i="1" dirty="0">
                <a:cs typeface="ＭＳ Ｐゴシック" charset="-128"/>
              </a:rPr>
              <a:t>P</a:t>
            </a:r>
            <a:r>
              <a:rPr lang="en-US" altLang="en-US" i="1" baseline="-25000" dirty="0">
                <a:cs typeface="ＭＳ Ｐゴシック" charset="-128"/>
              </a:rPr>
              <a:t>3</a:t>
            </a:r>
            <a:r>
              <a:rPr lang="en-US" altLang="en-US" dirty="0">
                <a:cs typeface="ＭＳ Ｐゴシック" charset="-128"/>
              </a:rPr>
              <a:t>	</a:t>
            </a:r>
            <a:r>
              <a:rPr lang="en-US" altLang="en-US" dirty="0">
                <a:solidFill>
                  <a:srgbClr val="000000"/>
                </a:solidFill>
                <a:cs typeface="ＭＳ Ｐゴシック" charset="-128"/>
              </a:rPr>
              <a:t>2</a:t>
            </a:r>
            <a:r>
              <a:rPr lang="en-US" altLang="en-US" dirty="0">
                <a:cs typeface="ＭＳ Ｐゴシック" charset="-128"/>
              </a:rPr>
              <a:t>	9</a:t>
            </a:r>
          </a:p>
          <a:p>
            <a:pPr>
              <a:buNone/>
              <a:tabLst>
                <a:tab pos="1601312" algn="ctr"/>
                <a:tab pos="3252629" algn="ctr"/>
                <a:tab pos="5141754" algn="ctr"/>
              </a:tabLst>
              <a:defRPr/>
            </a:pPr>
            <a:r>
              <a:rPr lang="en-US" altLang="en-US" dirty="0">
                <a:cs typeface="ＭＳ Ｐゴシック" charset="-128"/>
              </a:rPr>
              <a:t>		 </a:t>
            </a:r>
            <a:r>
              <a:rPr lang="en-US" altLang="en-US" i="1" dirty="0">
                <a:cs typeface="ＭＳ Ｐゴシック" charset="-128"/>
              </a:rPr>
              <a:t>P</a:t>
            </a:r>
            <a:r>
              <a:rPr lang="en-US" altLang="en-US" i="1" baseline="-25000" dirty="0">
                <a:cs typeface="ＭＳ Ｐゴシック" charset="-128"/>
              </a:rPr>
              <a:t>4</a:t>
            </a:r>
            <a:r>
              <a:rPr lang="en-US" altLang="en-US" dirty="0">
                <a:cs typeface="ＭＳ Ｐゴシック" charset="-128"/>
              </a:rPr>
              <a:t>	</a:t>
            </a:r>
            <a:r>
              <a:rPr lang="en-US" altLang="en-US" dirty="0">
                <a:solidFill>
                  <a:srgbClr val="000000"/>
                </a:solidFill>
                <a:cs typeface="ＭＳ Ｐゴシック" charset="-128"/>
              </a:rPr>
              <a:t>3</a:t>
            </a:r>
            <a:r>
              <a:rPr lang="en-US" altLang="en-US" dirty="0">
                <a:cs typeface="ＭＳ Ｐゴシック" charset="-128"/>
              </a:rPr>
              <a:t>	5</a:t>
            </a:r>
          </a:p>
          <a:p>
            <a:pPr>
              <a:tabLst>
                <a:tab pos="1601312" algn="ctr"/>
                <a:tab pos="3252629" algn="ctr"/>
                <a:tab pos="5141754" algn="ctr"/>
              </a:tabLst>
              <a:defRPr/>
            </a:pPr>
            <a:r>
              <a:rPr lang="en-US" altLang="en-US" i="1" dirty="0">
                <a:cs typeface="ＭＳ Ｐゴシック" charset="-128"/>
              </a:rPr>
              <a:t>Preemptive </a:t>
            </a:r>
            <a:r>
              <a:rPr lang="en-US" altLang="en-US" dirty="0">
                <a:cs typeface="ＭＳ Ｐゴシック" charset="-128"/>
              </a:rPr>
              <a:t>SJF Gantt Chart</a:t>
            </a:r>
          </a:p>
          <a:p>
            <a:pPr>
              <a:tabLst>
                <a:tab pos="1601312" algn="ctr"/>
                <a:tab pos="3252629" algn="ctr"/>
                <a:tab pos="5141754" algn="ctr"/>
              </a:tabLst>
              <a:defRPr/>
            </a:pPr>
            <a:endParaRPr lang="en-US" altLang="en-US" dirty="0">
              <a:cs typeface="ＭＳ Ｐゴシック" charset="-128"/>
            </a:endParaRPr>
          </a:p>
          <a:p>
            <a:pPr>
              <a:tabLst>
                <a:tab pos="1601312" algn="ctr"/>
                <a:tab pos="3252629" algn="ctr"/>
                <a:tab pos="5141754" algn="ctr"/>
              </a:tabLst>
              <a:defRPr/>
            </a:pPr>
            <a:endParaRPr lang="en-US" altLang="en-US" dirty="0">
              <a:cs typeface="ＭＳ Ｐゴシック" charset="-128"/>
            </a:endParaRPr>
          </a:p>
          <a:p>
            <a:pPr marL="0" indent="0">
              <a:buNone/>
              <a:tabLst>
                <a:tab pos="1601312" algn="ctr"/>
                <a:tab pos="3252629" algn="ctr"/>
                <a:tab pos="5141754" algn="ctr"/>
              </a:tabLst>
              <a:defRPr/>
            </a:pPr>
            <a:endParaRPr lang="en-US" altLang="en-US" dirty="0">
              <a:cs typeface="ＭＳ Ｐゴシック" charset="-128"/>
            </a:endParaRPr>
          </a:p>
          <a:p>
            <a:pPr>
              <a:tabLst>
                <a:tab pos="1601312" algn="ctr"/>
                <a:tab pos="3252629" algn="ctr"/>
                <a:tab pos="5141754" algn="ctr"/>
              </a:tabLst>
              <a:defRPr/>
            </a:pPr>
            <a:r>
              <a:rPr lang="en-US" altLang="en-US" dirty="0">
                <a:cs typeface="ＭＳ Ｐゴシック" charset="-128"/>
              </a:rPr>
              <a:t>Average waiting time = </a:t>
            </a:r>
            <a:r>
              <a:rPr lang="en-US" altLang="en-US" sz="2600" dirty="0">
                <a:cs typeface="ＭＳ Ｐゴシック" charset="-128"/>
              </a:rPr>
              <a:t>[(10-1)+(1-1)+(</a:t>
            </a:r>
            <a:r>
              <a:rPr lang="en-US" altLang="en-US" sz="2600">
                <a:cs typeface="ＭＳ Ｐゴシック" charset="-128"/>
              </a:rPr>
              <a:t>17-2)+(5-3</a:t>
            </a:r>
            <a:r>
              <a:rPr lang="en-US" altLang="en-US" sz="2600" dirty="0">
                <a:cs typeface="ＭＳ Ｐゴシック" charset="-128"/>
              </a:rPr>
              <a:t>)]/4 = 26/4 = 6.5 </a:t>
            </a:r>
            <a:r>
              <a:rPr lang="en-US" altLang="en-US" sz="2600" dirty="0" err="1">
                <a:cs typeface="ＭＳ Ｐゴシック" charset="-128"/>
              </a:rPr>
              <a:t>ms</a:t>
            </a:r>
            <a:endParaRPr lang="en-US" altLang="en-US" sz="2600" dirty="0">
              <a:cs typeface="ＭＳ Ｐゴシック" charset="-128"/>
            </a:endParaRPr>
          </a:p>
          <a:p>
            <a:pPr>
              <a:tabLst>
                <a:tab pos="1601312" algn="ctr"/>
                <a:tab pos="3252629" algn="ctr"/>
                <a:tab pos="5141754" algn="ctr"/>
              </a:tabLst>
              <a:defRPr/>
            </a:pPr>
            <a:endParaRPr lang="en-US" altLang="en-US" i="1" baseline="-25000" dirty="0">
              <a:cs typeface="ＭＳ Ｐゴシック" charset="-128"/>
            </a:endParaRPr>
          </a:p>
          <a:p>
            <a:pPr>
              <a:buNone/>
              <a:tabLst>
                <a:tab pos="1601312" algn="ctr"/>
                <a:tab pos="3252629" algn="ctr"/>
                <a:tab pos="5141754" algn="ctr"/>
              </a:tabLst>
              <a:defRPr/>
            </a:pPr>
            <a:endParaRPr lang="en-US" altLang="en-US" i="1" baseline="-25000" dirty="0">
              <a:cs typeface="ＭＳ Ｐゴシック" charset="-128"/>
            </a:endParaRPr>
          </a:p>
        </p:txBody>
      </p:sp>
      <p:pic>
        <p:nvPicPr>
          <p:cNvPr id="37892" name="Picture 1">
            <a:extLst>
              <a:ext uri="{FF2B5EF4-FFF2-40B4-BE49-F238E27FC236}">
                <a16:creationId xmlns:a16="http://schemas.microsoft.com/office/drawing/2014/main" id="{42FFE822-860C-490B-97EF-B4C3D20BCF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8340" y="4647918"/>
            <a:ext cx="6535737" cy="800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893" name="TextBox 1">
            <a:extLst>
              <a:ext uri="{FF2B5EF4-FFF2-40B4-BE49-F238E27FC236}">
                <a16:creationId xmlns:a16="http://schemas.microsoft.com/office/drawing/2014/main" id="{B6698537-768E-4B1A-ABA2-D1C9428594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04077" y="2535758"/>
            <a:ext cx="198507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dirty="0">
                <a:solidFill>
                  <a:srgbClr val="FF0000"/>
                </a:solidFill>
                <a:latin typeface="Verdana" panose="020B0604030504040204" pitchFamily="34" charset="0"/>
              </a:rPr>
              <a:t>Preemptive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7155F53-DE9A-46B6-84E9-DD55ECDE6B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87E43-59DA-478D-922A-0CBF4E83E6B1}" type="slidenum">
              <a:rPr lang="en-US" smtClean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88F34E5D-C726-4673-8928-3076B1400E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176213"/>
            <a:ext cx="8229600" cy="576262"/>
          </a:xfrm>
        </p:spPr>
        <p:txBody>
          <a:bodyPr>
            <a:noAutofit/>
          </a:bodyPr>
          <a:lstStyle/>
          <a:p>
            <a:r>
              <a:rPr lang="en-US" altLang="en-US" dirty="0"/>
              <a:t>Round Robin (RR)</a:t>
            </a:r>
          </a:p>
        </p:txBody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1B562E3B-F231-4CEB-8303-A2A95D2FD14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53503" y="1071644"/>
            <a:ext cx="9031139" cy="5093485"/>
          </a:xfrm>
        </p:spPr>
        <p:txBody>
          <a:bodyPr>
            <a:normAutofit lnSpcReduction="10000"/>
          </a:bodyPr>
          <a:lstStyle/>
          <a:p>
            <a:r>
              <a:rPr lang="en-US" altLang="en-US" dirty="0"/>
              <a:t>Each process gets a small unit of CPU time (</a:t>
            </a:r>
            <a:r>
              <a:rPr lang="en-US" altLang="en-US" b="1" dirty="0">
                <a:solidFill>
                  <a:srgbClr val="3366FF"/>
                </a:solidFill>
              </a:rPr>
              <a:t>time</a:t>
            </a:r>
            <a:r>
              <a:rPr lang="en-US" altLang="en-US" b="1" dirty="0"/>
              <a:t> </a:t>
            </a:r>
            <a:r>
              <a:rPr lang="en-US" altLang="en-US" b="1" dirty="0">
                <a:solidFill>
                  <a:srgbClr val="3366FF"/>
                </a:solidFill>
              </a:rPr>
              <a:t>quantum</a:t>
            </a:r>
            <a:r>
              <a:rPr lang="en-US" altLang="en-US" b="1" dirty="0"/>
              <a:t> </a:t>
            </a:r>
            <a:r>
              <a:rPr lang="en-US" altLang="en-US" i="1" dirty="0"/>
              <a:t>q</a:t>
            </a:r>
            <a:r>
              <a:rPr lang="en-US" altLang="en-US" dirty="0"/>
              <a:t>), usually 10-100 milliseconds.  After this time has elapsed, the process is preempted and added to the end of the ready queue.</a:t>
            </a:r>
          </a:p>
          <a:p>
            <a:r>
              <a:rPr lang="en-US" altLang="en-US" dirty="0"/>
              <a:t>If there are </a:t>
            </a:r>
            <a:r>
              <a:rPr lang="en-US" altLang="en-US" i="1" dirty="0"/>
              <a:t>n</a:t>
            </a:r>
            <a:r>
              <a:rPr lang="en-US" altLang="en-US" dirty="0"/>
              <a:t> processes in the ready queue and the time quantum is </a:t>
            </a:r>
            <a:r>
              <a:rPr lang="en-US" altLang="en-US" i="1" dirty="0"/>
              <a:t>q</a:t>
            </a:r>
            <a:r>
              <a:rPr lang="en-US" altLang="en-US" dirty="0"/>
              <a:t>, then each process gets 1/</a:t>
            </a:r>
            <a:r>
              <a:rPr lang="en-US" altLang="en-US" i="1" dirty="0"/>
              <a:t>n</a:t>
            </a:r>
            <a:r>
              <a:rPr lang="en-US" altLang="en-US" dirty="0"/>
              <a:t> of the CPU time in chunks of at most </a:t>
            </a:r>
            <a:r>
              <a:rPr lang="en-US" altLang="en-US" i="1" dirty="0"/>
              <a:t>q</a:t>
            </a:r>
            <a:r>
              <a:rPr lang="en-US" altLang="en-US" dirty="0"/>
              <a:t> time units at once.  No process waits more than (</a:t>
            </a:r>
            <a:r>
              <a:rPr lang="en-US" altLang="en-US" i="1" dirty="0"/>
              <a:t>n</a:t>
            </a:r>
            <a:r>
              <a:rPr lang="en-US" altLang="en-US" dirty="0"/>
              <a:t>-1)</a:t>
            </a:r>
            <a:r>
              <a:rPr lang="en-US" altLang="en-US" i="1" dirty="0"/>
              <a:t>q </a:t>
            </a:r>
            <a:r>
              <a:rPr lang="en-US" altLang="en-US" dirty="0"/>
              <a:t>time units.</a:t>
            </a:r>
          </a:p>
          <a:p>
            <a:r>
              <a:rPr lang="en-US" altLang="en-US" dirty="0"/>
              <a:t>Timer interrupts every quantum to schedule next process</a:t>
            </a:r>
          </a:p>
          <a:p>
            <a:r>
              <a:rPr lang="en-US" altLang="en-US" dirty="0"/>
              <a:t>Performance</a:t>
            </a:r>
          </a:p>
          <a:p>
            <a:pPr lvl="1"/>
            <a:r>
              <a:rPr lang="en-US" altLang="en-US" i="1" dirty="0"/>
              <a:t>q</a:t>
            </a:r>
            <a:r>
              <a:rPr lang="en-US" altLang="en-US" dirty="0"/>
              <a:t> large </a:t>
            </a:r>
            <a:r>
              <a:rPr lang="en-US" altLang="en-US" dirty="0">
                <a:sym typeface="Symbol" panose="05050102010706020507" pitchFamily="18" charset="2"/>
              </a:rPr>
              <a:t> FIFO</a:t>
            </a:r>
          </a:p>
          <a:p>
            <a:pPr lvl="1"/>
            <a:r>
              <a:rPr lang="en-US" altLang="en-US" i="1" dirty="0">
                <a:sym typeface="Symbol" panose="05050102010706020507" pitchFamily="18" charset="2"/>
              </a:rPr>
              <a:t>q </a:t>
            </a:r>
            <a:r>
              <a:rPr lang="en-US" altLang="en-US" dirty="0">
                <a:sym typeface="Symbol" panose="05050102010706020507" pitchFamily="18" charset="2"/>
              </a:rPr>
              <a:t>small  </a:t>
            </a:r>
            <a:r>
              <a:rPr lang="en-US" altLang="en-US" i="1" dirty="0">
                <a:sym typeface="Symbol" panose="05050102010706020507" pitchFamily="18" charset="2"/>
              </a:rPr>
              <a:t>q </a:t>
            </a:r>
            <a:r>
              <a:rPr lang="en-US" altLang="en-US" dirty="0">
                <a:sym typeface="Symbol" panose="05050102010706020507" pitchFamily="18" charset="2"/>
              </a:rPr>
              <a:t>must be large with respect to context switch, otherwise overhead is too high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C0BD358-D092-4EA8-8765-CE5A45D82B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87E43-59DA-478D-922A-0CBF4E83E6B1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877FA5-AECB-4918-BDD7-FE0D81BE75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Assumption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C6E20D-2B4C-4890-ACC9-4EA493A2AB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Processes arrive dynamically</a:t>
            </a:r>
          </a:p>
          <a:p>
            <a:r>
              <a:rPr lang="en-US" dirty="0"/>
              <a:t>Each process get maximum quantum time using CPU</a:t>
            </a:r>
          </a:p>
          <a:p>
            <a:r>
              <a:rPr lang="en-US" dirty="0"/>
              <a:t>Parameters</a:t>
            </a:r>
          </a:p>
          <a:p>
            <a:pPr lvl="1"/>
            <a:r>
              <a:rPr lang="en-US" dirty="0"/>
              <a:t>Arrival Time</a:t>
            </a:r>
          </a:p>
          <a:p>
            <a:pPr lvl="1"/>
            <a:r>
              <a:rPr lang="en-US" dirty="0"/>
              <a:t>Burst Time</a:t>
            </a:r>
          </a:p>
          <a:p>
            <a:pPr lvl="1"/>
            <a:r>
              <a:rPr lang="en-US" dirty="0"/>
              <a:t>quantum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B7B3AC-79F7-450D-9C53-4A4BEED84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87E43-59DA-478D-922A-0CBF4E83E6B1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01485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7975ABB9-4A89-4254-A97B-B334FBB337D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87625" y="182563"/>
            <a:ext cx="7829550" cy="525462"/>
          </a:xfrm>
        </p:spPr>
        <p:txBody>
          <a:bodyPr/>
          <a:lstStyle/>
          <a:p>
            <a:pPr eaLnBrk="1" hangingPunct="1"/>
            <a:r>
              <a:rPr lang="en-US" altLang="en-US" sz="2800"/>
              <a:t>Time Quantum and Context Switch Time</a:t>
            </a:r>
          </a:p>
        </p:txBody>
      </p:sp>
      <p:pic>
        <p:nvPicPr>
          <p:cNvPr id="46083" name="Picture 1">
            <a:extLst>
              <a:ext uri="{FF2B5EF4-FFF2-40B4-BE49-F238E27FC236}">
                <a16:creationId xmlns:a16="http://schemas.microsoft.com/office/drawing/2014/main" id="{C68A44FE-28BF-4C08-828A-DCCC9D043B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2450" y="1890714"/>
            <a:ext cx="6630988" cy="277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E1CDE8A-0329-4A4C-B28A-F3E8AD583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87E43-59DA-478D-922A-0CBF4E83E6B1}" type="slidenum">
              <a:rPr lang="en-US" smtClean="0"/>
              <a:t>13</a:t>
            </a:fld>
            <a:endParaRPr lang="en-US"/>
          </a:p>
        </p:txBody>
      </p:sp>
      <p:sp>
        <p:nvSpPr>
          <p:cNvPr id="5" name="TextBox 1">
            <a:extLst>
              <a:ext uri="{FF2B5EF4-FFF2-40B4-BE49-F238E27FC236}">
                <a16:creationId xmlns:a16="http://schemas.microsoft.com/office/drawing/2014/main" id="{3B67A650-470A-4759-8620-45F6894154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0218" y="5138737"/>
            <a:ext cx="740886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>
                <a:solidFill>
                  <a:srgbClr val="FF0000"/>
                </a:solidFill>
              </a:rPr>
              <a:t>How to set up quantum time considering context switch time?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F3ACF1C3-7EC1-4242-A5DD-23F6124E1BC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49025" y="98882"/>
            <a:ext cx="8693950" cy="1215231"/>
          </a:xfrm>
        </p:spPr>
        <p:txBody>
          <a:bodyPr>
            <a:noAutofit/>
          </a:bodyPr>
          <a:lstStyle/>
          <a:p>
            <a:r>
              <a:rPr lang="en-US" altLang="en-US" sz="4000" dirty="0"/>
              <a:t>Turnaround Time Varies With The Time Quantum</a:t>
            </a:r>
          </a:p>
        </p:txBody>
      </p:sp>
      <p:sp>
        <p:nvSpPr>
          <p:cNvPr id="48131" name="TextBox 3">
            <a:extLst>
              <a:ext uri="{FF2B5EF4-FFF2-40B4-BE49-F238E27FC236}">
                <a16:creationId xmlns:a16="http://schemas.microsoft.com/office/drawing/2014/main" id="{214F505D-A8CE-410C-87DB-070380B50D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1439" y="3292475"/>
            <a:ext cx="2312987" cy="922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17" tIns="45709" rIns="91417" bIns="45709"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>
                <a:solidFill>
                  <a:srgbClr val="FF0000"/>
                </a:solidFill>
                <a:latin typeface="Verdana" panose="020B0604030504040204" pitchFamily="34" charset="0"/>
              </a:rPr>
              <a:t>80% of CPU bursts should be shorter than q</a:t>
            </a:r>
          </a:p>
        </p:txBody>
      </p:sp>
      <p:pic>
        <p:nvPicPr>
          <p:cNvPr id="48132" name="Picture 1">
            <a:extLst>
              <a:ext uri="{FF2B5EF4-FFF2-40B4-BE49-F238E27FC236}">
                <a16:creationId xmlns:a16="http://schemas.microsoft.com/office/drawing/2014/main" id="{3110F37F-26BA-4CDC-88BE-FD230A7E10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8774" y="1481931"/>
            <a:ext cx="5617572" cy="46695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2BC9738-E756-419F-9A73-C18C94AC85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87E43-59DA-478D-922A-0CBF4E83E6B1}" type="slidenum">
              <a:rPr lang="en-US" smtClean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>
            <a:extLst>
              <a:ext uri="{FF2B5EF4-FFF2-40B4-BE49-F238E27FC236}">
                <a16:creationId xmlns:a16="http://schemas.microsoft.com/office/drawing/2014/main" id="{5A7F9723-4541-4ADE-A5E7-DF41627C9E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87614" y="201613"/>
            <a:ext cx="7723187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Priority Scheduling</a:t>
            </a:r>
          </a:p>
        </p:txBody>
      </p:sp>
      <p:sp>
        <p:nvSpPr>
          <p:cNvPr id="50179" name="Rectangle 3">
            <a:extLst>
              <a:ext uri="{FF2B5EF4-FFF2-40B4-BE49-F238E27FC236}">
                <a16:creationId xmlns:a16="http://schemas.microsoft.com/office/drawing/2014/main" id="{DA573DA2-8277-4250-B4D3-493253A731D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812761" y="1109295"/>
            <a:ext cx="8123090" cy="4639410"/>
          </a:xfrm>
        </p:spPr>
        <p:txBody>
          <a:bodyPr>
            <a:normAutofit fontScale="85000" lnSpcReduction="10000"/>
          </a:bodyPr>
          <a:lstStyle/>
          <a:p>
            <a:r>
              <a:rPr lang="en-US" altLang="en-US" dirty="0"/>
              <a:t>A priority number (integer) is associated with each process</a:t>
            </a:r>
          </a:p>
          <a:p>
            <a:endParaRPr lang="en-US" altLang="en-US" sz="800" dirty="0"/>
          </a:p>
          <a:p>
            <a:r>
              <a:rPr lang="en-US" altLang="en-US" dirty="0"/>
              <a:t>The CPU is allocated to the process with the highest priority (smallest integer </a:t>
            </a:r>
            <a:r>
              <a:rPr lang="en-US" altLang="en-US" dirty="0">
                <a:sym typeface="Symbol" panose="05050102010706020507" pitchFamily="18" charset="2"/>
              </a:rPr>
              <a:t> highest priority)</a:t>
            </a:r>
          </a:p>
          <a:p>
            <a:pPr lvl="1"/>
            <a:r>
              <a:rPr lang="en-US" altLang="en-US" dirty="0"/>
              <a:t>Preemptive</a:t>
            </a:r>
          </a:p>
          <a:p>
            <a:pPr lvl="1"/>
            <a:r>
              <a:rPr lang="en-US" altLang="en-US" dirty="0"/>
              <a:t>Nonpreemptive</a:t>
            </a:r>
          </a:p>
          <a:p>
            <a:pPr lvl="1"/>
            <a:endParaRPr lang="en-US" altLang="en-US" sz="800" dirty="0"/>
          </a:p>
          <a:p>
            <a:r>
              <a:rPr lang="en-US" altLang="en-US" dirty="0"/>
              <a:t>SJF is priority scheduling where </a:t>
            </a:r>
            <a:r>
              <a:rPr lang="en-US" altLang="en-US" dirty="0">
                <a:solidFill>
                  <a:srgbClr val="FF0000"/>
                </a:solidFill>
              </a:rPr>
              <a:t>priority is the inverse of predicted next CPU burst time</a:t>
            </a:r>
          </a:p>
          <a:p>
            <a:endParaRPr lang="en-US" altLang="en-US" sz="800" dirty="0"/>
          </a:p>
          <a:p>
            <a:r>
              <a:rPr lang="en-US" altLang="en-US" dirty="0"/>
              <a:t>Problem </a:t>
            </a:r>
            <a:r>
              <a:rPr lang="en-US" altLang="en-US" dirty="0">
                <a:sym typeface="Symbol" panose="05050102010706020507" pitchFamily="18" charset="2"/>
              </a:rPr>
              <a:t> </a:t>
            </a:r>
            <a:r>
              <a:rPr lang="en-US" altLang="en-US" b="1" dirty="0">
                <a:solidFill>
                  <a:srgbClr val="3366FF"/>
                </a:solidFill>
                <a:sym typeface="Symbol" panose="05050102010706020507" pitchFamily="18" charset="2"/>
              </a:rPr>
              <a:t>Starvation</a:t>
            </a:r>
            <a:r>
              <a:rPr lang="en-US" altLang="en-US" b="1" dirty="0">
                <a:sym typeface="Symbol" panose="05050102010706020507" pitchFamily="18" charset="2"/>
              </a:rPr>
              <a:t> </a:t>
            </a:r>
            <a:r>
              <a:rPr lang="en-US" altLang="en-US" dirty="0">
                <a:sym typeface="Symbol" panose="05050102010706020507" pitchFamily="18" charset="2"/>
              </a:rPr>
              <a:t>– low priority processes may never execute</a:t>
            </a:r>
          </a:p>
          <a:p>
            <a:endParaRPr lang="en-US" altLang="en-US" sz="800" dirty="0">
              <a:sym typeface="Symbol" panose="05050102010706020507" pitchFamily="18" charset="2"/>
            </a:endParaRPr>
          </a:p>
          <a:p>
            <a:r>
              <a:rPr lang="en-US" altLang="en-US" dirty="0">
                <a:sym typeface="Symbol" panose="05050102010706020507" pitchFamily="18" charset="2"/>
              </a:rPr>
              <a:t>Solution  </a:t>
            </a:r>
            <a:r>
              <a:rPr lang="en-US" altLang="en-US" b="1" dirty="0">
                <a:solidFill>
                  <a:srgbClr val="3366FF"/>
                </a:solidFill>
                <a:sym typeface="Symbol" panose="05050102010706020507" pitchFamily="18" charset="2"/>
              </a:rPr>
              <a:t>Aging</a:t>
            </a:r>
            <a:r>
              <a:rPr lang="en-US" altLang="en-US" b="1" dirty="0">
                <a:sym typeface="Symbol" panose="05050102010706020507" pitchFamily="18" charset="2"/>
              </a:rPr>
              <a:t> </a:t>
            </a:r>
            <a:r>
              <a:rPr lang="en-US" altLang="en-US" dirty="0">
                <a:sym typeface="Symbol" panose="05050102010706020507" pitchFamily="18" charset="2"/>
              </a:rPr>
              <a:t>– as time progresses increase the priority of the process</a:t>
            </a:r>
          </a:p>
          <a:p>
            <a:pPr>
              <a:buFont typeface="Monotype Sorts" pitchFamily="-84" charset="2"/>
              <a:buNone/>
            </a:pPr>
            <a:endParaRPr lang="en-US" altLang="en-US" b="1" dirty="0">
              <a:solidFill>
                <a:srgbClr val="3366FF"/>
              </a:solidFill>
              <a:sym typeface="Symbol" panose="05050102010706020507" pitchFamily="18" charset="2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91B685A-0E5E-4179-BEAE-34B090180C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87E43-59DA-478D-922A-0CBF4E83E6B1}" type="slidenum">
              <a:rPr lang="en-US" smtClean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>
            <a:extLst>
              <a:ext uri="{FF2B5EF4-FFF2-40B4-BE49-F238E27FC236}">
                <a16:creationId xmlns:a16="http://schemas.microsoft.com/office/drawing/2014/main" id="{973E2B65-CB88-492B-834F-8DED205F47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930526" y="201613"/>
            <a:ext cx="7280275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Example of Priority Scheduling</a:t>
            </a:r>
          </a:p>
        </p:txBody>
      </p:sp>
      <p:sp>
        <p:nvSpPr>
          <p:cNvPr id="52227" name="Rectangle 36">
            <a:extLst>
              <a:ext uri="{FF2B5EF4-FFF2-40B4-BE49-F238E27FC236}">
                <a16:creationId xmlns:a16="http://schemas.microsoft.com/office/drawing/2014/main" id="{357DB230-D5FE-4D87-836D-2762FF3DA70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330450" y="1233488"/>
            <a:ext cx="8337550" cy="4887912"/>
          </a:xfrm>
          <a:noFill/>
        </p:spPr>
        <p:txBody>
          <a:bodyPr>
            <a:normAutofit fontScale="85000" lnSpcReduction="20000"/>
          </a:bodyPr>
          <a:lstStyle/>
          <a:p>
            <a:pPr>
              <a:buNone/>
              <a:tabLst>
                <a:tab pos="1600200" algn="ctr"/>
                <a:tab pos="3251200" algn="ctr"/>
                <a:tab pos="5140325" algn="ctr"/>
              </a:tabLst>
            </a:pPr>
            <a:r>
              <a:rPr lang="en-US" altLang="en-US"/>
              <a:t>		         </a:t>
            </a:r>
            <a:r>
              <a:rPr lang="en-US" altLang="en-US" u="sng"/>
              <a:t>Process</a:t>
            </a:r>
            <a:r>
              <a:rPr lang="en-US" altLang="en-US" u="sng">
                <a:solidFill>
                  <a:schemeClr val="bg1"/>
                </a:solidFill>
              </a:rPr>
              <a:t>A	arri </a:t>
            </a:r>
            <a:r>
              <a:rPr lang="en-US" altLang="en-US" u="sng"/>
              <a:t>Burst Time</a:t>
            </a:r>
            <a:r>
              <a:rPr lang="en-US" altLang="en-US" u="sng">
                <a:solidFill>
                  <a:schemeClr val="bg1"/>
                </a:solidFill>
              </a:rPr>
              <a:t>T</a:t>
            </a:r>
            <a:r>
              <a:rPr lang="en-US" altLang="en-US"/>
              <a:t>	</a:t>
            </a:r>
            <a:r>
              <a:rPr lang="en-US" altLang="en-US" u="sng"/>
              <a:t>Priority</a:t>
            </a:r>
            <a:endParaRPr lang="en-US" altLang="en-US"/>
          </a:p>
          <a:p>
            <a:pPr>
              <a:buNone/>
              <a:tabLst>
                <a:tab pos="1600200" algn="ctr"/>
                <a:tab pos="3251200" algn="ctr"/>
                <a:tab pos="5140325" algn="ctr"/>
              </a:tabLst>
            </a:pPr>
            <a:r>
              <a:rPr lang="en-US" altLang="en-US"/>
              <a:t>		 </a:t>
            </a:r>
            <a:r>
              <a:rPr lang="en-US" altLang="en-US" i="1"/>
              <a:t>P</a:t>
            </a:r>
            <a:r>
              <a:rPr lang="en-US" altLang="en-US" i="1" baseline="-25000"/>
              <a:t>1</a:t>
            </a:r>
            <a:r>
              <a:rPr lang="en-US" altLang="en-US"/>
              <a:t>	1</a:t>
            </a:r>
            <a:r>
              <a:rPr lang="en-US" altLang="en-US">
                <a:solidFill>
                  <a:srgbClr val="000000"/>
                </a:solidFill>
              </a:rPr>
              <a:t>0</a:t>
            </a:r>
            <a:r>
              <a:rPr lang="en-US" altLang="en-US"/>
              <a:t>	3</a:t>
            </a:r>
          </a:p>
          <a:p>
            <a:pPr>
              <a:buNone/>
              <a:tabLst>
                <a:tab pos="1600200" algn="ctr"/>
                <a:tab pos="3251200" algn="ctr"/>
                <a:tab pos="5140325" algn="ctr"/>
              </a:tabLst>
            </a:pPr>
            <a:r>
              <a:rPr lang="en-US" altLang="en-US"/>
              <a:t>		 </a:t>
            </a:r>
            <a:r>
              <a:rPr lang="en-US" altLang="en-US" i="1"/>
              <a:t>P</a:t>
            </a:r>
            <a:r>
              <a:rPr lang="en-US" altLang="en-US" i="1" baseline="-25000"/>
              <a:t>2 	</a:t>
            </a:r>
            <a:r>
              <a:rPr lang="en-US" altLang="en-US">
                <a:solidFill>
                  <a:srgbClr val="000000"/>
                </a:solidFill>
              </a:rPr>
              <a:t>1</a:t>
            </a:r>
            <a:r>
              <a:rPr lang="en-US" altLang="en-US"/>
              <a:t>	1</a:t>
            </a:r>
          </a:p>
          <a:p>
            <a:pPr>
              <a:buNone/>
              <a:tabLst>
                <a:tab pos="1600200" algn="ctr"/>
                <a:tab pos="3251200" algn="ctr"/>
                <a:tab pos="5140325" algn="ctr"/>
              </a:tabLst>
            </a:pPr>
            <a:r>
              <a:rPr lang="en-US" altLang="en-US"/>
              <a:t>		 </a:t>
            </a:r>
            <a:r>
              <a:rPr lang="en-US" altLang="en-US" i="1"/>
              <a:t>P</a:t>
            </a:r>
            <a:r>
              <a:rPr lang="en-US" altLang="en-US" i="1" baseline="-25000"/>
              <a:t>3</a:t>
            </a:r>
            <a:r>
              <a:rPr lang="en-US" altLang="en-US"/>
              <a:t>	</a:t>
            </a:r>
            <a:r>
              <a:rPr lang="en-US" altLang="en-US">
                <a:solidFill>
                  <a:srgbClr val="000000"/>
                </a:solidFill>
              </a:rPr>
              <a:t>2</a:t>
            </a:r>
            <a:r>
              <a:rPr lang="en-US" altLang="en-US"/>
              <a:t>	4</a:t>
            </a:r>
          </a:p>
          <a:p>
            <a:pPr>
              <a:buNone/>
              <a:tabLst>
                <a:tab pos="1600200" algn="ctr"/>
                <a:tab pos="3251200" algn="ctr"/>
                <a:tab pos="5140325" algn="ctr"/>
              </a:tabLst>
            </a:pPr>
            <a:r>
              <a:rPr lang="en-US" altLang="en-US"/>
              <a:t>		 </a:t>
            </a:r>
            <a:r>
              <a:rPr lang="en-US" altLang="en-US" i="1"/>
              <a:t>P</a:t>
            </a:r>
            <a:r>
              <a:rPr lang="en-US" altLang="en-US" i="1" baseline="-25000"/>
              <a:t>4</a:t>
            </a:r>
            <a:r>
              <a:rPr lang="en-US" altLang="en-US"/>
              <a:t>	</a:t>
            </a:r>
            <a:r>
              <a:rPr lang="en-US" altLang="en-US">
                <a:solidFill>
                  <a:srgbClr val="000000"/>
                </a:solidFill>
              </a:rPr>
              <a:t>1</a:t>
            </a:r>
            <a:r>
              <a:rPr lang="en-US" altLang="en-US"/>
              <a:t>	5</a:t>
            </a:r>
          </a:p>
          <a:p>
            <a:pPr>
              <a:buNone/>
              <a:tabLst>
                <a:tab pos="1600200" algn="ctr"/>
                <a:tab pos="3251200" algn="ctr"/>
                <a:tab pos="5140325" algn="ctr"/>
              </a:tabLst>
            </a:pPr>
            <a:r>
              <a:rPr lang="en-US" altLang="en-US"/>
              <a:t>		</a:t>
            </a:r>
            <a:r>
              <a:rPr lang="en-US" altLang="en-US" i="1"/>
              <a:t>P</a:t>
            </a:r>
            <a:r>
              <a:rPr lang="en-US" altLang="en-US" i="1" baseline="-25000"/>
              <a:t>5	</a:t>
            </a:r>
            <a:r>
              <a:rPr lang="en-US" altLang="en-US"/>
              <a:t>5	2</a:t>
            </a:r>
          </a:p>
          <a:p>
            <a:pPr>
              <a:buNone/>
              <a:tabLst>
                <a:tab pos="1600200" algn="ctr"/>
                <a:tab pos="3251200" algn="ctr"/>
                <a:tab pos="5140325" algn="ctr"/>
              </a:tabLst>
            </a:pPr>
            <a:endParaRPr lang="en-US" altLang="en-US" baseline="-25000"/>
          </a:p>
          <a:p>
            <a:pPr>
              <a:tabLst>
                <a:tab pos="1600200" algn="ctr"/>
                <a:tab pos="3251200" algn="ctr"/>
                <a:tab pos="5140325" algn="ctr"/>
              </a:tabLst>
            </a:pPr>
            <a:r>
              <a:rPr lang="en-US" altLang="en-US"/>
              <a:t>Priority scheduling Gantt Chart</a:t>
            </a:r>
          </a:p>
          <a:p>
            <a:pPr>
              <a:tabLst>
                <a:tab pos="1600200" algn="ctr"/>
                <a:tab pos="3251200" algn="ctr"/>
                <a:tab pos="5140325" algn="ctr"/>
              </a:tabLst>
            </a:pPr>
            <a:endParaRPr lang="en-US" altLang="en-US"/>
          </a:p>
          <a:p>
            <a:pPr>
              <a:tabLst>
                <a:tab pos="1600200" algn="ctr"/>
                <a:tab pos="3251200" algn="ctr"/>
                <a:tab pos="5140325" algn="ctr"/>
              </a:tabLst>
            </a:pPr>
            <a:endParaRPr lang="en-US" altLang="en-US"/>
          </a:p>
          <a:p>
            <a:pPr>
              <a:tabLst>
                <a:tab pos="1600200" algn="ctr"/>
                <a:tab pos="3251200" algn="ctr"/>
                <a:tab pos="5140325" algn="ctr"/>
              </a:tabLst>
            </a:pPr>
            <a:endParaRPr lang="en-US" altLang="en-US"/>
          </a:p>
          <a:p>
            <a:pPr>
              <a:buNone/>
              <a:tabLst>
                <a:tab pos="1600200" algn="ctr"/>
                <a:tab pos="3251200" algn="ctr"/>
                <a:tab pos="5140325" algn="ctr"/>
              </a:tabLst>
            </a:pPr>
            <a:endParaRPr lang="en-US" altLang="en-US"/>
          </a:p>
          <a:p>
            <a:pPr>
              <a:tabLst>
                <a:tab pos="1600200" algn="ctr"/>
                <a:tab pos="3251200" algn="ctr"/>
                <a:tab pos="5140325" algn="ctr"/>
              </a:tabLst>
            </a:pPr>
            <a:r>
              <a:rPr lang="en-US" altLang="en-US"/>
              <a:t>Average waiting time = 8.2 msec</a:t>
            </a:r>
            <a:endParaRPr lang="en-US" altLang="en-US" i="1" baseline="-25000"/>
          </a:p>
        </p:txBody>
      </p:sp>
      <p:pic>
        <p:nvPicPr>
          <p:cNvPr id="52228" name="Picture 1">
            <a:extLst>
              <a:ext uri="{FF2B5EF4-FFF2-40B4-BE49-F238E27FC236}">
                <a16:creationId xmlns:a16="http://schemas.microsoft.com/office/drawing/2014/main" id="{47CF3139-345D-411C-93DA-53F7A3967E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21051" y="4400551"/>
            <a:ext cx="6467475" cy="752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AF6BD0C-F149-449D-B6FE-360AB57D1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87E43-59DA-478D-922A-0CBF4E83E6B1}" type="slidenum">
              <a:rPr lang="en-US" smtClean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>
            <a:extLst>
              <a:ext uri="{FF2B5EF4-FFF2-40B4-BE49-F238E27FC236}">
                <a16:creationId xmlns:a16="http://schemas.microsoft.com/office/drawing/2014/main" id="{35919991-03F6-45C4-AF4D-6C8D6301383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930526" y="201612"/>
            <a:ext cx="7740616" cy="976311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Priority Scheduling w/ Round-Robin</a:t>
            </a:r>
          </a:p>
        </p:txBody>
      </p:sp>
      <p:sp>
        <p:nvSpPr>
          <p:cNvPr id="54275" name="Rectangle 36">
            <a:extLst>
              <a:ext uri="{FF2B5EF4-FFF2-40B4-BE49-F238E27FC236}">
                <a16:creationId xmlns:a16="http://schemas.microsoft.com/office/drawing/2014/main" id="{D3FD964E-46D9-4AAC-A349-29FE38BB2BF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873250" y="1177924"/>
            <a:ext cx="9212671" cy="5571668"/>
          </a:xfrm>
          <a:noFill/>
        </p:spPr>
        <p:txBody>
          <a:bodyPr>
            <a:normAutofit/>
          </a:bodyPr>
          <a:lstStyle/>
          <a:p>
            <a:pPr>
              <a:buNone/>
              <a:tabLst>
                <a:tab pos="1600200" algn="ctr"/>
                <a:tab pos="3251200" algn="ctr"/>
                <a:tab pos="5140325" algn="ctr"/>
              </a:tabLst>
            </a:pPr>
            <a:r>
              <a:rPr lang="en-US" altLang="en-US" dirty="0"/>
              <a:t>		         </a:t>
            </a:r>
            <a:r>
              <a:rPr lang="en-US" altLang="en-US" u="sng" dirty="0"/>
              <a:t>Process</a:t>
            </a:r>
            <a:r>
              <a:rPr lang="en-US" altLang="en-US" u="sng" dirty="0">
                <a:solidFill>
                  <a:schemeClr val="bg1"/>
                </a:solidFill>
              </a:rPr>
              <a:t>A	  </a:t>
            </a:r>
            <a:r>
              <a:rPr lang="en-US" altLang="en-US" u="sng" dirty="0"/>
              <a:t>Burst Time</a:t>
            </a:r>
            <a:r>
              <a:rPr lang="en-US" altLang="en-US" dirty="0"/>
              <a:t>  </a:t>
            </a:r>
            <a:r>
              <a:rPr lang="en-US" altLang="en-US" u="sng" dirty="0"/>
              <a:t>Priority</a:t>
            </a:r>
            <a:r>
              <a:rPr lang="en-US" altLang="en-US" dirty="0"/>
              <a:t>  </a:t>
            </a:r>
            <a:r>
              <a:rPr lang="en-US" altLang="en-US" u="sng" dirty="0"/>
              <a:t>Quantum</a:t>
            </a:r>
          </a:p>
          <a:p>
            <a:pPr>
              <a:buNone/>
              <a:tabLst>
                <a:tab pos="1600200" algn="ctr"/>
                <a:tab pos="3251200" algn="ctr"/>
                <a:tab pos="5140325" algn="ctr"/>
              </a:tabLst>
            </a:pPr>
            <a:r>
              <a:rPr lang="en-US" altLang="en-US" dirty="0"/>
              <a:t>		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1</a:t>
            </a:r>
            <a:r>
              <a:rPr lang="en-US" altLang="en-US" dirty="0"/>
              <a:t>	4	               3             2</a:t>
            </a:r>
          </a:p>
          <a:p>
            <a:pPr>
              <a:buNone/>
              <a:tabLst>
                <a:tab pos="1600200" algn="ctr"/>
                <a:tab pos="3251200" algn="ctr"/>
                <a:tab pos="5140325" algn="ctr"/>
              </a:tabLst>
            </a:pPr>
            <a:r>
              <a:rPr lang="en-US" altLang="en-US" dirty="0"/>
              <a:t>		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2 	</a:t>
            </a:r>
            <a:r>
              <a:rPr lang="en-US" altLang="en-US" dirty="0">
                <a:solidFill>
                  <a:srgbClr val="000000"/>
                </a:solidFill>
              </a:rPr>
              <a:t>5</a:t>
            </a:r>
            <a:r>
              <a:rPr lang="en-US" altLang="en-US" dirty="0"/>
              <a:t>	2</a:t>
            </a:r>
          </a:p>
          <a:p>
            <a:pPr>
              <a:buNone/>
              <a:tabLst>
                <a:tab pos="1600200" algn="ctr"/>
                <a:tab pos="3251200" algn="ctr"/>
                <a:tab pos="5140325" algn="ctr"/>
              </a:tabLst>
            </a:pPr>
            <a:r>
              <a:rPr lang="en-US" altLang="en-US" dirty="0"/>
              <a:t>		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3</a:t>
            </a:r>
            <a:r>
              <a:rPr lang="en-US" altLang="en-US" dirty="0"/>
              <a:t>	</a:t>
            </a:r>
            <a:r>
              <a:rPr lang="en-US" altLang="en-US" dirty="0">
                <a:solidFill>
                  <a:srgbClr val="000000"/>
                </a:solidFill>
              </a:rPr>
              <a:t>8</a:t>
            </a:r>
            <a:r>
              <a:rPr lang="en-US" altLang="en-US" dirty="0"/>
              <a:t>	2</a:t>
            </a:r>
          </a:p>
          <a:p>
            <a:pPr>
              <a:buNone/>
              <a:tabLst>
                <a:tab pos="1600200" algn="ctr"/>
                <a:tab pos="3251200" algn="ctr"/>
                <a:tab pos="5140325" algn="ctr"/>
              </a:tabLst>
            </a:pPr>
            <a:r>
              <a:rPr lang="en-US" altLang="en-US" dirty="0"/>
              <a:t>		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4</a:t>
            </a:r>
            <a:r>
              <a:rPr lang="en-US" altLang="en-US" dirty="0"/>
              <a:t>	</a:t>
            </a:r>
            <a:r>
              <a:rPr lang="en-US" altLang="en-US" dirty="0">
                <a:solidFill>
                  <a:srgbClr val="000000"/>
                </a:solidFill>
              </a:rPr>
              <a:t>7</a:t>
            </a:r>
            <a:r>
              <a:rPr lang="en-US" altLang="en-US" dirty="0"/>
              <a:t>	1</a:t>
            </a:r>
          </a:p>
          <a:p>
            <a:pPr>
              <a:buNone/>
              <a:tabLst>
                <a:tab pos="1600200" algn="ctr"/>
                <a:tab pos="3251200" algn="ctr"/>
                <a:tab pos="5140325" algn="ctr"/>
              </a:tabLst>
            </a:pPr>
            <a:r>
              <a:rPr lang="en-US" altLang="en-US" dirty="0"/>
              <a:t>		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5	</a:t>
            </a:r>
            <a:r>
              <a:rPr lang="en-US" altLang="en-US" dirty="0"/>
              <a:t>3	3</a:t>
            </a:r>
          </a:p>
          <a:p>
            <a:pPr>
              <a:buFont typeface="Wingdings" panose="05000000000000000000" pitchFamily="2" charset="2"/>
              <a:buChar char="q"/>
              <a:tabLst>
                <a:tab pos="1600200" algn="ctr"/>
                <a:tab pos="3251200" algn="ctr"/>
                <a:tab pos="5140325" algn="ctr"/>
              </a:tabLst>
            </a:pPr>
            <a:r>
              <a:rPr lang="en-US" altLang="en-US" dirty="0"/>
              <a:t>Run the process with the highest priority. Processes with the same priority run round-robin  (P</a:t>
            </a:r>
            <a:r>
              <a:rPr lang="en-US" altLang="en-US" baseline="-25000" dirty="0"/>
              <a:t>2</a:t>
            </a:r>
            <a:r>
              <a:rPr lang="en-US" altLang="en-US" dirty="0"/>
              <a:t> and P</a:t>
            </a:r>
            <a:r>
              <a:rPr lang="en-US" altLang="en-US" baseline="-25000" dirty="0"/>
              <a:t>3  </a:t>
            </a:r>
            <a:r>
              <a:rPr lang="en-US" altLang="en-US" dirty="0"/>
              <a:t>and</a:t>
            </a:r>
            <a:r>
              <a:rPr lang="en-US" altLang="en-US" baseline="-25000" dirty="0"/>
              <a:t> </a:t>
            </a:r>
            <a:r>
              <a:rPr lang="en-US" altLang="en-US" dirty="0"/>
              <a:t>P</a:t>
            </a:r>
            <a:r>
              <a:rPr lang="en-US" altLang="en-US" baseline="-25000" dirty="0"/>
              <a:t>1</a:t>
            </a:r>
            <a:r>
              <a:rPr lang="en-US" altLang="en-US" dirty="0"/>
              <a:t> and P</a:t>
            </a:r>
            <a:r>
              <a:rPr lang="en-US" altLang="en-US" baseline="-25000" dirty="0"/>
              <a:t>5</a:t>
            </a:r>
            <a:r>
              <a:rPr lang="en-US" altLang="en-US" dirty="0"/>
              <a:t>)</a:t>
            </a:r>
          </a:p>
          <a:p>
            <a:pPr>
              <a:buNone/>
              <a:tabLst>
                <a:tab pos="1600200" algn="ctr"/>
                <a:tab pos="3251200" algn="ctr"/>
                <a:tab pos="5140325" algn="ctr"/>
              </a:tabLst>
            </a:pPr>
            <a:endParaRPr lang="en-US" altLang="en-US" baseline="-25000" dirty="0"/>
          </a:p>
          <a:p>
            <a:pPr>
              <a:tabLst>
                <a:tab pos="1600200" algn="ctr"/>
                <a:tab pos="3251200" algn="ctr"/>
                <a:tab pos="5140325" algn="ctr"/>
              </a:tabLst>
            </a:pPr>
            <a:endParaRPr lang="en-US" altLang="en-US" dirty="0"/>
          </a:p>
          <a:p>
            <a:pPr>
              <a:tabLst>
                <a:tab pos="1600200" algn="ctr"/>
                <a:tab pos="3251200" algn="ctr"/>
                <a:tab pos="5140325" algn="ctr"/>
              </a:tabLst>
            </a:pPr>
            <a:r>
              <a:rPr lang="en-US" altLang="en-US" dirty="0"/>
              <a:t>Gantt Chart wit 2 </a:t>
            </a:r>
            <a:r>
              <a:rPr lang="en-US" altLang="en-US" dirty="0" err="1"/>
              <a:t>ms</a:t>
            </a:r>
            <a:r>
              <a:rPr lang="en-US" altLang="en-US" dirty="0"/>
              <a:t> time quantum</a:t>
            </a:r>
          </a:p>
          <a:p>
            <a:pPr>
              <a:tabLst>
                <a:tab pos="1600200" algn="ctr"/>
                <a:tab pos="3251200" algn="ctr"/>
                <a:tab pos="5140325" algn="ctr"/>
              </a:tabLst>
            </a:pPr>
            <a:endParaRPr lang="en-US" altLang="en-US" dirty="0"/>
          </a:p>
          <a:p>
            <a:pPr>
              <a:tabLst>
                <a:tab pos="1600200" algn="ctr"/>
                <a:tab pos="3251200" algn="ctr"/>
                <a:tab pos="5140325" algn="ctr"/>
              </a:tabLst>
            </a:pPr>
            <a:endParaRPr lang="en-US" altLang="en-US" dirty="0"/>
          </a:p>
          <a:p>
            <a:pPr>
              <a:tabLst>
                <a:tab pos="1600200" algn="ctr"/>
                <a:tab pos="3251200" algn="ctr"/>
                <a:tab pos="5140325" algn="ctr"/>
              </a:tabLst>
            </a:pPr>
            <a:endParaRPr lang="en-US" altLang="en-US" dirty="0"/>
          </a:p>
          <a:p>
            <a:pPr>
              <a:buNone/>
              <a:tabLst>
                <a:tab pos="1600200" algn="ctr"/>
                <a:tab pos="3251200" algn="ctr"/>
                <a:tab pos="5140325" algn="ctr"/>
              </a:tabLst>
            </a:pPr>
            <a:endParaRPr lang="en-US" altLang="en-US" dirty="0"/>
          </a:p>
        </p:txBody>
      </p:sp>
      <p:pic>
        <p:nvPicPr>
          <p:cNvPr id="54276" name="Picture 2">
            <a:extLst>
              <a:ext uri="{FF2B5EF4-FFF2-40B4-BE49-F238E27FC236}">
                <a16:creationId xmlns:a16="http://schemas.microsoft.com/office/drawing/2014/main" id="{E405A182-6C88-4C56-A8B3-BA3BD8AB43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0301" y="5237163"/>
            <a:ext cx="7810500" cy="885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7714733-F9D2-4091-9DA1-FBC825BB1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87E43-59DA-478D-922A-0CBF4E83E6B1}" type="slidenum">
              <a:rPr lang="en-US" smtClean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>
            <a:extLst>
              <a:ext uri="{FF2B5EF4-FFF2-40B4-BE49-F238E27FC236}">
                <a16:creationId xmlns:a16="http://schemas.microsoft.com/office/drawing/2014/main" id="{B4AFCE2A-955B-48F4-ABEE-7D80746C91D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006944" y="425453"/>
            <a:ext cx="7713662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Multilevel Priority Queue</a:t>
            </a:r>
          </a:p>
        </p:txBody>
      </p:sp>
      <p:sp>
        <p:nvSpPr>
          <p:cNvPr id="58371" name="Rectangle 3">
            <a:extLst>
              <a:ext uri="{FF2B5EF4-FFF2-40B4-BE49-F238E27FC236}">
                <a16:creationId xmlns:a16="http://schemas.microsoft.com/office/drawing/2014/main" id="{8A35E1AB-F82C-490A-88F4-1EA3EF0342E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368550" y="1068389"/>
            <a:ext cx="7537450" cy="5221287"/>
          </a:xfrm>
        </p:spPr>
        <p:txBody>
          <a:bodyPr/>
          <a:lstStyle/>
          <a:p>
            <a:r>
              <a:rPr lang="en-US" altLang="en-US"/>
              <a:t>With priority scheduling, have separate queues for each priority.</a:t>
            </a:r>
          </a:p>
          <a:p>
            <a:r>
              <a:rPr lang="en-US" altLang="en-US"/>
              <a:t>Schedule the process in the highest-priority queue!</a:t>
            </a:r>
          </a:p>
        </p:txBody>
      </p:sp>
      <p:pic>
        <p:nvPicPr>
          <p:cNvPr id="58372" name="Picture 1">
            <a:extLst>
              <a:ext uri="{FF2B5EF4-FFF2-40B4-BE49-F238E27FC236}">
                <a16:creationId xmlns:a16="http://schemas.microsoft.com/office/drawing/2014/main" id="{919B31B4-93B4-4CD0-8408-E82D7D4D97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0575" y="2683235"/>
            <a:ext cx="3073400" cy="339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34D2CBB-2790-487C-A56B-178552CBC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87E43-59DA-478D-922A-0CBF4E83E6B1}" type="slidenum">
              <a:rPr lang="en-US" smtClean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Title 1">
            <a:extLst>
              <a:ext uri="{FF2B5EF4-FFF2-40B4-BE49-F238E27FC236}">
                <a16:creationId xmlns:a16="http://schemas.microsoft.com/office/drawing/2014/main" id="{F5C49EB0-A408-4C20-B555-B6F3066C451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Multilevel Process Type Queue</a:t>
            </a:r>
          </a:p>
        </p:txBody>
      </p:sp>
      <p:sp>
        <p:nvSpPr>
          <p:cNvPr id="60419" name="Content Placeholder 2">
            <a:extLst>
              <a:ext uri="{FF2B5EF4-FFF2-40B4-BE49-F238E27FC236}">
                <a16:creationId xmlns:a16="http://schemas.microsoft.com/office/drawing/2014/main" id="{A3081C69-9E47-4A79-8F5B-6268BEA8446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Prioritization based upon process type</a:t>
            </a:r>
          </a:p>
        </p:txBody>
      </p:sp>
      <p:pic>
        <p:nvPicPr>
          <p:cNvPr id="60420" name="Picture 3">
            <a:extLst>
              <a:ext uri="{FF2B5EF4-FFF2-40B4-BE49-F238E27FC236}">
                <a16:creationId xmlns:a16="http://schemas.microsoft.com/office/drawing/2014/main" id="{D9C36998-1473-450A-99DA-75F91AEB32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7512" y="2691369"/>
            <a:ext cx="5583238" cy="2970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2860DD9-BF0A-4D95-856A-71425A8606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87E43-59DA-478D-922A-0CBF4E83E6B1}" type="slidenum">
              <a:rPr lang="en-US" smtClean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>
            <a:extLst>
              <a:ext uri="{FF2B5EF4-FFF2-40B4-BE49-F238E27FC236}">
                <a16:creationId xmlns:a16="http://schemas.microsoft.com/office/drawing/2014/main" id="{2F416F0D-3DAF-48BA-BCD9-F53B21C6C71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184400" y="239713"/>
            <a:ext cx="8026400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Multilevel Feedback Queue</a:t>
            </a:r>
          </a:p>
        </p:txBody>
      </p:sp>
      <p:sp>
        <p:nvSpPr>
          <p:cNvPr id="61443" name="Rectangle 3">
            <a:extLst>
              <a:ext uri="{FF2B5EF4-FFF2-40B4-BE49-F238E27FC236}">
                <a16:creationId xmlns:a16="http://schemas.microsoft.com/office/drawing/2014/main" id="{C4C50B2F-BE0D-4EFA-A448-3E915AEBA55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426213" y="1085367"/>
            <a:ext cx="8339955" cy="4687266"/>
          </a:xfrm>
        </p:spPr>
        <p:txBody>
          <a:bodyPr>
            <a:normAutofit/>
          </a:bodyPr>
          <a:lstStyle/>
          <a:p>
            <a:r>
              <a:rPr lang="en-US" altLang="en-US" dirty="0"/>
              <a:t>A process can move between the various queues; aging can be implemented this way</a:t>
            </a:r>
          </a:p>
          <a:p>
            <a:r>
              <a:rPr lang="en-US" altLang="en-US" dirty="0"/>
              <a:t>Multilevel-feedback-queue scheduler defined by the following parameters:</a:t>
            </a:r>
          </a:p>
          <a:p>
            <a:pPr lvl="1"/>
            <a:r>
              <a:rPr lang="en-US" altLang="en-US" dirty="0"/>
              <a:t>number of queues</a:t>
            </a:r>
          </a:p>
          <a:p>
            <a:pPr lvl="1"/>
            <a:r>
              <a:rPr lang="en-US" altLang="en-US" dirty="0"/>
              <a:t>scheduling algorithms for each queue</a:t>
            </a:r>
          </a:p>
          <a:p>
            <a:pPr lvl="1"/>
            <a:r>
              <a:rPr lang="en-US" altLang="en-US" dirty="0"/>
              <a:t>method used to determine when to upgrade a process</a:t>
            </a:r>
          </a:p>
          <a:p>
            <a:pPr lvl="1"/>
            <a:r>
              <a:rPr lang="en-US" altLang="en-US" dirty="0"/>
              <a:t>method used to determine when to demote a process</a:t>
            </a:r>
          </a:p>
          <a:p>
            <a:pPr lvl="1"/>
            <a:r>
              <a:rPr lang="en-US" altLang="en-US" dirty="0"/>
              <a:t>method used to determine which queue a process will enter when that process needs service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2F0E616-6500-43A5-A40D-C9068B8FE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87E43-59DA-478D-922A-0CBF4E83E6B1}" type="slidenum">
              <a:rPr lang="en-US" smtClean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>
            <a:extLst>
              <a:ext uri="{FF2B5EF4-FFF2-40B4-BE49-F238E27FC236}">
                <a16:creationId xmlns:a16="http://schemas.microsoft.com/office/drawing/2014/main" id="{2BC57B3C-55F1-43C2-92D8-6AB9EF1AD3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08289" y="50799"/>
            <a:ext cx="9417377" cy="1457489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dirty="0"/>
              <a:t>Example of Multilevel Feedback Queue</a:t>
            </a:r>
          </a:p>
        </p:txBody>
      </p:sp>
      <p:sp>
        <p:nvSpPr>
          <p:cNvPr id="63491" name="Rectangle 3">
            <a:extLst>
              <a:ext uri="{FF2B5EF4-FFF2-40B4-BE49-F238E27FC236}">
                <a16:creationId xmlns:a16="http://schemas.microsoft.com/office/drawing/2014/main" id="{89670470-2AD6-4192-ABFA-A1E0E6C789D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59490" y="1508288"/>
            <a:ext cx="4065588" cy="4530725"/>
          </a:xfrm>
        </p:spPr>
        <p:txBody>
          <a:bodyPr/>
          <a:lstStyle/>
          <a:p>
            <a:r>
              <a:rPr lang="en-US" altLang="en-US" dirty="0"/>
              <a:t>Three queues: </a:t>
            </a:r>
          </a:p>
          <a:p>
            <a:pPr lvl="1"/>
            <a:r>
              <a:rPr lang="en-US" altLang="en-US" sz="1400" i="1" dirty="0"/>
              <a:t>Q</a:t>
            </a:r>
            <a:r>
              <a:rPr lang="en-US" altLang="en-US" sz="1400" baseline="-25000" dirty="0"/>
              <a:t>0</a:t>
            </a:r>
            <a:r>
              <a:rPr lang="en-US" altLang="en-US" sz="1400" dirty="0"/>
              <a:t> – RR with time quantum 8 milliseconds</a:t>
            </a:r>
          </a:p>
          <a:p>
            <a:pPr lvl="1"/>
            <a:r>
              <a:rPr lang="en-US" altLang="en-US" sz="1400" i="1" dirty="0"/>
              <a:t>Q</a:t>
            </a:r>
            <a:r>
              <a:rPr lang="en-US" altLang="en-US" sz="1400" baseline="-25000" dirty="0"/>
              <a:t>1</a:t>
            </a:r>
            <a:r>
              <a:rPr lang="en-US" altLang="en-US" sz="1400" dirty="0"/>
              <a:t> – RR time quantum 16 milliseconds</a:t>
            </a:r>
          </a:p>
          <a:p>
            <a:pPr lvl="1"/>
            <a:r>
              <a:rPr lang="en-US" altLang="en-US" sz="1400" i="1" dirty="0"/>
              <a:t>Q</a:t>
            </a:r>
            <a:r>
              <a:rPr lang="en-US" altLang="en-US" sz="1400" baseline="-25000" dirty="0"/>
              <a:t>2</a:t>
            </a:r>
            <a:r>
              <a:rPr lang="en-US" altLang="en-US" sz="1400" dirty="0"/>
              <a:t> – FCFS</a:t>
            </a:r>
          </a:p>
          <a:p>
            <a:pPr lvl="1"/>
            <a:endParaRPr lang="en-US" altLang="en-US" sz="1400" dirty="0"/>
          </a:p>
          <a:p>
            <a:r>
              <a:rPr lang="en-US" altLang="en-US" dirty="0"/>
              <a:t>Scheduling</a:t>
            </a:r>
          </a:p>
          <a:p>
            <a:pPr lvl="1"/>
            <a:r>
              <a:rPr lang="en-US" altLang="en-US" sz="1400" dirty="0"/>
              <a:t>A new job enters queue </a:t>
            </a:r>
            <a:r>
              <a:rPr lang="en-US" altLang="en-US" sz="1400" i="1" dirty="0"/>
              <a:t>Q</a:t>
            </a:r>
            <a:r>
              <a:rPr lang="en-US" altLang="en-US" sz="1400" i="1" baseline="-25000" dirty="0"/>
              <a:t>0</a:t>
            </a:r>
            <a:r>
              <a:rPr lang="en-US" altLang="en-US" sz="1400" i="1" dirty="0"/>
              <a:t> </a:t>
            </a:r>
            <a:r>
              <a:rPr lang="en-US" altLang="en-US" sz="1400" dirty="0"/>
              <a:t>which is served</a:t>
            </a:r>
            <a:r>
              <a:rPr lang="en-US" altLang="en-US" sz="1400" i="1" dirty="0"/>
              <a:t> </a:t>
            </a:r>
            <a:r>
              <a:rPr lang="en-US" altLang="en-US" sz="1400" dirty="0"/>
              <a:t>FCFS</a:t>
            </a:r>
          </a:p>
          <a:p>
            <a:pPr lvl="2"/>
            <a:r>
              <a:rPr lang="en-US" altLang="en-US" sz="1400" dirty="0"/>
              <a:t>When it gains CPU, job receives 8 milliseconds</a:t>
            </a:r>
          </a:p>
          <a:p>
            <a:pPr lvl="2"/>
            <a:r>
              <a:rPr lang="en-US" altLang="en-US" sz="1400" dirty="0"/>
              <a:t>If it does not finish in 8 milliseconds, job is moved to queue </a:t>
            </a:r>
            <a:r>
              <a:rPr lang="en-US" altLang="en-US" sz="1400" i="1" dirty="0"/>
              <a:t>Q</a:t>
            </a:r>
            <a:r>
              <a:rPr lang="en-US" altLang="en-US" sz="1400" baseline="-25000" dirty="0"/>
              <a:t>1</a:t>
            </a:r>
            <a:endParaRPr lang="en-US" altLang="en-US" sz="1400" dirty="0"/>
          </a:p>
          <a:p>
            <a:pPr lvl="1"/>
            <a:r>
              <a:rPr lang="en-US" altLang="en-US" sz="1400" dirty="0"/>
              <a:t>At </a:t>
            </a:r>
            <a:r>
              <a:rPr lang="en-US" altLang="en-US" sz="1400" i="1" dirty="0"/>
              <a:t>Q</a:t>
            </a:r>
            <a:r>
              <a:rPr lang="en-US" altLang="en-US" sz="1400" baseline="-25000" dirty="0"/>
              <a:t>1</a:t>
            </a:r>
            <a:r>
              <a:rPr lang="en-US" altLang="en-US" sz="1400" dirty="0"/>
              <a:t> job is again served FCFS and receives 16 additional milliseconds</a:t>
            </a:r>
          </a:p>
          <a:p>
            <a:pPr lvl="2"/>
            <a:r>
              <a:rPr lang="en-US" altLang="en-US" sz="1400" dirty="0"/>
              <a:t>If it still does not complete, it is preempted and moved to queue </a:t>
            </a:r>
            <a:r>
              <a:rPr lang="en-US" altLang="en-US" sz="1400" i="1" dirty="0"/>
              <a:t>Q</a:t>
            </a:r>
            <a:r>
              <a:rPr lang="en-US" altLang="en-US" sz="1400" baseline="-25000" dirty="0"/>
              <a:t>2</a:t>
            </a:r>
            <a:endParaRPr lang="en-US" altLang="en-US" sz="1400" dirty="0"/>
          </a:p>
        </p:txBody>
      </p:sp>
      <p:pic>
        <p:nvPicPr>
          <p:cNvPr id="63492" name="Picture 1">
            <a:extLst>
              <a:ext uri="{FF2B5EF4-FFF2-40B4-BE49-F238E27FC236}">
                <a16:creationId xmlns:a16="http://schemas.microsoft.com/office/drawing/2014/main" id="{0CB369F6-4208-4DE2-ACF0-F1392F93E2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2401" y="2327276"/>
            <a:ext cx="3914775" cy="2378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24FA497-379D-458C-AAEB-5EBC03AED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87E43-59DA-478D-922A-0CBF4E83E6B1}" type="slidenum">
              <a:rPr lang="en-US" smtClean="0"/>
              <a:t>21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178</TotalTime>
  <Words>1141</Words>
  <Application>Microsoft Office PowerPoint</Application>
  <PresentationFormat>Widescreen</PresentationFormat>
  <Paragraphs>201</Paragraphs>
  <Slides>21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9" baseType="lpstr">
      <vt:lpstr>Arial</vt:lpstr>
      <vt:lpstr>Calibri</vt:lpstr>
      <vt:lpstr>Calibri Light</vt:lpstr>
      <vt:lpstr>Monotype Sorts</vt:lpstr>
      <vt:lpstr>Times New Roman</vt:lpstr>
      <vt:lpstr>Verdana</vt:lpstr>
      <vt:lpstr>Wingdings</vt:lpstr>
      <vt:lpstr>Office Theme</vt:lpstr>
      <vt:lpstr>CPU Scheduling Module 2 Scheduling Algorithms</vt:lpstr>
      <vt:lpstr>Scheduling Criteria</vt:lpstr>
      <vt:lpstr>Scheduling Algorithms</vt:lpstr>
      <vt:lpstr>Assumption 1</vt:lpstr>
      <vt:lpstr>First- Come, First-Served (FCFS) Scheduling</vt:lpstr>
      <vt:lpstr>FCFS Scheduling (Cont.)</vt:lpstr>
      <vt:lpstr>Shortest-Job-First (SJF) Scheduling</vt:lpstr>
      <vt:lpstr>Example of SJF</vt:lpstr>
      <vt:lpstr>Assumption 2</vt:lpstr>
      <vt:lpstr>Example of Shortest-remaining-time-first</vt:lpstr>
      <vt:lpstr>Round Robin (RR)</vt:lpstr>
      <vt:lpstr>Assumption 3</vt:lpstr>
      <vt:lpstr>Time Quantum and Context Switch Time</vt:lpstr>
      <vt:lpstr>Turnaround Time Varies With The Time Quantum</vt:lpstr>
      <vt:lpstr>Priority Scheduling</vt:lpstr>
      <vt:lpstr>Example of Priority Scheduling</vt:lpstr>
      <vt:lpstr>Priority Scheduling w/ Round-Robin</vt:lpstr>
      <vt:lpstr>Multilevel Priority Queue</vt:lpstr>
      <vt:lpstr>Multilevel Process Type Queue</vt:lpstr>
      <vt:lpstr>Multilevel Feedback Queue</vt:lpstr>
      <vt:lpstr>Example of Multilevel Feedback Queue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CPU Scheduling Lesson 1</dc:title>
  <dc:creator>David Liu</dc:creator>
  <cp:lastModifiedBy>David</cp:lastModifiedBy>
  <cp:revision>35</cp:revision>
  <dcterms:created xsi:type="dcterms:W3CDTF">2021-09-28T16:58:38Z</dcterms:created>
  <dcterms:modified xsi:type="dcterms:W3CDTF">2025-09-11T15:20:10Z</dcterms:modified>
</cp:coreProperties>
</file>