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7" r:id="rId5"/>
    <p:sldId id="268" r:id="rId6"/>
    <p:sldId id="261" r:id="rId7"/>
    <p:sldId id="259" r:id="rId8"/>
    <p:sldId id="262" r:id="rId9"/>
    <p:sldId id="260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6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8DE13-07DE-4C6F-95FB-075A6C528791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3599B-FF7D-4AB1-AC54-26A5A72F9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06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B8B5B-8DBD-41AF-AE9B-8F1DBFF76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DAF977-C995-473A-AC0B-296D82AA3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92505-5E16-4CAC-9D7A-F8210EBB2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920A6-5330-4E83-88F4-D75C0BB6167D}" type="datetime1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69590-A895-4514-825F-3B7AB47F5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B8636-C8F8-4290-A599-6EB951FCE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BAF4-4A1F-4099-ACEF-502F70642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00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E0BAF-36C1-4F95-AD46-1433C2DBB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31580-8B2C-4926-AF89-B1A370717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535F3-5EB6-453D-A07F-0E4F76316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86118-871E-4F4D-BB7A-246E370ED1EB}" type="datetime1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E40EE-7A97-433D-8A6F-CF57723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540E6-39FA-419B-944E-49A32CC11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BAF4-4A1F-4099-ACEF-502F70642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51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6C673-3FE5-4F87-AB05-CB1B47DEA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BB4B8-0FA0-4A10-AF3E-5A639A88D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70317-4110-424E-BA1F-AE47D2450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0DF79-9CB9-448F-89B5-370C407F49BE}" type="datetime1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2AC52-D7FC-4CF6-AE26-2E5C0BE7F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2C872-5D76-4F66-80DB-C5DBD81D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BAF4-4A1F-4099-ACEF-502F70642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808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E1846-59B8-436E-977C-6FDCF10DE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F5311-6DFC-49CA-B92D-12F4DE4523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AEA901-DCDC-4442-A0EE-913BB5896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E2A155-C31E-407C-B653-7ECD25657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21E42-0971-4959-84F8-8E7A07F4BDFC}" type="datetime1">
              <a:rPr lang="en-US" smtClean="0"/>
              <a:t>2/9/2023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D97AF-BD77-471B-9FA2-9CABAC5D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0C8DE-A843-4923-8C65-3ACAC79BD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BAF4-4A1F-4099-ACEF-502F70642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13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657D6-E2B0-4C2A-9C53-4DF3BB40E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3848D-E937-4F83-ADBD-DC6D54FBD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09A56F-34AE-4010-BD8D-A81232450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B66C26-D0E9-424C-9610-98DC5314C9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D0975A-0F2E-4C45-B9E5-1FDAAAA9F0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E247ED-247C-4806-9C06-522D91D36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9AD9-4B9B-4A34-B583-7261B5386407}" type="datetime1">
              <a:rPr lang="en-US" smtClean="0"/>
              <a:t>2/9/2023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CCF73C-A589-43A6-BC2C-175FE4E8A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68ADEC-E0A2-4B7F-8584-74ADAAA2D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BAF4-4A1F-4099-ACEF-502F70642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519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C8D90-6E85-4866-9284-F5DC54CDD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AAB0A-5DCA-4D0D-B467-BF72FF3E7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415D6-D947-4D68-97D3-B42F0C68B6B0}" type="datetime1">
              <a:rPr lang="en-US" smtClean="0"/>
              <a:t>2/9/2023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EEF863-1CF6-4842-AD97-2D66292D8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9F6146-275D-4AE6-A0F1-FA35C7CA0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BAF4-4A1F-4099-ACEF-502F70642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5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8166C-FD71-4595-A128-A9BF76140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7B3F2-7CB8-401D-B76B-FF478DDF1F8E}" type="datetime1">
              <a:rPr lang="en-US" smtClean="0"/>
              <a:t>2/9/2023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E2182C-C75C-4243-9CC8-AE0FFE445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8E000-5C24-4DA6-A9DC-FA58B008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BAF4-4A1F-4099-ACEF-502F70642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42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2AF4E-3089-4D3A-9998-3FD9F6C3B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657A6-06E3-45E7-BA0D-20D56751D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20D3FE-FA32-4ADA-9ED0-2FFD8B451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1835E-6A5F-4D2B-B8F7-824D292E5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3E541-0945-4768-944D-42AAB8AC6D00}" type="datetime1">
              <a:rPr lang="en-US" smtClean="0"/>
              <a:t>2/9/2023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19F53-C71B-406B-B87B-F7F29F7B1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EF8D2-D7B0-47FF-88E7-F47C8FB1F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BAF4-4A1F-4099-ACEF-502F70642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616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B2EA7-3C9D-4CDE-A9B8-AF2DEDEC7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D5FA6F-D487-4E00-8694-0A547F98C0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104DAB-064D-4FDF-9823-6635F4DD9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985DC-2641-461B-88DB-E68708290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BDE8-A5ED-44B7-8BEB-B5AFDEE780E8}" type="datetime1">
              <a:rPr lang="en-US" smtClean="0"/>
              <a:t>2/9/2023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6E556-6069-43B8-9A53-7EAFDF66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FE916C-56E5-4130-8492-0660AF7F6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BAF4-4A1F-4099-ACEF-502F70642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173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C5469-016B-4BD3-A6A4-E229ED039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F3B766-9073-4F5F-B897-C118A2D86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3053C-7EF9-400E-A851-DEA0ACD2E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7F04-CF67-41B4-8531-AE63B05DCC95}" type="datetime1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E30B4-437E-418D-9F9F-5AD4F5D38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32FF6-6017-47C7-AA36-ECE3C2BBA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BAF4-4A1F-4099-ACEF-502F70642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01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69923A-1E27-4161-B449-D017C9FB7D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8326BB-4493-4334-94DA-638821170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FDCB3-1669-4ED1-BD8A-14F8FE5BF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4AEA7-944C-42FC-8080-FA4D5E080A35}" type="datetime1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A20A6-6378-436F-B9F1-E35B8F0BB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81C7F-B74B-4CFC-8D7A-3AE85B355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BAF4-4A1F-4099-ACEF-502F70642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908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5E1E34-ECCD-440D-80B0-78459724B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B8D77-22CD-4A29-A520-DFCECBB91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C3F20-F76C-404F-B013-1044311080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16EBF-A9A9-46AA-BA35-2B4C907708BD}" type="datetime1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98977-530D-4123-A0BA-E84883F76E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AA8A2-09E0-4439-92EC-B87ABA9D3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8BAF4-4A1F-4099-ACEF-502F706422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02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BB123-26F3-4F8E-8769-3F1DD9E5F1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CPU Scheduling</a:t>
            </a:r>
            <a:br>
              <a:rPr lang="en-US" dirty="0"/>
            </a:br>
            <a:r>
              <a:rPr lang="en-US" dirty="0"/>
              <a:t>Lesson 5</a:t>
            </a:r>
            <a:br>
              <a:rPr lang="en-US" dirty="0"/>
            </a:br>
            <a:r>
              <a:rPr lang="en-US" dirty="0"/>
              <a:t>Linux Scheduling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A3FA47-FB5E-4990-952A-544476F090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856B9-004F-4EAE-8828-56EBAF752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BAF4-4A1F-4099-ACEF-502F7064228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70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B3006-7888-43BB-9713-AC75CDCE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Scheduling </a:t>
            </a:r>
            <a:r>
              <a:rPr lang="en-US" altLang="en-US" dirty="0"/>
              <a:t>Through Version 2.5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4C8CB-394B-4119-BB0C-91CB899D5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78" y="1690688"/>
            <a:ext cx="10993244" cy="4575176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Prior to kernel version 2.5, ran variation of standard UNIX scheduling algorithm</a:t>
            </a:r>
          </a:p>
          <a:p>
            <a:r>
              <a:rPr lang="en-US" altLang="en-US" dirty="0"/>
              <a:t>Version 2.5 moved to constant order </a:t>
            </a:r>
            <a:r>
              <a:rPr lang="en-US" altLang="en-US" i="1" dirty="0"/>
              <a:t>O</a:t>
            </a:r>
            <a:r>
              <a:rPr lang="en-US" altLang="en-US" dirty="0"/>
              <a:t>(1) scheduling time</a:t>
            </a:r>
          </a:p>
          <a:p>
            <a:pPr lvl="1"/>
            <a:r>
              <a:rPr lang="en-US" altLang="en-US" sz="1600" dirty="0"/>
              <a:t>Preemptive, priority based</a:t>
            </a:r>
          </a:p>
          <a:p>
            <a:pPr lvl="1"/>
            <a:r>
              <a:rPr lang="en-US" altLang="en-US" sz="1600" dirty="0"/>
              <a:t>Two priority ranges: time-sharing and real-time</a:t>
            </a:r>
          </a:p>
          <a:p>
            <a:pPr lvl="1"/>
            <a:r>
              <a:rPr lang="en-US" altLang="en-US" sz="1600" b="1" dirty="0"/>
              <a:t>Real-time </a:t>
            </a:r>
            <a:r>
              <a:rPr lang="en-US" altLang="en-US" sz="1600" dirty="0"/>
              <a:t>range from 0 to 99 and </a:t>
            </a:r>
            <a:r>
              <a:rPr lang="en-US" altLang="en-US" sz="1600" b="1" dirty="0"/>
              <a:t>nice </a:t>
            </a:r>
            <a:r>
              <a:rPr lang="en-US" altLang="en-US" sz="1600" dirty="0"/>
              <a:t>value from 100 to 140</a:t>
            </a:r>
          </a:p>
          <a:p>
            <a:pPr lvl="1"/>
            <a:r>
              <a:rPr lang="en-US" altLang="en-US" sz="1600" dirty="0"/>
              <a:t>Map into  global priority with numerically lower values indicating higher priority</a:t>
            </a:r>
          </a:p>
          <a:p>
            <a:pPr lvl="1"/>
            <a:r>
              <a:rPr lang="en-US" altLang="en-US" sz="1600" dirty="0"/>
              <a:t>Higher priority gets larger q</a:t>
            </a:r>
          </a:p>
          <a:p>
            <a:pPr lvl="1"/>
            <a:r>
              <a:rPr lang="en-US" altLang="en-US" sz="1600" dirty="0"/>
              <a:t>Task run-able as long as time left in time slice (</a:t>
            </a:r>
            <a:r>
              <a:rPr lang="en-US" altLang="en-US" sz="1600" b="1" dirty="0">
                <a:solidFill>
                  <a:srgbClr val="3366FF"/>
                </a:solidFill>
              </a:rPr>
              <a:t>active</a:t>
            </a:r>
            <a:r>
              <a:rPr lang="en-US" altLang="en-US" sz="1600" dirty="0"/>
              <a:t>)</a:t>
            </a:r>
          </a:p>
          <a:p>
            <a:pPr lvl="1"/>
            <a:r>
              <a:rPr lang="en-US" altLang="en-US" sz="1600" dirty="0"/>
              <a:t>If no time left (</a:t>
            </a:r>
            <a:r>
              <a:rPr lang="en-US" altLang="en-US" sz="1600" b="1" dirty="0">
                <a:solidFill>
                  <a:srgbClr val="3366FF"/>
                </a:solidFill>
              </a:rPr>
              <a:t>expired</a:t>
            </a:r>
            <a:r>
              <a:rPr lang="en-US" altLang="en-US" sz="1600" dirty="0"/>
              <a:t>), not run-able until all other tasks use their slices</a:t>
            </a:r>
          </a:p>
          <a:p>
            <a:pPr lvl="1"/>
            <a:r>
              <a:rPr lang="en-US" altLang="en-US" sz="1600" dirty="0"/>
              <a:t>All run-able tasks tracked in per-CPU </a:t>
            </a:r>
            <a:r>
              <a:rPr lang="en-US" altLang="en-US" sz="1600" b="1" dirty="0" err="1">
                <a:solidFill>
                  <a:srgbClr val="3366FF"/>
                </a:solidFill>
              </a:rPr>
              <a:t>runqueue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data structure</a:t>
            </a:r>
          </a:p>
          <a:p>
            <a:pPr lvl="2"/>
            <a:r>
              <a:rPr lang="en-US" altLang="en-US" sz="1600" dirty="0"/>
              <a:t>Two priority arrays (active, expired)</a:t>
            </a:r>
          </a:p>
          <a:p>
            <a:pPr lvl="2"/>
            <a:r>
              <a:rPr lang="en-US" altLang="en-US" sz="1600" dirty="0"/>
              <a:t>Tasks indexed by priority</a:t>
            </a:r>
          </a:p>
          <a:p>
            <a:pPr lvl="2"/>
            <a:r>
              <a:rPr lang="en-US" altLang="en-US" sz="1600" dirty="0"/>
              <a:t>When no more active, arrays are exchanged</a:t>
            </a:r>
          </a:p>
          <a:p>
            <a:pPr lvl="1"/>
            <a:r>
              <a:rPr lang="en-US" altLang="en-US" dirty="0"/>
              <a:t>Worked well, but poor response times for interactive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97BD0-0A5B-47EF-A8CC-70DED3F2D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BAF4-4A1F-4099-ACEF-502F7064228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14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DB2C6-230C-4BA0-A998-83A623821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Scheduling </a:t>
            </a:r>
            <a:r>
              <a:rPr lang="en-US" altLang="en-US" dirty="0"/>
              <a:t>Classes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0AC80-E9BA-4106-A8E1-B0B6A89E0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4624"/>
            <a:ext cx="10515600" cy="4582339"/>
          </a:xfrm>
        </p:spPr>
        <p:txBody>
          <a:bodyPr>
            <a:normAutofit/>
          </a:bodyPr>
          <a:lstStyle/>
          <a:p>
            <a:pPr marL="342900" lvl="0" indent="-3429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sz="2000" b="1" i="1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Completely Fair Scheduler </a:t>
            </a:r>
            <a:r>
              <a:rPr kumimoji="1" lang="en-US" altLang="en-US" sz="2000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(CFS)</a:t>
            </a:r>
          </a:p>
          <a:p>
            <a:pPr marL="342900" lvl="0" indent="-3429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sz="2000" b="1" kern="0" dirty="0">
                <a:solidFill>
                  <a:srgbClr val="3366FF"/>
                </a:solidFill>
                <a:latin typeface="Helvetica"/>
                <a:ea typeface="MS PGothic" pitchFamily="34" charset="-128"/>
              </a:rPr>
              <a:t>Scheduling classes</a:t>
            </a:r>
          </a:p>
          <a:p>
            <a:pPr marL="742950" lvl="1" indent="-28575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 sz="2000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Each has specific priority</a:t>
            </a:r>
          </a:p>
          <a:p>
            <a:pPr marL="742950" lvl="1" indent="-28575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 sz="2000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Scheduler picks highest priority task in highest scheduling class</a:t>
            </a:r>
          </a:p>
          <a:p>
            <a:pPr marL="742950" lvl="1" indent="-28575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 sz="2000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2 scheduling classes included, others can be added</a:t>
            </a:r>
          </a:p>
          <a:p>
            <a:pPr marL="1095375" lvl="2" indent="-239713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Arial" panose="020B0604020202020204" pitchFamily="34" charset="0"/>
              <a:buAutoNum type="arabicPeriod"/>
            </a:pPr>
            <a:r>
              <a:rPr kumimoji="1" lang="en-US" altLang="en-US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default</a:t>
            </a:r>
          </a:p>
          <a:p>
            <a:pPr marL="1095375" lvl="2" indent="-239713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Arial" panose="020B0604020202020204" pitchFamily="34" charset="0"/>
              <a:buAutoNum type="arabicPeriod"/>
            </a:pPr>
            <a:r>
              <a:rPr kumimoji="1" lang="en-US" altLang="en-US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real-time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BDFE7-A9C0-42E0-A467-0EC4D27DF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BAF4-4A1F-4099-ACEF-502F7064228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946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DB2C6-230C-4BA0-A998-83A623821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Scheduling Time Slices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0AC80-E9BA-4106-A8E1-B0B6A89E0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4624"/>
            <a:ext cx="10515600" cy="4582339"/>
          </a:xfrm>
        </p:spPr>
        <p:txBody>
          <a:bodyPr>
            <a:normAutofit/>
          </a:bodyPr>
          <a:lstStyle/>
          <a:p>
            <a:pPr marL="342900" lvl="0" indent="-3429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sz="2400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Time Slice for each task</a:t>
            </a:r>
          </a:p>
          <a:p>
            <a:pPr marL="742950" lvl="1" indent="-28575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based on nice value from -20 to +19, </a:t>
            </a:r>
            <a:r>
              <a:rPr kumimoji="1" lang="en-US" altLang="en-US" b="1" kern="0" dirty="0">
                <a:solidFill>
                  <a:srgbClr val="3366FF"/>
                </a:solidFill>
                <a:latin typeface="Helvetica"/>
                <a:ea typeface="MS PGothic" pitchFamily="34" charset="-128"/>
              </a:rPr>
              <a:t>Lower value is higher priority</a:t>
            </a:r>
          </a:p>
          <a:p>
            <a:pPr marL="742950" lvl="1" indent="-28575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Calculates </a:t>
            </a:r>
            <a:r>
              <a:rPr kumimoji="1" lang="en-US" altLang="en-US" b="1" kern="0" dirty="0">
                <a:solidFill>
                  <a:srgbClr val="3366FF"/>
                </a:solidFill>
                <a:latin typeface="Helvetica"/>
                <a:ea typeface="MS PGothic" pitchFamily="34" charset="-128"/>
              </a:rPr>
              <a:t>target latency </a:t>
            </a:r>
            <a:r>
              <a:rPr kumimoji="1" lang="en-US" altLang="en-US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– interval of time during which task should run at least once</a:t>
            </a:r>
          </a:p>
          <a:p>
            <a:pPr marL="742950" lvl="1" indent="-28575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Target latency can increase if say number of active tasks increases</a:t>
            </a:r>
          </a:p>
          <a:p>
            <a:pPr marL="742950" lvl="1" indent="-28575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Proportion CPU time are allocated from the value </a:t>
            </a:r>
            <a:r>
              <a:rPr kumimoji="1" lang="en-US" altLang="en-US" kern="0" dirty="0" err="1">
                <a:solidFill>
                  <a:srgbClr val="000000"/>
                </a:solidFill>
                <a:latin typeface="Helvetica"/>
                <a:ea typeface="MS PGothic" pitchFamily="34" charset="-128"/>
              </a:rPr>
              <a:t>fo</a:t>
            </a:r>
            <a:r>
              <a:rPr kumimoji="1" lang="en-US" altLang="en-US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 target latency</a:t>
            </a:r>
          </a:p>
          <a:p>
            <a:pPr marL="1200150" lvl="2" indent="-28575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Default and minimum value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BDFE7-A9C0-42E0-A467-0EC4D27DF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BAF4-4A1F-4099-ACEF-502F7064228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094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DB2C6-230C-4BA0-A998-83A623821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Scheduling Task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0AC80-E9BA-4106-A8E1-B0B6A89E0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4624"/>
            <a:ext cx="10515600" cy="4582339"/>
          </a:xfrm>
        </p:spPr>
        <p:txBody>
          <a:bodyPr>
            <a:normAutofit/>
          </a:bodyPr>
          <a:lstStyle/>
          <a:p>
            <a:pPr marL="342900" lvl="0" indent="-3429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sz="2000" kern="0" dirty="0">
                <a:solidFill>
                  <a:srgbClr val="FF0000"/>
                </a:solidFill>
                <a:latin typeface="Helvetica"/>
                <a:ea typeface="MS PGothic" pitchFamily="34" charset="-128"/>
              </a:rPr>
              <a:t>CFS does not directly assign priorities</a:t>
            </a:r>
          </a:p>
          <a:p>
            <a:pPr marL="342900" lvl="0" indent="-3429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sz="2000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CFS scheduler maintains per task </a:t>
            </a:r>
            <a:r>
              <a:rPr kumimoji="1" lang="en-US" altLang="en-US" sz="2000" b="1" kern="0" dirty="0">
                <a:solidFill>
                  <a:srgbClr val="3366FF"/>
                </a:solidFill>
                <a:latin typeface="Helvetica"/>
                <a:ea typeface="MS PGothic" pitchFamily="34" charset="-128"/>
              </a:rPr>
              <a:t>virtual run time </a:t>
            </a:r>
            <a:r>
              <a:rPr kumimoji="1" lang="en-US" altLang="en-US" sz="2000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in variable </a:t>
            </a:r>
            <a:r>
              <a:rPr kumimoji="1" lang="en-US" altLang="en-US" sz="2000" b="1" kern="0" dirty="0" err="1">
                <a:solidFill>
                  <a:srgbClr val="000000"/>
                </a:solidFill>
                <a:latin typeface="Courier New" panose="02070309020205020404" pitchFamily="49" charset="0"/>
                <a:ea typeface="MS PGothic" pitchFamily="34" charset="-128"/>
              </a:rPr>
              <a:t>vruntime</a:t>
            </a:r>
            <a:endParaRPr kumimoji="1" lang="en-US" altLang="en-US" sz="2000" b="1" kern="0" dirty="0">
              <a:solidFill>
                <a:srgbClr val="000000"/>
              </a:solidFill>
              <a:latin typeface="Courier New" panose="02070309020205020404" pitchFamily="49" charset="0"/>
              <a:ea typeface="MS PGothic" pitchFamily="34" charset="-128"/>
            </a:endParaRPr>
          </a:p>
          <a:p>
            <a:pPr marL="742950" lvl="1" indent="-28575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 sz="2000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Associated with decay factor based on priority of task – </a:t>
            </a:r>
            <a:r>
              <a:rPr kumimoji="1" lang="en-US" altLang="en-US" sz="2000" kern="0" dirty="0">
                <a:solidFill>
                  <a:schemeClr val="accent1"/>
                </a:solidFill>
                <a:latin typeface="Helvetica"/>
                <a:ea typeface="MS PGothic" pitchFamily="34" charset="-128"/>
              </a:rPr>
              <a:t>lower priority is higher decay rate</a:t>
            </a:r>
          </a:p>
          <a:p>
            <a:pPr marL="742950" lvl="1" indent="-28575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 sz="2000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Normal default priority yields </a:t>
            </a:r>
            <a:r>
              <a:rPr kumimoji="1" lang="en-US" altLang="en-US" sz="2000" kern="0" dirty="0">
                <a:solidFill>
                  <a:schemeClr val="accent1"/>
                </a:solidFill>
                <a:latin typeface="Helvetica"/>
                <a:ea typeface="MS PGothic" pitchFamily="34" charset="-128"/>
              </a:rPr>
              <a:t>virtual run time = actual run time</a:t>
            </a:r>
          </a:p>
          <a:p>
            <a:pPr marL="342900" lvl="0" indent="-3429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sz="2000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To decide next task to run, scheduler picks task with lowest virtual run time</a:t>
            </a:r>
          </a:p>
          <a:p>
            <a:pPr marL="342900" lvl="0" indent="-3429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sz="2000" kern="0" dirty="0">
              <a:solidFill>
                <a:srgbClr val="000000"/>
              </a:solidFill>
              <a:latin typeface="Helvetica"/>
              <a:ea typeface="MS PGothic" pitchFamily="34" charset="-128"/>
            </a:endParaRPr>
          </a:p>
          <a:p>
            <a:pPr marL="342900" lvl="0" indent="-3429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sz="2000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High priority    actual time =100, </a:t>
            </a:r>
            <a:r>
              <a:rPr kumimoji="1" lang="en-US" altLang="en-US" sz="2000" kern="0" dirty="0" err="1">
                <a:solidFill>
                  <a:srgbClr val="000000"/>
                </a:solidFill>
                <a:latin typeface="Helvetica"/>
                <a:ea typeface="MS PGothic" pitchFamily="34" charset="-128"/>
              </a:rPr>
              <a:t>vrt</a:t>
            </a:r>
            <a:r>
              <a:rPr kumimoji="1" lang="en-US" altLang="en-US" sz="2000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 = 20</a:t>
            </a:r>
          </a:p>
          <a:p>
            <a:pPr marL="342900" lvl="0" indent="-3429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sz="2000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Normal P         actual time = 80    </a:t>
            </a:r>
            <a:r>
              <a:rPr kumimoji="1" lang="en-US" altLang="en-US" sz="2000" kern="0" dirty="0" err="1">
                <a:solidFill>
                  <a:srgbClr val="000000"/>
                </a:solidFill>
                <a:latin typeface="Helvetica"/>
                <a:ea typeface="MS PGothic" pitchFamily="34" charset="-128"/>
              </a:rPr>
              <a:t>vrt</a:t>
            </a:r>
            <a:r>
              <a:rPr kumimoji="1" lang="en-US" altLang="en-US" sz="2000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 = 80</a:t>
            </a:r>
          </a:p>
          <a:p>
            <a:pPr marL="342900" lvl="0" indent="-3429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sz="2000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Low P               actual = 45, </a:t>
            </a:r>
            <a:r>
              <a:rPr kumimoji="1" lang="en-US" altLang="en-US" sz="2000" kern="0" dirty="0" err="1">
                <a:solidFill>
                  <a:srgbClr val="000000"/>
                </a:solidFill>
                <a:latin typeface="Helvetica"/>
                <a:ea typeface="MS PGothic" pitchFamily="34" charset="-128"/>
              </a:rPr>
              <a:t>vrt</a:t>
            </a:r>
            <a:r>
              <a:rPr kumimoji="1" lang="en-US" altLang="en-US" sz="2000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 = 90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BDFE7-A9C0-42E0-A467-0EC4D27DF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BAF4-4A1F-4099-ACEF-502F7064228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311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8FFE0-DAE4-432D-852E-0E8DDA72B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Scheduler Balanced Binary Tree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C66979-8C11-47F4-BD6E-20D2C1B22B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71" y="1886697"/>
            <a:ext cx="5884623" cy="350080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77652C-B071-4529-B247-A33520D58D1D}"/>
              </a:ext>
            </a:extLst>
          </p:cNvPr>
          <p:cNvSpPr txBox="1"/>
          <p:nvPr/>
        </p:nvSpPr>
        <p:spPr>
          <a:xfrm>
            <a:off x="1282390" y="4025591"/>
            <a:ext cx="285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Cache the smallest </a:t>
            </a:r>
            <a:r>
              <a:rPr lang="en-US" dirty="0" err="1">
                <a:solidFill>
                  <a:srgbClr val="FF0000"/>
                </a:solidFill>
              </a:rPr>
              <a:t>vruntime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A9D0A4-2516-4C35-99D4-47092B8F33C7}"/>
              </a:ext>
            </a:extLst>
          </p:cNvPr>
          <p:cNvSpPr txBox="1"/>
          <p:nvPr/>
        </p:nvSpPr>
        <p:spPr>
          <a:xfrm>
            <a:off x="1317271" y="4526075"/>
            <a:ext cx="28173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the time complexity</a:t>
            </a:r>
          </a:p>
          <a:p>
            <a:r>
              <a:rPr lang="en-US" dirty="0"/>
              <a:t>In Big O?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689DC-0CC4-4344-8265-05E6ADB33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BAF4-4A1F-4099-ACEF-502F7064228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285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01247-B267-40D4-BA77-C5A58C8E5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Virtual Run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2DE31-8AC6-4021-AC25-4D028E3D7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Virtual run time</a:t>
            </a:r>
          </a:p>
          <a:p>
            <a:pPr lvl="1"/>
            <a:r>
              <a:rPr lang="en-US" dirty="0"/>
              <a:t>How long each task has run</a:t>
            </a:r>
          </a:p>
          <a:p>
            <a:pPr lvl="1"/>
            <a:r>
              <a:rPr lang="en-US" dirty="0"/>
              <a:t>Decay factor: </a:t>
            </a:r>
            <a:r>
              <a:rPr kumimoji="1" lang="en-US" altLang="en-US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lower priority is higher decay rate</a:t>
            </a:r>
          </a:p>
          <a:p>
            <a:pPr marL="457200" lvl="1" indent="0">
              <a:buNone/>
            </a:pPr>
            <a:endParaRPr kumimoji="1" lang="en-US" kern="0" dirty="0">
              <a:solidFill>
                <a:srgbClr val="000000"/>
              </a:solidFill>
              <a:latin typeface="Helvetica"/>
              <a:ea typeface="MS PGothic" pitchFamily="34" charset="-128"/>
            </a:endParaRPr>
          </a:p>
          <a:p>
            <a:pPr marL="457200" lvl="1" indent="0">
              <a:buNone/>
            </a:pPr>
            <a:r>
              <a:rPr kumimoji="1" lang="en-US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Physical run time: 200 </a:t>
            </a:r>
            <a:r>
              <a:rPr kumimoji="1" lang="en-US" kern="0" dirty="0" err="1">
                <a:solidFill>
                  <a:srgbClr val="000000"/>
                </a:solidFill>
                <a:latin typeface="Helvetica"/>
                <a:ea typeface="MS PGothic" pitchFamily="34" charset="-128"/>
              </a:rPr>
              <a:t>ms</a:t>
            </a:r>
            <a:endParaRPr kumimoji="1" lang="en-US" kern="0" dirty="0">
              <a:solidFill>
                <a:srgbClr val="000000"/>
              </a:solidFill>
              <a:latin typeface="Helvetica"/>
              <a:ea typeface="MS PGothic" pitchFamily="34" charset="-128"/>
            </a:endParaRPr>
          </a:p>
          <a:p>
            <a:pPr lvl="1"/>
            <a:r>
              <a:rPr kumimoji="1" lang="en-US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Normal priority: 200 </a:t>
            </a:r>
            <a:r>
              <a:rPr kumimoji="1" lang="en-US" kern="0" dirty="0" err="1">
                <a:solidFill>
                  <a:srgbClr val="000000"/>
                </a:solidFill>
                <a:latin typeface="Helvetica"/>
                <a:ea typeface="MS PGothic" pitchFamily="34" charset="-128"/>
              </a:rPr>
              <a:t>ms</a:t>
            </a:r>
            <a:r>
              <a:rPr kumimoji="1" lang="en-US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 virtual run time </a:t>
            </a:r>
          </a:p>
          <a:p>
            <a:pPr lvl="1"/>
            <a:r>
              <a:rPr kumimoji="1" lang="en-US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Lower priority: &gt; 200 </a:t>
            </a:r>
            <a:r>
              <a:rPr kumimoji="1" lang="en-US" kern="0" dirty="0" err="1">
                <a:solidFill>
                  <a:srgbClr val="000000"/>
                </a:solidFill>
                <a:latin typeface="Helvetica"/>
                <a:ea typeface="MS PGothic" pitchFamily="34" charset="-128"/>
              </a:rPr>
              <a:t>ms</a:t>
            </a:r>
            <a:r>
              <a:rPr kumimoji="1" lang="en-US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 virtual run time </a:t>
            </a:r>
          </a:p>
          <a:p>
            <a:pPr lvl="1"/>
            <a:r>
              <a:rPr kumimoji="1" lang="en-US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higher priority: &lt; 200 </a:t>
            </a:r>
            <a:r>
              <a:rPr kumimoji="1" lang="en-US" kern="0" dirty="0" err="1">
                <a:solidFill>
                  <a:srgbClr val="000000"/>
                </a:solidFill>
                <a:latin typeface="Helvetica"/>
                <a:ea typeface="MS PGothic" pitchFamily="34" charset="-128"/>
              </a:rPr>
              <a:t>ms</a:t>
            </a:r>
            <a:r>
              <a:rPr kumimoji="1" lang="en-US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 virtual run time </a:t>
            </a:r>
          </a:p>
          <a:p>
            <a:pPr lvl="1"/>
            <a:endParaRPr kumimoji="1" lang="en-US" kern="0" dirty="0">
              <a:solidFill>
                <a:srgbClr val="000000"/>
              </a:solidFill>
              <a:latin typeface="Helvetica"/>
              <a:ea typeface="MS PGothic" pitchFamily="34" charset="-128"/>
            </a:endParaRPr>
          </a:p>
          <a:p>
            <a:r>
              <a:rPr kumimoji="1" lang="en-US" altLang="en-US" kern="0" dirty="0">
                <a:solidFill>
                  <a:srgbClr val="FF0000"/>
                </a:solidFill>
                <a:latin typeface="Helvetica"/>
                <a:ea typeface="MS PGothic" pitchFamily="34" charset="-128"/>
              </a:rPr>
              <a:t>scheduler picks task with lowest virtual run time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1AE14-FE04-4957-AF85-50A41522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BAF4-4A1F-4099-ACEF-502F7064228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659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983EB-BE46-4903-A46A-786D70432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I/O-bound vs CPU-bound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96441-1843-4F9F-9613-3FF377A75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same nice values</a:t>
            </a:r>
          </a:p>
          <a:p>
            <a:r>
              <a:rPr lang="en-US" dirty="0"/>
              <a:t>Value of </a:t>
            </a:r>
            <a:r>
              <a:rPr lang="en-US" dirty="0" err="1"/>
              <a:t>vruntime</a:t>
            </a:r>
            <a:r>
              <a:rPr lang="en-US" dirty="0"/>
              <a:t> will eventually be lower for the I/O-bound task</a:t>
            </a:r>
          </a:p>
          <a:p>
            <a:r>
              <a:rPr lang="en-US" dirty="0"/>
              <a:t>Often I/O-bound preempts the CPU-bound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A359B-E28B-4BD1-AE21-35840F00E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BAF4-4A1F-4099-ACEF-502F7064228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816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4FDC8-9218-4C11-B3A6-9CA893A74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Task Priorities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FDE03-FC2C-48FE-A334-6B9E242E4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Real-time tasks have static priorities</a:t>
            </a:r>
          </a:p>
          <a:p>
            <a:r>
              <a:rPr lang="en-US" altLang="en-US" dirty="0"/>
              <a:t>Normal task:</a:t>
            </a:r>
          </a:p>
          <a:p>
            <a:pPr lvl="1"/>
            <a:r>
              <a:rPr lang="en-US" altLang="en-US" dirty="0"/>
              <a:t>Nice value of -20 maps to global priority 100</a:t>
            </a:r>
          </a:p>
          <a:p>
            <a:pPr lvl="1"/>
            <a:r>
              <a:rPr lang="en-US" altLang="en-US" dirty="0"/>
              <a:t>Nice value of +19 maps to priority 139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6E910D-47B5-41C5-9C06-BB3BDCF50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837" y="3563937"/>
            <a:ext cx="7649303" cy="213843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F2D180-A238-4BE0-95A5-B0A7F955E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BAF4-4A1F-4099-ACEF-502F7064228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01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BD8F8-8B84-40BA-B430-9B07728C4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Load Balance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3D308-832E-4789-BB4D-80FDE0D52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09673"/>
          </a:xfrm>
        </p:spPr>
        <p:txBody>
          <a:bodyPr>
            <a:normAutofit/>
          </a:bodyPr>
          <a:lstStyle/>
          <a:p>
            <a:r>
              <a:rPr lang="en-US" dirty="0"/>
              <a:t>Load based on</a:t>
            </a:r>
          </a:p>
          <a:p>
            <a:pPr lvl="1"/>
            <a:r>
              <a:rPr lang="en-US" dirty="0"/>
              <a:t>task’s priority</a:t>
            </a:r>
          </a:p>
          <a:p>
            <a:pPr lvl="1"/>
            <a:r>
              <a:rPr lang="en-US" dirty="0"/>
              <a:t>average CPU utilization</a:t>
            </a:r>
          </a:p>
          <a:p>
            <a:r>
              <a:rPr lang="en-US" dirty="0"/>
              <a:t>Goal:  all queues have approximately the same load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13155B-C005-4238-BF9D-8C68E2E34B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548425"/>
              </p:ext>
            </p:extLst>
          </p:nvPr>
        </p:nvGraphicFramePr>
        <p:xfrm>
          <a:off x="1597101" y="4155356"/>
          <a:ext cx="8127999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71396146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4737703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3388400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Priority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CPU Utilization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395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 (I/O bounded)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877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219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(CPU bounded)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597769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FE53C9-441C-4A23-9B38-E68D2B963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BAF4-4A1F-4099-ACEF-502F7064228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07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36023-1747-43B3-B956-A317A3193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Minimize Migration 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DD36D-E048-4A32-8B4C-CA53075C6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019800" cy="4351338"/>
          </a:xfrm>
        </p:spPr>
        <p:txBody>
          <a:bodyPr/>
          <a:lstStyle/>
          <a:p>
            <a:r>
              <a:rPr lang="en-US" altLang="en-US" b="1" dirty="0"/>
              <a:t>Scheduling domain </a:t>
            </a:r>
            <a:r>
              <a:rPr lang="en-US" altLang="en-US" dirty="0"/>
              <a:t>is a set of CPU cores that can be balanced against one another. </a:t>
            </a:r>
          </a:p>
          <a:p>
            <a:r>
              <a:rPr lang="en-US" altLang="en-US" dirty="0"/>
              <a:t>Domains are organized by what they share (i.e. cache memory.) </a:t>
            </a:r>
          </a:p>
          <a:p>
            <a:r>
              <a:rPr lang="en-US" altLang="en-US" dirty="0"/>
              <a:t>Hierarchical scheduling domains</a:t>
            </a:r>
          </a:p>
          <a:p>
            <a:r>
              <a:rPr lang="en-US" altLang="en-US" dirty="0"/>
              <a:t>Goal: keep threads from migrating between domains.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E34BC9-75ED-4C89-B582-D3D2436DE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322" y="2029036"/>
            <a:ext cx="4996354" cy="329009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40DEA4-A87F-426F-BBF9-16B07418A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BAF4-4A1F-4099-ACEF-502F7064228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26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DD276-70F6-4AC2-A708-5416F418C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Scheduling Domain Hierarchy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259240-CF87-4216-950F-4E56A8B09F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995" y="1908677"/>
            <a:ext cx="4993057" cy="3292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9241C4-67C9-4D60-B72E-2F4387CDD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870" y="1908677"/>
            <a:ext cx="6261135" cy="376155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B21C2B-77F4-4790-A849-B7BC150EB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BAF4-4A1F-4099-ACEF-502F7064228B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56F605-C676-4881-947A-F5C204D06321}"/>
              </a:ext>
            </a:extLst>
          </p:cNvPr>
          <p:cNvSpPr txBox="1"/>
          <p:nvPr/>
        </p:nvSpPr>
        <p:spPr>
          <a:xfrm>
            <a:off x="629174" y="5855516"/>
            <a:ext cx="7057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Overall busy system, load-balance limited on the domain local to the core.</a:t>
            </a:r>
          </a:p>
        </p:txBody>
      </p:sp>
    </p:spTree>
    <p:extLst>
      <p:ext uri="{BB962C8B-B14F-4D97-AF65-F5344CB8AC3E}">
        <p14:creationId xmlns:p14="http://schemas.microsoft.com/office/powerpoint/2010/main" val="1898048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7715-6A50-464A-A126-FE8EC9F9F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Little</a:t>
            </a:r>
            <a:r>
              <a:rPr lang="ja-JP" altLang="en-US" dirty="0"/>
              <a:t>’</a:t>
            </a:r>
            <a:r>
              <a:rPr lang="en-US" altLang="ja-JP" dirty="0"/>
              <a:t>s Formula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99BBD-B8DD-4786-8FBF-2C14599E2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302" y="1580298"/>
            <a:ext cx="10602951" cy="4619780"/>
          </a:xfrm>
        </p:spPr>
        <p:txBody>
          <a:bodyPr>
            <a:normAutofit/>
          </a:bodyPr>
          <a:lstStyle/>
          <a:p>
            <a:r>
              <a:rPr lang="en-US" altLang="en-US" i="1" dirty="0"/>
              <a:t>n</a:t>
            </a:r>
            <a:r>
              <a:rPr lang="en-US" altLang="en-US" dirty="0"/>
              <a:t> = average queue length</a:t>
            </a:r>
          </a:p>
          <a:p>
            <a:r>
              <a:rPr lang="en-US" altLang="en-US" i="1" dirty="0"/>
              <a:t>W</a:t>
            </a:r>
            <a:r>
              <a:rPr lang="en-US" altLang="en-US" dirty="0"/>
              <a:t> = average waiting time in queue</a:t>
            </a:r>
          </a:p>
          <a:p>
            <a:r>
              <a:rPr lang="en-US" altLang="en-US" i="1" dirty="0"/>
              <a:t>λ</a:t>
            </a:r>
            <a:r>
              <a:rPr lang="en-US" altLang="en-US" dirty="0"/>
              <a:t> = average arrival rate into queue</a:t>
            </a:r>
          </a:p>
          <a:p>
            <a:r>
              <a:rPr lang="en-US" altLang="en-US" dirty="0"/>
              <a:t>Little</a:t>
            </a:r>
            <a:r>
              <a:rPr lang="ja-JP" altLang="en-US" dirty="0"/>
              <a:t>’</a:t>
            </a:r>
            <a:r>
              <a:rPr lang="en-US" altLang="ja-JP" dirty="0"/>
              <a:t>s law – in steady state, processes leaving queue must equal processes arriving, thus:</a:t>
            </a:r>
            <a:br>
              <a:rPr lang="en-US" altLang="ja-JP" dirty="0"/>
            </a:br>
            <a:r>
              <a:rPr lang="en-US" altLang="ja-JP" dirty="0"/>
              <a:t>      </a:t>
            </a:r>
            <a:r>
              <a:rPr lang="en-US" altLang="ja-JP" i="1" dirty="0"/>
              <a:t>n </a:t>
            </a:r>
            <a:r>
              <a:rPr lang="en-US" altLang="ja-JP" dirty="0"/>
              <a:t>= </a:t>
            </a:r>
            <a:r>
              <a:rPr lang="en-US" altLang="ja-JP" i="1" dirty="0"/>
              <a:t>λ </a:t>
            </a:r>
            <a:r>
              <a:rPr lang="en-US" altLang="ja-JP" dirty="0"/>
              <a:t>x</a:t>
            </a:r>
            <a:r>
              <a:rPr lang="en-US" altLang="ja-JP" i="1" dirty="0"/>
              <a:t> W</a:t>
            </a:r>
          </a:p>
          <a:p>
            <a:pPr lvl="1"/>
            <a:r>
              <a:rPr lang="en-US" altLang="en-US" dirty="0"/>
              <a:t>Valid for any scheduling algorithm and arrival distribution</a:t>
            </a:r>
          </a:p>
          <a:p>
            <a:r>
              <a:rPr lang="en-US" altLang="en-US" dirty="0"/>
              <a:t>For example, if on average 7 processes arrive per second, and normally 14 processes in queue, then average wait time per process = 2 seconds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7DDFB-8684-4532-8D5D-3FA9F946B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8BAF4-4A1F-4099-ACEF-502F7064228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697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687</Words>
  <Application>Microsoft Office PowerPoint</Application>
  <PresentationFormat>Widescreen</PresentationFormat>
  <Paragraphs>108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MS PGothic</vt:lpstr>
      <vt:lpstr>游ゴシック</vt:lpstr>
      <vt:lpstr>游ゴシック Light</vt:lpstr>
      <vt:lpstr>Arial</vt:lpstr>
      <vt:lpstr>Calibri</vt:lpstr>
      <vt:lpstr>Calibri Light</vt:lpstr>
      <vt:lpstr>Courier New</vt:lpstr>
      <vt:lpstr>Helvetica</vt:lpstr>
      <vt:lpstr>Monotype Sorts</vt:lpstr>
      <vt:lpstr>Office Theme</vt:lpstr>
      <vt:lpstr>CPU Scheduling Lesson 5 Linux Scheduling</vt:lpstr>
      <vt:lpstr>Linux Scheduling Through Version 2.5</vt:lpstr>
      <vt:lpstr>Linux Scheduling Classes</vt:lpstr>
      <vt:lpstr>Linux Scheduling Time Slices</vt:lpstr>
      <vt:lpstr>Linux Scheduling Task Selection</vt:lpstr>
      <vt:lpstr>Linux Scheduler Balanced Binary Tree</vt:lpstr>
      <vt:lpstr>Linux Virtual Run time</vt:lpstr>
      <vt:lpstr>I/O-bound vs CPU-bound Tasks</vt:lpstr>
      <vt:lpstr>Linux Task Priorities</vt:lpstr>
      <vt:lpstr>Linux Load Balance Support</vt:lpstr>
      <vt:lpstr>Minimize Migration Cost</vt:lpstr>
      <vt:lpstr>Scheduling Domain Hierarchy</vt:lpstr>
      <vt:lpstr>Little’s Formula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Scheduling Lesson 5 Read-time Scheduling</dc:title>
  <dc:creator>David Liu</dc:creator>
  <cp:lastModifiedBy>David Liu</cp:lastModifiedBy>
  <cp:revision>26</cp:revision>
  <dcterms:created xsi:type="dcterms:W3CDTF">2021-10-06T16:25:08Z</dcterms:created>
  <dcterms:modified xsi:type="dcterms:W3CDTF">2023-02-09T17:58:06Z</dcterms:modified>
</cp:coreProperties>
</file>