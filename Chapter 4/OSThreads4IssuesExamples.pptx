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6" r:id="rId7"/>
    <p:sldId id="260" r:id="rId8"/>
    <p:sldId id="267" r:id="rId9"/>
    <p:sldId id="261" r:id="rId10"/>
    <p:sldId id="262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CF38-7D50-42E3-81A5-5BCC0BB1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660E4-CD50-419B-8894-3EE7435CE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1938B-3627-463C-9D2E-0C3AFFE0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C3F61-B680-482E-A916-2CB8D6A8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1EBE-43EF-4F3A-A3FB-B84E3368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2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2232-900C-46B9-806D-CAE36F68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8E81F-C7B7-4C56-8B01-F82B7BF88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8977-B0C7-4D5B-A140-B55CBCA7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0C852-F8A5-4D67-9E6E-C3AD3758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9E4A6-1390-4034-955C-2D93069F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3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6161-BFBC-4855-870B-0C687C61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989CD-40CF-4467-BA25-5DFE66951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3C609-E171-4501-A45A-5CBAF3F8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D75AE-283B-4A7F-8C1A-170C1159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62A2C-A105-449D-8586-A6BCAA3C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1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2E95-6CF5-4B2B-890A-AF31A1D9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20D91-C94F-47A8-BB1B-4B229B5B4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AC4E2-15DF-4893-8A73-DA4B988AA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B074C-CAE3-4327-B623-FB60A9EA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D5917-FFCD-492E-B089-FB1B8FEB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D2936-3652-424F-8245-661759DE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0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3623-9DAA-4A1D-9DE1-E72178930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ACD60-B5CB-4B27-816D-5262976F0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4590A-7C53-45A1-93DE-CDD15AF9B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CF247-936E-4D0B-925C-2791140A5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EC94F-FF34-495C-B7FC-EE3D96321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400EA6-FE9C-4EDD-B26C-327FB62B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7CDC5-5FA8-4EAC-9F39-484922F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397D2-C66A-4F6C-A583-6BD4FC1E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9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F1CB-6EFA-43F4-BBA4-944B6DE0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90DE7-2BE8-4F22-88E6-26705D83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8BF1E-7795-4594-90E7-33A39258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C1CA-7D81-465B-B774-A3187F52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DE682-4D47-4C21-8920-DE2BE591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F26F9-E1D5-44FB-8C0C-39923069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25995-5834-4B54-BCDA-04E72E25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9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5D93-EA13-486A-9E40-C6D6BE55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A90E-A2EF-4F99-A4DB-E40D355EE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06A39-B56B-480A-9CAC-A99B1D828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A9CE2-4D52-4710-94AC-129A826C9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9F013-C8D8-46C1-B5D1-7FC1C909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E6078-4305-445F-84B7-3426F556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4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7C93-CAB3-4DF2-BF40-99DCA842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CE16E-1E4C-40A6-8F98-7A100AA8E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4ACA-7516-48DD-9B8D-6340DC5D2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76017-3407-4A52-98BA-A3FCFB9D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FA859-71EC-452C-8BF5-1767BEB1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E0E19-57B3-4C3E-8827-B17A2B27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4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F061-A305-4A69-8857-5911F111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E4052-D7E2-422D-B9EA-F2FD5B3A0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6554-CF2E-407E-91ED-A31D72DE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47DC9-3BD4-44D1-B628-ABFA02BA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DE56-D337-4DA3-9A8B-BCE3C16D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F07EA-2B5A-459F-9D59-04B9C053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4429D-E64C-4372-9158-E308B1A24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945D5-6645-46E9-A03B-E5B13A7D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F58A5-63AE-48B8-B1C0-6F203D31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792C-024F-456E-A780-AA061F36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8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0AC547-B8F7-4ADD-BDCC-82DBEF43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77969-0600-459D-9630-E47C2E609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A4E3-6C0E-4F44-8C7C-9CAB2439E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37FC6-0D8F-4AC0-8808-41D147D4E981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E1DF-E2DB-42EE-9CA5-616EFF505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3B7F6-B7E9-4C51-B2B2-DF5A61F6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02CB0-6A25-428D-AC03-5008CB208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7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322F-2B9D-4F53-8829-C3D6AA590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&amp; Concurrency</a:t>
            </a:r>
            <a:br>
              <a:rPr lang="en-US" dirty="0"/>
            </a:br>
            <a:r>
              <a:rPr lang="en-US" dirty="0"/>
              <a:t>Lecture 4</a:t>
            </a:r>
            <a:br>
              <a:rPr lang="en-US" dirty="0"/>
            </a:br>
            <a:r>
              <a:rPr lang="en-US" dirty="0"/>
              <a:t>Threading Issues &amp; 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8F0D-2C68-4BA1-8BF5-DCFC414A1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413355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6780-DFB6-4F8B-BB0E-506D20FA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Treading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9AE00-6C19-4D8C-9844-21495EA8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Fork() and exec() meaning</a:t>
            </a:r>
          </a:p>
          <a:p>
            <a:r>
              <a:rPr lang="en-US" dirty="0"/>
              <a:t>Which thread(s) handle a notification signal</a:t>
            </a:r>
          </a:p>
          <a:p>
            <a:r>
              <a:rPr lang="en-US" dirty="0"/>
              <a:t>Which thread to cancel</a:t>
            </a:r>
          </a:p>
          <a:p>
            <a:r>
              <a:rPr lang="en-US" dirty="0"/>
              <a:t>Thread-local storage</a:t>
            </a:r>
          </a:p>
          <a:p>
            <a:r>
              <a:rPr lang="en-US" dirty="0"/>
              <a:t>Communication between user-thread library and kernel</a:t>
            </a:r>
          </a:p>
        </p:txBody>
      </p:sp>
    </p:spTree>
    <p:extLst>
      <p:ext uri="{BB962C8B-B14F-4D97-AF65-F5344CB8AC3E}">
        <p14:creationId xmlns:p14="http://schemas.microsoft.com/office/powerpoint/2010/main" val="369204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D16D-F4F9-40D1-86B1-A247707C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7B778-6035-4B0D-B562-B022AF3B1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Threads</a:t>
            </a:r>
          </a:p>
          <a:p>
            <a:r>
              <a:rPr lang="en-US" dirty="0"/>
              <a:t>Linux Threads</a:t>
            </a:r>
          </a:p>
        </p:txBody>
      </p:sp>
    </p:spTree>
    <p:extLst>
      <p:ext uri="{BB962C8B-B14F-4D97-AF65-F5344CB8AC3E}">
        <p14:creationId xmlns:p14="http://schemas.microsoft.com/office/powerpoint/2010/main" val="240388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8269-769E-4BDF-99D2-E31DF862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and 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9EF3-154C-4EAB-AEE0-6324DB610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thread calls fork or exec</a:t>
            </a:r>
          </a:p>
          <a:p>
            <a:pPr lvl="1"/>
            <a:r>
              <a:rPr lang="en-US" dirty="0"/>
              <a:t>fork(): create a new process, two possibilities for thread creation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Duplicate only the calling thread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Duplicate all threads</a:t>
            </a:r>
          </a:p>
          <a:p>
            <a:pPr lvl="1"/>
            <a:r>
              <a:rPr lang="en-US" dirty="0"/>
              <a:t>exec</a:t>
            </a:r>
          </a:p>
          <a:p>
            <a:pPr lvl="2"/>
            <a:r>
              <a:rPr lang="en-US" dirty="0"/>
              <a:t>Replacing the running process including all threads</a:t>
            </a:r>
          </a:p>
        </p:txBody>
      </p:sp>
    </p:spTree>
    <p:extLst>
      <p:ext uri="{BB962C8B-B14F-4D97-AF65-F5344CB8AC3E}">
        <p14:creationId xmlns:p14="http://schemas.microsoft.com/office/powerpoint/2010/main" val="54214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CD8E-335F-4E75-A5A6-7EC93DC1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3A34-0A04-4C30-9EB6-71BD7162B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signal is used in UNIX system to notify a process that a particular event has occurred</a:t>
            </a:r>
          </a:p>
          <a:p>
            <a:pPr lvl="1"/>
            <a:r>
              <a:rPr lang="en-US" dirty="0"/>
              <a:t>synchronous or asynchronous</a:t>
            </a:r>
          </a:p>
          <a:p>
            <a:pPr lvl="1"/>
            <a:r>
              <a:rPr lang="en-US" dirty="0"/>
              <a:t>Default or user-defined handler</a:t>
            </a:r>
          </a:p>
        </p:txBody>
      </p:sp>
    </p:spTree>
    <p:extLst>
      <p:ext uri="{BB962C8B-B14F-4D97-AF65-F5344CB8AC3E}">
        <p14:creationId xmlns:p14="http://schemas.microsoft.com/office/powerpoint/2010/main" val="346896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CD8E-335F-4E75-A5A6-7EC93DC1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3A34-0A04-4C30-9EB6-71BD7162B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in multithreading environment</a:t>
            </a:r>
          </a:p>
          <a:p>
            <a:pPr lvl="1"/>
            <a:r>
              <a:rPr lang="en-US" dirty="0"/>
              <a:t>To the thread to which signal applies</a:t>
            </a:r>
          </a:p>
          <a:p>
            <a:pPr lvl="1"/>
            <a:r>
              <a:rPr lang="en-US" dirty="0"/>
              <a:t>To every thread in the process</a:t>
            </a:r>
          </a:p>
          <a:p>
            <a:pPr lvl="1"/>
            <a:r>
              <a:rPr lang="en-US" dirty="0"/>
              <a:t>To certain threads in the process</a:t>
            </a:r>
          </a:p>
          <a:p>
            <a:pPr lvl="1"/>
            <a:r>
              <a:rPr lang="en-US" dirty="0"/>
              <a:t>To a specific thread for all signals for the process</a:t>
            </a:r>
          </a:p>
          <a:p>
            <a:r>
              <a:rPr lang="en-US" dirty="0"/>
              <a:t>Signal delivered to a process or a thread</a:t>
            </a:r>
          </a:p>
          <a:p>
            <a:r>
              <a:rPr lang="en-US" dirty="0"/>
              <a:t>A thread can accept or block </a:t>
            </a:r>
            <a:r>
              <a:rPr lang="en-US"/>
              <a:t>a signal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0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46AD-7605-4BE6-95DA-CE80D803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Cancellation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C26E-8884-4B80-B081-E29F545D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 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())</a:t>
            </a:r>
            <a:endParaRPr lang="en-US" altLang="en-US" dirty="0"/>
          </a:p>
          <a:p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D66825BA-1AAB-4F20-BD44-9B21DD131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641" y="4249738"/>
            <a:ext cx="8509271" cy="150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81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46AD-7605-4BE6-95DA-CE80D803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Cancellation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C26E-8884-4B80-B081-E29F545D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C436499C-1E17-4254-9602-1B21E2BB0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282" y="2965712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C3F88-8939-4662-B4EB-B26A9AF73945}"/>
              </a:ext>
            </a:extLst>
          </p:cNvPr>
          <p:cNvSpPr txBox="1"/>
          <p:nvPr/>
        </p:nvSpPr>
        <p:spPr>
          <a:xfrm>
            <a:off x="5637401" y="2973897"/>
            <a:ext cx="50753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/* thread */</a:t>
            </a:r>
          </a:p>
          <a:p>
            <a:endParaRPr lang="en-US" sz="1600" dirty="0"/>
          </a:p>
          <a:p>
            <a:r>
              <a:rPr lang="en-US" sz="1600" dirty="0"/>
              <a:t>while (1) {</a:t>
            </a:r>
          </a:p>
          <a:p>
            <a:r>
              <a:rPr lang="en-US" sz="1600" dirty="0"/>
              <a:t>    /* do some work for awhile */</a:t>
            </a:r>
          </a:p>
          <a:p>
            <a:endParaRPr lang="en-US" sz="1600" dirty="0"/>
          </a:p>
          <a:p>
            <a:r>
              <a:rPr lang="en-US" sz="1600" dirty="0"/>
              <a:t>    …..</a:t>
            </a:r>
          </a:p>
          <a:p>
            <a:r>
              <a:rPr lang="en-US" sz="1600" dirty="0"/>
              <a:t>    /* check if there is a cancellation request */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pthread_testcancel</a:t>
            </a:r>
            <a:r>
              <a:rPr lang="en-US" sz="1600" dirty="0"/>
              <a:t>();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976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DF70-B2A7-44F9-9032-99ACA639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Thread-Local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E3FF-DA46-4226-8EBD-C0FC0A1E7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Thread-local storage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1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8D08-D3E0-4DFF-BDC3-B7E2025C8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 Activations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6D90-EF34-44EB-88D5-92DAFFC68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7168" cy="4351338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sz="1800" dirty="0"/>
              <a:t>Scheduler activations provide </a:t>
            </a:r>
            <a:r>
              <a:rPr lang="en-US" altLang="en-US" sz="1800" b="1" dirty="0">
                <a:solidFill>
                  <a:srgbClr val="3366FF"/>
                </a:solidFill>
              </a:rPr>
              <a:t>upcalls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- a communication mechanism from the kernel to the </a:t>
            </a:r>
            <a:r>
              <a:rPr lang="en-US" altLang="en-US" sz="1800" b="1" dirty="0">
                <a:solidFill>
                  <a:srgbClr val="3366FF"/>
                </a:solidFill>
              </a:rPr>
              <a:t>upcall handler </a:t>
            </a:r>
            <a:r>
              <a:rPr lang="en-US" altLang="en-US" sz="1800" dirty="0"/>
              <a:t>in the thread library</a:t>
            </a:r>
          </a:p>
          <a:p>
            <a:r>
              <a:rPr lang="en-US" altLang="en-US" sz="1800" dirty="0"/>
              <a:t>This communication allows an application to maintain the correct number kernel threads</a:t>
            </a:r>
          </a:p>
          <a:p>
            <a:pPr lvl="1"/>
            <a:r>
              <a:rPr lang="en-US" altLang="en-US" sz="1400" dirty="0"/>
              <a:t>Upcall: a thread is blocking (for file)</a:t>
            </a:r>
          </a:p>
          <a:p>
            <a:pPr lvl="1"/>
            <a:r>
              <a:rPr lang="en-US" altLang="en-US" sz="1400" dirty="0"/>
              <a:t>Allocate a new LWP </a:t>
            </a:r>
          </a:p>
          <a:p>
            <a:pPr lvl="1"/>
            <a:r>
              <a:rPr lang="en-US" altLang="en-US" sz="1400" dirty="0"/>
              <a:t>Upcall handler runs on the new LWP: </a:t>
            </a:r>
          </a:p>
          <a:p>
            <a:pPr lvl="2"/>
            <a:r>
              <a:rPr lang="en-US" altLang="en-US" sz="1400" dirty="0"/>
              <a:t>save blocking thread state and relinquish its LWP</a:t>
            </a:r>
          </a:p>
          <a:p>
            <a:pPr lvl="2"/>
            <a:r>
              <a:rPr lang="en-US" altLang="en-US" sz="1400" dirty="0"/>
              <a:t>Schedule another thread to run on the new LWP</a:t>
            </a:r>
          </a:p>
          <a:p>
            <a:pPr lvl="1"/>
            <a:endParaRPr lang="en-US" altLang="en-US" sz="1400" dirty="0"/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F0BD639-5F5A-4A9D-9EE8-6DC0450B8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69" y="2405024"/>
            <a:ext cx="3067031" cy="2824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9177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86AA-CAD1-4603-A21A-3EBE7896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234B-0D55-4AE0-BFC3-C27D6D20F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032" y="1422953"/>
            <a:ext cx="662800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User thread and Kernel-level thread: 1 to 1</a:t>
            </a:r>
          </a:p>
          <a:p>
            <a:r>
              <a:rPr lang="en-US" dirty="0"/>
              <a:t>Thread context: register set, stacks (user &amp; kernel), private storage area</a:t>
            </a:r>
          </a:p>
          <a:p>
            <a:r>
              <a:rPr lang="en-US" dirty="0"/>
              <a:t>Data Structure for each thread includes</a:t>
            </a:r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099DEF5-DD9E-4FDB-8AF6-6D0237571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033" y="1350168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122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1E61-1DE1-415E-971D-4A0F58ED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3CAB8-4D9C-434D-8576-3672716B6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143" y="141851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a </a:t>
            </a:r>
            <a:r>
              <a:rPr lang="en-US"/>
              <a:t>child process</a:t>
            </a:r>
            <a:endParaRPr lang="en-US" dirty="0"/>
          </a:p>
          <a:p>
            <a:pPr lvl="1"/>
            <a:r>
              <a:rPr lang="en-US" dirty="0"/>
              <a:t>fork()</a:t>
            </a:r>
          </a:p>
          <a:p>
            <a:pPr lvl="1"/>
            <a:r>
              <a:rPr lang="en-US" dirty="0"/>
              <a:t>Copies all the associated data structures of the parent task</a:t>
            </a:r>
          </a:p>
          <a:p>
            <a:r>
              <a:rPr lang="en-US" dirty="0"/>
              <a:t>Create a thread: </a:t>
            </a:r>
          </a:p>
          <a:p>
            <a:pPr lvl="1"/>
            <a:r>
              <a:rPr lang="en-US" dirty="0"/>
              <a:t>clone()</a:t>
            </a:r>
          </a:p>
          <a:p>
            <a:pPr lvl="1"/>
            <a:r>
              <a:rPr lang="en-US" altLang="en-US" dirty="0">
                <a:cs typeface="ＭＳ Ｐゴシック" charset="-128"/>
              </a:rPr>
              <a:t>allows a child task to share the address </a:t>
            </a:r>
          </a:p>
          <a:p>
            <a:pPr marL="457200" lvl="1" indent="0">
              <a:buNone/>
            </a:pPr>
            <a:r>
              <a:rPr lang="en-US" altLang="en-US" dirty="0">
                <a:cs typeface="ＭＳ Ｐゴシック" charset="-128"/>
              </a:rPr>
              <a:t>space of the parent task (process)</a:t>
            </a:r>
          </a:p>
          <a:p>
            <a:pPr lvl="1"/>
            <a:r>
              <a:rPr lang="en-US" altLang="en-US" dirty="0">
                <a:cs typeface="ＭＳ Ｐゴシック" charset="-128"/>
              </a:rPr>
              <a:t>Points to the data structure of the parent task</a:t>
            </a:r>
          </a:p>
          <a:p>
            <a:pPr lvl="1"/>
            <a:endParaRPr lang="en-US" altLang="en-US" dirty="0">
              <a:cs typeface="ＭＳ Ｐゴシック" charset="-128"/>
            </a:endParaRPr>
          </a:p>
          <a:p>
            <a:pPr lvl="1"/>
            <a:endParaRPr lang="en-US" altLang="en-US" dirty="0">
              <a:cs typeface="ＭＳ Ｐゴシック" charset="-128"/>
            </a:endParaRPr>
          </a:p>
          <a:p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endParaRPr lang="en-US" altLang="en-US" dirty="0">
              <a:cs typeface="ＭＳ Ｐゴシック" charset="-128"/>
            </a:endParaRP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15E9ECF-2279-4599-9833-1B509E41D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68" y="3142638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79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D516-72AA-498B-9AA5-B5750FE6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Process and Thread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A6BA1-4F8D-40D0-96ED-39890466B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/>
              <a:t>a child process </a:t>
            </a:r>
            <a:r>
              <a:rPr lang="en-US" dirty="0"/>
              <a:t>or a thread?</a:t>
            </a:r>
          </a:p>
          <a:p>
            <a:pPr lvl="1"/>
            <a:r>
              <a:rPr lang="en-US" dirty="0"/>
              <a:t>clone(</a:t>
            </a:r>
            <a:r>
              <a:rPr lang="en-US" dirty="0" err="1"/>
              <a:t>childFunc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clone(</a:t>
            </a:r>
            <a:r>
              <a:rPr lang="en-US" dirty="0" err="1"/>
              <a:t>childFunc</a:t>
            </a:r>
            <a:r>
              <a:rPr lang="en-US" dirty="0"/>
              <a:t>, CLONE_FS | CLONE_VM | CLONE_SIGNAL | CLONE_FILES) </a:t>
            </a:r>
          </a:p>
        </p:txBody>
      </p:sp>
    </p:spTree>
    <p:extLst>
      <p:ext uri="{BB962C8B-B14F-4D97-AF65-F5344CB8AC3E}">
        <p14:creationId xmlns:p14="http://schemas.microsoft.com/office/powerpoint/2010/main" val="289259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614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ＭＳ Ｐゴシック</vt:lpstr>
      <vt:lpstr>Arial</vt:lpstr>
      <vt:lpstr>Calibri</vt:lpstr>
      <vt:lpstr>Calibri Light</vt:lpstr>
      <vt:lpstr>Courier New</vt:lpstr>
      <vt:lpstr>Office Theme</vt:lpstr>
      <vt:lpstr>Threads &amp; Concurrency Lecture 4 Threading Issues &amp; Examples</vt:lpstr>
      <vt:lpstr>Treading Issues</vt:lpstr>
      <vt:lpstr>Operating System Examples</vt:lpstr>
      <vt:lpstr>Fork and Exec</vt:lpstr>
      <vt:lpstr>Signal handling</vt:lpstr>
      <vt:lpstr>Signal handling</vt:lpstr>
      <vt:lpstr>Thread Cancellation</vt:lpstr>
      <vt:lpstr>Thread Cancellation</vt:lpstr>
      <vt:lpstr>Thread-Local Storage</vt:lpstr>
      <vt:lpstr>Scheduler Activations</vt:lpstr>
      <vt:lpstr>Windows Threads</vt:lpstr>
      <vt:lpstr>Linux Threads</vt:lpstr>
      <vt:lpstr>Linux Process and Thread Creation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&amp; Concurrency Lesson 4 Threading Issues</dc:title>
  <dc:creator>David Liu</dc:creator>
  <cp:lastModifiedBy>David Liu</cp:lastModifiedBy>
  <cp:revision>23</cp:revision>
  <dcterms:created xsi:type="dcterms:W3CDTF">2021-09-27T17:10:02Z</dcterms:created>
  <dcterms:modified xsi:type="dcterms:W3CDTF">2022-09-26T18:01:03Z</dcterms:modified>
</cp:coreProperties>
</file>