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346" r:id="rId4"/>
    <p:sldId id="358" r:id="rId5"/>
    <p:sldId id="347" r:id="rId6"/>
    <p:sldId id="348" r:id="rId7"/>
    <p:sldId id="349" r:id="rId8"/>
    <p:sldId id="356" r:id="rId9"/>
    <p:sldId id="350" r:id="rId10"/>
    <p:sldId id="351" r:id="rId11"/>
    <p:sldId id="352" r:id="rId12"/>
    <p:sldId id="353" r:id="rId13"/>
    <p:sldId id="354" r:id="rId14"/>
    <p:sldId id="35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D386B8-97E1-4A27-982B-5671552256B2}" type="datetimeFigureOut">
              <a:rPr lang="en-US" smtClean="0"/>
              <a:t>2/8/2022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D2384D-4103-474F-B8D1-9BAED8DF76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910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5BF2A-872D-4244-A5E4-077F1D023D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D1303F-8548-48B7-A076-AEEB94B5E8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DDF937-3208-4843-9CE7-CE32BF0B8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AAD3-9264-43F7-8936-0F7657F9A27F}" type="datetimeFigureOut">
              <a:rPr lang="en-US" smtClean="0"/>
              <a:t>2/8/2022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A89C5-8D06-45BE-9D9E-0394AF0CD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F19B64-3AF6-497D-9247-0099FF514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24A1A-4A0B-4F9E-84E9-C8AD1E9E3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96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A41E2-5609-421B-AECB-AA8B5213E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A8033-165C-4357-ABBF-901E8F88C9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F9D58-6948-4430-8F7F-5E8E7D981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AAD3-9264-43F7-8936-0F7657F9A27F}" type="datetimeFigureOut">
              <a:rPr lang="en-US" smtClean="0"/>
              <a:t>2/8/2022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280413-15B0-4CBC-8985-60F273150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0FE8AD-BCC0-4C7D-945F-76F2D4CDA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24A1A-4A0B-4F9E-84E9-C8AD1E9E3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51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28CFE-7F3C-4FCE-AE1D-35BAE3D98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4EB417-FA2D-485D-8DDA-37C73985E0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C4350-C6A8-4AE7-8D71-67C884D88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AAD3-9264-43F7-8936-0F7657F9A27F}" type="datetimeFigureOut">
              <a:rPr lang="en-US" smtClean="0"/>
              <a:t>2/8/2022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CE8F3F-459C-4213-B684-8940BFCF2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777215-2593-4C8E-8E90-ADF75FD9D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24A1A-4A0B-4F9E-84E9-C8AD1E9E3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985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73891-FAD4-427B-BB08-A5541AB2E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2658F-2E36-4DF0-A1DF-5C01235168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9B15F7-2DA1-4C03-93C7-A1C8CA639F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12C371-2A4A-4715-BABF-26B1CB890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AAD3-9264-43F7-8936-0F7657F9A27F}" type="datetimeFigureOut">
              <a:rPr lang="en-US" smtClean="0"/>
              <a:t>2/8/2022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9D7035-213B-4BA5-BCBD-F3E498DD8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878791-1C7D-4370-B600-547782E8D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24A1A-4A0B-4F9E-84E9-C8AD1E9E3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98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1D187-F216-4EE4-8978-63CEB3976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DC7B01-36E3-471B-ABFA-3C398F8EEA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F5D384-96EE-49C8-9A27-8E85EEF4BB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025271-C31E-4FCF-BF27-156208A498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1E363E-3143-4293-8536-EF775AA31D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09DA6B-E605-42B6-8B81-2A9C47716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AAD3-9264-43F7-8936-0F7657F9A27F}" type="datetimeFigureOut">
              <a:rPr lang="en-US" smtClean="0"/>
              <a:t>2/8/2022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C11197-40FE-4D49-A863-F1E2B0970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EF2556-F9B4-4D4E-8871-8D636BAA1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24A1A-4A0B-4F9E-84E9-C8AD1E9E3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830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DB9CD-1EB9-408C-AD7D-11E6D785D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01420C-669F-479D-BE81-E784E7132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AAD3-9264-43F7-8936-0F7657F9A27F}" type="datetimeFigureOut">
              <a:rPr lang="en-US" smtClean="0"/>
              <a:t>2/8/2022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7B1897-8653-4EBC-B7F7-2219E589C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1EB92B-16B2-429E-9C18-C2727365A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24A1A-4A0B-4F9E-84E9-C8AD1E9E3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909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207A2E-5806-4393-9115-33F11471D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AAD3-9264-43F7-8936-0F7657F9A27F}" type="datetimeFigureOut">
              <a:rPr lang="en-US" smtClean="0"/>
              <a:t>2/8/2022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D6CFDD-ADF9-4BCF-8C6B-677EEC8B4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5C88F4-BDC9-4083-9D3C-E732C218A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24A1A-4A0B-4F9E-84E9-C8AD1E9E3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341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B19E3-E069-40D4-ADD0-CF442755E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5B39B-4C70-4100-9085-B8B59DEDB8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C06157-57F5-4D52-B9E2-3FCCC4C0E6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834996-D36C-4CF5-81B4-5A85943B5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AAD3-9264-43F7-8936-0F7657F9A27F}" type="datetimeFigureOut">
              <a:rPr lang="en-US" smtClean="0"/>
              <a:t>2/8/2022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25A378-8542-46DF-A9D3-43DAC174D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05325A-8E28-4438-9375-A736CD02D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24A1A-4A0B-4F9E-84E9-C8AD1E9E3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37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CC118-4B65-4CFA-A32D-DB6FA1C46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20BA1D-4E94-495B-9868-A8F7907EB2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590032-1596-455B-A6EA-48FBF486DA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9D9B24-9FEE-43FF-B68C-F17B9016F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AAD3-9264-43F7-8936-0F7657F9A27F}" type="datetimeFigureOut">
              <a:rPr lang="en-US" smtClean="0"/>
              <a:t>2/8/2022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70EFDD-6D2D-4F99-B425-3C46C1D4C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21C8B9-DD9E-47C9-87AC-33C78DABE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24A1A-4A0B-4F9E-84E9-C8AD1E9E3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139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A0177-C5D8-4C03-B97F-B51158480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C70396-3BFB-4A30-B0AA-2671F8A3A2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7B7FB9-2131-4B14-B204-244D99F63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AAD3-9264-43F7-8936-0F7657F9A27F}" type="datetimeFigureOut">
              <a:rPr lang="en-US" smtClean="0"/>
              <a:t>2/8/2022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5E54AA-4BEC-4B02-A4AA-CEC33BC26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5AFCAC-5655-4A84-AA71-E9CAD5B46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24A1A-4A0B-4F9E-84E9-C8AD1E9E3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169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DA0131-7A9F-497D-A95B-9CCA125FF5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DAAC99-9058-4CB5-813F-94B24F8F3B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F532DE-1E53-4991-A599-DBEB2062E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0AAD3-9264-43F7-8936-0F7657F9A27F}" type="datetimeFigureOut">
              <a:rPr lang="en-US" smtClean="0"/>
              <a:t>2/8/2022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2FA7E8-BBC4-40C6-AAF8-41E584142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75F7F4-BFCB-45FE-8FD8-F14DE5728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24A1A-4A0B-4F9E-84E9-C8AD1E9E3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92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8986E8-B2F0-4047-8783-B77DCB5F1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AB7E37-30CC-4546-8ED6-A0B613BE57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B4230-65A6-4B41-8507-B181A26B46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0AAD3-9264-43F7-8936-0F7657F9A27F}" type="datetimeFigureOut">
              <a:rPr lang="en-US" smtClean="0"/>
              <a:t>2/8/2022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90AAEA-8C50-4019-BA97-7D50616F0C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94EAA-0D56-4478-A84E-1FCA090737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124A1A-4A0B-4F9E-84E9-C8AD1E9E30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790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07B27-EE28-4B92-8A7A-A4DE06A21A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Threads &amp; Concurrency</a:t>
            </a:r>
            <a:br>
              <a:rPr lang="en-US" dirty="0"/>
            </a:br>
            <a:r>
              <a:rPr lang="en-US" dirty="0"/>
              <a:t>Lecture 2</a:t>
            </a:r>
            <a:br>
              <a:rPr lang="en-US" dirty="0"/>
            </a:br>
            <a:r>
              <a:rPr lang="en-US" dirty="0"/>
              <a:t>Thread Libraries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DAE37D-89DE-4204-88A4-258C195FFD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David Liu</a:t>
            </a:r>
          </a:p>
          <a:p>
            <a:r>
              <a:rPr lang="en-US" dirty="0"/>
              <a:t>Fall 2021, Spring 2022</a:t>
            </a:r>
          </a:p>
        </p:txBody>
      </p:sp>
    </p:spTree>
    <p:extLst>
      <p:ext uri="{BB962C8B-B14F-4D97-AF65-F5344CB8AC3E}">
        <p14:creationId xmlns:p14="http://schemas.microsoft.com/office/powerpoint/2010/main" val="2304854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F0C14-A9DB-48E1-A955-62E57AB39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5637D-ED1C-43E0-A68C-9687082F7C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Understand Pthreads, Window Threads, and Java Threads</a:t>
            </a:r>
          </a:p>
        </p:txBody>
      </p:sp>
    </p:spTree>
    <p:extLst>
      <p:ext uri="{BB962C8B-B14F-4D97-AF65-F5344CB8AC3E}">
        <p14:creationId xmlns:p14="http://schemas.microsoft.com/office/powerpoint/2010/main" val="1605915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6AC94-6258-428F-B7FA-B809A6EDF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Space vs Kernel-level Thread Library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0A583-CE15-4518-84D0-AA0BEFF2AE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4082" y="1811656"/>
            <a:ext cx="4124417" cy="4351338"/>
          </a:xfrm>
        </p:spPr>
        <p:txBody>
          <a:bodyPr/>
          <a:lstStyle/>
          <a:p>
            <a:r>
              <a:rPr lang="en-US" dirty="0"/>
              <a:t>User Space library</a:t>
            </a:r>
          </a:p>
          <a:p>
            <a:pPr lvl="1"/>
            <a:r>
              <a:rPr lang="en-US" dirty="0"/>
              <a:t>Code and data structures in user space, no system call</a:t>
            </a:r>
          </a:p>
          <a:p>
            <a:r>
              <a:rPr lang="en-US" dirty="0"/>
              <a:t>Kernel-level library</a:t>
            </a:r>
          </a:p>
          <a:p>
            <a:pPr lvl="1"/>
            <a:r>
              <a:rPr lang="en-US" dirty="0"/>
              <a:t>Code and data in kernel space, API function call </a:t>
            </a:r>
            <a:r>
              <a:rPr lang="en-US" dirty="0">
                <a:sym typeface="Wingdings" panose="05000000000000000000" pitchFamily="2" charset="2"/>
              </a:rPr>
              <a:t> system call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4946BA-AF06-4300-9479-07856CB3DA9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726826" y="1812907"/>
            <a:ext cx="2738347" cy="3956076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8025E229-1BF3-4F15-B102-E51444607B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9338" y="1897679"/>
            <a:ext cx="4592662" cy="35709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53937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1D0B352-912C-4DFA-A17A-DBD9942F9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Asynchronous vs Synchronous Threads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D49BDF-ADD5-46D6-A5C2-3DBAF72813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Asynchronous</a:t>
            </a:r>
          </a:p>
          <a:p>
            <a:pPr lvl="1"/>
            <a:r>
              <a:rPr lang="en-US" dirty="0"/>
              <a:t>Parent and child execute concurrently and independently</a:t>
            </a:r>
          </a:p>
          <a:p>
            <a:r>
              <a:rPr lang="en-US" dirty="0"/>
              <a:t>Synchronous</a:t>
            </a:r>
          </a:p>
          <a:p>
            <a:pPr lvl="1"/>
            <a:r>
              <a:rPr lang="en-US" dirty="0"/>
              <a:t>Parent wait for all its children to terminates before it resumes</a:t>
            </a:r>
          </a:p>
        </p:txBody>
      </p:sp>
    </p:spTree>
    <p:extLst>
      <p:ext uri="{BB962C8B-B14F-4D97-AF65-F5344CB8AC3E}">
        <p14:creationId xmlns:p14="http://schemas.microsoft.com/office/powerpoint/2010/main" val="3930417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FFF83-EB86-421A-8E07-2398A8AE1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Pthreads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0576E-820C-44DB-BD87-A3EC76658D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POSIX standard is just a specification</a:t>
            </a:r>
          </a:p>
          <a:p>
            <a:r>
              <a:rPr lang="en-US" dirty="0"/>
              <a:t>API specifies behavior only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207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A7217-BF47-4695-B6E6-D8B025A76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784" y="120145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dirty="0"/>
              <a:t>Pthreads vs Window Threads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4027F28-B4E1-4DAD-BA92-080792E29C5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74784" y="746884"/>
            <a:ext cx="5181600" cy="3892842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0027287A-7855-486B-9741-C8302B09057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734907" y="138276"/>
            <a:ext cx="5181600" cy="25550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F2A6DC6-0A37-4AB7-B74A-049CCE8073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461" y="4589129"/>
            <a:ext cx="4695092" cy="22688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D254AF2-B554-4FBC-90A0-5967295FCF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0298" y="2576482"/>
            <a:ext cx="4856918" cy="4281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697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E27F7-8866-40C5-A3C8-B91945F47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Pthreads Joining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69C9A53-A8BD-4D13-9DD9-A35ABED05E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8971" y="1522943"/>
            <a:ext cx="6444197" cy="2528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8434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50DC2-AA50-4174-904D-A24604C30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1F1B0-1362-45CC-8122-F7DF189E64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Assume that we want to divide summation of an array of size N equally to M threads for partial summation</a:t>
            </a:r>
          </a:p>
          <a:p>
            <a:r>
              <a:rPr lang="en-US" dirty="0"/>
              <a:t>How does a thread know which the block number n: n = 0, …, N – 1</a:t>
            </a:r>
          </a:p>
          <a:p>
            <a:r>
              <a:rPr lang="en-US" dirty="0"/>
              <a:t>What are the begin and end indices for nth thread?</a:t>
            </a:r>
          </a:p>
          <a:p>
            <a:r>
              <a:rPr lang="en-US" dirty="0"/>
              <a:t>How does a thread access the array?</a:t>
            </a:r>
          </a:p>
          <a:p>
            <a:r>
              <a:rPr lang="en-US" dirty="0"/>
              <a:t>How does the main thread calculate the total sum?</a:t>
            </a:r>
          </a:p>
        </p:txBody>
      </p:sp>
    </p:spTree>
    <p:extLst>
      <p:ext uri="{BB962C8B-B14F-4D97-AF65-F5344CB8AC3E}">
        <p14:creationId xmlns:p14="http://schemas.microsoft.com/office/powerpoint/2010/main" val="36656487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832BC-94C9-4E44-AB6E-D5484E45B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Threads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F26FE-A359-4B17-9F22-6FEB3729D8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Java threads are managed by the JVM</a:t>
            </a:r>
          </a:p>
          <a:p>
            <a:r>
              <a:rPr lang="en-US" altLang="en-US" dirty="0"/>
              <a:t>Typically implemented using the threads model provided by underlying OS</a:t>
            </a:r>
          </a:p>
        </p:txBody>
      </p:sp>
    </p:spTree>
    <p:extLst>
      <p:ext uri="{BB962C8B-B14F-4D97-AF65-F5344CB8AC3E}">
        <p14:creationId xmlns:p14="http://schemas.microsoft.com/office/powerpoint/2010/main" val="6712631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31931-EB4E-41E2-8742-7458C5C80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Threads Creation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234F3-09E8-425D-8F52-CE42759A36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Two Ways</a:t>
            </a:r>
          </a:p>
          <a:p>
            <a:r>
              <a:rPr lang="en-US" dirty="0"/>
              <a:t>Extend </a:t>
            </a:r>
            <a:r>
              <a:rPr lang="en-US" b="1" dirty="0"/>
              <a:t>Thread</a:t>
            </a:r>
            <a:r>
              <a:rPr lang="en-US" dirty="0"/>
              <a:t> class</a:t>
            </a:r>
          </a:p>
          <a:p>
            <a:r>
              <a:rPr lang="en-US" dirty="0"/>
              <a:t>Implementing the </a:t>
            </a:r>
            <a:r>
              <a:rPr lang="en-US" b="1" dirty="0"/>
              <a:t>Runnable</a:t>
            </a:r>
            <a:r>
              <a:rPr lang="en-US" dirty="0"/>
              <a:t> interface</a:t>
            </a:r>
          </a:p>
        </p:txBody>
      </p:sp>
    </p:spTree>
    <p:extLst>
      <p:ext uri="{BB962C8B-B14F-4D97-AF65-F5344CB8AC3E}">
        <p14:creationId xmlns:p14="http://schemas.microsoft.com/office/powerpoint/2010/main" val="3903006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BD049-0707-4697-8C65-5B1852467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Threads with Runnable Interface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AEF36A83-39C0-4A0B-A679-575817FE9A9B}"/>
              </a:ext>
            </a:extLst>
          </p:cNvPr>
          <p:cNvSpPr txBox="1">
            <a:spLocks noGrp="1" noChangeArrowheads="1"/>
          </p:cNvSpPr>
          <p:nvPr>
            <p:ph idx="1"/>
          </p:nvPr>
        </p:nvSpPr>
        <p:spPr bwMode="auto">
          <a:xfrm>
            <a:off x="838200" y="1825625"/>
            <a:ext cx="51475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000" b="1" dirty="0">
                <a:latin typeface="Verdana" panose="020B0604030504040204" pitchFamily="34" charset="0"/>
              </a:rPr>
              <a:t>Implementing Runnable interface:</a:t>
            </a: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B9109976-9DE6-4249-AF13-8AC62A4C52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7199" y="2500923"/>
            <a:ext cx="4826000" cy="157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463962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5C51A-1B7C-4971-BE89-7136563AF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Thread Example: Sum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8F351F-BB58-4C9E-A71C-134E2ED1B0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8859" y="1893397"/>
            <a:ext cx="5181600" cy="369332"/>
          </a:xfrm>
        </p:spPr>
        <p:txBody>
          <a:bodyPr/>
          <a:lstStyle/>
          <a:p>
            <a:pPr marL="0" indent="0">
              <a:spcBef>
                <a:spcPct val="0"/>
              </a:spcBef>
              <a:buNone/>
            </a:pPr>
            <a:r>
              <a:rPr lang="en-US" sz="1800" b="1" dirty="0">
                <a:latin typeface="Verdana" panose="020B0604030504040204" pitchFamily="34" charset="0"/>
              </a:rPr>
              <a:t>Class Sum: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D8B452-A442-42B4-B960-7D6FEA61F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859" y="2590442"/>
            <a:ext cx="4572396" cy="142658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D118A37-ED78-407C-89FB-73463FDD06FB}"/>
              </a:ext>
            </a:extLst>
          </p:cNvPr>
          <p:cNvSpPr/>
          <p:nvPr/>
        </p:nvSpPr>
        <p:spPr>
          <a:xfrm>
            <a:off x="5124965" y="1759226"/>
            <a:ext cx="34916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b="1" dirty="0">
                <a:latin typeface="Verdana" panose="020B0604030504040204" pitchFamily="34" charset="0"/>
              </a:rPr>
              <a:t>Thread Class Summation: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B29132E-4127-4F14-8CA7-929F3E0E52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4965" y="2364083"/>
            <a:ext cx="6718374" cy="3798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3269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5C51A-1B7C-4971-BE89-7136563AF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Thread Example: Sum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40450AD-0DC0-4A82-AE17-D58C7F861B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51560" y="1663287"/>
            <a:ext cx="5181600" cy="393319"/>
          </a:xfrm>
        </p:spPr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solidFill>
                  <a:srgbClr val="000000"/>
                </a:solidFill>
                <a:latin typeface="Verdana" panose="020B0604030504040204" pitchFamily="34" charset="0"/>
                <a:ea typeface="MS PGothic" panose="020B0600070205080204" pitchFamily="34" charset="-128"/>
              </a:rPr>
              <a:t>Class Driver:</a:t>
            </a:r>
          </a:p>
          <a:p>
            <a:endParaRPr lang="en-US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3AF07249-D788-4E2F-8241-27B2A558D3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1864" y="2422526"/>
            <a:ext cx="8482013" cy="375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400" dirty="0"/>
              <a:t>public class Driver</a:t>
            </a:r>
          </a:p>
          <a:p>
            <a:r>
              <a:rPr lang="en-US" altLang="en-US" sz="1400" dirty="0"/>
              <a:t>{	public static void main(String[] </a:t>
            </a:r>
            <a:r>
              <a:rPr lang="en-US" altLang="en-US" sz="1400" dirty="0" err="1"/>
              <a:t>args</a:t>
            </a:r>
            <a:r>
              <a:rPr lang="en-US" altLang="en-US" sz="1400" dirty="0"/>
              <a:t>) {		</a:t>
            </a:r>
          </a:p>
          <a:p>
            <a:r>
              <a:rPr lang="en-US" altLang="en-US" sz="1400" dirty="0"/>
              <a:t>		if (</a:t>
            </a:r>
            <a:r>
              <a:rPr lang="en-US" altLang="en-US" sz="1400" dirty="0" err="1"/>
              <a:t>args.length</a:t>
            </a:r>
            <a:r>
              <a:rPr lang="en-US" altLang="en-US" sz="1400" dirty="0"/>
              <a:t> != 1) {								</a:t>
            </a:r>
            <a:r>
              <a:rPr lang="en-US" altLang="en-US" sz="1400" dirty="0" err="1"/>
              <a:t>System.err.println</a:t>
            </a:r>
            <a:r>
              <a:rPr lang="en-US" altLang="en-US" sz="1400" dirty="0"/>
              <a:t>("Usage Driver &lt;integer&gt;");					</a:t>
            </a:r>
            <a:r>
              <a:rPr lang="en-US" altLang="en-US" sz="1400" dirty="0" err="1"/>
              <a:t>System.exit</a:t>
            </a:r>
            <a:r>
              <a:rPr lang="en-US" altLang="en-US" sz="1400" dirty="0"/>
              <a:t>(0);		</a:t>
            </a:r>
          </a:p>
          <a:p>
            <a:r>
              <a:rPr lang="en-US" altLang="en-US" sz="1400" dirty="0"/>
              <a:t>		}		</a:t>
            </a:r>
          </a:p>
          <a:p>
            <a:r>
              <a:rPr lang="en-US" altLang="en-US" sz="1400" dirty="0"/>
              <a:t>		Sum </a:t>
            </a:r>
            <a:r>
              <a:rPr lang="en-US" altLang="en-US" sz="1400" dirty="0" err="1"/>
              <a:t>sumObject</a:t>
            </a:r>
            <a:r>
              <a:rPr lang="en-US" altLang="en-US" sz="1400" dirty="0"/>
              <a:t> = new Sum();		</a:t>
            </a:r>
          </a:p>
          <a:p>
            <a:r>
              <a:rPr lang="en-US" altLang="en-US" sz="1400" dirty="0"/>
              <a:t>		int upper = </a:t>
            </a:r>
            <a:r>
              <a:rPr lang="en-US" altLang="en-US" sz="1400" dirty="0" err="1"/>
              <a:t>Integer.parseInt</a:t>
            </a:r>
            <a:r>
              <a:rPr lang="en-US" altLang="en-US" sz="1400" dirty="0"/>
              <a:t>(</a:t>
            </a:r>
            <a:r>
              <a:rPr lang="en-US" altLang="en-US" sz="1400" dirty="0" err="1"/>
              <a:t>args</a:t>
            </a:r>
            <a:r>
              <a:rPr lang="en-US" altLang="en-US" sz="1400" dirty="0"/>
              <a:t>[0]);			</a:t>
            </a:r>
          </a:p>
          <a:p>
            <a:r>
              <a:rPr lang="en-US" altLang="en-US" sz="1400" dirty="0"/>
              <a:t>		</a:t>
            </a:r>
          </a:p>
          <a:p>
            <a:r>
              <a:rPr lang="en-US" altLang="en-US" sz="1400" dirty="0"/>
              <a:t>		Thread worker = new Thread(new Summation(upper, </a:t>
            </a:r>
            <a:r>
              <a:rPr lang="en-US" altLang="en-US" sz="1400" dirty="0" err="1"/>
              <a:t>sumObject</a:t>
            </a:r>
            <a:r>
              <a:rPr lang="en-US" altLang="en-US" sz="1400" dirty="0"/>
              <a:t>));			</a:t>
            </a:r>
            <a:r>
              <a:rPr lang="en-US" altLang="en-US" sz="1400" dirty="0" err="1"/>
              <a:t>worker.start</a:t>
            </a:r>
            <a:r>
              <a:rPr lang="en-US" altLang="en-US" sz="1400" dirty="0"/>
              <a:t>();		</a:t>
            </a:r>
          </a:p>
          <a:p>
            <a:r>
              <a:rPr lang="en-US" altLang="en-US" sz="1400" dirty="0"/>
              <a:t>		try {			</a:t>
            </a:r>
          </a:p>
          <a:p>
            <a:r>
              <a:rPr lang="en-US" altLang="en-US" sz="1400" dirty="0"/>
              <a:t>			</a:t>
            </a:r>
            <a:r>
              <a:rPr lang="en-US" altLang="en-US" sz="1400" dirty="0" err="1"/>
              <a:t>worker.join</a:t>
            </a:r>
            <a:r>
              <a:rPr lang="en-US" altLang="en-US" sz="1400" dirty="0"/>
              <a:t>();		</a:t>
            </a:r>
          </a:p>
          <a:p>
            <a:r>
              <a:rPr lang="en-US" altLang="en-US" sz="1400" dirty="0"/>
              <a:t>		} catch (</a:t>
            </a:r>
            <a:r>
              <a:rPr lang="en-US" altLang="en-US" sz="1400" dirty="0" err="1"/>
              <a:t>InterruptedException</a:t>
            </a:r>
            <a:r>
              <a:rPr lang="en-US" altLang="en-US" sz="1400" dirty="0"/>
              <a:t> </a:t>
            </a:r>
            <a:r>
              <a:rPr lang="en-US" altLang="en-US" sz="1400" dirty="0" err="1"/>
              <a:t>ie</a:t>
            </a:r>
            <a:r>
              <a:rPr lang="en-US" altLang="en-US" sz="1400" dirty="0"/>
              <a:t>) { }						</a:t>
            </a:r>
            <a:r>
              <a:rPr lang="en-US" altLang="en-US" sz="1400" dirty="0" err="1"/>
              <a:t>System.out.println</a:t>
            </a:r>
            <a:r>
              <a:rPr lang="en-US" altLang="en-US" sz="1400" dirty="0"/>
              <a:t>("The sum of " + upper + " is " + </a:t>
            </a:r>
            <a:r>
              <a:rPr lang="en-US" altLang="en-US" sz="1400" dirty="0" err="1"/>
              <a:t>sumObject.get</a:t>
            </a:r>
            <a:r>
              <a:rPr lang="en-US" altLang="en-US" sz="1400" dirty="0"/>
              <a:t>());	</a:t>
            </a:r>
          </a:p>
          <a:p>
            <a:r>
              <a:rPr lang="en-US" altLang="en-US" sz="1400" dirty="0"/>
              <a:t>	}</a:t>
            </a:r>
          </a:p>
          <a:p>
            <a:r>
              <a:rPr lang="en-US" altLang="en-US" sz="1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447388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BCF0B77-C6BE-4695-8CB1-74C3354A8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4B8A73-A8F6-4070-A03F-B0BC15C813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Assume that we want to divide summation of an array of size N equally to M threads for partial summation</a:t>
            </a:r>
          </a:p>
          <a:p>
            <a:r>
              <a:rPr lang="en-US" dirty="0"/>
              <a:t>How does a thread access the array? How about the number of threads or the block size?</a:t>
            </a:r>
          </a:p>
          <a:p>
            <a:r>
              <a:rPr lang="en-US" dirty="0"/>
              <a:t>How does a thread know which the block number n: n = 0, …, M – 1</a:t>
            </a:r>
          </a:p>
          <a:p>
            <a:r>
              <a:rPr lang="en-US" dirty="0"/>
              <a:t>What are the begin and end indices for nth thread?</a:t>
            </a:r>
          </a:p>
          <a:p>
            <a:r>
              <a:rPr lang="en-US" dirty="0"/>
              <a:t>How does the main thread calculate the total sum?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903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487</Words>
  <Application>Microsoft Office PowerPoint</Application>
  <PresentationFormat>Widescreen</PresentationFormat>
  <Paragraphs>59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MS PGothic</vt:lpstr>
      <vt:lpstr>Arial</vt:lpstr>
      <vt:lpstr>Calibri</vt:lpstr>
      <vt:lpstr>Calibri Light</vt:lpstr>
      <vt:lpstr>Verdana</vt:lpstr>
      <vt:lpstr>Wingdings</vt:lpstr>
      <vt:lpstr>Office Theme</vt:lpstr>
      <vt:lpstr>Threads &amp; Concurrency Lecture 2 Thread Libraries</vt:lpstr>
      <vt:lpstr>Learning Outcomes</vt:lpstr>
      <vt:lpstr>User Space vs Kernel-level Thread Library</vt:lpstr>
      <vt:lpstr>Asynchronous vs Synchronous Threads</vt:lpstr>
      <vt:lpstr>Pthreads Implementation</vt:lpstr>
      <vt:lpstr>Pthreads vs Window Threads</vt:lpstr>
      <vt:lpstr>Pthreads Joining</vt:lpstr>
      <vt:lpstr>Question</vt:lpstr>
      <vt:lpstr>Java Threads</vt:lpstr>
      <vt:lpstr>Java Threads Creation</vt:lpstr>
      <vt:lpstr>Java Threads with Runnable Interface</vt:lpstr>
      <vt:lpstr>Java Thread Example: Sum</vt:lpstr>
      <vt:lpstr>Java Thread Example: Sum</vt:lpstr>
      <vt:lpstr>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Threads &amp; Concurrency Lesson 1</dc:title>
  <dc:creator>David Liu</dc:creator>
  <cp:lastModifiedBy>David Liu</cp:lastModifiedBy>
  <cp:revision>36</cp:revision>
  <dcterms:created xsi:type="dcterms:W3CDTF">2021-09-22T15:02:35Z</dcterms:created>
  <dcterms:modified xsi:type="dcterms:W3CDTF">2022-02-08T19:07:01Z</dcterms:modified>
</cp:coreProperties>
</file>