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71" r:id="rId13"/>
    <p:sldId id="266" r:id="rId14"/>
    <p:sldId id="267" r:id="rId15"/>
    <p:sldId id="273" r:id="rId16"/>
    <p:sldId id="272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86093-4FF3-4D26-B3A0-D6FBA76ED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C3CAFE-6BF9-4EDF-ACF9-E31CA30EF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43397-816E-429C-8E31-D96873FF9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E0C16-C4F5-4C96-B60F-A4E2A0D31A86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6EBCA-C5C6-4334-86EA-E5537E91D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AF630-30E3-4AE1-AB4E-904F20C3F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A527-E5F4-42B0-A783-0F56C9B3B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012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8669D-969B-4A06-B7A4-7FAD884AC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A4B7E-6D94-43C8-9939-85CD2341B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CB345-FE59-4BB9-82A3-EC80ECDDB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E0C16-C4F5-4C96-B60F-A4E2A0D31A86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AA8A3-89E6-4906-AFC9-CE692B931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C575-C502-45CA-AB47-5EFDFA59B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A527-E5F4-42B0-A783-0F56C9B3B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69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41CBD-F32B-433E-9580-E6E8AA0F4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29D42-FFA4-4D1A-BF90-B0F6A7681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45290-8124-489A-A4F3-7361245FE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E0C16-C4F5-4C96-B60F-A4E2A0D31A86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DF1C-9A46-4932-AC51-2E98D1062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B15B8-78AA-491B-B882-391E3148C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A527-E5F4-42B0-A783-0F56C9B3B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41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789A4-DCF3-4B76-A38A-404E33607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971C7-DB5F-49B0-BEAA-AD7B45F6A0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67D96-968D-4D85-BFFA-37CFC676B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E052A-136B-4554-80BC-1EA3C603E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E0C16-C4F5-4C96-B60F-A4E2A0D31A86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66033-BD8F-4738-BB9A-8B63A7929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1ABA2-9A01-4FC1-A273-152A775DF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A527-E5F4-42B0-A783-0F56C9B3B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486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A4DA2-04F7-44D1-B24F-619F56769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E12BD-52E2-4664-8B02-93E438B9D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D57FC-0B8B-4519-A6C2-1A5A195E0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AD43B9-0723-428C-8705-59AF4F77C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97355B-64FE-49E4-899B-761F9B881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D7860-10BA-4DC0-A69A-EE9CA339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E0C16-C4F5-4C96-B60F-A4E2A0D31A86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3F07CD-0BE2-487B-A34C-340191A9E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6D68E6-7C2B-41DD-A41B-9F5467C8B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A527-E5F4-42B0-A783-0F56C9B3B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13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99C01-290E-4B9E-B84D-A0B6DF307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0B39EF-E4AE-4E7B-80E3-8AB99A286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E0C16-C4F5-4C96-B60F-A4E2A0D31A86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302A5-8A66-4143-9310-89D01A8C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BF8BC-D182-4DAC-BAB4-E7B871B4C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A527-E5F4-42B0-A783-0F56C9B3B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099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A9089E-14A7-497C-8392-F581FE23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E0C16-C4F5-4C96-B60F-A4E2A0D31A86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CE895E-ABD4-4AE4-896F-7B7BDC7DB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4E80BE-0CF6-4406-B079-9E786873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A527-E5F4-42B0-A783-0F56C9B3B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09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2B73E-608D-42AF-815B-F5E257346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88B31-BDE7-45A7-8B6C-D2BD42733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47A70-2D76-47C6-A508-8B7C52F21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4EBE8-6E76-445C-A34F-E97333E5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E0C16-C4F5-4C96-B60F-A4E2A0D31A86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BE083-AEE6-49EC-A337-6F3924498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F5E1D-B747-4581-B57B-F9304D63B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A527-E5F4-42B0-A783-0F56C9B3B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87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5B558-E75B-4C3D-820B-AA43FB60D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92972-6EB1-4A4B-98F2-31A149E5E9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3AD19-4720-45A2-813C-05D574A1F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9FACC-127E-4A9A-8959-2E2E0D05B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E0C16-C4F5-4C96-B60F-A4E2A0D31A86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050C9-4833-4813-A4A8-3C10E280A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F69F9-11A7-4857-A11A-2DCB2760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A527-E5F4-42B0-A783-0F56C9B3B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3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69B9-B971-44DE-A57B-73C92AFC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41B477-0D44-4EF4-BD08-E65A56B56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2FAD5-64B1-4E2C-B84D-5D7321CB5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E0C16-C4F5-4C96-B60F-A4E2A0D31A86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55DAC-58FD-4BAD-AEE0-8CF740564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0C743-03E0-43E9-A0FE-4BDAA28F1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A527-E5F4-42B0-A783-0F56C9B3B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AB4EA3-897E-4B00-AF30-F30D1A18E0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D3C204-F8EC-4B79-9C40-65203F897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2F168-4E13-4CFD-A133-2AFC2D40B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E0C16-C4F5-4C96-B60F-A4E2A0D31A86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D1A25-B164-4A43-A8E5-61DA4FD3C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3F6B-AC2F-471B-AF1E-D7BA37220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A527-E5F4-42B0-A783-0F56C9B3B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406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05608-E97D-40DB-A0A1-B3F51AC7B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EF33E-8B52-42DF-A675-2C5880159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FF5A6-50E1-4B75-8B83-BAA1304BA9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E0C16-C4F5-4C96-B60F-A4E2A0D31A86}" type="datetimeFigureOut">
              <a:rPr lang="en-US" smtClean="0"/>
              <a:t>2/10/2022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12C39-A73A-4080-A60F-CE3C2CAD77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3E37A-2ADC-43DD-AEDD-D91715AFD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EA527-E5F4-42B0-A783-0F56C9B3B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3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47043-EAD9-4870-8F69-0B8A62AA8C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Threads &amp; Concurrency</a:t>
            </a:r>
            <a:br>
              <a:rPr lang="en-US" dirty="0"/>
            </a:br>
            <a:r>
              <a:rPr lang="en-US" dirty="0"/>
              <a:t>Lecture 3</a:t>
            </a:r>
            <a:br>
              <a:rPr lang="en-US" dirty="0"/>
            </a:br>
            <a:r>
              <a:rPr lang="en-US" dirty="0"/>
              <a:t>Implicit Threads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1F66F-9FF0-4E4E-B1B6-700D33CDDA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/>
              <a:t>Fall 2021, Spring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880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505D-595E-4B32-8265-9775EAE2F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Implicit Threading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C6DDC-E56D-4AA7-9ED9-7B07FB9D8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Threading Popularity</a:t>
            </a:r>
          </a:p>
          <a:p>
            <a:r>
              <a:rPr lang="en-US" dirty="0"/>
              <a:t>Explicit Threads Program Correctness Issues</a:t>
            </a:r>
          </a:p>
          <a:p>
            <a:r>
              <a:rPr lang="en-US" dirty="0"/>
              <a:t>Solutions: </a:t>
            </a:r>
          </a:p>
          <a:p>
            <a:pPr lvl="1"/>
            <a:r>
              <a:rPr lang="en-US" dirty="0"/>
              <a:t>compilers and run-time libraries</a:t>
            </a:r>
          </a:p>
        </p:txBody>
      </p:sp>
    </p:spTree>
    <p:extLst>
      <p:ext uri="{BB962C8B-B14F-4D97-AF65-F5344CB8AC3E}">
        <p14:creationId xmlns:p14="http://schemas.microsoft.com/office/powerpoint/2010/main" val="835693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80690-B785-4E64-B025-A5C68DD92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Implicit Threading Methods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1E5F3-3FB6-49B5-B446-85BF5889C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Thread Pools</a:t>
            </a:r>
          </a:p>
          <a:p>
            <a:r>
              <a:rPr lang="en-US" dirty="0"/>
              <a:t>Fork-Join</a:t>
            </a:r>
          </a:p>
          <a:p>
            <a:r>
              <a:rPr lang="en-US" dirty="0"/>
              <a:t>OpenMP</a:t>
            </a:r>
          </a:p>
          <a:p>
            <a:r>
              <a:rPr lang="en-US" dirty="0"/>
              <a:t>Grand Central Dispatch</a:t>
            </a:r>
          </a:p>
          <a:p>
            <a:r>
              <a:rPr lang="en-US" dirty="0"/>
              <a:t>Intel Threading Building Blocks (TBB)</a:t>
            </a:r>
          </a:p>
        </p:txBody>
      </p:sp>
    </p:spTree>
    <p:extLst>
      <p:ext uri="{BB962C8B-B14F-4D97-AF65-F5344CB8AC3E}">
        <p14:creationId xmlns:p14="http://schemas.microsoft.com/office/powerpoint/2010/main" val="340109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FB943-F0B8-4FFF-B42B-A386B048D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Pools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10B4E-2E9B-4D19-9719-B487ADB95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Create a number of threads in a pool where they await 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168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BDF33-177C-4D80-A36D-A5B881EA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Thread Pools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92416C-3111-4C16-BF6D-505A2A58927A}"/>
              </a:ext>
            </a:extLst>
          </p:cNvPr>
          <p:cNvSpPr txBox="1"/>
          <p:nvPr/>
        </p:nvSpPr>
        <p:spPr>
          <a:xfrm>
            <a:off x="2379785" y="1782671"/>
            <a:ext cx="1639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Define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F11BBB-91A6-46D5-B90D-B022DABA5470}"/>
              </a:ext>
            </a:extLst>
          </p:cNvPr>
          <p:cNvSpPr txBox="1"/>
          <p:nvPr/>
        </p:nvSpPr>
        <p:spPr>
          <a:xfrm>
            <a:off x="2379785" y="4042392"/>
            <a:ext cx="2795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Invoke a thread for function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3198E1-FC9B-443E-8E11-F1A2F8CF73D3}"/>
              </a:ext>
            </a:extLst>
          </p:cNvPr>
          <p:cNvSpPr/>
          <p:nvPr/>
        </p:nvSpPr>
        <p:spPr>
          <a:xfrm>
            <a:off x="2410114" y="4568628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>
                <a:solidFill>
                  <a:srgbClr val="171717"/>
                </a:solidFill>
                <a:effectLst/>
                <a:latin typeface="SFMono-Regular"/>
              </a:rPr>
              <a:t>BOOL </a:t>
            </a:r>
            <a:r>
              <a:rPr lang="en-US" b="0" i="0" dirty="0" err="1">
                <a:solidFill>
                  <a:srgbClr val="006881"/>
                </a:solidFill>
                <a:effectLst/>
                <a:latin typeface="SFMono-Regular"/>
              </a:rPr>
              <a:t>QueueUserWorkItem</a:t>
            </a:r>
            <a:r>
              <a:rPr lang="en-US" b="0" i="0" dirty="0">
                <a:solidFill>
                  <a:srgbClr val="171717"/>
                </a:solidFill>
                <a:effectLst/>
                <a:latin typeface="SFMono-Regular"/>
              </a:rPr>
              <a:t>( </a:t>
            </a:r>
          </a:p>
          <a:p>
            <a:r>
              <a:rPr lang="en-US" dirty="0">
                <a:solidFill>
                  <a:srgbClr val="171717"/>
                </a:solidFill>
                <a:latin typeface="SFMono-Regular"/>
              </a:rPr>
              <a:t>   </a:t>
            </a:r>
            <a:r>
              <a:rPr lang="en-US" b="0" i="0" dirty="0">
                <a:solidFill>
                  <a:srgbClr val="171717"/>
                </a:solidFill>
                <a:effectLst/>
                <a:latin typeface="SFMono-Regular"/>
              </a:rPr>
              <a:t>LPTHREAD_START_ROUTINE Function, </a:t>
            </a:r>
          </a:p>
          <a:p>
            <a:r>
              <a:rPr lang="en-US" dirty="0">
                <a:solidFill>
                  <a:srgbClr val="171717"/>
                </a:solidFill>
                <a:latin typeface="SFMono-Regular"/>
              </a:rPr>
              <a:t>   </a:t>
            </a:r>
            <a:r>
              <a:rPr lang="en-US" b="0" i="0" dirty="0">
                <a:solidFill>
                  <a:srgbClr val="171717"/>
                </a:solidFill>
                <a:effectLst/>
                <a:latin typeface="SFMono-Regular"/>
              </a:rPr>
              <a:t>PVOID Context, </a:t>
            </a:r>
          </a:p>
          <a:p>
            <a:r>
              <a:rPr lang="en-US" dirty="0">
                <a:solidFill>
                  <a:srgbClr val="171717"/>
                </a:solidFill>
                <a:latin typeface="SFMono-Regular"/>
              </a:rPr>
              <a:t>   </a:t>
            </a:r>
            <a:r>
              <a:rPr lang="en-US" b="0" i="0" dirty="0">
                <a:solidFill>
                  <a:srgbClr val="171717"/>
                </a:solidFill>
                <a:effectLst/>
                <a:latin typeface="SFMono-Regular"/>
              </a:rPr>
              <a:t>ULONG Flags </a:t>
            </a:r>
          </a:p>
          <a:p>
            <a:r>
              <a:rPr lang="en-US" b="0" i="0" dirty="0">
                <a:solidFill>
                  <a:srgbClr val="171717"/>
                </a:solidFill>
                <a:effectLst/>
                <a:latin typeface="SFMono-Regular"/>
              </a:rPr>
              <a:t>);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8D4F27-B4C6-42D8-8FCC-FD0FF3E084B7}"/>
              </a:ext>
            </a:extLst>
          </p:cNvPr>
          <p:cNvSpPr txBox="1"/>
          <p:nvPr/>
        </p:nvSpPr>
        <p:spPr>
          <a:xfrm>
            <a:off x="2410114" y="2351782"/>
            <a:ext cx="51447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DWORD WINAPI </a:t>
            </a:r>
            <a:r>
              <a:rPr lang="en-US" sz="1600" dirty="0" err="1"/>
              <a:t>PoolFunction</a:t>
            </a:r>
            <a:r>
              <a:rPr lang="en-US" sz="1600" dirty="0"/>
              <a:t> (PVOID Param) {</a:t>
            </a:r>
          </a:p>
          <a:p>
            <a:r>
              <a:rPr lang="en-US" sz="1600" dirty="0"/>
              <a:t>          /* </a:t>
            </a:r>
          </a:p>
          <a:p>
            <a:r>
              <a:rPr lang="en-US" sz="1600" dirty="0"/>
              <a:t>            * this function runs as a separate thread</a:t>
            </a:r>
          </a:p>
          <a:p>
            <a:r>
              <a:rPr lang="en-US" sz="1600" dirty="0"/>
              <a:t>            */</a:t>
            </a:r>
          </a:p>
        </p:txBody>
      </p:sp>
    </p:spTree>
    <p:extLst>
      <p:ext uri="{BB962C8B-B14F-4D97-AF65-F5344CB8AC3E}">
        <p14:creationId xmlns:p14="http://schemas.microsoft.com/office/powerpoint/2010/main" val="2973627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54C5-05AF-4EB9-973E-562E6D4EE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US" dirty="0"/>
              <a:t>Windows Thread Pool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A5F7E-882C-4A08-8BFC-959FBD7EB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255"/>
            <a:ext cx="6277708" cy="74942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using System;  //C##</a:t>
            </a:r>
          </a:p>
          <a:p>
            <a:pPr marL="0" indent="0">
              <a:buNone/>
            </a:pPr>
            <a:r>
              <a:rPr lang="en-US" sz="1600" dirty="0"/>
              <a:t>using </a:t>
            </a:r>
            <a:r>
              <a:rPr lang="en-US" sz="1600" dirty="0" err="1"/>
              <a:t>System.Threading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public class Example {</a:t>
            </a:r>
          </a:p>
          <a:p>
            <a:pPr marL="0" indent="0">
              <a:buNone/>
            </a:pPr>
            <a:r>
              <a:rPr lang="en-US" sz="1600" dirty="0"/>
              <a:t>        public static void Main() {</a:t>
            </a:r>
          </a:p>
          <a:p>
            <a:pPr marL="0" indent="0">
              <a:buNone/>
            </a:pPr>
            <a:r>
              <a:rPr lang="en-US" sz="1600" b="1" dirty="0"/>
              <a:t>          </a:t>
            </a:r>
            <a:r>
              <a:rPr lang="en-US" sz="1600" b="1" dirty="0" err="1"/>
              <a:t>ThreadPool.QueueUserWorkItem</a:t>
            </a:r>
            <a:r>
              <a:rPr lang="en-US" sz="1600" b="1" dirty="0"/>
              <a:t>(</a:t>
            </a:r>
            <a:r>
              <a:rPr lang="en-US" sz="1600" b="1" dirty="0" err="1"/>
              <a:t>ThreadProc</a:t>
            </a:r>
            <a:r>
              <a:rPr lang="en-US" sz="1600" b="1" dirty="0"/>
              <a:t>); // Queue the task.</a:t>
            </a:r>
          </a:p>
          <a:p>
            <a:pPr marL="0" indent="0">
              <a:buNone/>
            </a:pPr>
            <a:r>
              <a:rPr lang="en-US" sz="1600" b="1" dirty="0"/>
              <a:t>          </a:t>
            </a:r>
            <a:r>
              <a:rPr lang="en-US" sz="1600" dirty="0" err="1"/>
              <a:t>Console.WriteLine</a:t>
            </a:r>
            <a:r>
              <a:rPr lang="en-US" sz="1600" dirty="0"/>
              <a:t>("Main thread does some work, then sleeps.");</a:t>
            </a:r>
          </a:p>
          <a:p>
            <a:pPr marL="0" indent="0">
              <a:buNone/>
            </a:pPr>
            <a:r>
              <a:rPr lang="en-US" sz="1600" dirty="0"/>
              <a:t>         </a:t>
            </a:r>
            <a:r>
              <a:rPr lang="en-US" sz="1600" dirty="0" err="1"/>
              <a:t>Thread.Sleep</a:t>
            </a:r>
            <a:r>
              <a:rPr lang="en-US" sz="1600" dirty="0"/>
              <a:t>(1000);</a:t>
            </a:r>
          </a:p>
          <a:p>
            <a:pPr marL="0" indent="0">
              <a:buNone/>
            </a:pPr>
            <a:r>
              <a:rPr lang="en-US" sz="1600" dirty="0"/>
              <a:t>         </a:t>
            </a:r>
            <a:r>
              <a:rPr lang="en-US" sz="1600" dirty="0" err="1"/>
              <a:t>Console.WriteLine</a:t>
            </a:r>
            <a:r>
              <a:rPr lang="en-US" sz="1600" dirty="0"/>
              <a:t>("Main thread exits.");</a:t>
            </a:r>
          </a:p>
          <a:p>
            <a:pPr marL="0" indent="0">
              <a:buNone/>
            </a:pPr>
            <a:r>
              <a:rPr lang="en-US" sz="1600" dirty="0"/>
              <a:t>    }</a:t>
            </a:r>
          </a:p>
          <a:p>
            <a:pPr marL="0" indent="0">
              <a:buNone/>
            </a:pPr>
            <a:r>
              <a:rPr lang="en-US" sz="1600" dirty="0"/>
              <a:t>    // This thread procedure performs the task.</a:t>
            </a:r>
          </a:p>
          <a:p>
            <a:pPr marL="0" indent="0">
              <a:buNone/>
            </a:pPr>
            <a:r>
              <a:rPr lang="en-US" sz="1600" dirty="0"/>
              <a:t>    static void </a:t>
            </a:r>
            <a:r>
              <a:rPr lang="en-US" sz="1600" dirty="0" err="1"/>
              <a:t>ThreadProc</a:t>
            </a:r>
            <a:r>
              <a:rPr lang="en-US" sz="1600" dirty="0"/>
              <a:t>(Object </a:t>
            </a:r>
            <a:r>
              <a:rPr lang="en-US" sz="1600" dirty="0" err="1"/>
              <a:t>stateInfo</a:t>
            </a:r>
            <a:r>
              <a:rPr lang="en-US" sz="1600" dirty="0"/>
              <a:t>)  {</a:t>
            </a:r>
          </a:p>
          <a:p>
            <a:pPr marL="0" indent="0">
              <a:buNone/>
            </a:pPr>
            <a:r>
              <a:rPr lang="en-US" sz="1600" dirty="0"/>
              <a:t>        // No state object was passed to </a:t>
            </a:r>
            <a:r>
              <a:rPr lang="en-US" sz="1600" dirty="0" err="1"/>
              <a:t>QueueUserWorkItem</a:t>
            </a:r>
            <a:r>
              <a:rPr lang="en-US" sz="1600" dirty="0"/>
              <a:t>, so </a:t>
            </a:r>
            <a:r>
              <a:rPr lang="en-US" sz="1600" dirty="0" err="1"/>
              <a:t>stateInfo</a:t>
            </a:r>
            <a:r>
              <a:rPr lang="en-US" sz="1600" dirty="0"/>
              <a:t> is null.</a:t>
            </a:r>
          </a:p>
          <a:p>
            <a:pPr marL="0" indent="0">
              <a:buNone/>
            </a:pPr>
            <a:r>
              <a:rPr lang="en-US" sz="1600" dirty="0"/>
              <a:t>        </a:t>
            </a:r>
            <a:r>
              <a:rPr lang="en-US" sz="1600" dirty="0" err="1"/>
              <a:t>Console.WriteLine</a:t>
            </a:r>
            <a:r>
              <a:rPr lang="en-US" sz="1600" dirty="0"/>
              <a:t>("Hello from the thread pool.");</a:t>
            </a:r>
          </a:p>
          <a:p>
            <a:pPr marL="0" indent="0">
              <a:buNone/>
            </a:pPr>
            <a:r>
              <a:rPr lang="en-US" sz="1600" dirty="0"/>
              <a:t>    }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D6B23F-9F6E-4943-B4F7-1859830281CE}"/>
              </a:ext>
            </a:extLst>
          </p:cNvPr>
          <p:cNvSpPr/>
          <p:nvPr/>
        </p:nvSpPr>
        <p:spPr>
          <a:xfrm>
            <a:off x="7695496" y="4738549"/>
            <a:ext cx="42770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// The example displays output like the following:</a:t>
            </a:r>
          </a:p>
          <a:p>
            <a:r>
              <a:rPr lang="en-US" dirty="0"/>
              <a:t>//       Main thread does some work, then sleeps.</a:t>
            </a:r>
          </a:p>
          <a:p>
            <a:r>
              <a:rPr lang="en-US" dirty="0"/>
              <a:t>//       Hello from the thread pool.</a:t>
            </a:r>
          </a:p>
          <a:p>
            <a:r>
              <a:rPr lang="en-US" dirty="0"/>
              <a:t>//       Main thread exits.</a:t>
            </a:r>
          </a:p>
        </p:txBody>
      </p:sp>
    </p:spTree>
    <p:extLst>
      <p:ext uri="{BB962C8B-B14F-4D97-AF65-F5344CB8AC3E}">
        <p14:creationId xmlns:p14="http://schemas.microsoft.com/office/powerpoint/2010/main" val="3316739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E8413-E1BE-4081-8DB8-9FD27B251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Thread Pools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D27D2B-466E-4521-B96F-2022571FF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pool of size 1: </a:t>
            </a:r>
          </a:p>
          <a:p>
            <a:pPr marL="0" indent="0">
              <a:buNone/>
            </a:pPr>
            <a:r>
              <a:rPr lang="en-US" dirty="0"/>
              <a:t>     static </a:t>
            </a:r>
            <a:r>
              <a:rPr lang="en-US" dirty="0" err="1"/>
              <a:t>ExecutorService</a:t>
            </a:r>
            <a:r>
              <a:rPr lang="en-US" dirty="0"/>
              <a:t> </a:t>
            </a:r>
            <a:r>
              <a:rPr lang="en-US" dirty="0" err="1"/>
              <a:t>newSingleThreadExecutor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thread pool of size</a:t>
            </a:r>
          </a:p>
          <a:p>
            <a:pPr marL="0" indent="0">
              <a:buNone/>
            </a:pPr>
            <a:r>
              <a:rPr lang="en-US" dirty="0"/>
              <a:t>     static </a:t>
            </a:r>
            <a:r>
              <a:rPr lang="en-US" dirty="0" err="1"/>
              <a:t>ExecutorService</a:t>
            </a:r>
            <a:r>
              <a:rPr lang="en-US" dirty="0"/>
              <a:t> </a:t>
            </a:r>
            <a:r>
              <a:rPr lang="en-US" dirty="0" err="1"/>
              <a:t>newFixedThreadPool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unbounded thread pool</a:t>
            </a:r>
          </a:p>
          <a:p>
            <a:pPr marL="0" indent="0">
              <a:buNone/>
            </a:pPr>
            <a:r>
              <a:rPr lang="en-US" dirty="0"/>
              <a:t>    static </a:t>
            </a:r>
            <a:r>
              <a:rPr lang="en-US" dirty="0" err="1"/>
              <a:t>ExecutorService</a:t>
            </a:r>
            <a:r>
              <a:rPr lang="en-US" dirty="0"/>
              <a:t> </a:t>
            </a:r>
            <a:r>
              <a:rPr lang="en-US" dirty="0" err="1"/>
              <a:t>newCachedThreadPool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455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FADD5D-7A6A-486B-9322-291EEBCE68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760242"/>
            <a:ext cx="7343293" cy="4456528"/>
          </a:xfrm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88CE7871-310A-4D84-B6B2-1D2E3A2AEC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705" y="5216770"/>
            <a:ext cx="48260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E63796-3E00-415A-ADA8-9FBC4EC6D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Java Thread Pool Example</a:t>
            </a:r>
          </a:p>
        </p:txBody>
      </p:sp>
    </p:spTree>
    <p:extLst>
      <p:ext uri="{BB962C8B-B14F-4D97-AF65-F5344CB8AC3E}">
        <p14:creationId xmlns:p14="http://schemas.microsoft.com/office/powerpoint/2010/main" val="1372075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3667D-3847-41AB-80CF-AED529BAD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Lambda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8C417-EDA5-4110-9CCC-9982ADA8B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implement Runnable task as a lambda expression?</a:t>
            </a:r>
          </a:p>
        </p:txBody>
      </p:sp>
    </p:spTree>
    <p:extLst>
      <p:ext uri="{BB962C8B-B14F-4D97-AF65-F5344CB8AC3E}">
        <p14:creationId xmlns:p14="http://schemas.microsoft.com/office/powerpoint/2010/main" val="2479055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9C7F-9757-4741-AF9C-88E3FE5BE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Fork-Join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70FBB-C772-48C6-BDC6-ED17FA764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3608"/>
            <a:ext cx="10515600" cy="554160"/>
          </a:xfrm>
        </p:spPr>
        <p:txBody>
          <a:bodyPr/>
          <a:lstStyle/>
          <a:p>
            <a:r>
              <a:rPr lang="en-US" altLang="en-US" dirty="0"/>
              <a:t>Multiple threads (tasks) are </a:t>
            </a:r>
            <a:r>
              <a:rPr lang="en-US" altLang="en-US" b="1" dirty="0"/>
              <a:t>forked</a:t>
            </a:r>
            <a:r>
              <a:rPr lang="en-US" altLang="en-US" dirty="0"/>
              <a:t>, and then </a:t>
            </a:r>
            <a:r>
              <a:rPr lang="en-US" altLang="en-US" b="1" dirty="0"/>
              <a:t>joined</a:t>
            </a:r>
            <a:r>
              <a:rPr lang="en-US" alt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AEEB7AB5-D7D2-49E2-854D-04F355E2E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400" y="2144713"/>
            <a:ext cx="6756278" cy="1410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F7E946-89AC-496E-8658-E3AFA6B28AB8}"/>
              </a:ext>
            </a:extLst>
          </p:cNvPr>
          <p:cNvSpPr txBox="1">
            <a:spLocks/>
          </p:cNvSpPr>
          <p:nvPr/>
        </p:nvSpPr>
        <p:spPr>
          <a:xfrm>
            <a:off x="683724" y="3602805"/>
            <a:ext cx="10515600" cy="554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General algorithm for fork-join strategy</a:t>
            </a:r>
            <a:endParaRPr lang="en-US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1F69A9FA-DECD-4005-A4F5-3CD3E3650F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676" y="4079142"/>
            <a:ext cx="5778500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6606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4FB36-6AC5-4A30-9380-0D85838E8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Fork-Join Java Example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3B0C910-04BA-4041-BDC0-E679AFE633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566" y="1690688"/>
            <a:ext cx="4890621" cy="1435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E3C49E9-261F-439D-ABCC-702EFE0863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2562"/>
            <a:ext cx="5611496" cy="667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41433B76-1136-4A24-8F37-C1EAC70190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214" y="3229464"/>
            <a:ext cx="3084878" cy="3101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2765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E7B72-FF4B-4A73-B430-B2925D83C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Fork-Join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2D1F8-5DB1-4029-990A-EE0824D34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difference between </a:t>
            </a:r>
            <a:r>
              <a:rPr lang="en-US" dirty="0" err="1"/>
              <a:t>RecursiveTask</a:t>
            </a:r>
            <a:r>
              <a:rPr lang="en-US" dirty="0"/>
              <a:t> and </a:t>
            </a:r>
            <a:r>
              <a:rPr lang="en-US" dirty="0" err="1"/>
              <a:t>RecursiveAction</a:t>
            </a:r>
            <a:r>
              <a:rPr lang="en-US" dirty="0"/>
              <a:t> classes? </a:t>
            </a:r>
          </a:p>
        </p:txBody>
      </p:sp>
    </p:spTree>
    <p:extLst>
      <p:ext uri="{BB962C8B-B14F-4D97-AF65-F5344CB8AC3E}">
        <p14:creationId xmlns:p14="http://schemas.microsoft.com/office/powerpoint/2010/main" val="3156806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D4637-E312-443F-9ED0-369BC6188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0E71B-6BC4-4FA5-8B2B-5306FED94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Set of compiler directives and an API for C, C++, FORTRAN </a:t>
            </a:r>
          </a:p>
          <a:p>
            <a:r>
              <a:rPr lang="en-US" altLang="en-US" dirty="0"/>
              <a:t>Provides support for parallel programming in shared-memory environments</a:t>
            </a:r>
          </a:p>
          <a:p>
            <a:r>
              <a:rPr lang="en-US" altLang="en-US" dirty="0"/>
              <a:t>Identifies </a:t>
            </a:r>
            <a:r>
              <a:rPr lang="en-US" altLang="en-US" b="1" dirty="0">
                <a:solidFill>
                  <a:srgbClr val="3366FF"/>
                </a:solidFill>
              </a:rPr>
              <a:t>parallel regions </a:t>
            </a:r>
            <a:r>
              <a:rPr lang="en-US" altLang="en-US" dirty="0"/>
              <a:t>– blocks of code that can run in parallel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#pragma </a:t>
            </a:r>
            <a:r>
              <a:rPr lang="en-US" altLang="en-US" b="1" dirty="0" err="1">
                <a:latin typeface="Courier New" panose="02070309020205020404" pitchFamily="49" charset="0"/>
              </a:rPr>
              <a:t>omp</a:t>
            </a:r>
            <a:r>
              <a:rPr lang="en-US" altLang="en-US" b="1" dirty="0">
                <a:latin typeface="Courier New" panose="02070309020205020404" pitchFamily="49" charset="0"/>
              </a:rPr>
              <a:t> parallel 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     Create as many threads as there are cores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020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25E1C-8877-4E42-9BA0-1B7EC1F82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OpenMP Example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BC73B05-BAAB-4B85-869D-ADD5E54797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09" y="1520825"/>
            <a:ext cx="5684812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E4BCA7CC-F5F1-4BDB-BC15-FA82CC3655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111" y="3045857"/>
            <a:ext cx="35814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ADA8DA-C0F1-417F-831D-CD955CF075D4}"/>
              </a:ext>
            </a:extLst>
          </p:cNvPr>
          <p:cNvSpPr txBox="1"/>
          <p:nvPr/>
        </p:nvSpPr>
        <p:spPr>
          <a:xfrm>
            <a:off x="6969149" y="2527816"/>
            <a:ext cx="1612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Loop in Parallel</a:t>
            </a:r>
          </a:p>
        </p:txBody>
      </p:sp>
    </p:spTree>
    <p:extLst>
      <p:ext uri="{BB962C8B-B14F-4D97-AF65-F5344CB8AC3E}">
        <p14:creationId xmlns:p14="http://schemas.microsoft.com/office/powerpoint/2010/main" val="466347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25E1C-8877-4E42-9BA0-1B7EC1F82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OpenMP Example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BC73B05-BAAB-4B85-869D-ADD5E54797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09" y="1520825"/>
            <a:ext cx="5684812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E4BCA7CC-F5F1-4BDB-BC15-FA82CC3655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111" y="3045857"/>
            <a:ext cx="35814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ADA8DA-C0F1-417F-831D-CD955CF075D4}"/>
              </a:ext>
            </a:extLst>
          </p:cNvPr>
          <p:cNvSpPr txBox="1"/>
          <p:nvPr/>
        </p:nvSpPr>
        <p:spPr>
          <a:xfrm>
            <a:off x="6969149" y="2527816"/>
            <a:ext cx="1612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Loop in Parallel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CEAB4A-24F8-4BBE-AB89-00F69605CC42}"/>
              </a:ext>
            </a:extLst>
          </p:cNvPr>
          <p:cNvSpPr txBox="1"/>
          <p:nvPr/>
        </p:nvSpPr>
        <p:spPr>
          <a:xfrm>
            <a:off x="9815591" y="2977520"/>
            <a:ext cx="1699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num_threads</a:t>
            </a:r>
            <a:r>
              <a:rPr lang="en-US" dirty="0"/>
              <a:t>(4)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E9471-B11D-4085-8EF9-F0035BBC1BDF}"/>
              </a:ext>
            </a:extLst>
          </p:cNvPr>
          <p:cNvSpPr txBox="1"/>
          <p:nvPr/>
        </p:nvSpPr>
        <p:spPr>
          <a:xfrm>
            <a:off x="3883715" y="3327162"/>
            <a:ext cx="1699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num_threads</a:t>
            </a:r>
            <a:r>
              <a:rPr lang="en-US" dirty="0"/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2165801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DA1E5-08FE-4561-B8DB-ECF53A32B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C881-12C2-4097-92BA-3728E9C88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OpenMP support Java?</a:t>
            </a:r>
          </a:p>
        </p:txBody>
      </p:sp>
    </p:spTree>
    <p:extLst>
      <p:ext uri="{BB962C8B-B14F-4D97-AF65-F5344CB8AC3E}">
        <p14:creationId xmlns:p14="http://schemas.microsoft.com/office/powerpoint/2010/main" val="1268859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604EA-128B-4EEE-9335-A569897FE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Central Dispatch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2AB83-1F0A-499F-8259-0A66BA8B2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Apple technology</a:t>
            </a:r>
          </a:p>
          <a:p>
            <a:r>
              <a:rPr lang="en-US" altLang="en-US" dirty="0"/>
              <a:t>Extensions to C, C++ and Objective-C languages, API, and run-time library</a:t>
            </a:r>
          </a:p>
          <a:p>
            <a:r>
              <a:rPr lang="en-US" altLang="en-US" dirty="0"/>
              <a:t>Allows identification of </a:t>
            </a:r>
            <a:r>
              <a:rPr lang="en-US" altLang="en-US" b="1" dirty="0"/>
              <a:t>parallel sections</a:t>
            </a:r>
          </a:p>
          <a:p>
            <a:r>
              <a:rPr lang="en-US" altLang="en-US" b="1" dirty="0"/>
              <a:t>Tasks</a:t>
            </a:r>
            <a:r>
              <a:rPr lang="en-US" altLang="en-US" dirty="0"/>
              <a:t> are placed in dispatch queues</a:t>
            </a:r>
          </a:p>
          <a:p>
            <a:pPr lvl="1"/>
            <a:r>
              <a:rPr lang="en-US" altLang="en-US" dirty="0"/>
              <a:t>Serial queue – sequential execution</a:t>
            </a:r>
          </a:p>
          <a:p>
            <a:pPr lvl="1"/>
            <a:r>
              <a:rPr lang="en-US" altLang="en-US" dirty="0"/>
              <a:t>Concurrent queue – multiple tasks to be execute in parallel</a:t>
            </a:r>
          </a:p>
          <a:p>
            <a:pPr marL="0" indent="0">
              <a:buNone/>
            </a:pPr>
            <a:r>
              <a:rPr lang="en-US" dirty="0"/>
              <a:t>     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2C32E053-ACFE-4F4F-BF05-8698184CC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261" y="4945063"/>
            <a:ext cx="5892800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3437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B5F7F-0990-4CA7-AADF-0856956AB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 TBB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8253D-3592-4410-BE62-0037C6020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Threading Building Block</a:t>
            </a:r>
          </a:p>
          <a:p>
            <a:r>
              <a:rPr lang="en-US" altLang="en-US" dirty="0"/>
              <a:t>Template library for designing parallel C++ programs</a:t>
            </a:r>
          </a:p>
          <a:p>
            <a:r>
              <a:rPr lang="en-US" altLang="en-US" dirty="0"/>
              <a:t>A serial version of a simple for loop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same for loop written using TBB with </a:t>
            </a:r>
            <a:r>
              <a:rPr lang="en-US" altLang="en-US" b="1" dirty="0" err="1">
                <a:latin typeface="Courier New" panose="02070309020205020404" pitchFamily="49" charset="0"/>
              </a:rPr>
              <a:t>parallel_for</a:t>
            </a:r>
            <a:r>
              <a:rPr lang="en-US" altLang="en-US" dirty="0"/>
              <a:t> statement: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7EA75C-B0A0-4998-905D-72C0F4F68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900" y="3357363"/>
            <a:ext cx="37211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9C36A8-5034-4EF1-9524-F49AB1DC8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010" y="5185331"/>
            <a:ext cx="66421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BAB6AE-9961-4339-9FB7-034AE3DC6DC9}"/>
              </a:ext>
            </a:extLst>
          </p:cNvPr>
          <p:cNvSpPr txBox="1"/>
          <p:nvPr/>
        </p:nvSpPr>
        <p:spPr>
          <a:xfrm>
            <a:off x="6435628" y="5757902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Lambda function</a:t>
            </a:r>
          </a:p>
        </p:txBody>
      </p:sp>
    </p:spTree>
    <p:extLst>
      <p:ext uri="{BB962C8B-B14F-4D97-AF65-F5344CB8AC3E}">
        <p14:creationId xmlns:p14="http://schemas.microsoft.com/office/powerpoint/2010/main" val="1386973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504</Words>
  <Application>Microsoft Office PowerPoint</Application>
  <PresentationFormat>Widescreen</PresentationFormat>
  <Paragraphs>97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Monotype Sorts</vt:lpstr>
      <vt:lpstr>SFMono-Regular</vt:lpstr>
      <vt:lpstr>Office Theme</vt:lpstr>
      <vt:lpstr>Threads &amp; Concurrency Lecture 3 Implicit Threads</vt:lpstr>
      <vt:lpstr>Why Implicit Threading</vt:lpstr>
      <vt:lpstr>Current Implicit Threading Methods </vt:lpstr>
      <vt:lpstr>Thread Pools</vt:lpstr>
      <vt:lpstr>Windows Thread Pools</vt:lpstr>
      <vt:lpstr>Windows Thread Pool</vt:lpstr>
      <vt:lpstr>Java Thread Pools</vt:lpstr>
      <vt:lpstr>Java Thread Pool Example</vt:lpstr>
      <vt:lpstr>Java Lambda Expression</vt:lpstr>
      <vt:lpstr>Fork-Join</vt:lpstr>
      <vt:lpstr>Fork-Join Java Example</vt:lpstr>
      <vt:lpstr>Java Fork-Join Question</vt:lpstr>
      <vt:lpstr>OpenMP</vt:lpstr>
      <vt:lpstr>OpenMP Example</vt:lpstr>
      <vt:lpstr>OpenMP Example</vt:lpstr>
      <vt:lpstr>OpenMP</vt:lpstr>
      <vt:lpstr>Grand Central Dispatch</vt:lpstr>
      <vt:lpstr>Intel TBB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Threads &amp; Concurrency Lesson 3 Implicit Threads</dc:title>
  <dc:creator>David Liu</dc:creator>
  <cp:lastModifiedBy>David Liu</cp:lastModifiedBy>
  <cp:revision>26</cp:revision>
  <dcterms:created xsi:type="dcterms:W3CDTF">2021-09-27T15:59:56Z</dcterms:created>
  <dcterms:modified xsi:type="dcterms:W3CDTF">2022-02-10T16:08:38Z</dcterms:modified>
</cp:coreProperties>
</file>