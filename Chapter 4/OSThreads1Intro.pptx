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347" r:id="rId6"/>
    <p:sldId id="34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43" r:id="rId20"/>
    <p:sldId id="344" r:id="rId21"/>
    <p:sldId id="345" r:id="rId22"/>
    <p:sldId id="34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386B8-97E1-4A27-982B-5671552256B2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2384D-4103-474F-B8D1-9BAED8DF7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1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DA5B7899-8B0F-45C2-940D-8784798D4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668472-D6E4-44B1-9FC6-F22D5F659BEF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D367F0B-D547-4B33-BD27-844377413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63DD8CE-3F13-4366-B410-87016CE8C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7D19782-8A99-4B0E-A324-9F1DAB2AA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CDF4DF-4C5A-4D11-9892-1987F0940C9E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F5A61AE-B537-4CAC-82D5-57A0C05DA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0D000D2-5193-499F-820F-AB5CF639A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4A6CE2C-FD55-4800-9885-B6CBFF847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21317FA-B87E-4C51-AA38-F21A8B77B67F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655B5151-1542-4BDB-A8C5-58E92C621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5F00288-CD94-4843-BBB6-AD0AC4F5C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BF2A-872D-4244-A5E4-077F1D023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1303F-8548-48B7-A076-AEEB94B5E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F937-3208-4843-9CE7-CE32BF0B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89C5-8D06-45BE-9D9E-0394AF0C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19B64-3AF6-497D-9247-0099FF51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41E2-5609-421B-AECB-AA8B5213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8033-165C-4357-ABBF-901E8F88C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F9D58-6948-4430-8F7F-5E8E7D98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80413-15B0-4CBC-8985-60F27315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E8AD-BCC0-4C7D-945F-76F2D4CD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1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8CFE-7F3C-4FCE-AE1D-35BAE3D9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EB417-FA2D-485D-8DDA-37C73985E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C4350-C6A8-4AE7-8D71-67C884D8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E8F3F-459C-4213-B684-8940BFCF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7215-2593-4C8E-8E90-ADF75FD9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3891-FAD4-427B-BB08-A5541AB2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58F-2E36-4DF0-A1DF-5C0123516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B15F7-2DA1-4C03-93C7-A1C8CA639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2C371-2A4A-4715-BABF-26B1CB89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7035-213B-4BA5-BCBD-F3E498DD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78791-1C7D-4370-B600-547782E8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D187-F216-4EE4-8978-63CEB397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C7B01-36E3-471B-ABFA-3C398F8E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5D384-96EE-49C8-9A27-8E85EEF4B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25271-C31E-4FCF-BF27-156208A4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E363E-3143-4293-8536-EF775AA31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9DA6B-E605-42B6-8B81-2A9C4771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11197-40FE-4D49-A863-F1E2B097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F2556-F9B4-4D4E-8871-8D636BAA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B9CD-1EB9-408C-AD7D-11E6D785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1420C-669F-479D-BE81-E784E713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B1897-8653-4EBC-B7F7-2219E589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EB92B-16B2-429E-9C18-C272736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07A2E-5806-4393-9115-33F11471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6CFDD-ADF9-4BCF-8C6B-677EEC8B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C88F4-BDC9-4083-9D3C-E732C218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19E3-E069-40D4-ADD0-CF442755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B39B-4C70-4100-9085-B8B59DEDB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06157-57F5-4D52-B9E2-3FCCC4C0E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34996-D36C-4CF5-81B4-5A85943B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5A378-8542-46DF-A9D3-43DAC174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5325A-8E28-4438-9375-A736CD02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C118-4B65-4CFA-A32D-DB6FA1C4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0BA1D-4E94-495B-9868-A8F7907EB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90032-1596-455B-A6EA-48FBF486D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D9B24-9FEE-43FF-B68C-F17B9016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0EFDD-6D2D-4F99-B425-3C46C1D4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1C8B9-DD9E-47C9-87AC-33C78DAB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0177-C5D8-4C03-B97F-B5115848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70396-3BFB-4A30-B0AA-2671F8A3A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7FB9-2131-4B14-B204-244D99F6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54AA-4BEC-4B02-A4AA-CEC33BC2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AFCAC-5655-4A84-AA71-E9CAD5B4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6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DA0131-7A9F-497D-A95B-9CCA125FF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AAC99-9058-4CB5-813F-94B24F8F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532DE-1E53-4991-A599-DBEB2062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A7E8-BBC4-40C6-AAF8-41E58414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F7F4-BFCB-45FE-8FD8-F14DE572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86E8-B2F0-4047-8783-B77DCB5F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B7E37-30CC-4546-8ED6-A0B613BE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B4230-65A6-4B41-8507-B181A26B4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AAEA-8C50-4019-BA97-7D50616F0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4EAA-0D56-4478-A84E-1FCA09073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9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7B27-EE28-4B92-8A7A-A4DE06A21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&amp; Concurrency</a:t>
            </a:r>
            <a:br>
              <a:rPr lang="en-US"/>
            </a:br>
            <a:r>
              <a:rPr lang="en-US"/>
              <a:t>Lecture </a:t>
            </a:r>
            <a:r>
              <a:rPr lang="en-US" dirty="0"/>
              <a:t>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AE37D-89DE-4204-88A4-258C195FF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30485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0C14-A9DB-48E1-A955-62E57AB3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637D-ED1C-43E0-A68C-9687082F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basic components of a thread, and contrast threads and processes</a:t>
            </a:r>
          </a:p>
          <a:p>
            <a:r>
              <a:rPr lang="en-US" dirty="0"/>
              <a:t>Describe the benefits and challenges of designing multithreaded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0591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09EF-F793-481D-B59C-6A978F19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Threads?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1405-7EB4-4AD4-AB38-41E34248D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User Perspectives</a:t>
            </a:r>
          </a:p>
          <a:p>
            <a:pPr lvl="1"/>
            <a:r>
              <a:rPr lang="en-US" dirty="0"/>
              <a:t>Short response time</a:t>
            </a:r>
          </a:p>
          <a:p>
            <a:pPr lvl="1"/>
            <a:r>
              <a:rPr lang="en-US" dirty="0"/>
              <a:t>Complete quickly</a:t>
            </a:r>
          </a:p>
          <a:p>
            <a:pPr lvl="1"/>
            <a:r>
              <a:rPr lang="en-US" dirty="0"/>
              <a:t>e.g. web, word processor</a:t>
            </a:r>
          </a:p>
          <a:p>
            <a:pPr marL="0" indent="0">
              <a:buNone/>
            </a:pPr>
            <a:r>
              <a:rPr lang="en-US" dirty="0"/>
              <a:t>System Perspectives</a:t>
            </a:r>
          </a:p>
          <a:p>
            <a:pPr lvl="1"/>
            <a:r>
              <a:rPr lang="en-US" dirty="0"/>
              <a:t>Utilize multicores or multiple CPUs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97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804D-C001-4166-9A91-1F4673F5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956"/>
            <a:ext cx="10515600" cy="1325563"/>
          </a:xfrm>
        </p:spPr>
        <p:txBody>
          <a:bodyPr/>
          <a:lstStyle/>
          <a:p>
            <a:r>
              <a:rPr lang="en-US" dirty="0"/>
              <a:t>Single </a:t>
            </a:r>
            <a:r>
              <a:rPr lang="en-US"/>
              <a:t>vs Multithreaded </a:t>
            </a:r>
            <a:r>
              <a:rPr lang="en-US" dirty="0"/>
              <a:t>Processes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21EF3A-39EC-4F77-99A2-62FB2729C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437" y="2022488"/>
            <a:ext cx="7626757" cy="42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6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64F-325B-41E2-86EC-10BA03DB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Control Block (PCB):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5B849-73EB-423F-B7C9-B9FE50F89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7306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Process state </a:t>
            </a:r>
          </a:p>
          <a:p>
            <a:r>
              <a:rPr lang="en-US" dirty="0"/>
              <a:t>Program counter – location of instruction to </a:t>
            </a:r>
            <a:r>
              <a:rPr lang="en-US" dirty="0">
                <a:solidFill>
                  <a:schemeClr val="accent2"/>
                </a:solidFill>
              </a:rPr>
              <a:t>next</a:t>
            </a:r>
            <a:r>
              <a:rPr lang="en-US" dirty="0"/>
              <a:t> execute</a:t>
            </a:r>
          </a:p>
          <a:p>
            <a:r>
              <a:rPr lang="en-US" dirty="0"/>
              <a:t>CPU registers – contents of all process-centric registers</a:t>
            </a:r>
          </a:p>
          <a:p>
            <a:r>
              <a:rPr lang="en-US" dirty="0"/>
              <a:t>CPU scheduling information- priorities, scheduling queue pointers</a:t>
            </a:r>
          </a:p>
          <a:p>
            <a:r>
              <a:rPr lang="en-US" dirty="0"/>
              <a:t>Memory-management information – memory allocated to the process</a:t>
            </a:r>
          </a:p>
          <a:p>
            <a:r>
              <a:rPr lang="en-US" dirty="0"/>
              <a:t>Accounting information – CPU used, clock time elapsed since start, time limits</a:t>
            </a:r>
          </a:p>
          <a:p>
            <a:r>
              <a:rPr lang="en-US" dirty="0"/>
              <a:t>I/O status information – I/O devices allocated to process, </a:t>
            </a:r>
            <a:r>
              <a:rPr lang="en-US" dirty="0">
                <a:solidFill>
                  <a:schemeClr val="accent2"/>
                </a:solidFill>
              </a:rPr>
              <a:t>list of open files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45FF143-1ED9-4D3A-9429-D6C06CEFA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902" y="1825625"/>
            <a:ext cx="2405924" cy="3909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36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3539-1AB9-4AAD-B761-2E9DFD73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Process,  Multiple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D276F-903F-4023-B46F-4470B83F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thread</a:t>
            </a:r>
          </a:p>
          <a:p>
            <a:pPr lvl="1"/>
            <a:r>
              <a:rPr lang="en-US" dirty="0"/>
              <a:t>Program counter</a:t>
            </a:r>
          </a:p>
          <a:p>
            <a:pPr lvl="1"/>
            <a:r>
              <a:rPr lang="en-US" dirty="0"/>
              <a:t>Thread specific storage</a:t>
            </a:r>
          </a:p>
          <a:p>
            <a:r>
              <a:rPr lang="en-US" dirty="0"/>
              <a:t>How will this change PCB structure?</a:t>
            </a:r>
          </a:p>
        </p:txBody>
      </p:sp>
    </p:spTree>
    <p:extLst>
      <p:ext uri="{BB962C8B-B14F-4D97-AF65-F5344CB8AC3E}">
        <p14:creationId xmlns:p14="http://schemas.microsoft.com/office/powerpoint/2010/main" val="241669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30D2-F839-4E17-BB54-CB90F1C0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Multithreaded Server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445D73-688A-46FF-AA86-A2128EC9F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9180" y="2592526"/>
            <a:ext cx="7968163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92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52B3-16A0-46BA-9950-8931E5FF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ED33-E256-45CB-A13C-23AA81CC5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004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30C7-A27E-4412-83BE-EF605CE3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EA53-366E-4B26-912D-9AEA55A1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Dividing activities</a:t>
            </a:r>
          </a:p>
          <a:p>
            <a:r>
              <a:rPr lang="en-US" altLang="en-US" b="1" dirty="0"/>
              <a:t>Balance</a:t>
            </a:r>
          </a:p>
          <a:p>
            <a:r>
              <a:rPr lang="en-US" altLang="en-US" b="1" dirty="0"/>
              <a:t>Data splitting</a:t>
            </a:r>
          </a:p>
          <a:p>
            <a:r>
              <a:rPr lang="en-US" altLang="en-US" b="1" dirty="0"/>
              <a:t>Data dependency</a:t>
            </a:r>
          </a:p>
          <a:p>
            <a:r>
              <a:rPr lang="en-US" altLang="en-US" b="1" dirty="0"/>
              <a:t>Testing and debugging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9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110A-E024-41C8-A37A-1719D9A9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vs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5085-0822-4F1B-9E3E-A8BA7F67E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r>
              <a:rPr lang="en-US" dirty="0"/>
              <a:t>Question: In a single processor (one core), is parallel operation, or two or more tasks running simultaneously possible?</a:t>
            </a:r>
          </a:p>
        </p:txBody>
      </p:sp>
    </p:spTree>
    <p:extLst>
      <p:ext uri="{BB962C8B-B14F-4D97-AF65-F5344CB8AC3E}">
        <p14:creationId xmlns:p14="http://schemas.microsoft.com/office/powerpoint/2010/main" val="107503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0828-F6F0-4C4E-8458-88D7E40A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vs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38FF2-5EB5-4888-AD52-B9869243C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 marL="0" indent="0">
              <a:buNone/>
            </a:pPr>
            <a:endParaRPr lang="en-US" altLang="en-US" b="1" dirty="0"/>
          </a:p>
          <a:p>
            <a:r>
              <a:rPr lang="en-US" altLang="en-US" b="1" dirty="0"/>
              <a:t>Concurrent execution on single-core system: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314D92F-11B3-472B-8B2D-02BD6C208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428" y="5308601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2827A6-9243-4828-9FCD-3D8DA1478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282" y="2615113"/>
            <a:ext cx="4694327" cy="16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7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8324-751D-49E5-973E-5CCFB67C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 Task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41449-7EEC-4FFC-84E4-6C3A73F0C9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Data parallelism</a:t>
            </a:r>
            <a:r>
              <a:rPr lang="en-US" altLang="en-US" dirty="0"/>
              <a:t> – distributes </a:t>
            </a:r>
            <a:r>
              <a:rPr lang="en-US" altLang="en-US" dirty="0">
                <a:solidFill>
                  <a:srgbClr val="FF0000"/>
                </a:solidFill>
              </a:rPr>
              <a:t>subsets </a:t>
            </a:r>
            <a:r>
              <a:rPr lang="en-US" altLang="en-US" dirty="0"/>
              <a:t>of the same data across multiple cores, </a:t>
            </a:r>
            <a:r>
              <a:rPr lang="en-US" altLang="en-US" dirty="0">
                <a:solidFill>
                  <a:srgbClr val="FF0000"/>
                </a:solidFill>
              </a:rPr>
              <a:t>same operation </a:t>
            </a:r>
            <a:r>
              <a:rPr lang="en-US" altLang="en-US" dirty="0"/>
              <a:t>on each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Task parallelism </a:t>
            </a:r>
            <a:r>
              <a:rPr lang="en-US" altLang="en-US" dirty="0"/>
              <a:t>– distributing threads across cores, each thread performing </a:t>
            </a:r>
            <a:r>
              <a:rPr lang="en-US" altLang="en-US" dirty="0">
                <a:solidFill>
                  <a:srgbClr val="FF0000"/>
                </a:solidFill>
              </a:rPr>
              <a:t>unique operation</a:t>
            </a:r>
          </a:p>
          <a:p>
            <a:endParaRPr lang="en-US" altLang="en-US" b="1" dirty="0">
              <a:solidFill>
                <a:srgbClr val="3366FF"/>
              </a:solidFill>
            </a:endParaRP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2CA8D-3012-4A5E-9551-66C6DB0A2B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5984" y="1690688"/>
            <a:ext cx="5181600" cy="345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7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7AD8-9642-4DA7-9A7D-A05286FC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0B9F46-5285-4F6B-AC8B-C468B779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portion, N processing cores</a:t>
            </a:r>
          </a:p>
          <a:p>
            <a:endParaRPr lang="en-US" altLang="en-US" dirty="0">
              <a:cs typeface="ＭＳ Ｐゴシック" charset="-128"/>
            </a:endParaRPr>
          </a:p>
          <a:p>
            <a:endParaRPr lang="en-US" b="1" dirty="0"/>
          </a:p>
        </p:txBody>
      </p:sp>
      <p:pic>
        <p:nvPicPr>
          <p:cNvPr id="6" name="Picture 1" descr="Screen Shot 2012-12-04 at 7.54.07 PM.png">
            <a:extLst>
              <a:ext uri="{FF2B5EF4-FFF2-40B4-BE49-F238E27FC236}">
                <a16:creationId xmlns:a16="http://schemas.microsoft.com/office/drawing/2014/main" id="{73415DB2-E3B7-41D8-A7DE-9F3E166B8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404" y="2881983"/>
            <a:ext cx="3552335" cy="132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1DE720-2B74-45EA-B06B-F22A2DD49419}"/>
              </a:ext>
            </a:extLst>
          </p:cNvPr>
          <p:cNvCxnSpPr/>
          <p:nvPr/>
        </p:nvCxnSpPr>
        <p:spPr>
          <a:xfrm>
            <a:off x="7244862" y="3544420"/>
            <a:ext cx="69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88F4CF-5921-453D-A01E-1C82A375A593}"/>
              </a:ext>
            </a:extLst>
          </p:cNvPr>
          <p:cNvSpPr txBox="1"/>
          <p:nvPr/>
        </p:nvSpPr>
        <p:spPr>
          <a:xfrm>
            <a:off x="8273561" y="33597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1/S</a:t>
            </a:r>
          </a:p>
        </p:txBody>
      </p:sp>
    </p:spTree>
    <p:extLst>
      <p:ext uri="{BB962C8B-B14F-4D97-AF65-F5344CB8AC3E}">
        <p14:creationId xmlns:p14="http://schemas.microsoft.com/office/powerpoint/2010/main" val="3794081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7B4A-0F7F-42B9-904B-C2881669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431AD8-74AA-4FFF-91DA-440B9084B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180" y="1433860"/>
            <a:ext cx="6156681" cy="4345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401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61F4-C8C6-422A-B7F4-C3B00782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ECDD8-4DC6-47D2-AE4E-F66BDAE96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threads</a:t>
            </a:r>
          </a:p>
          <a:p>
            <a:pPr lvl="1"/>
            <a:r>
              <a:rPr lang="en-US" dirty="0"/>
              <a:t>Managed by user-level threads library</a:t>
            </a:r>
          </a:p>
          <a:p>
            <a:r>
              <a:rPr lang="en-US" dirty="0"/>
              <a:t>Kernel threads</a:t>
            </a:r>
          </a:p>
          <a:p>
            <a:pPr lvl="1"/>
            <a:r>
              <a:rPr lang="en-US" dirty="0"/>
              <a:t>Supported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1947019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063E-6890-4E51-915D-6AFC4E38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E8F-E302-4D79-86B5-4ED9533FF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POSIX Pthreads</a:t>
            </a:r>
          </a:p>
          <a:p>
            <a:r>
              <a:rPr lang="en-US" dirty="0"/>
              <a:t>Windows threads</a:t>
            </a:r>
          </a:p>
          <a:p>
            <a:r>
              <a:rPr lang="en-US" dirty="0"/>
              <a:t>Java threads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80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B164-0A13-4A16-A2C2-787A5518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27C6-E553-43A0-91B6-38A12D164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  <a:p>
            <a:r>
              <a:rPr lang="en-US" dirty="0"/>
              <a:t>Linux</a:t>
            </a:r>
          </a:p>
          <a:p>
            <a:r>
              <a:rPr lang="en-US" dirty="0"/>
              <a:t>Mac OS X</a:t>
            </a:r>
          </a:p>
          <a:p>
            <a:r>
              <a:rPr lang="en-US" dirty="0"/>
              <a:t>iOS</a:t>
            </a:r>
          </a:p>
          <a:p>
            <a:r>
              <a:rPr lang="en-US" dirty="0"/>
              <a:t>Android</a:t>
            </a:r>
          </a:p>
        </p:txBody>
      </p:sp>
    </p:spTree>
    <p:extLst>
      <p:ext uri="{BB962C8B-B14F-4D97-AF65-F5344CB8AC3E}">
        <p14:creationId xmlns:p14="http://schemas.microsoft.com/office/powerpoint/2010/main" val="1237471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F019-35C6-4F15-9649-828856EB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User Threads to Kernel Threads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0809C-4014-4E06-8B16-C1EBAF225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661" y="2421856"/>
            <a:ext cx="11131062" cy="460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Many-to-one                              One-to-One                         Many-to-Many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DEB6C0-640D-4B39-9802-A7FE454EB9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4457" y="3613400"/>
            <a:ext cx="3962743" cy="21703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92938-B425-478F-B6B1-495FFD4A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014" y="3613400"/>
            <a:ext cx="3913971" cy="2176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8074D0-FF8F-4E03-BAA0-5EA5B0AD5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985" y="3613400"/>
            <a:ext cx="3944454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71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F786165-E3F8-4D1E-8A57-C7BD8C00CE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4CFE9DC-F1F2-48CF-83F3-8CBF1B72B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6757" y="1643796"/>
            <a:ext cx="4654550" cy="45307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</a:t>
            </a:r>
            <a:r>
              <a:rPr lang="en-US" altLang="en-US" dirty="0" err="1"/>
              <a:t>muticore</a:t>
            </a:r>
            <a:r>
              <a:rPr lang="en-US" altLang="en-US" dirty="0"/>
              <a:t>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GNU Portable Threads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374AAA1F-01A4-4BD6-8329-D4916E63E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338" y="3498851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0144542-C426-4090-A7A8-9601C1085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One-to-One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89377F3-A06B-4C24-92C2-30BD30672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1764" y="1690688"/>
            <a:ext cx="5772150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4" name="Picture 1">
            <a:extLst>
              <a:ext uri="{FF2B5EF4-FFF2-40B4-BE49-F238E27FC236}">
                <a16:creationId xmlns:a16="http://schemas.microsoft.com/office/drawing/2014/main" id="{9D86172E-1B1B-484C-A012-B6436DE3A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162" y="3429000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4603F35-F643-48FC-926D-9B5928C63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92599D5-90C7-42A9-9DF8-EFE2806AC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431" y="1601177"/>
            <a:ext cx="444817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2" name="Picture 1">
            <a:extLst>
              <a:ext uri="{FF2B5EF4-FFF2-40B4-BE49-F238E27FC236}">
                <a16:creationId xmlns:a16="http://schemas.microsoft.com/office/drawing/2014/main" id="{BF20757A-9EEA-454B-A762-4F52E85B1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28" y="1601177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40FBB9-AF6A-4CDF-A442-DAB2DA7EB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028" y="4168592"/>
            <a:ext cx="4224894" cy="21764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1F305E-532A-42B5-89FF-ED2C9F94DEA1}"/>
              </a:ext>
            </a:extLst>
          </p:cNvPr>
          <p:cNvSpPr/>
          <p:nvPr/>
        </p:nvSpPr>
        <p:spPr>
          <a:xfrm>
            <a:off x="7323423" y="6488668"/>
            <a:ext cx="1742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Two-level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E2AEE-BBCB-4CB4-996B-6A85E27598C7}"/>
              </a:ext>
            </a:extLst>
          </p:cNvPr>
          <p:cNvSpPr/>
          <p:nvPr/>
        </p:nvSpPr>
        <p:spPr>
          <a:xfrm>
            <a:off x="7171023" y="1088230"/>
            <a:ext cx="2349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Many-to-Many l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AC94-6258-428F-B7FA-B809A6ED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Space vs Kernel-level Thread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A583-CE15-4518-84D0-AA0BEFF2A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Space library</a:t>
            </a:r>
          </a:p>
          <a:p>
            <a:pPr lvl="1"/>
            <a:r>
              <a:rPr lang="en-US" dirty="0"/>
              <a:t>Code and data structures in user space, no system call</a:t>
            </a:r>
          </a:p>
          <a:p>
            <a:r>
              <a:rPr lang="en-US" dirty="0"/>
              <a:t>Kernel-level library</a:t>
            </a:r>
          </a:p>
          <a:p>
            <a:pPr lvl="1"/>
            <a:r>
              <a:rPr lang="en-US" dirty="0"/>
              <a:t>Code and data in kernel space, API function call </a:t>
            </a:r>
            <a:r>
              <a:rPr lang="en-US" dirty="0">
                <a:sym typeface="Wingdings" panose="05000000000000000000" pitchFamily="2" charset="2"/>
              </a:rPr>
              <a:t> system call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93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568</Words>
  <Application>Microsoft Office PowerPoint</Application>
  <PresentationFormat>Widescreen</PresentationFormat>
  <Paragraphs>110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MS PGothic</vt:lpstr>
      <vt:lpstr>MS PGothic</vt:lpstr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Threads &amp; Concurrency Lecture 1 Introduction</vt:lpstr>
      <vt:lpstr>Learning Outcomes</vt:lpstr>
      <vt:lpstr>Why Threads?</vt:lpstr>
      <vt:lpstr>Single vs Multithreaded Processes</vt:lpstr>
      <vt:lpstr>Process Control Block (PCB): Review</vt:lpstr>
      <vt:lpstr>A Process,  Multiple Threads</vt:lpstr>
      <vt:lpstr>Multithreaded Server Architecture</vt:lpstr>
      <vt:lpstr>Benefits</vt:lpstr>
      <vt:lpstr>Challenges</vt:lpstr>
      <vt:lpstr>Parallelism vs Concurrency</vt:lpstr>
      <vt:lpstr>Parallelism vs Concurrency</vt:lpstr>
      <vt:lpstr>Data vs Task Parallelism</vt:lpstr>
      <vt:lpstr>Amdahl’s Law</vt:lpstr>
      <vt:lpstr>Amdahl’s Law</vt:lpstr>
      <vt:lpstr>Thread Types</vt:lpstr>
      <vt:lpstr>User Threads</vt:lpstr>
      <vt:lpstr>Kernel Threads</vt:lpstr>
      <vt:lpstr>Map User Threads to Kernel Threads</vt:lpstr>
      <vt:lpstr>Many-to-One</vt:lpstr>
      <vt:lpstr>One-to-One</vt:lpstr>
      <vt:lpstr>Many-to-Many Model</vt:lpstr>
      <vt:lpstr>User Space vs Kernel-level Thread Library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&amp; Concurrency Lesson 1</dc:title>
  <dc:creator>David Liu</dc:creator>
  <cp:lastModifiedBy>David Liu</cp:lastModifiedBy>
  <cp:revision>26</cp:revision>
  <dcterms:created xsi:type="dcterms:W3CDTF">2021-09-22T15:02:35Z</dcterms:created>
  <dcterms:modified xsi:type="dcterms:W3CDTF">2022-02-08T18:45:29Z</dcterms:modified>
</cp:coreProperties>
</file>